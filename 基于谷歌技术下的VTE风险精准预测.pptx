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3" ContentType="audio/mp3"/>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1" r:id="rId3"/>
  </p:sldMasterIdLst>
  <p:notesMasterIdLst>
    <p:notesMasterId r:id="rId5"/>
  </p:notesMasterIdLst>
  <p:sldIdLst>
    <p:sldId id="257" r:id="rId4"/>
    <p:sldId id="260" r:id="rId6"/>
    <p:sldId id="265" r:id="rId7"/>
    <p:sldId id="285" r:id="rId8"/>
    <p:sldId id="286" r:id="rId9"/>
    <p:sldId id="287" r:id="rId10"/>
    <p:sldId id="300" r:id="rId11"/>
    <p:sldId id="294" r:id="rId12"/>
    <p:sldId id="296" r:id="rId13"/>
    <p:sldId id="332" r:id="rId14"/>
    <p:sldId id="301" r:id="rId15"/>
    <p:sldId id="297" r:id="rId16"/>
    <p:sldId id="298" r:id="rId17"/>
    <p:sldId id="299" r:id="rId18"/>
    <p:sldId id="302" r:id="rId19"/>
  </p:sldIdLst>
  <p:sldSz cx="12192000" cy="6858000"/>
  <p:notesSz cx="6858000" cy="9144000"/>
  <p:embeddedFontLst>
    <p:embeddedFont>
      <p:font typeface="三极正智黑简体" panose="00000500000000000000" pitchFamily="2" charset="-122"/>
      <p:regular r:id="rId23"/>
    </p:embeddedFont>
    <p:embeddedFont>
      <p:font typeface="等线" charset="0"/>
      <p:regular r:id="rId24"/>
    </p:embeddedFont>
    <p:embeddedFont>
      <p:font typeface="等线 Light" charset="0"/>
      <p:regular r:id="rId25"/>
    </p:embeddedFont>
    <p:embeddedFont>
      <p:font typeface="Calibri" panose="020F0502020204030204" charset="0"/>
      <p:regular r:id="rId26"/>
    </p:embeddedFont>
  </p:embeddedFontLst>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showPr>
  <p:clrMru>
    <a:srgbClr val="62EFFE"/>
    <a:srgbClr val="13245C"/>
    <a:srgbClr val="ABF7FF"/>
    <a:srgbClr val="02ECFE"/>
    <a:srgbClr val="23EFFE"/>
    <a:srgbClr val="23BEF2"/>
    <a:srgbClr val="23B4DB"/>
    <a:srgbClr val="E6E6E6"/>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649" autoAdjust="0"/>
    <p:restoredTop sz="94660"/>
  </p:normalViewPr>
  <p:slideViewPr>
    <p:cSldViewPr snapToGrid="0" showGuides="1">
      <p:cViewPr>
        <p:scale>
          <a:sx n="66" d="100"/>
          <a:sy n="66" d="100"/>
        </p:scale>
        <p:origin x="588" y="1446"/>
      </p:cViewPr>
      <p:guideLst>
        <p:guide pos="434"/>
        <p:guide orient="horz" pos="3845"/>
        <p:guide orient="horz" pos="3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gs" Target="tags/tag19.xml"/><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5" Type="http://schemas.microsoft.com/office/2011/relationships/chartColorStyle" Target="colors1.xml"/><Relationship Id="rId4" Type="http://schemas.microsoft.com/office/2011/relationships/chartStyle" Target="style1.xml"/><Relationship Id="rId3" Type="http://schemas.openxmlformats.org/officeDocument/2006/relationships/image" Target="../media/image10.png"/><Relationship Id="rId2" Type="http://schemas.openxmlformats.org/officeDocument/2006/relationships/themeOverride" Target="../theme/themeOverride1.xml"/><Relationship Id="rId1" Type="http://schemas.openxmlformats.org/officeDocument/2006/relationships/oleObject" Target="file:///C:\Users\yanqiang\Downloads\fimp.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9779906907198"/>
          <c:y val="0.0888676540850454"/>
          <c:w val="0.832950091455448"/>
          <c:h val="0.584762954796031"/>
        </c:manualLayout>
      </c:layout>
      <c:barChart>
        <c:barDir val="col"/>
        <c:grouping val="clustered"/>
        <c:varyColors val="0"/>
        <c:ser>
          <c:idx val="0"/>
          <c:order val="0"/>
          <c:tx>
            <c:strRef>
              <c:f>[fimp.xlsx]Sheet2!$B$1</c:f>
              <c:strCache>
                <c:ptCount val="1"/>
                <c:pt idx="0">
                  <c:v>importance</c:v>
                </c:pt>
              </c:strCache>
            </c:strRef>
          </c:tx>
          <c:spPr>
            <a:gradFill>
              <a:gsLst>
                <a:gs pos="25000">
                  <a:srgbClr val="62BEFF"/>
                </a:gs>
                <a:gs pos="100000">
                  <a:srgbClr val="129CFF"/>
                </a:gs>
              </a:gsLst>
              <a:lin ang="5400000" scaled="0"/>
            </a:gradFill>
            <a:ln>
              <a:noFill/>
            </a:ln>
            <a:effectLst/>
          </c:spPr>
          <c:invertIfNegative val="0"/>
          <c:dLbls>
            <c:delete val="1"/>
          </c:dLbls>
          <c:cat>
            <c:strRef>
              <c:f>[fimp.xlsx]Sheet2!$A$2:$A$28</c:f>
              <c:strCache>
                <c:ptCount val="27"/>
                <c:pt idx="0">
                  <c:v>诊断_mean_target</c:v>
                </c:pt>
                <c:pt idx="1">
                  <c:v>收缩压_舒张压_ratio</c:v>
                </c:pt>
                <c:pt idx="2">
                  <c:v>住院号_mean_target</c:v>
                </c:pt>
                <c:pt idx="3">
                  <c:v>null_count_mean_target</c:v>
                </c:pt>
                <c:pt idx="4">
                  <c:v>null_count_住院次数_ratio</c:v>
                </c:pt>
                <c:pt idx="5">
                  <c:v>谷胱甘肽还原酶_D-二聚体_ratio</c:v>
                </c:pt>
                <c:pt idx="6">
                  <c:v>白球比_收缩压_ratio</c:v>
                </c:pt>
                <c:pt idx="7">
                  <c:v>白蛋白_住院次数_ratio</c:v>
                </c:pt>
                <c:pt idx="8">
                  <c:v>同型半胱氨酸_D-二聚体_ratio</c:v>
                </c:pt>
                <c:pt idx="9">
                  <c:v>体重_收缩压_ratio</c:v>
                </c:pt>
                <c:pt idx="10">
                  <c:v>白蛋白_收缩压_ratio</c:v>
                </c:pt>
                <c:pt idx="11">
                  <c:v>收缩压_mean_target</c:v>
                </c:pt>
                <c:pt idx="12">
                  <c:v>白蛋白_尿素_ratio</c:v>
                </c:pt>
                <c:pt idx="13">
                  <c:v>肌酐_project_max_diff_住院次数_ratio</c:v>
                </c:pt>
                <c:pt idx="14">
                  <c:v>同型半胱氨酸_project_max_diff_D-二聚体_ratio</c:v>
                </c:pt>
                <c:pt idx="15">
                  <c:v>诊断</c:v>
                </c:pt>
                <c:pt idx="16">
                  <c:v>白蛋白_project_max_ratio_住院次数_ratio</c:v>
                </c:pt>
                <c:pt idx="17">
                  <c:v>null_count_收缩压_ratio</c:v>
                </c:pt>
                <c:pt idx="18">
                  <c:v>谷胱甘肽还原酶_project_max_ratio_D-二聚体_ratio</c:v>
                </c:pt>
                <c:pt idx="19">
                  <c:v>钙_收缩压_ratio</c:v>
                </c:pt>
                <c:pt idx="20">
                  <c:v>白球比_project_max_ratio_收缩压_ratio</c:v>
                </c:pt>
                <c:pt idx="21">
                  <c:v>钾_mean_target</c:v>
                </c:pt>
                <c:pt idx="22">
                  <c:v>体重_尿素_ratio</c:v>
                </c:pt>
                <c:pt idx="23">
                  <c:v>直接胆红素_体重_ratio</c:v>
                </c:pt>
                <c:pt idx="24">
                  <c:v>combine_性别_诊断</c:v>
                </c:pt>
                <c:pt idx="25">
                  <c:v>葡萄糖_凝血酶原时间活动度_ratio</c:v>
                </c:pt>
                <c:pt idx="26">
                  <c:v>白蛋白_project_min_diff_住院次数_ratio</c:v>
                </c:pt>
              </c:strCache>
            </c:strRef>
          </c:cat>
          <c:val>
            <c:numRef>
              <c:f>[fimp.xlsx]Sheet2!$B$2:$B$28</c:f>
              <c:numCache>
                <c:formatCode>General</c:formatCode>
                <c:ptCount val="27"/>
                <c:pt idx="0">
                  <c:v>16626.3728435054</c:v>
                </c:pt>
                <c:pt idx="1">
                  <c:v>2019.64273000732</c:v>
                </c:pt>
                <c:pt idx="2">
                  <c:v>1245.89226369858</c:v>
                </c:pt>
                <c:pt idx="3">
                  <c:v>699.416808748245</c:v>
                </c:pt>
                <c:pt idx="4">
                  <c:v>639.578826808929</c:v>
                </c:pt>
                <c:pt idx="5">
                  <c:v>523.008415985107</c:v>
                </c:pt>
                <c:pt idx="6">
                  <c:v>480.225279808044</c:v>
                </c:pt>
                <c:pt idx="7">
                  <c:v>470.743221569061</c:v>
                </c:pt>
                <c:pt idx="8">
                  <c:v>435.623446559906</c:v>
                </c:pt>
                <c:pt idx="9">
                  <c:v>382.188444018364</c:v>
                </c:pt>
                <c:pt idx="10">
                  <c:v>368.701648139954</c:v>
                </c:pt>
                <c:pt idx="11">
                  <c:v>338.755347397924</c:v>
                </c:pt>
                <c:pt idx="12">
                  <c:v>307.775448945165</c:v>
                </c:pt>
                <c:pt idx="13">
                  <c:v>300.469561195374</c:v>
                </c:pt>
                <c:pt idx="14">
                  <c:v>255.258580589294</c:v>
                </c:pt>
                <c:pt idx="15">
                  <c:v>238.663973808289</c:v>
                </c:pt>
                <c:pt idx="16">
                  <c:v>210.015428924561</c:v>
                </c:pt>
                <c:pt idx="17">
                  <c:v>185.806966662407</c:v>
                </c:pt>
                <c:pt idx="18">
                  <c:v>185.076678657532</c:v>
                </c:pt>
                <c:pt idx="19">
                  <c:v>183.75788974762</c:v>
                </c:pt>
                <c:pt idx="20">
                  <c:v>181.666954135895</c:v>
                </c:pt>
                <c:pt idx="21">
                  <c:v>179.393259620666</c:v>
                </c:pt>
                <c:pt idx="22">
                  <c:v>178.203891944885</c:v>
                </c:pt>
                <c:pt idx="23">
                  <c:v>169.570666176081</c:v>
                </c:pt>
                <c:pt idx="24">
                  <c:v>168.176050758362</c:v>
                </c:pt>
                <c:pt idx="25">
                  <c:v>162.075270652771</c:v>
                </c:pt>
                <c:pt idx="26">
                  <c:v>160.16120634079</c:v>
                </c:pt>
              </c:numCache>
            </c:numRef>
          </c:val>
        </c:ser>
        <c:dLbls>
          <c:showLegendKey val="0"/>
          <c:showVal val="0"/>
          <c:showCatName val="0"/>
          <c:showSerName val="0"/>
          <c:showPercent val="0"/>
          <c:showBubbleSize val="0"/>
        </c:dLbls>
        <c:gapWidth val="219"/>
        <c:overlap val="-27"/>
        <c:axId val="629698642"/>
        <c:axId val="102589837"/>
      </c:barChart>
      <c:catAx>
        <c:axId val="629698642"/>
        <c:scaling>
          <c:orientation val="minMax"/>
        </c:scaling>
        <c:delete val="0"/>
        <c:axPos val="b"/>
        <c:majorTickMark val="none"/>
        <c:minorTickMark val="none"/>
        <c:tickLblPos val="nextTo"/>
        <c:spPr>
          <a:noFill/>
          <a:ln w="9525" cap="flat" cmpd="sng" algn="ctr">
            <a:solidFill>
              <a:srgbClr val="21017F"/>
            </a:solidFill>
            <a:round/>
          </a:ln>
          <a:effectLst/>
        </c:spPr>
        <c:txPr>
          <a:bodyPr rot="-60000000" spcFirstLastPara="0" vertOverflow="ellipsis" vert="horz" wrap="square" anchor="ctr" anchorCtr="1" forceAA="0"/>
          <a:lstStyle/>
          <a:p>
            <a:pPr>
              <a:defRPr lang="zh-CN" sz="500" b="0" i="0" u="none" strike="noStrike" kern="1200" baseline="0">
                <a:solidFill>
                  <a:schemeClr val="bg1"/>
                </a:solidFill>
                <a:latin typeface="汉仪旗黑-55简" panose="00020600040101010101" charset="-122"/>
                <a:ea typeface="汉仪旗黑-55简" panose="00020600040101010101" charset="-122"/>
                <a:cs typeface="汉仪旗黑-55简" panose="00020600040101010101" charset="-122"/>
                <a:sym typeface="汉仪旗黑-55简" panose="00020600040101010101" charset="-122"/>
              </a:defRPr>
            </a:pPr>
          </a:p>
        </c:txPr>
        <c:crossAx val="102589837"/>
        <c:crosses val="autoZero"/>
        <c:auto val="1"/>
        <c:lblAlgn val="ctr"/>
        <c:lblOffset val="100"/>
        <c:noMultiLvlLbl val="0"/>
      </c:catAx>
      <c:valAx>
        <c:axId val="102589837"/>
        <c:scaling>
          <c:orientation val="minMax"/>
        </c:scaling>
        <c:delete val="0"/>
        <c:axPos val="l"/>
        <c:majorGridlines>
          <c:spPr>
            <a:ln w="9525" cap="flat" cmpd="sng" algn="ctr">
              <a:solidFill>
                <a:srgbClr val="21017F"/>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800" b="0" i="0" u="none" strike="noStrike" kern="1200" baseline="0">
                <a:solidFill>
                  <a:schemeClr val="bg1"/>
                </a:solidFill>
                <a:latin typeface="汉仪旗黑-55简" panose="00020600040101010101" charset="-122"/>
                <a:ea typeface="汉仪旗黑-55简" panose="00020600040101010101" charset="-122"/>
                <a:cs typeface="汉仪旗黑-55简" panose="00020600040101010101" charset="-122"/>
                <a:sym typeface="汉仪旗黑-55简" panose="00020600040101010101" charset="-122"/>
              </a:defRPr>
            </a:pPr>
          </a:p>
        </c:txPr>
        <c:crossAx val="629698642"/>
        <c:crosses val="autoZero"/>
        <c:crossBetween val="between"/>
      </c:valAx>
      <c:spPr>
        <a:noFill/>
        <a:ln>
          <a:noFill/>
        </a:ln>
        <a:effectLst/>
      </c:spPr>
    </c:plotArea>
    <c:plotVisOnly val="1"/>
    <c:dispBlanksAs val="gap"/>
    <c:showDLblsOverMax val="0"/>
  </c:chart>
  <c:spPr>
    <a:blipFill rotWithShape="1">
      <a:blip xmlns:r="http://schemas.openxmlformats.org/officeDocument/2006/relationships" r:embed="rId3"/>
      <a:stretch>
        <a:fillRect/>
      </a:stretch>
    </a:blipFill>
    <a:ln w="9525" cap="flat" cmpd="sng" algn="ctr">
      <a:noFill/>
      <a:round/>
    </a:ln>
    <a:effectLst/>
  </c:spPr>
  <c:txPr>
    <a:bodyPr/>
    <a:lstStyle/>
    <a:p>
      <a:pPr>
        <a:defRPr lang="zh-CN" sz="800">
          <a:solidFill>
            <a:schemeClr val="bg1"/>
          </a:solidFill>
          <a:latin typeface="汉仪旗黑-55简" panose="00020600040101010101" charset="-122"/>
          <a:ea typeface="汉仪旗黑-55简" panose="00020600040101010101" charset="-122"/>
          <a:cs typeface="汉仪旗黑-55简" panose="00020600040101010101" charset="-122"/>
          <a:sym typeface="汉仪旗黑-55简" panose="00020600040101010101"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latin typeface="汉仪中宋简" panose="02010600000101010101" charset="-122"/>
                <a:ea typeface="汉仪中宋简" panose="02010600000101010101" charset="-122"/>
                <a:cs typeface="汉仪中宋简" panose="02010600000101010101" charset="-122"/>
                <a:sym typeface="+mn-ea"/>
              </a:rPr>
              <a:t>强相关特征：</a:t>
            </a:r>
            <a:endParaRPr lang="zh-CN" altLang="en-US">
              <a:latin typeface="汉仪中宋简" panose="02010600000101010101" charset="-122"/>
              <a:ea typeface="汉仪中宋简" panose="02010600000101010101" charset="-122"/>
              <a:cs typeface="汉仪中宋简" panose="02010600000101010101" charset="-122"/>
            </a:endParaRPr>
          </a:p>
          <a:p>
            <a:r>
              <a:rPr lang="zh-CN" altLang="en-US" b="1">
                <a:latin typeface="汉仪中宋简" panose="02010600000101010101" charset="-122"/>
                <a:ea typeface="汉仪中宋简" panose="02010600000101010101" charset="-122"/>
                <a:cs typeface="汉仪中宋简" panose="02010600000101010101" charset="-122"/>
                <a:sym typeface="+mn-ea"/>
              </a:rPr>
              <a:t>(1) 收缩压/舒张压</a:t>
            </a:r>
            <a:endParaRPr lang="zh-CN" altLang="en-US" b="1">
              <a:latin typeface="汉仪中宋简" panose="02010600000101010101" charset="-122"/>
              <a:ea typeface="汉仪中宋简" panose="02010600000101010101" charset="-122"/>
              <a:cs typeface="汉仪中宋简" panose="02010600000101010101" charset="-122"/>
            </a:endParaRPr>
          </a:p>
          <a:p>
            <a:r>
              <a:rPr lang="zh-CN" altLang="en-US">
                <a:latin typeface="汉仪中宋简" panose="02010600000101010101" charset="-122"/>
                <a:ea typeface="汉仪中宋简" panose="02010600000101010101" charset="-122"/>
                <a:cs typeface="汉仪中宋简" panose="02010600000101010101" charset="-122"/>
                <a:sym typeface="+mn-ea"/>
              </a:rPr>
              <a:t>有高血压病史的患者血栓栓塞事件发生率高于无高血压病史的患者</a:t>
            </a:r>
            <a:endParaRPr lang="zh-CN" altLang="en-US">
              <a:latin typeface="汉仪中宋简" panose="02010600000101010101" charset="-122"/>
              <a:ea typeface="汉仪中宋简" panose="02010600000101010101" charset="-122"/>
              <a:cs typeface="汉仪中宋简" panose="02010600000101010101" charset="-122"/>
            </a:endParaRPr>
          </a:p>
          <a:p>
            <a:r>
              <a:rPr lang="zh-CN" altLang="en-US" b="1">
                <a:latin typeface="汉仪中宋简" panose="02010600000101010101" charset="-122"/>
                <a:ea typeface="汉仪中宋简" panose="02010600000101010101" charset="-122"/>
                <a:cs typeface="汉仪中宋简" panose="02010600000101010101" charset="-122"/>
                <a:sym typeface="+mn-ea"/>
              </a:rPr>
              <a:t>(2) D-二聚体</a:t>
            </a:r>
            <a:endParaRPr lang="zh-CN" altLang="en-US" b="1">
              <a:latin typeface="汉仪中宋简" panose="02010600000101010101" charset="-122"/>
              <a:ea typeface="汉仪中宋简" panose="02010600000101010101" charset="-122"/>
              <a:cs typeface="汉仪中宋简" panose="02010600000101010101" charset="-122"/>
            </a:endParaRPr>
          </a:p>
          <a:p>
            <a:r>
              <a:rPr lang="zh-CN" altLang="en-US">
                <a:latin typeface="汉仪中宋简" panose="02010600000101010101" charset="-122"/>
                <a:ea typeface="汉仪中宋简" panose="02010600000101010101" charset="-122"/>
                <a:cs typeface="汉仪中宋简" panose="02010600000101010101" charset="-122"/>
                <a:sym typeface="+mn-ea"/>
              </a:rPr>
              <a:t>D-二聚体水平对患者下肢术后的血凝状态、血栓形成的高发预测诊断有一定的临床参考价值</a:t>
            </a:r>
            <a:r>
              <a:rPr lang="zh-CN" altLang="en-US">
                <a:solidFill>
                  <a:schemeClr val="bg1">
                    <a:lumMod val="50000"/>
                  </a:schemeClr>
                </a:solidFill>
                <a:latin typeface="汉仪中宋简" panose="02010600000101010101" charset="-122"/>
                <a:ea typeface="汉仪中宋简" panose="02010600000101010101" charset="-122"/>
                <a:cs typeface="汉仪中宋简" panose="02010600000101010101" charset="-122"/>
                <a:sym typeface="+mn-ea"/>
              </a:rPr>
              <a:t>。</a:t>
            </a:r>
            <a:endParaRPr lang="zh-CN" altLang="en-US">
              <a:solidFill>
                <a:schemeClr val="bg1">
                  <a:lumMod val="50000"/>
                </a:schemeClr>
              </a:solidFill>
              <a:latin typeface="汉仪中宋简" panose="02010600000101010101" charset="-122"/>
              <a:ea typeface="汉仪中宋简" panose="02010600000101010101" charset="-122"/>
              <a:cs typeface="汉仪中宋简" panose="02010600000101010101" charset="-122"/>
              <a:sym typeface="+mn-ea"/>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(3) 白蛋白</a:t>
            </a:r>
            <a:endParaRPr lang="zh-CN" altLang="en-US">
              <a:latin typeface="汉仪中宋简" panose="02010600000101010101" charset="-122"/>
              <a:ea typeface="汉仪中宋简" panose="02010600000101010101" charset="-122"/>
              <a:cs typeface="汉仪中宋简" panose="02010600000101010101" charset="-122"/>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先前的观察性研究表明，血清白蛋白水平和循环代谢物与静脉血栓栓塞(VTE) 的高风险有关。</a:t>
            </a:r>
            <a:endParaRPr lang="zh-CN" altLang="en-US">
              <a:latin typeface="汉仪中宋简" panose="02010600000101010101" charset="-122"/>
              <a:ea typeface="汉仪中宋简" panose="02010600000101010101" charset="-122"/>
              <a:cs typeface="汉仪中宋简" panose="02010600000101010101" charset="-122"/>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(2) 血清铁</a:t>
            </a:r>
            <a:endParaRPr lang="zh-CN" altLang="en-US">
              <a:latin typeface="汉仪中宋简" panose="02010600000101010101" charset="-122"/>
              <a:ea typeface="汉仪中宋简" panose="02010600000101010101" charset="-122"/>
              <a:cs typeface="汉仪中宋简" panose="02010600000101010101" charset="-122"/>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富含红细胞的血栓与有利的临床结果以及与富含红细胞的血栓相关的因素之间的关系。</a:t>
            </a:r>
            <a:endParaRPr lang="zh-CN" altLang="en-US">
              <a:latin typeface="汉仪中宋简" panose="02010600000101010101" charset="-122"/>
              <a:ea typeface="汉仪中宋简" panose="02010600000101010101" charset="-122"/>
              <a:cs typeface="汉仪中宋简" panose="02010600000101010101" charset="-122"/>
              <a:sym typeface="+mn-ea"/>
            </a:endParaRPr>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A2CC75-8280-4D50-8556-C2874ADEF92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190E77-D57C-49F8-ADC2-FB99C50EBC2E}" type="slidenum">
              <a:rPr lang="zh-CN" altLang="en-US" smtClean="0"/>
            </a:fld>
            <a:endParaRPr lang="zh-CN" altLang="en-US"/>
          </a:p>
        </p:txBody>
      </p:sp>
      <p:sp>
        <p:nvSpPr>
          <p:cNvPr id="7" name="页面-上"/>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页面-下"/>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A2CC75-8280-4D50-8556-C2874ADEF92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190E77-D57C-49F8-ADC2-FB99C50EBC2E}" type="slidenum">
              <a:rPr lang="zh-CN" altLang="en-US" smtClean="0"/>
            </a:fld>
            <a:endParaRPr lang="zh-CN" altLang="en-US"/>
          </a:p>
        </p:txBody>
      </p:sp>
      <p:sp>
        <p:nvSpPr>
          <p:cNvPr id="7" name="页面-上"/>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页面-下"/>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png"/><Relationship Id="rId7" Type="http://schemas.microsoft.com/office/2007/relationships/media" Target="../media/media1.mp3"/><Relationship Id="rId6" Type="http://schemas.openxmlformats.org/officeDocument/2006/relationships/audio" Target="../media/media1.mp3"/><Relationship Id="rId5" Type="http://schemas.openxmlformats.org/officeDocument/2006/relationships/tags" Target="../tags/tag1.xml"/><Relationship Id="rId4" Type="http://schemas.microsoft.com/office/2007/relationships/hdphoto" Target="../media/image4.wdp"/><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tags" Target="../tags/tag2.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4.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6.png"/><Relationship Id="rId3" Type="http://schemas.openxmlformats.org/officeDocument/2006/relationships/tags" Target="../tags/tag9.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4.xml"/><Relationship Id="rId3" Type="http://schemas.openxmlformats.org/officeDocument/2006/relationships/tags" Target="../tags/tag10.xml"/><Relationship Id="rId2" Type="http://schemas.openxmlformats.org/officeDocument/2006/relationships/image" Target="../media/image6.png"/><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11.png"/><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image" Target="../media/image12.png"/><Relationship Id="rId3" Type="http://schemas.microsoft.com/office/2007/relationships/media" Target="../media/media2.mp4"/><Relationship Id="rId2" Type="http://schemas.openxmlformats.org/officeDocument/2006/relationships/video" Target="../media/media2.mp4"/><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16.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3.png"/><Relationship Id="rId2" Type="http://schemas.openxmlformats.org/officeDocument/2006/relationships/tags" Target="../tags/tag17.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18.xml"/><Relationship Id="rId4" Type="http://schemas.microsoft.com/office/2007/relationships/hdphoto" Target="../media/image4.wdp"/><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pic>
        <p:nvPicPr>
          <p:cNvPr id="16" name="图片 15"/>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64364" y="1621454"/>
            <a:ext cx="4683508" cy="3647750"/>
          </a:xfrm>
          <a:prstGeom prst="rect">
            <a:avLst/>
          </a:prstGeom>
        </p:spPr>
      </p:pic>
      <p:sp>
        <p:nvSpPr>
          <p:cNvPr id="17" name="矩形: 圆角 16"/>
          <p:cNvSpPr/>
          <p:nvPr/>
        </p:nvSpPr>
        <p:spPr>
          <a:xfrm>
            <a:off x="9215120" y="5048885"/>
            <a:ext cx="1385570"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汇报：</a:t>
            </a: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刘永恒</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18" name="矩形: 圆角 17"/>
          <p:cNvSpPr/>
          <p:nvPr/>
        </p:nvSpPr>
        <p:spPr>
          <a:xfrm>
            <a:off x="6177915" y="5055235"/>
            <a:ext cx="1471295"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队名：怎么</a:t>
            </a: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码</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0" name="文本框 19"/>
          <p:cNvSpPr txBox="1"/>
          <p:nvPr/>
        </p:nvSpPr>
        <p:spPr>
          <a:xfrm>
            <a:off x="6147906" y="162138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580348" y="1924647"/>
            <a:ext cx="5644374" cy="1986280"/>
          </a:xfrm>
          <a:prstGeom prst="rect">
            <a:avLst/>
          </a:prstGeom>
          <a:noFill/>
        </p:spPr>
        <p:txBody>
          <a:bodyPr wrap="square" rtlCol="0">
            <a:spAutoFit/>
          </a:bodyPr>
          <a:lstStyle/>
          <a:p>
            <a:pPr marL="0" marR="0" lvl="0" indent="0" algn="ctr" defTabSz="914400" rtl="0" eaLnBrk="1" fontAlgn="auto" latinLnBrk="0" hangingPunct="1">
              <a:lnSpc>
                <a:spcPct val="140000"/>
              </a:lnSpc>
              <a:spcBef>
                <a:spcPts val="0"/>
              </a:spcBef>
              <a:spcAft>
                <a:spcPts val="0"/>
              </a:spcAft>
              <a:buClrTx/>
              <a:buSzTx/>
              <a:buFontTx/>
              <a:buNone/>
              <a:defRPr/>
            </a:pPr>
            <a:r>
              <a:rPr lang="zh-CN" altLang="en-US" sz="4400" b="1" dirty="0">
                <a:solidFill>
                  <a:schemeClr val="bg1"/>
                </a:solidFill>
                <a:latin typeface="华文楷体" panose="02010600040101010101" charset="-122"/>
                <a:ea typeface="华文楷体" panose="02010600040101010101" charset="-122"/>
                <a:cs typeface="华文楷体" panose="02010600040101010101" charset="-122"/>
                <a:sym typeface="Arial" panose="020B0604020202020204" pitchFamily="34" charset="0"/>
              </a:rPr>
              <a:t>基于谷歌技术下的</a:t>
            </a:r>
            <a:endParaRPr kumimoji="0" lang="zh-CN" altLang="en-US" sz="4400" b="1" i="0" u="none" strike="noStrike" kern="1200" cap="none" spc="0" normalizeH="0" baseline="0" dirty="0">
              <a:solidFill>
                <a:schemeClr val="bg1"/>
              </a:solidFill>
              <a:latin typeface="华文楷体" panose="02010600040101010101" charset="-122"/>
              <a:ea typeface="华文楷体" panose="02010600040101010101" charset="-122"/>
              <a:cs typeface="华文楷体" panose="02010600040101010101" charset="-122"/>
              <a:sym typeface="Arial" panose="020B0604020202020204" pitchFamily="34" charset="0"/>
            </a:endParaRPr>
          </a:p>
          <a:p>
            <a:pPr marL="0" marR="0" lvl="0" indent="0" algn="ctr" defTabSz="914400" rtl="0" eaLnBrk="1" fontAlgn="auto" latinLnBrk="0" hangingPunct="1">
              <a:lnSpc>
                <a:spcPct val="140000"/>
              </a:lnSpc>
              <a:spcBef>
                <a:spcPts val="0"/>
              </a:spcBef>
              <a:spcAft>
                <a:spcPts val="0"/>
              </a:spcAft>
              <a:buClrTx/>
              <a:buSzTx/>
              <a:buFontTx/>
              <a:buNone/>
              <a:defRPr/>
            </a:pPr>
            <a:r>
              <a:rPr lang="zh-CN" altLang="en-US" sz="4400" b="1" dirty="0">
                <a:solidFill>
                  <a:schemeClr val="bg1"/>
                </a:solidFill>
                <a:latin typeface="Al Bayan Bold" charset="0"/>
                <a:ea typeface="华文楷体" panose="02010600040101010101" charset="-122"/>
                <a:cs typeface="Al Bayan Bold" charset="0"/>
                <a:sym typeface="Arial" panose="020B0604020202020204" pitchFamily="34" charset="0"/>
              </a:rPr>
              <a:t>VTE</a:t>
            </a:r>
            <a:r>
              <a:rPr lang="zh-CN" altLang="en-US" sz="4400" b="1" dirty="0">
                <a:solidFill>
                  <a:schemeClr val="bg1"/>
                </a:solidFill>
                <a:latin typeface="华文楷体" panose="02010600040101010101" charset="-122"/>
                <a:ea typeface="华文楷体" panose="02010600040101010101" charset="-122"/>
                <a:cs typeface="华文楷体" panose="02010600040101010101" charset="-122"/>
                <a:sym typeface="Arial" panose="020B0604020202020204" pitchFamily="34" charset="0"/>
              </a:rPr>
              <a:t>风险精准预测</a:t>
            </a:r>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5"/>
            </p:custDataLst>
          </p:nvPr>
        </p:nvSpPr>
        <p:spPr>
          <a:xfrm>
            <a:off x="6177280" y="3910965"/>
            <a:ext cx="4505960" cy="923290"/>
          </a:xfrm>
          <a:prstGeom prst="rect">
            <a:avLst/>
          </a:prstGeom>
          <a:noFill/>
        </p:spPr>
        <p:txBody>
          <a:bodyPr wrap="square" lIns="0" tIns="0" rIns="0" bIns="0" rtlCol="0">
            <a:spAutoFit/>
          </a:bodyPr>
          <a:lstStyle/>
          <a:p>
            <a:pPr hangingPunct="0">
              <a:lnSpc>
                <a:spcPct val="150000"/>
              </a:lnSpc>
            </a:pPr>
            <a:r>
              <a:rPr lang="en-US" altLang="zh-CN" sz="2000" dirty="0">
                <a:solidFill>
                  <a:schemeClr val="bg1">
                    <a:alpha val="80000"/>
                  </a:schemeClr>
                </a:solidFill>
                <a:cs typeface="+mn-ea"/>
                <a:sym typeface="+mn-lt"/>
              </a:rPr>
              <a:t>Based on Google technology accurate risk prediction of VTE</a:t>
            </a:r>
            <a:endParaRPr lang="en-US" altLang="zh-CN" sz="2000" dirty="0">
              <a:solidFill>
                <a:schemeClr val="bg1">
                  <a:alpha val="80000"/>
                </a:schemeClr>
              </a:solidFill>
              <a:cs typeface="+mn-ea"/>
              <a:sym typeface="+mn-lt"/>
            </a:endParaRPr>
          </a:p>
        </p:txBody>
      </p:sp>
      <p:sp>
        <p:nvSpPr>
          <p:cNvPr id="25" name="任意多边形: 形状 24"/>
          <p:cNvSpPr/>
          <p:nvPr/>
        </p:nvSpPr>
        <p:spPr>
          <a:xfrm>
            <a:off x="11328401" y="50673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9" name="组合 28"/>
          <p:cNvGrpSpPr/>
          <p:nvPr/>
        </p:nvGrpSpPr>
        <p:grpSpPr>
          <a:xfrm>
            <a:off x="9031605" y="543790"/>
            <a:ext cx="3160395" cy="362952"/>
            <a:chOff x="9031605" y="543790"/>
            <a:chExt cx="3160395" cy="362952"/>
          </a:xfrm>
        </p:grpSpPr>
        <p:sp>
          <p:nvSpPr>
            <p:cNvPr id="27" name="矩形 26"/>
            <p:cNvSpPr/>
            <p:nvPr/>
          </p:nvSpPr>
          <p:spPr>
            <a:xfrm>
              <a:off x="11933382" y="543790"/>
              <a:ext cx="258618" cy="1119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pic>
        <p:nvPicPr>
          <p:cNvPr id="40" name="pd-5b768150cbb72419">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10991850" y="-909638"/>
            <a:ext cx="609600" cy="609600"/>
          </a:xfrm>
          <a:prstGeom prst="rect">
            <a:avLst/>
          </a:prstGeom>
        </p:spPr>
      </p:pic>
      <p:sp>
        <p:nvSpPr>
          <p:cNvPr id="9" name="矩形: 圆角 16"/>
          <p:cNvSpPr/>
          <p:nvPr/>
        </p:nvSpPr>
        <p:spPr>
          <a:xfrm>
            <a:off x="7766050" y="5055235"/>
            <a:ext cx="1385570"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队长：水广山</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advTm="5000"/>
    </mc:Choice>
    <mc:Fallback>
      <p:transition advTm="5000"/>
    </mc:Fallback>
  </mc:AlternateContent>
  <p:timing>
    <p:tnLst>
      <p:par>
        <p:cTn id="1" dur="indefinite" restart="never" nodeType="tmRoot">
          <p:childTnLst>
            <p:audio>
              <p:cMediaNode vol="80000" numSld="999" showWhenStopped="0">
                <p:cTn id="2" repeatCount="indefinite" fill="hold" display="0">
                  <p:stCondLst>
                    <p:cond delay="indefinite"/>
                  </p:stCondLst>
                  <p:endCondLst>
                    <p:cond evt="onStopAudio" delay="0">
                      <p:tgtEl>
                        <p:sldTgt/>
                      </p:tgtEl>
                    </p:cond>
                  </p:endCondLst>
                </p:cTn>
                <p:tgtEl>
                  <p:spTgt spid="4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1076325"/>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现状分析</a:t>
            </a:r>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3"/>
            </p:custDataLst>
          </p:nvPr>
        </p:nvSpPr>
        <p:spPr>
          <a:xfrm>
            <a:off x="6079692" y="3925277"/>
            <a:ext cx="4049919" cy="1107440"/>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Despite advances in medical technology, the prediction of VTE risk remains a challenge. Existing models often require extensive manual input and computation, which may not be practical in a clinical setting.</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5991"/>
          </a:xfrm>
          <a:prstGeom prst="rect">
            <a:avLst/>
          </a:prstGeom>
          <a:noFill/>
        </p:spPr>
        <p:txBody>
          <a:bodyPr wrap="square" rtlCol="0">
            <a:spAutoFit/>
          </a:bodyPr>
          <a:lstStyle/>
          <a:p>
            <a:pPr algn="ctr"/>
            <a:r>
              <a:rPr lang="en-US" altLang="zh-CN"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01.</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32812" y="241573"/>
            <a:ext cx="6191219" cy="626543"/>
            <a:chOff x="284882" y="285115"/>
            <a:chExt cx="6191219" cy="626543"/>
          </a:xfrm>
        </p:grpSpPr>
        <p:sp>
          <p:nvSpPr>
            <p:cNvPr id="21" name="文本框 20"/>
            <p:cNvSpPr txBox="1"/>
            <p:nvPr/>
          </p:nvSpPr>
          <p:spPr>
            <a:xfrm>
              <a:off x="831727" y="285115"/>
              <a:ext cx="5644374"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背景</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描述</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8" name="矩形: 圆角 17"/>
          <p:cNvSpPr/>
          <p:nvPr/>
        </p:nvSpPr>
        <p:spPr>
          <a:xfrm>
            <a:off x="889639" y="1539305"/>
            <a:ext cx="6882761" cy="4213039"/>
          </a:xfrm>
          <a:prstGeom prst="roundRect">
            <a:avLst>
              <a:gd name="adj" fmla="val 5876"/>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išľïďe"/>
          <p:cNvSpPr/>
          <p:nvPr/>
        </p:nvSpPr>
        <p:spPr bwMode="auto">
          <a:xfrm>
            <a:off x="779780" y="2256790"/>
            <a:ext cx="421640" cy="2741930"/>
          </a:xfrm>
          <a:prstGeom prst="roundRect">
            <a:avLst>
              <a:gd name="adj" fmla="val 50000"/>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r>
              <a:rPr lang="zh-CN" altLang="en-US" sz="24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静 脉 血 栓 栓 塞 症 </a:t>
            </a:r>
            <a:endParaRPr lang="id-ID" altLang="zh-CN" sz="2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cxnSp>
        <p:nvCxnSpPr>
          <p:cNvPr id="20" name="直接连接符 19"/>
          <p:cNvCxnSpPr/>
          <p:nvPr/>
        </p:nvCxnSpPr>
        <p:spPr>
          <a:xfrm>
            <a:off x="1507958" y="3035398"/>
            <a:ext cx="5045241" cy="0"/>
          </a:xfrm>
          <a:prstGeom prst="line">
            <a:avLst/>
          </a:prstGeom>
          <a:ln>
            <a:solidFill>
              <a:schemeClr val="bg1">
                <a:lumMod val="75000"/>
              </a:schemeClr>
            </a:solidFill>
            <a:prstDash val="dashDot"/>
          </a:ln>
        </p:spPr>
        <p:style>
          <a:lnRef idx="1">
            <a:schemeClr val="accent3"/>
          </a:lnRef>
          <a:fillRef idx="0">
            <a:schemeClr val="accent3"/>
          </a:fillRef>
          <a:effectRef idx="0">
            <a:schemeClr val="accent3"/>
          </a:effectRef>
          <a:fontRef idx="minor">
            <a:schemeClr val="tx1"/>
          </a:fontRef>
        </p:style>
      </p:cxnSp>
      <p:cxnSp>
        <p:nvCxnSpPr>
          <p:cNvPr id="22" name="直接连接符 21"/>
          <p:cNvCxnSpPr/>
          <p:nvPr/>
        </p:nvCxnSpPr>
        <p:spPr>
          <a:xfrm>
            <a:off x="1507958" y="4343337"/>
            <a:ext cx="5045241" cy="0"/>
          </a:xfrm>
          <a:prstGeom prst="line">
            <a:avLst/>
          </a:prstGeom>
          <a:ln>
            <a:solidFill>
              <a:schemeClr val="bg1">
                <a:lumMod val="75000"/>
              </a:schemeClr>
            </a:solidFill>
            <a:prstDash val="dashDot"/>
          </a:ln>
        </p:spPr>
        <p:style>
          <a:lnRef idx="1">
            <a:schemeClr val="accent3"/>
          </a:lnRef>
          <a:fillRef idx="0">
            <a:schemeClr val="accent3"/>
          </a:fillRef>
          <a:effectRef idx="0">
            <a:schemeClr val="accent3"/>
          </a:effectRef>
          <a:fontRef idx="minor">
            <a:schemeClr val="tx1"/>
          </a:fontRef>
        </p:style>
      </p:cxnSp>
      <p:sp>
        <p:nvSpPr>
          <p:cNvPr id="23" name="矩形 3"/>
          <p:cNvSpPr>
            <a:spLocks noChangeArrowheads="1"/>
          </p:cNvSpPr>
          <p:nvPr/>
        </p:nvSpPr>
        <p:spPr bwMode="auto">
          <a:xfrm>
            <a:off x="1430679" y="1713747"/>
            <a:ext cx="1617322"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en-US" altLang="zh-CN"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V</a:t>
            </a:r>
            <a:r>
              <a:rPr lang="en-US" altLang="zh-CN"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TE</a:t>
            </a: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背景</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24" name="文本框 23"/>
          <p:cNvSpPr txBox="1"/>
          <p:nvPr/>
        </p:nvSpPr>
        <p:spPr>
          <a:xfrm>
            <a:off x="1657555" y="2072411"/>
            <a:ext cx="5048045" cy="3939540"/>
          </a:xfrm>
          <a:prstGeom prst="rect">
            <a:avLst/>
          </a:prstGeom>
          <a:noFill/>
        </p:spPr>
        <p:txBody>
          <a:bodyPr wrap="square" lIns="0" tIns="0" rIns="0" bIns="0">
            <a:spAutoFit/>
          </a:bodyPr>
          <a:lstStyle/>
          <a:p>
            <a:pPr algn="l"/>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静 脉 血 栓 栓 塞 症 （ＶＴＥ）包 括 深 静 脉 血 栓（ＤＶＴ）和肺动脉栓塞（ＰＥ），是患者住院期间常见的并发症，甚至</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是死亡的常见原因，俗称</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疾病里的</a:t>
            </a:r>
            <a:r>
              <a:rPr lang="en-US" altLang="zh-CN"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温柔杀手</a:t>
            </a:r>
            <a:r>
              <a:rPr lang="en-US" altLang="zh-CN"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在世界范围内，VTE是导致死亡的第三位血管疾病。每年全球范围内大约有1000万例VTE。近十年来，我国VTE的住院率从3.2/10万人上升到17.5/10万人。</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在所有住院患者中，无论是否手术，大部分患者至少存在一项及以上VTE的危险因素，但目前很少</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采取预防手段</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对VTE的高危人群进行有效的早期识别和针对性预防可显著减少VTE发生率、病死率和病残率，</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因此亟需一种方便、快速、可靠的预测评估工具。</a:t>
            </a:r>
            <a:endParaRPr lang="zh-CN" altLang="en-US" sz="1600">
              <a:latin typeface="汉仪中宋简" panose="02010600000101010101" charset="-122"/>
              <a:ea typeface="汉仪中宋简" panose="02010600000101010101" charset="-122"/>
              <a:cs typeface="汉仪中宋简" panose="02010600000101010101" charset="-122"/>
              <a:sym typeface="+mn-lt"/>
            </a:endParaRPr>
          </a:p>
          <a:p>
            <a:pPr algn="l"/>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5" name="图片 14"/>
          <p:cNvPicPr>
            <a:picLocks noChangeAspect="1"/>
          </p:cNvPicPr>
          <p:nvPr/>
        </p:nvPicPr>
        <p:blipFill>
          <a:blip r:embed="rId2"/>
          <a:stretch>
            <a:fillRect/>
          </a:stretch>
        </p:blipFill>
        <p:spPr>
          <a:xfrm>
            <a:off x="6856730" y="2047240"/>
            <a:ext cx="3902710" cy="33045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500"/>
                                        <p:tgtEl>
                                          <p:spTgt spid="20"/>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500"/>
                                        <p:tgtEl>
                                          <p:spTgt spid="22"/>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bldLvl="0" animBg="1"/>
      <p:bldP spid="23"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痛点</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分析</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4" name="组合 13"/>
          <p:cNvGrpSpPr/>
          <p:nvPr/>
        </p:nvGrpSpPr>
        <p:grpSpPr>
          <a:xfrm>
            <a:off x="741082" y="2118022"/>
            <a:ext cx="6752952" cy="3173433"/>
            <a:chOff x="687106" y="2147867"/>
            <a:chExt cx="6964021" cy="3272621"/>
          </a:xfrm>
        </p:grpSpPr>
        <p:sp>
          <p:nvSpPr>
            <p:cNvPr id="18" name="îŝľiḑé"/>
            <p:cNvSpPr/>
            <p:nvPr/>
          </p:nvSpPr>
          <p:spPr bwMode="auto">
            <a:xfrm>
              <a:off x="687106" y="3520105"/>
              <a:ext cx="1744662" cy="728662"/>
            </a:xfrm>
            <a:prstGeom prst="homePlate">
              <a:avLst>
                <a:gd name="adj" fmla="val 43468"/>
              </a:avLst>
            </a:prstGeom>
            <a:solidFill>
              <a:srgbClr val="13245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en-US" altLang="zh-CN" sz="3200" b="1" dirty="0">
                  <a:solidFill>
                    <a:schemeClr val="bg1"/>
                  </a:solidFill>
                  <a:cs typeface="+mn-ea"/>
                  <a:sym typeface="+mn-lt"/>
                </a:rPr>
                <a:t>WHY?</a:t>
              </a:r>
              <a:endParaRPr lang="zh-CN" altLang="en-US" sz="3200" b="1" dirty="0">
                <a:solidFill>
                  <a:schemeClr val="bg1"/>
                </a:solidFill>
                <a:ea typeface="宋体" pitchFamily="2" charset="-122"/>
                <a:cs typeface="+mn-ea"/>
                <a:sym typeface="+mn-lt"/>
              </a:endParaRPr>
            </a:p>
          </p:txBody>
        </p:sp>
        <p:sp>
          <p:nvSpPr>
            <p:cNvPr id="19" name="îṣľíḓê"/>
            <p:cNvSpPr/>
            <p:nvPr/>
          </p:nvSpPr>
          <p:spPr bwMode="auto">
            <a:xfrm>
              <a:off x="4265331" y="2336177"/>
              <a:ext cx="1549400" cy="490537"/>
            </a:xfrm>
            <a:prstGeom prst="homePlate">
              <a:avLst/>
            </a:prstGeom>
            <a:solidFill>
              <a:srgbClr val="62EFFE"/>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先进技术</a:t>
              </a: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少</a:t>
              </a:r>
              <a:endPar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2" name="iş1îďe"/>
            <p:cNvSpPr/>
            <p:nvPr/>
          </p:nvSpPr>
          <p:spPr bwMode="auto">
            <a:xfrm>
              <a:off x="6992314" y="2147867"/>
              <a:ext cx="658813" cy="658813"/>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23" name="ïŝľidê"/>
            <p:cNvSpPr/>
            <p:nvPr/>
          </p:nvSpPr>
          <p:spPr bwMode="auto">
            <a:xfrm>
              <a:off x="7179316" y="2346873"/>
              <a:ext cx="284810" cy="260802"/>
            </a:xfrm>
            <a:custGeom>
              <a:avLst/>
              <a:gdLst>
                <a:gd name="connsiteX0" fmla="*/ 192176 w 607614"/>
                <a:gd name="connsiteY0" fmla="*/ 71398 h 556807"/>
                <a:gd name="connsiteX1" fmla="*/ 239270 w 607614"/>
                <a:gd name="connsiteY1" fmla="*/ 78224 h 556807"/>
                <a:gd name="connsiteX2" fmla="*/ 237751 w 607614"/>
                <a:gd name="connsiteY2" fmla="*/ 102495 h 556807"/>
                <a:gd name="connsiteX3" fmla="*/ 237751 w 607614"/>
                <a:gd name="connsiteY3" fmla="*/ 150277 h 556807"/>
                <a:gd name="connsiteX4" fmla="*/ 227877 w 607614"/>
                <a:gd name="connsiteY4" fmla="*/ 182132 h 556807"/>
                <a:gd name="connsiteX5" fmla="*/ 227877 w 607614"/>
                <a:gd name="connsiteY5" fmla="*/ 223088 h 556807"/>
                <a:gd name="connsiteX6" fmla="*/ 244588 w 607614"/>
                <a:gd name="connsiteY6" fmla="*/ 262528 h 556807"/>
                <a:gd name="connsiteX7" fmla="*/ 278769 w 607614"/>
                <a:gd name="connsiteY7" fmla="*/ 332305 h 556807"/>
                <a:gd name="connsiteX8" fmla="*/ 278769 w 607614"/>
                <a:gd name="connsiteY8" fmla="*/ 361127 h 556807"/>
                <a:gd name="connsiteX9" fmla="*/ 272692 w 607614"/>
                <a:gd name="connsiteY9" fmla="*/ 370986 h 556807"/>
                <a:gd name="connsiteX10" fmla="*/ 182301 w 607614"/>
                <a:gd name="connsiteY10" fmla="*/ 420286 h 556807"/>
                <a:gd name="connsiteX11" fmla="*/ 126851 w 607614"/>
                <a:gd name="connsiteY11" fmla="*/ 513575 h 556807"/>
                <a:gd name="connsiteX12" fmla="*/ 126851 w 607614"/>
                <a:gd name="connsiteY12" fmla="*/ 556807 h 556807"/>
                <a:gd name="connsiteX13" fmla="*/ 0 w 607614"/>
                <a:gd name="connsiteY13" fmla="*/ 556807 h 556807"/>
                <a:gd name="connsiteX14" fmla="*/ 0 w 607614"/>
                <a:gd name="connsiteY14" fmla="*/ 518126 h 556807"/>
                <a:gd name="connsiteX15" fmla="*/ 41777 w 607614"/>
                <a:gd name="connsiteY15" fmla="*/ 447590 h 556807"/>
                <a:gd name="connsiteX16" fmla="*/ 109381 w 607614"/>
                <a:gd name="connsiteY16" fmla="*/ 405875 h 556807"/>
                <a:gd name="connsiteX17" fmla="*/ 120775 w 607614"/>
                <a:gd name="connsiteY17" fmla="*/ 386155 h 556807"/>
                <a:gd name="connsiteX18" fmla="*/ 120775 w 607614"/>
                <a:gd name="connsiteY18" fmla="*/ 358851 h 556807"/>
                <a:gd name="connsiteX19" fmla="*/ 84314 w 607614"/>
                <a:gd name="connsiteY19" fmla="*/ 295141 h 556807"/>
                <a:gd name="connsiteX20" fmla="*/ 70642 w 607614"/>
                <a:gd name="connsiteY20" fmla="*/ 267079 h 556807"/>
                <a:gd name="connsiteX21" fmla="*/ 70642 w 607614"/>
                <a:gd name="connsiteY21" fmla="*/ 232190 h 556807"/>
                <a:gd name="connsiteX22" fmla="*/ 81276 w 607614"/>
                <a:gd name="connsiteY22" fmla="*/ 208678 h 556807"/>
                <a:gd name="connsiteX23" fmla="*/ 81276 w 607614"/>
                <a:gd name="connsiteY23" fmla="*/ 162412 h 556807"/>
                <a:gd name="connsiteX24" fmla="*/ 192176 w 607614"/>
                <a:gd name="connsiteY24" fmla="*/ 71398 h 556807"/>
                <a:gd name="connsiteX25" fmla="*/ 374460 w 607614"/>
                <a:gd name="connsiteY25" fmla="*/ 0 h 556807"/>
                <a:gd name="connsiteX26" fmla="*/ 474708 w 607614"/>
                <a:gd name="connsiteY26" fmla="*/ 35654 h 556807"/>
                <a:gd name="connsiteX27" fmla="*/ 495973 w 607614"/>
                <a:gd name="connsiteY27" fmla="*/ 101651 h 556807"/>
                <a:gd name="connsiteX28" fmla="*/ 495973 w 607614"/>
                <a:gd name="connsiteY28" fmla="*/ 155511 h 556807"/>
                <a:gd name="connsiteX29" fmla="*/ 506606 w 607614"/>
                <a:gd name="connsiteY29" fmla="*/ 182062 h 556807"/>
                <a:gd name="connsiteX30" fmla="*/ 506606 w 607614"/>
                <a:gd name="connsiteY30" fmla="*/ 223026 h 556807"/>
                <a:gd name="connsiteX31" fmla="*/ 483063 w 607614"/>
                <a:gd name="connsiteY31" fmla="*/ 259439 h 556807"/>
                <a:gd name="connsiteX32" fmla="*/ 452684 w 607614"/>
                <a:gd name="connsiteY32" fmla="*/ 317850 h 556807"/>
                <a:gd name="connsiteX33" fmla="*/ 445849 w 607614"/>
                <a:gd name="connsiteY33" fmla="*/ 327712 h 556807"/>
                <a:gd name="connsiteX34" fmla="*/ 445849 w 607614"/>
                <a:gd name="connsiteY34" fmla="*/ 361849 h 556807"/>
                <a:gd name="connsiteX35" fmla="*/ 460279 w 607614"/>
                <a:gd name="connsiteY35" fmla="*/ 386124 h 556807"/>
                <a:gd name="connsiteX36" fmla="*/ 557490 w 607614"/>
                <a:gd name="connsiteY36" fmla="*/ 433915 h 556807"/>
                <a:gd name="connsiteX37" fmla="*/ 607614 w 607614"/>
                <a:gd name="connsiteY37" fmla="*/ 515843 h 556807"/>
                <a:gd name="connsiteX38" fmla="*/ 607614 w 607614"/>
                <a:gd name="connsiteY38" fmla="*/ 556807 h 556807"/>
                <a:gd name="connsiteX39" fmla="*/ 142065 w 607614"/>
                <a:gd name="connsiteY39" fmla="*/ 556807 h 556807"/>
                <a:gd name="connsiteX40" fmla="*/ 142065 w 607614"/>
                <a:gd name="connsiteY40" fmla="*/ 513567 h 556807"/>
                <a:gd name="connsiteX41" fmla="*/ 189152 w 607614"/>
                <a:gd name="connsiteY41" fmla="*/ 433915 h 556807"/>
                <a:gd name="connsiteX42" fmla="*/ 279527 w 607614"/>
                <a:gd name="connsiteY42" fmla="*/ 384606 h 556807"/>
                <a:gd name="connsiteX43" fmla="*/ 293957 w 607614"/>
                <a:gd name="connsiteY43" fmla="*/ 361090 h 556807"/>
                <a:gd name="connsiteX44" fmla="*/ 293957 w 607614"/>
                <a:gd name="connsiteY44" fmla="*/ 327712 h 556807"/>
                <a:gd name="connsiteX45" fmla="*/ 258262 w 607614"/>
                <a:gd name="connsiteY45" fmla="*/ 254129 h 556807"/>
                <a:gd name="connsiteX46" fmla="*/ 243073 w 607614"/>
                <a:gd name="connsiteY46" fmla="*/ 223026 h 556807"/>
                <a:gd name="connsiteX47" fmla="*/ 243073 w 607614"/>
                <a:gd name="connsiteY47" fmla="*/ 182062 h 556807"/>
                <a:gd name="connsiteX48" fmla="*/ 252946 w 607614"/>
                <a:gd name="connsiteY48" fmla="*/ 155511 h 556807"/>
                <a:gd name="connsiteX49" fmla="*/ 252946 w 607614"/>
                <a:gd name="connsiteY49" fmla="*/ 101651 h 556807"/>
                <a:gd name="connsiteX50" fmla="*/ 274211 w 607614"/>
                <a:gd name="connsiteY50" fmla="*/ 35654 h 556807"/>
                <a:gd name="connsiteX51" fmla="*/ 374460 w 607614"/>
                <a:gd name="connsiteY51" fmla="*/ 0 h 556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14" h="556807">
                  <a:moveTo>
                    <a:pt x="192176" y="71398"/>
                  </a:moveTo>
                  <a:cubicBezTo>
                    <a:pt x="209646" y="71398"/>
                    <a:pt x="224838" y="73673"/>
                    <a:pt x="239270" y="78224"/>
                  </a:cubicBezTo>
                  <a:cubicBezTo>
                    <a:pt x="236992" y="89601"/>
                    <a:pt x="237751" y="98702"/>
                    <a:pt x="237751" y="102495"/>
                  </a:cubicBezTo>
                  <a:lnTo>
                    <a:pt x="237751" y="150277"/>
                  </a:lnTo>
                  <a:cubicBezTo>
                    <a:pt x="231675" y="160137"/>
                    <a:pt x="227877" y="170755"/>
                    <a:pt x="227877" y="182132"/>
                  </a:cubicBezTo>
                  <a:lnTo>
                    <a:pt x="227877" y="223088"/>
                  </a:lnTo>
                  <a:cubicBezTo>
                    <a:pt x="227877" y="238257"/>
                    <a:pt x="233953" y="251909"/>
                    <a:pt x="244588" y="262528"/>
                  </a:cubicBezTo>
                  <a:cubicBezTo>
                    <a:pt x="253703" y="295141"/>
                    <a:pt x="269654" y="320170"/>
                    <a:pt x="278769" y="332305"/>
                  </a:cubicBezTo>
                  <a:lnTo>
                    <a:pt x="278769" y="361127"/>
                  </a:lnTo>
                  <a:cubicBezTo>
                    <a:pt x="278769" y="364919"/>
                    <a:pt x="276490" y="368711"/>
                    <a:pt x="272692" y="370986"/>
                  </a:cubicBezTo>
                  <a:lnTo>
                    <a:pt x="182301" y="420286"/>
                  </a:lnTo>
                  <a:cubicBezTo>
                    <a:pt x="148120" y="439247"/>
                    <a:pt x="126851" y="474894"/>
                    <a:pt x="126851" y="513575"/>
                  </a:cubicBezTo>
                  <a:lnTo>
                    <a:pt x="126851" y="556807"/>
                  </a:lnTo>
                  <a:lnTo>
                    <a:pt x="0" y="556807"/>
                  </a:lnTo>
                  <a:lnTo>
                    <a:pt x="0" y="518126"/>
                  </a:lnTo>
                  <a:cubicBezTo>
                    <a:pt x="0" y="488546"/>
                    <a:pt x="15951" y="462001"/>
                    <a:pt x="41777" y="447590"/>
                  </a:cubicBezTo>
                  <a:lnTo>
                    <a:pt x="109381" y="405875"/>
                  </a:lnTo>
                  <a:cubicBezTo>
                    <a:pt x="116977" y="401324"/>
                    <a:pt x="120775" y="394498"/>
                    <a:pt x="120775" y="386155"/>
                  </a:cubicBezTo>
                  <a:lnTo>
                    <a:pt x="120775" y="358851"/>
                  </a:lnTo>
                  <a:cubicBezTo>
                    <a:pt x="113179" y="350508"/>
                    <a:pt x="92670" y="326238"/>
                    <a:pt x="84314" y="295141"/>
                  </a:cubicBezTo>
                  <a:cubicBezTo>
                    <a:pt x="75959" y="288315"/>
                    <a:pt x="70642" y="277697"/>
                    <a:pt x="70642" y="267079"/>
                  </a:cubicBezTo>
                  <a:lnTo>
                    <a:pt x="70642" y="232190"/>
                  </a:lnTo>
                  <a:cubicBezTo>
                    <a:pt x="70642" y="223847"/>
                    <a:pt x="74440" y="215504"/>
                    <a:pt x="81276" y="208678"/>
                  </a:cubicBezTo>
                  <a:lnTo>
                    <a:pt x="81276" y="162412"/>
                  </a:lnTo>
                  <a:cubicBezTo>
                    <a:pt x="81276" y="160895"/>
                    <a:pt x="87353" y="71398"/>
                    <a:pt x="192176" y="71398"/>
                  </a:cubicBezTo>
                  <a:close/>
                  <a:moveTo>
                    <a:pt x="374460" y="0"/>
                  </a:moveTo>
                  <a:cubicBezTo>
                    <a:pt x="420787" y="0"/>
                    <a:pt x="454203" y="12137"/>
                    <a:pt x="474708" y="35654"/>
                  </a:cubicBezTo>
                  <a:cubicBezTo>
                    <a:pt x="499011" y="62963"/>
                    <a:pt x="496733" y="96341"/>
                    <a:pt x="495973" y="101651"/>
                  </a:cubicBezTo>
                  <a:lnTo>
                    <a:pt x="495973" y="155511"/>
                  </a:lnTo>
                  <a:cubicBezTo>
                    <a:pt x="502808" y="163097"/>
                    <a:pt x="506606" y="172201"/>
                    <a:pt x="506606" y="182062"/>
                  </a:cubicBezTo>
                  <a:lnTo>
                    <a:pt x="506606" y="223026"/>
                  </a:lnTo>
                  <a:cubicBezTo>
                    <a:pt x="506606" y="238957"/>
                    <a:pt x="496733" y="252611"/>
                    <a:pt x="483063" y="259439"/>
                  </a:cubicBezTo>
                  <a:cubicBezTo>
                    <a:pt x="475468" y="280679"/>
                    <a:pt x="465595" y="300403"/>
                    <a:pt x="452684" y="317850"/>
                  </a:cubicBezTo>
                  <a:cubicBezTo>
                    <a:pt x="450406" y="321643"/>
                    <a:pt x="448127" y="324678"/>
                    <a:pt x="445849" y="327712"/>
                  </a:cubicBezTo>
                  <a:lnTo>
                    <a:pt x="445849" y="361849"/>
                  </a:lnTo>
                  <a:cubicBezTo>
                    <a:pt x="445849" y="371710"/>
                    <a:pt x="451165" y="380813"/>
                    <a:pt x="460279" y="386124"/>
                  </a:cubicBezTo>
                  <a:lnTo>
                    <a:pt x="557490" y="433915"/>
                  </a:lnTo>
                  <a:cubicBezTo>
                    <a:pt x="588628" y="449845"/>
                    <a:pt x="607614" y="480948"/>
                    <a:pt x="607614" y="515843"/>
                  </a:cubicBezTo>
                  <a:lnTo>
                    <a:pt x="607614" y="556807"/>
                  </a:lnTo>
                  <a:lnTo>
                    <a:pt x="142065" y="556807"/>
                  </a:lnTo>
                  <a:lnTo>
                    <a:pt x="142065" y="513567"/>
                  </a:lnTo>
                  <a:cubicBezTo>
                    <a:pt x="142065" y="480189"/>
                    <a:pt x="160292" y="449845"/>
                    <a:pt x="189152" y="433915"/>
                  </a:cubicBezTo>
                  <a:lnTo>
                    <a:pt x="279527" y="384606"/>
                  </a:lnTo>
                  <a:cubicBezTo>
                    <a:pt x="288641" y="379296"/>
                    <a:pt x="293957" y="370952"/>
                    <a:pt x="293957" y="361090"/>
                  </a:cubicBezTo>
                  <a:lnTo>
                    <a:pt x="293957" y="327712"/>
                  </a:lnTo>
                  <a:cubicBezTo>
                    <a:pt x="287122" y="318609"/>
                    <a:pt x="267376" y="290541"/>
                    <a:pt x="258262" y="254129"/>
                  </a:cubicBezTo>
                  <a:cubicBezTo>
                    <a:pt x="248389" y="246543"/>
                    <a:pt x="243073" y="235164"/>
                    <a:pt x="243073" y="223026"/>
                  </a:cubicBezTo>
                  <a:lnTo>
                    <a:pt x="243073" y="182062"/>
                  </a:lnTo>
                  <a:cubicBezTo>
                    <a:pt x="243073" y="172201"/>
                    <a:pt x="246870" y="163097"/>
                    <a:pt x="252946" y="155511"/>
                  </a:cubicBezTo>
                  <a:lnTo>
                    <a:pt x="252946" y="101651"/>
                  </a:lnTo>
                  <a:cubicBezTo>
                    <a:pt x="252946" y="96341"/>
                    <a:pt x="250668" y="62963"/>
                    <a:pt x="274211" y="35654"/>
                  </a:cubicBezTo>
                  <a:cubicBezTo>
                    <a:pt x="295476" y="12137"/>
                    <a:pt x="328892" y="0"/>
                    <a:pt x="374460" y="0"/>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grpSp>
          <p:nvGrpSpPr>
            <p:cNvPr id="24" name="组合 23"/>
            <p:cNvGrpSpPr/>
            <p:nvPr/>
          </p:nvGrpSpPr>
          <p:grpSpPr>
            <a:xfrm>
              <a:off x="5814731" y="2580652"/>
              <a:ext cx="1027112" cy="2317569"/>
              <a:chOff x="5725831" y="2529852"/>
              <a:chExt cx="1027112" cy="2317569"/>
            </a:xfrm>
          </p:grpSpPr>
          <p:cxnSp>
            <p:nvCxnSpPr>
              <p:cNvPr id="26" name="直接箭头连接符 25"/>
              <p:cNvCxnSpPr>
                <a:stCxn id="19" idx="3"/>
              </p:cNvCxnSpPr>
              <p:nvPr/>
            </p:nvCxnSpPr>
            <p:spPr bwMode="auto">
              <a:xfrm>
                <a:off x="5725831" y="2529852"/>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bwMode="auto">
              <a:xfrm>
                <a:off x="5725831" y="3140859"/>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bwMode="auto">
              <a:xfrm>
                <a:off x="5725831" y="3993346"/>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bwMode="auto">
              <a:xfrm>
                <a:off x="5725831" y="4847421"/>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34" name="肘形连接符 50"/>
            <p:cNvCxnSpPr>
              <a:stCxn id="18" idx="3"/>
            </p:cNvCxnSpPr>
            <p:nvPr/>
          </p:nvCxnSpPr>
          <p:spPr bwMode="auto">
            <a:xfrm flipV="1">
              <a:off x="2431768" y="2615377"/>
              <a:ext cx="1833563" cy="1269059"/>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5" name="肘形连接符 52"/>
            <p:cNvCxnSpPr>
              <a:stCxn id="18" idx="3"/>
            </p:cNvCxnSpPr>
            <p:nvPr/>
          </p:nvCxnSpPr>
          <p:spPr bwMode="auto">
            <a:xfrm flipV="1">
              <a:off x="2431768" y="3469451"/>
              <a:ext cx="1833563" cy="414985"/>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6" name="肘形连接符 54"/>
            <p:cNvCxnSpPr>
              <a:stCxn id="18" idx="3"/>
            </p:cNvCxnSpPr>
            <p:nvPr/>
          </p:nvCxnSpPr>
          <p:spPr bwMode="auto">
            <a:xfrm>
              <a:off x="2431768" y="3884436"/>
              <a:ext cx="1833563" cy="437502"/>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7" name="肘形连接符 55"/>
            <p:cNvCxnSpPr>
              <a:stCxn id="18" idx="3"/>
            </p:cNvCxnSpPr>
            <p:nvPr/>
          </p:nvCxnSpPr>
          <p:spPr bwMode="auto">
            <a:xfrm>
              <a:off x="2431768" y="3884436"/>
              <a:ext cx="1833563" cy="1291577"/>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3306054" y="2564087"/>
              <a:ext cx="80228" cy="2640699"/>
              <a:chOff x="3217154" y="2513287"/>
              <a:chExt cx="80228" cy="2640699"/>
            </a:xfrm>
            <a:solidFill>
              <a:srgbClr val="13245C"/>
            </a:solidFill>
          </p:grpSpPr>
          <p:sp>
            <p:nvSpPr>
              <p:cNvPr id="39" name="íş1ídè"/>
              <p:cNvSpPr/>
              <p:nvPr/>
            </p:nvSpPr>
            <p:spPr bwMode="auto">
              <a:xfrm>
                <a:off x="3217154" y="2513287"/>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0" name="íṥļíde"/>
              <p:cNvSpPr/>
              <p:nvPr/>
            </p:nvSpPr>
            <p:spPr bwMode="auto">
              <a:xfrm>
                <a:off x="3217154" y="3361012"/>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1" name="ïSḷîḋê"/>
              <p:cNvSpPr/>
              <p:nvPr/>
            </p:nvSpPr>
            <p:spPr bwMode="auto">
              <a:xfrm>
                <a:off x="3217154" y="4216675"/>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2" name="î$ļíḑè"/>
              <p:cNvSpPr/>
              <p:nvPr/>
            </p:nvSpPr>
            <p:spPr bwMode="auto">
              <a:xfrm>
                <a:off x="3217154" y="5072504"/>
                <a:ext cx="80228" cy="81482"/>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grpSp>
        <p:sp>
          <p:nvSpPr>
            <p:cNvPr id="43" name="îṣľíḓê"/>
            <p:cNvSpPr/>
            <p:nvPr/>
          </p:nvSpPr>
          <p:spPr bwMode="auto">
            <a:xfrm>
              <a:off x="4265331" y="3200768"/>
              <a:ext cx="1549400" cy="490538"/>
            </a:xfrm>
            <a:prstGeom prst="homePlate">
              <a:avLst/>
            </a:pr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患病影响</a:t>
              </a: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多</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5" name="iş1îďe"/>
            <p:cNvSpPr/>
            <p:nvPr/>
          </p:nvSpPr>
          <p:spPr bwMode="auto">
            <a:xfrm>
              <a:off x="6992314" y="3000355"/>
              <a:ext cx="658813" cy="658812"/>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46" name="ïŝľidê"/>
            <p:cNvSpPr/>
            <p:nvPr/>
          </p:nvSpPr>
          <p:spPr bwMode="auto">
            <a:xfrm>
              <a:off x="7179317" y="3189539"/>
              <a:ext cx="284808" cy="280444"/>
            </a:xfrm>
            <a:custGeom>
              <a:avLst/>
              <a:gdLst>
                <a:gd name="connsiteX0" fmla="*/ 210237 w 587192"/>
                <a:gd name="connsiteY0" fmla="*/ 487697 h 579060"/>
                <a:gd name="connsiteX1" fmla="*/ 199202 w 587192"/>
                <a:gd name="connsiteY1" fmla="*/ 498628 h 579060"/>
                <a:gd name="connsiteX2" fmla="*/ 199202 w 587192"/>
                <a:gd name="connsiteY2" fmla="*/ 521647 h 579060"/>
                <a:gd name="connsiteX3" fmla="*/ 210237 w 587192"/>
                <a:gd name="connsiteY3" fmla="*/ 532667 h 579060"/>
                <a:gd name="connsiteX4" fmla="*/ 295575 w 587192"/>
                <a:gd name="connsiteY4" fmla="*/ 532667 h 579060"/>
                <a:gd name="connsiteX5" fmla="*/ 306521 w 587192"/>
                <a:gd name="connsiteY5" fmla="*/ 521647 h 579060"/>
                <a:gd name="connsiteX6" fmla="*/ 306521 w 587192"/>
                <a:gd name="connsiteY6" fmla="*/ 498628 h 579060"/>
                <a:gd name="connsiteX7" fmla="*/ 295575 w 587192"/>
                <a:gd name="connsiteY7" fmla="*/ 487697 h 579060"/>
                <a:gd name="connsiteX8" fmla="*/ 210237 w 587192"/>
                <a:gd name="connsiteY8" fmla="*/ 390112 h 579060"/>
                <a:gd name="connsiteX9" fmla="*/ 199202 w 587192"/>
                <a:gd name="connsiteY9" fmla="*/ 401133 h 579060"/>
                <a:gd name="connsiteX10" fmla="*/ 199202 w 587192"/>
                <a:gd name="connsiteY10" fmla="*/ 424062 h 579060"/>
                <a:gd name="connsiteX11" fmla="*/ 210237 w 587192"/>
                <a:gd name="connsiteY11" fmla="*/ 435083 h 579060"/>
                <a:gd name="connsiteX12" fmla="*/ 295575 w 587192"/>
                <a:gd name="connsiteY12" fmla="*/ 435083 h 579060"/>
                <a:gd name="connsiteX13" fmla="*/ 306521 w 587192"/>
                <a:gd name="connsiteY13" fmla="*/ 424062 h 579060"/>
                <a:gd name="connsiteX14" fmla="*/ 306521 w 587192"/>
                <a:gd name="connsiteY14" fmla="*/ 401133 h 579060"/>
                <a:gd name="connsiteX15" fmla="*/ 295575 w 587192"/>
                <a:gd name="connsiteY15" fmla="*/ 390112 h 579060"/>
                <a:gd name="connsiteX16" fmla="*/ 210237 w 587192"/>
                <a:gd name="connsiteY16" fmla="*/ 292527 h 579060"/>
                <a:gd name="connsiteX17" fmla="*/ 199202 w 587192"/>
                <a:gd name="connsiteY17" fmla="*/ 303459 h 579060"/>
                <a:gd name="connsiteX18" fmla="*/ 199202 w 587192"/>
                <a:gd name="connsiteY18" fmla="*/ 326478 h 579060"/>
                <a:gd name="connsiteX19" fmla="*/ 210237 w 587192"/>
                <a:gd name="connsiteY19" fmla="*/ 337498 h 579060"/>
                <a:gd name="connsiteX20" fmla="*/ 295575 w 587192"/>
                <a:gd name="connsiteY20" fmla="*/ 337498 h 579060"/>
                <a:gd name="connsiteX21" fmla="*/ 306521 w 587192"/>
                <a:gd name="connsiteY21" fmla="*/ 326478 h 579060"/>
                <a:gd name="connsiteX22" fmla="*/ 306521 w 587192"/>
                <a:gd name="connsiteY22" fmla="*/ 303459 h 579060"/>
                <a:gd name="connsiteX23" fmla="*/ 295575 w 587192"/>
                <a:gd name="connsiteY23" fmla="*/ 292527 h 579060"/>
                <a:gd name="connsiteX24" fmla="*/ 412250 w 587192"/>
                <a:gd name="connsiteY24" fmla="*/ 268713 h 579060"/>
                <a:gd name="connsiteX25" fmla="*/ 485772 w 587192"/>
                <a:gd name="connsiteY25" fmla="*/ 342022 h 579060"/>
                <a:gd name="connsiteX26" fmla="*/ 412250 w 587192"/>
                <a:gd name="connsiteY26" fmla="*/ 415419 h 579060"/>
                <a:gd name="connsiteX27" fmla="*/ 401658 w 587192"/>
                <a:gd name="connsiteY27" fmla="*/ 414353 h 579060"/>
                <a:gd name="connsiteX28" fmla="*/ 401658 w 587192"/>
                <a:gd name="connsiteY28" fmla="*/ 395692 h 579060"/>
                <a:gd name="connsiteX29" fmla="*/ 401658 w 587192"/>
                <a:gd name="connsiteY29" fmla="*/ 288440 h 579060"/>
                <a:gd name="connsiteX30" fmla="*/ 401658 w 587192"/>
                <a:gd name="connsiteY30" fmla="*/ 269691 h 579060"/>
                <a:gd name="connsiteX31" fmla="*/ 412250 w 587192"/>
                <a:gd name="connsiteY31" fmla="*/ 268713 h 579060"/>
                <a:gd name="connsiteX32" fmla="*/ 170993 w 587192"/>
                <a:gd name="connsiteY32" fmla="*/ 231737 h 579060"/>
                <a:gd name="connsiteX33" fmla="*/ 334819 w 587192"/>
                <a:gd name="connsiteY33" fmla="*/ 231737 h 579060"/>
                <a:gd name="connsiteX34" fmla="*/ 362494 w 587192"/>
                <a:gd name="connsiteY34" fmla="*/ 259377 h 579060"/>
                <a:gd name="connsiteX35" fmla="*/ 362494 w 587192"/>
                <a:gd name="connsiteY35" fmla="*/ 579060 h 579060"/>
                <a:gd name="connsiteX36" fmla="*/ 143318 w 587192"/>
                <a:gd name="connsiteY36" fmla="*/ 579060 h 579060"/>
                <a:gd name="connsiteX37" fmla="*/ 143318 w 587192"/>
                <a:gd name="connsiteY37" fmla="*/ 259377 h 579060"/>
                <a:gd name="connsiteX38" fmla="*/ 170993 w 587192"/>
                <a:gd name="connsiteY38" fmla="*/ 231737 h 579060"/>
                <a:gd name="connsiteX39" fmla="*/ 385391 w 587192"/>
                <a:gd name="connsiteY39" fmla="*/ 159196 h 579060"/>
                <a:gd name="connsiteX40" fmla="*/ 439244 w 587192"/>
                <a:gd name="connsiteY40" fmla="*/ 159196 h 579060"/>
                <a:gd name="connsiteX41" fmla="*/ 460518 w 587192"/>
                <a:gd name="connsiteY41" fmla="*/ 180435 h 579060"/>
                <a:gd name="connsiteX42" fmla="*/ 460518 w 587192"/>
                <a:gd name="connsiteY42" fmla="*/ 206918 h 579060"/>
                <a:gd name="connsiteX43" fmla="*/ 505469 w 587192"/>
                <a:gd name="connsiteY43" fmla="*/ 232778 h 579060"/>
                <a:gd name="connsiteX44" fmla="*/ 528345 w 587192"/>
                <a:gd name="connsiteY44" fmla="*/ 219626 h 579060"/>
                <a:gd name="connsiteX45" fmla="*/ 557363 w 587192"/>
                <a:gd name="connsiteY45" fmla="*/ 227357 h 579060"/>
                <a:gd name="connsiteX46" fmla="*/ 584334 w 587192"/>
                <a:gd name="connsiteY46" fmla="*/ 273924 h 579060"/>
                <a:gd name="connsiteX47" fmla="*/ 576590 w 587192"/>
                <a:gd name="connsiteY47" fmla="*/ 302894 h 579060"/>
                <a:gd name="connsiteX48" fmla="*/ 553625 w 587192"/>
                <a:gd name="connsiteY48" fmla="*/ 316136 h 579060"/>
                <a:gd name="connsiteX49" fmla="*/ 556028 w 587192"/>
                <a:gd name="connsiteY49" fmla="*/ 341996 h 579060"/>
                <a:gd name="connsiteX50" fmla="*/ 553625 w 587192"/>
                <a:gd name="connsiteY50" fmla="*/ 367945 h 579060"/>
                <a:gd name="connsiteX51" fmla="*/ 576590 w 587192"/>
                <a:gd name="connsiteY51" fmla="*/ 381187 h 579060"/>
                <a:gd name="connsiteX52" fmla="*/ 584334 w 587192"/>
                <a:gd name="connsiteY52" fmla="*/ 410157 h 579060"/>
                <a:gd name="connsiteX53" fmla="*/ 557363 w 587192"/>
                <a:gd name="connsiteY53" fmla="*/ 456724 h 579060"/>
                <a:gd name="connsiteX54" fmla="*/ 544546 w 587192"/>
                <a:gd name="connsiteY54" fmla="*/ 466588 h 579060"/>
                <a:gd name="connsiteX55" fmla="*/ 528345 w 587192"/>
                <a:gd name="connsiteY55" fmla="*/ 464455 h 579060"/>
                <a:gd name="connsiteX56" fmla="*/ 505469 w 587192"/>
                <a:gd name="connsiteY56" fmla="*/ 451214 h 579060"/>
                <a:gd name="connsiteX57" fmla="*/ 460518 w 587192"/>
                <a:gd name="connsiteY57" fmla="*/ 477074 h 579060"/>
                <a:gd name="connsiteX58" fmla="*/ 460518 w 587192"/>
                <a:gd name="connsiteY58" fmla="*/ 503557 h 579060"/>
                <a:gd name="connsiteX59" fmla="*/ 439244 w 587192"/>
                <a:gd name="connsiteY59" fmla="*/ 524796 h 579060"/>
                <a:gd name="connsiteX60" fmla="*/ 401680 w 587192"/>
                <a:gd name="connsiteY60" fmla="*/ 524796 h 579060"/>
                <a:gd name="connsiteX61" fmla="*/ 401680 w 587192"/>
                <a:gd name="connsiteY61" fmla="*/ 476363 h 579060"/>
                <a:gd name="connsiteX62" fmla="*/ 401680 w 587192"/>
                <a:gd name="connsiteY62" fmla="*/ 434151 h 579060"/>
                <a:gd name="connsiteX63" fmla="*/ 412273 w 587192"/>
                <a:gd name="connsiteY63" fmla="*/ 434951 h 579060"/>
                <a:gd name="connsiteX64" fmla="*/ 505380 w 587192"/>
                <a:gd name="connsiteY64" fmla="*/ 341996 h 579060"/>
                <a:gd name="connsiteX65" fmla="*/ 412273 w 587192"/>
                <a:gd name="connsiteY65" fmla="*/ 249130 h 579060"/>
                <a:gd name="connsiteX66" fmla="*/ 400701 w 587192"/>
                <a:gd name="connsiteY66" fmla="*/ 249930 h 579060"/>
                <a:gd name="connsiteX67" fmla="*/ 364117 w 587192"/>
                <a:gd name="connsiteY67" fmla="*/ 199719 h 579060"/>
                <a:gd name="connsiteX68" fmla="*/ 364117 w 587192"/>
                <a:gd name="connsiteY68" fmla="*/ 180435 h 579060"/>
                <a:gd name="connsiteX69" fmla="*/ 385391 w 587192"/>
                <a:gd name="connsiteY69" fmla="*/ 159196 h 579060"/>
                <a:gd name="connsiteX70" fmla="*/ 189325 w 587192"/>
                <a:gd name="connsiteY70" fmla="*/ 75016 h 579060"/>
                <a:gd name="connsiteX71" fmla="*/ 178288 w 587192"/>
                <a:gd name="connsiteY71" fmla="*/ 86037 h 579060"/>
                <a:gd name="connsiteX72" fmla="*/ 178288 w 587192"/>
                <a:gd name="connsiteY72" fmla="*/ 129677 h 579060"/>
                <a:gd name="connsiteX73" fmla="*/ 189325 w 587192"/>
                <a:gd name="connsiteY73" fmla="*/ 140699 h 579060"/>
                <a:gd name="connsiteX74" fmla="*/ 233029 w 587192"/>
                <a:gd name="connsiteY74" fmla="*/ 140699 h 579060"/>
                <a:gd name="connsiteX75" fmla="*/ 244067 w 587192"/>
                <a:gd name="connsiteY75" fmla="*/ 129677 h 579060"/>
                <a:gd name="connsiteX76" fmla="*/ 244067 w 587192"/>
                <a:gd name="connsiteY76" fmla="*/ 86037 h 579060"/>
                <a:gd name="connsiteX77" fmla="*/ 233029 w 587192"/>
                <a:gd name="connsiteY77" fmla="*/ 75016 h 579060"/>
                <a:gd name="connsiteX78" fmla="*/ 55988 w 587192"/>
                <a:gd name="connsiteY78" fmla="*/ 75016 h 579060"/>
                <a:gd name="connsiteX79" fmla="*/ 44950 w 587192"/>
                <a:gd name="connsiteY79" fmla="*/ 86037 h 579060"/>
                <a:gd name="connsiteX80" fmla="*/ 44950 w 587192"/>
                <a:gd name="connsiteY80" fmla="*/ 129677 h 579060"/>
                <a:gd name="connsiteX81" fmla="*/ 55988 w 587192"/>
                <a:gd name="connsiteY81" fmla="*/ 140699 h 579060"/>
                <a:gd name="connsiteX82" fmla="*/ 99692 w 587192"/>
                <a:gd name="connsiteY82" fmla="*/ 140699 h 579060"/>
                <a:gd name="connsiteX83" fmla="*/ 110729 w 587192"/>
                <a:gd name="connsiteY83" fmla="*/ 129677 h 579060"/>
                <a:gd name="connsiteX84" fmla="*/ 110729 w 587192"/>
                <a:gd name="connsiteY84" fmla="*/ 86037 h 579060"/>
                <a:gd name="connsiteX85" fmla="*/ 99692 w 587192"/>
                <a:gd name="connsiteY85" fmla="*/ 75016 h 579060"/>
                <a:gd name="connsiteX86" fmla="*/ 27682 w 587192"/>
                <a:gd name="connsiteY86" fmla="*/ 0 h 579060"/>
                <a:gd name="connsiteX87" fmla="*/ 261424 w 587192"/>
                <a:gd name="connsiteY87" fmla="*/ 0 h 579060"/>
                <a:gd name="connsiteX88" fmla="*/ 289106 w 587192"/>
                <a:gd name="connsiteY88" fmla="*/ 27642 h 579060"/>
                <a:gd name="connsiteX89" fmla="*/ 289106 w 587192"/>
                <a:gd name="connsiteY89" fmla="*/ 192605 h 579060"/>
                <a:gd name="connsiteX90" fmla="*/ 170989 w 587192"/>
                <a:gd name="connsiteY90" fmla="*/ 192605 h 579060"/>
                <a:gd name="connsiteX91" fmla="*/ 110729 w 587192"/>
                <a:gd name="connsiteY91" fmla="*/ 230913 h 579060"/>
                <a:gd name="connsiteX92" fmla="*/ 110729 w 587192"/>
                <a:gd name="connsiteY92" fmla="*/ 222825 h 579060"/>
                <a:gd name="connsiteX93" fmla="*/ 99692 w 587192"/>
                <a:gd name="connsiteY93" fmla="*/ 211803 h 579060"/>
                <a:gd name="connsiteX94" fmla="*/ 55988 w 587192"/>
                <a:gd name="connsiteY94" fmla="*/ 211803 h 579060"/>
                <a:gd name="connsiteX95" fmla="*/ 44950 w 587192"/>
                <a:gd name="connsiteY95" fmla="*/ 222825 h 579060"/>
                <a:gd name="connsiteX96" fmla="*/ 44950 w 587192"/>
                <a:gd name="connsiteY96" fmla="*/ 266554 h 579060"/>
                <a:gd name="connsiteX97" fmla="*/ 55988 w 587192"/>
                <a:gd name="connsiteY97" fmla="*/ 277487 h 579060"/>
                <a:gd name="connsiteX98" fmla="*/ 99692 w 587192"/>
                <a:gd name="connsiteY98" fmla="*/ 277487 h 579060"/>
                <a:gd name="connsiteX99" fmla="*/ 104142 w 587192"/>
                <a:gd name="connsiteY99" fmla="*/ 276598 h 579060"/>
                <a:gd name="connsiteX100" fmla="*/ 104142 w 587192"/>
                <a:gd name="connsiteY100" fmla="*/ 349569 h 579060"/>
                <a:gd name="connsiteX101" fmla="*/ 99692 w 587192"/>
                <a:gd name="connsiteY101" fmla="*/ 348680 h 579060"/>
                <a:gd name="connsiteX102" fmla="*/ 55988 w 587192"/>
                <a:gd name="connsiteY102" fmla="*/ 348680 h 579060"/>
                <a:gd name="connsiteX103" fmla="*/ 44950 w 587192"/>
                <a:gd name="connsiteY103" fmla="*/ 359613 h 579060"/>
                <a:gd name="connsiteX104" fmla="*/ 44950 w 587192"/>
                <a:gd name="connsiteY104" fmla="*/ 403342 h 579060"/>
                <a:gd name="connsiteX105" fmla="*/ 55988 w 587192"/>
                <a:gd name="connsiteY105" fmla="*/ 414364 h 579060"/>
                <a:gd name="connsiteX106" fmla="*/ 99692 w 587192"/>
                <a:gd name="connsiteY106" fmla="*/ 414364 h 579060"/>
                <a:gd name="connsiteX107" fmla="*/ 104142 w 587192"/>
                <a:gd name="connsiteY107" fmla="*/ 413386 h 579060"/>
                <a:gd name="connsiteX108" fmla="*/ 104142 w 587192"/>
                <a:gd name="connsiteY108" fmla="*/ 579060 h 579060"/>
                <a:gd name="connsiteX109" fmla="*/ 27682 w 587192"/>
                <a:gd name="connsiteY109" fmla="*/ 579060 h 579060"/>
                <a:gd name="connsiteX110" fmla="*/ 0 w 587192"/>
                <a:gd name="connsiteY110" fmla="*/ 551329 h 579060"/>
                <a:gd name="connsiteX111" fmla="*/ 0 w 587192"/>
                <a:gd name="connsiteY111" fmla="*/ 27642 h 579060"/>
                <a:gd name="connsiteX112" fmla="*/ 27682 w 587192"/>
                <a:gd name="connsiteY112" fmla="*/ 0 h 57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587192" h="579060">
                  <a:moveTo>
                    <a:pt x="210237" y="487697"/>
                  </a:moveTo>
                  <a:cubicBezTo>
                    <a:pt x="204096" y="487697"/>
                    <a:pt x="199202" y="492585"/>
                    <a:pt x="199202" y="498628"/>
                  </a:cubicBezTo>
                  <a:lnTo>
                    <a:pt x="199202" y="521647"/>
                  </a:lnTo>
                  <a:cubicBezTo>
                    <a:pt x="199202" y="527690"/>
                    <a:pt x="204096" y="532667"/>
                    <a:pt x="210237" y="532667"/>
                  </a:cubicBezTo>
                  <a:lnTo>
                    <a:pt x="295575" y="532667"/>
                  </a:lnTo>
                  <a:cubicBezTo>
                    <a:pt x="301627" y="532667"/>
                    <a:pt x="306521" y="527690"/>
                    <a:pt x="306521" y="521647"/>
                  </a:cubicBezTo>
                  <a:lnTo>
                    <a:pt x="306521" y="498628"/>
                  </a:lnTo>
                  <a:cubicBezTo>
                    <a:pt x="306521" y="492585"/>
                    <a:pt x="301627" y="487697"/>
                    <a:pt x="295575" y="487697"/>
                  </a:cubicBezTo>
                  <a:close/>
                  <a:moveTo>
                    <a:pt x="210237" y="390112"/>
                  </a:moveTo>
                  <a:cubicBezTo>
                    <a:pt x="204096" y="390112"/>
                    <a:pt x="199202" y="395000"/>
                    <a:pt x="199202" y="401133"/>
                  </a:cubicBezTo>
                  <a:lnTo>
                    <a:pt x="199202" y="424062"/>
                  </a:lnTo>
                  <a:cubicBezTo>
                    <a:pt x="199202" y="430106"/>
                    <a:pt x="204096" y="435083"/>
                    <a:pt x="210237" y="435083"/>
                  </a:cubicBezTo>
                  <a:lnTo>
                    <a:pt x="295575" y="435083"/>
                  </a:lnTo>
                  <a:cubicBezTo>
                    <a:pt x="301627" y="435083"/>
                    <a:pt x="306521" y="430106"/>
                    <a:pt x="306521" y="424062"/>
                  </a:cubicBezTo>
                  <a:lnTo>
                    <a:pt x="306521" y="401133"/>
                  </a:lnTo>
                  <a:cubicBezTo>
                    <a:pt x="306521" y="395000"/>
                    <a:pt x="301627" y="390112"/>
                    <a:pt x="295575" y="390112"/>
                  </a:cubicBezTo>
                  <a:close/>
                  <a:moveTo>
                    <a:pt x="210237" y="292527"/>
                  </a:moveTo>
                  <a:cubicBezTo>
                    <a:pt x="204096" y="292527"/>
                    <a:pt x="199202" y="297416"/>
                    <a:pt x="199202" y="303459"/>
                  </a:cubicBezTo>
                  <a:lnTo>
                    <a:pt x="199202" y="326478"/>
                  </a:lnTo>
                  <a:cubicBezTo>
                    <a:pt x="199202" y="332521"/>
                    <a:pt x="204096" y="337498"/>
                    <a:pt x="210237" y="337498"/>
                  </a:cubicBezTo>
                  <a:lnTo>
                    <a:pt x="295575" y="337498"/>
                  </a:lnTo>
                  <a:cubicBezTo>
                    <a:pt x="301627" y="337498"/>
                    <a:pt x="306521" y="332521"/>
                    <a:pt x="306521" y="326478"/>
                  </a:cubicBezTo>
                  <a:lnTo>
                    <a:pt x="306521" y="303459"/>
                  </a:lnTo>
                  <a:cubicBezTo>
                    <a:pt x="306521" y="297416"/>
                    <a:pt x="301627" y="292527"/>
                    <a:pt x="295575" y="292527"/>
                  </a:cubicBezTo>
                  <a:close/>
                  <a:moveTo>
                    <a:pt x="412250" y="268713"/>
                  </a:moveTo>
                  <a:cubicBezTo>
                    <a:pt x="452838" y="268713"/>
                    <a:pt x="485772" y="301591"/>
                    <a:pt x="485772" y="342022"/>
                  </a:cubicBezTo>
                  <a:cubicBezTo>
                    <a:pt x="485772" y="382541"/>
                    <a:pt x="452838" y="415419"/>
                    <a:pt x="412250" y="415419"/>
                  </a:cubicBezTo>
                  <a:cubicBezTo>
                    <a:pt x="408690" y="415419"/>
                    <a:pt x="405129" y="414886"/>
                    <a:pt x="401658" y="414353"/>
                  </a:cubicBezTo>
                  <a:lnTo>
                    <a:pt x="401658" y="395692"/>
                  </a:lnTo>
                  <a:lnTo>
                    <a:pt x="401658" y="288440"/>
                  </a:lnTo>
                  <a:lnTo>
                    <a:pt x="401658" y="269691"/>
                  </a:lnTo>
                  <a:cubicBezTo>
                    <a:pt x="405129" y="269157"/>
                    <a:pt x="408690" y="268713"/>
                    <a:pt x="412250" y="268713"/>
                  </a:cubicBezTo>
                  <a:close/>
                  <a:moveTo>
                    <a:pt x="170993" y="231737"/>
                  </a:moveTo>
                  <a:lnTo>
                    <a:pt x="334819" y="231737"/>
                  </a:lnTo>
                  <a:cubicBezTo>
                    <a:pt x="350125" y="231737"/>
                    <a:pt x="362494" y="244091"/>
                    <a:pt x="362494" y="259377"/>
                  </a:cubicBezTo>
                  <a:lnTo>
                    <a:pt x="362494" y="579060"/>
                  </a:lnTo>
                  <a:lnTo>
                    <a:pt x="143318" y="579060"/>
                  </a:lnTo>
                  <a:lnTo>
                    <a:pt x="143318" y="259377"/>
                  </a:lnTo>
                  <a:cubicBezTo>
                    <a:pt x="143318" y="244091"/>
                    <a:pt x="155687" y="231737"/>
                    <a:pt x="170993" y="231737"/>
                  </a:cubicBezTo>
                  <a:close/>
                  <a:moveTo>
                    <a:pt x="385391" y="159196"/>
                  </a:moveTo>
                  <a:lnTo>
                    <a:pt x="439244" y="159196"/>
                  </a:lnTo>
                  <a:cubicBezTo>
                    <a:pt x="450993" y="159196"/>
                    <a:pt x="460518" y="168705"/>
                    <a:pt x="460518" y="180435"/>
                  </a:cubicBezTo>
                  <a:lnTo>
                    <a:pt x="460518" y="206918"/>
                  </a:lnTo>
                  <a:cubicBezTo>
                    <a:pt x="477074" y="212872"/>
                    <a:pt x="492295" y="221581"/>
                    <a:pt x="505469" y="232778"/>
                  </a:cubicBezTo>
                  <a:lnTo>
                    <a:pt x="528345" y="219626"/>
                  </a:lnTo>
                  <a:cubicBezTo>
                    <a:pt x="538582" y="213760"/>
                    <a:pt x="551578" y="217226"/>
                    <a:pt x="557363" y="227357"/>
                  </a:cubicBezTo>
                  <a:lnTo>
                    <a:pt x="584334" y="273924"/>
                  </a:lnTo>
                  <a:cubicBezTo>
                    <a:pt x="590209" y="284055"/>
                    <a:pt x="586738" y="297029"/>
                    <a:pt x="576590" y="302894"/>
                  </a:cubicBezTo>
                  <a:lnTo>
                    <a:pt x="553625" y="316136"/>
                  </a:lnTo>
                  <a:cubicBezTo>
                    <a:pt x="555138" y="324578"/>
                    <a:pt x="556028" y="333198"/>
                    <a:pt x="556028" y="341996"/>
                  </a:cubicBezTo>
                  <a:cubicBezTo>
                    <a:pt x="556028" y="350883"/>
                    <a:pt x="555138" y="359503"/>
                    <a:pt x="553625" y="367945"/>
                  </a:cubicBezTo>
                  <a:lnTo>
                    <a:pt x="576590" y="381187"/>
                  </a:lnTo>
                  <a:cubicBezTo>
                    <a:pt x="586738" y="387052"/>
                    <a:pt x="590209" y="400026"/>
                    <a:pt x="584334" y="410157"/>
                  </a:cubicBezTo>
                  <a:lnTo>
                    <a:pt x="557363" y="456724"/>
                  </a:lnTo>
                  <a:cubicBezTo>
                    <a:pt x="554604" y="461611"/>
                    <a:pt x="549975" y="465166"/>
                    <a:pt x="544546" y="466588"/>
                  </a:cubicBezTo>
                  <a:cubicBezTo>
                    <a:pt x="539027" y="468010"/>
                    <a:pt x="533241" y="467299"/>
                    <a:pt x="528345" y="464455"/>
                  </a:cubicBezTo>
                  <a:lnTo>
                    <a:pt x="505469" y="451214"/>
                  </a:lnTo>
                  <a:cubicBezTo>
                    <a:pt x="492295" y="462411"/>
                    <a:pt x="477074" y="471209"/>
                    <a:pt x="460518" y="477074"/>
                  </a:cubicBezTo>
                  <a:lnTo>
                    <a:pt x="460518" y="503557"/>
                  </a:lnTo>
                  <a:cubicBezTo>
                    <a:pt x="460518" y="515287"/>
                    <a:pt x="450993" y="524796"/>
                    <a:pt x="439244" y="524796"/>
                  </a:cubicBezTo>
                  <a:lnTo>
                    <a:pt x="401680" y="524796"/>
                  </a:lnTo>
                  <a:lnTo>
                    <a:pt x="401680" y="476363"/>
                  </a:lnTo>
                  <a:lnTo>
                    <a:pt x="401680" y="434151"/>
                  </a:lnTo>
                  <a:cubicBezTo>
                    <a:pt x="405152" y="434596"/>
                    <a:pt x="408712" y="434951"/>
                    <a:pt x="412273" y="434951"/>
                  </a:cubicBezTo>
                  <a:cubicBezTo>
                    <a:pt x="463633" y="434951"/>
                    <a:pt x="505380" y="393272"/>
                    <a:pt x="505380" y="341996"/>
                  </a:cubicBezTo>
                  <a:cubicBezTo>
                    <a:pt x="505380" y="290809"/>
                    <a:pt x="463633" y="249130"/>
                    <a:pt x="412273" y="249130"/>
                  </a:cubicBezTo>
                  <a:cubicBezTo>
                    <a:pt x="408356" y="249130"/>
                    <a:pt x="404529" y="249485"/>
                    <a:pt x="400701" y="249930"/>
                  </a:cubicBezTo>
                  <a:cubicBezTo>
                    <a:pt x="397497" y="227801"/>
                    <a:pt x="383522" y="209228"/>
                    <a:pt x="364117" y="199719"/>
                  </a:cubicBezTo>
                  <a:lnTo>
                    <a:pt x="364117" y="180435"/>
                  </a:lnTo>
                  <a:cubicBezTo>
                    <a:pt x="364117" y="168705"/>
                    <a:pt x="373641" y="159196"/>
                    <a:pt x="385391" y="159196"/>
                  </a:cubicBezTo>
                  <a:close/>
                  <a:moveTo>
                    <a:pt x="189325" y="75016"/>
                  </a:moveTo>
                  <a:cubicBezTo>
                    <a:pt x="183273" y="75016"/>
                    <a:pt x="178288" y="79904"/>
                    <a:pt x="178288" y="86037"/>
                  </a:cubicBezTo>
                  <a:lnTo>
                    <a:pt x="178288" y="129677"/>
                  </a:lnTo>
                  <a:cubicBezTo>
                    <a:pt x="178288" y="135810"/>
                    <a:pt x="183273" y="140699"/>
                    <a:pt x="189325" y="140699"/>
                  </a:cubicBezTo>
                  <a:lnTo>
                    <a:pt x="233029" y="140699"/>
                  </a:lnTo>
                  <a:cubicBezTo>
                    <a:pt x="239171" y="140699"/>
                    <a:pt x="244067" y="135810"/>
                    <a:pt x="244067" y="129677"/>
                  </a:cubicBezTo>
                  <a:lnTo>
                    <a:pt x="244067" y="86037"/>
                  </a:lnTo>
                  <a:cubicBezTo>
                    <a:pt x="244067" y="79904"/>
                    <a:pt x="239171" y="75016"/>
                    <a:pt x="233029" y="75016"/>
                  </a:cubicBezTo>
                  <a:close/>
                  <a:moveTo>
                    <a:pt x="55988" y="75016"/>
                  </a:moveTo>
                  <a:cubicBezTo>
                    <a:pt x="49846" y="75016"/>
                    <a:pt x="44950" y="79904"/>
                    <a:pt x="44950" y="86037"/>
                  </a:cubicBezTo>
                  <a:lnTo>
                    <a:pt x="44950" y="129677"/>
                  </a:lnTo>
                  <a:cubicBezTo>
                    <a:pt x="44950" y="135810"/>
                    <a:pt x="49846" y="140699"/>
                    <a:pt x="55988" y="140699"/>
                  </a:cubicBezTo>
                  <a:lnTo>
                    <a:pt x="99692" y="140699"/>
                  </a:lnTo>
                  <a:cubicBezTo>
                    <a:pt x="105833" y="140699"/>
                    <a:pt x="110729" y="135810"/>
                    <a:pt x="110729" y="129677"/>
                  </a:cubicBezTo>
                  <a:lnTo>
                    <a:pt x="110729" y="86037"/>
                  </a:lnTo>
                  <a:cubicBezTo>
                    <a:pt x="110729" y="79904"/>
                    <a:pt x="105833" y="75016"/>
                    <a:pt x="99692" y="75016"/>
                  </a:cubicBezTo>
                  <a:close/>
                  <a:moveTo>
                    <a:pt x="27682" y="0"/>
                  </a:moveTo>
                  <a:lnTo>
                    <a:pt x="261424" y="0"/>
                  </a:lnTo>
                  <a:cubicBezTo>
                    <a:pt x="276645" y="0"/>
                    <a:pt x="289106" y="12354"/>
                    <a:pt x="289106" y="27642"/>
                  </a:cubicBezTo>
                  <a:lnTo>
                    <a:pt x="289106" y="192605"/>
                  </a:lnTo>
                  <a:lnTo>
                    <a:pt x="170989" y="192605"/>
                  </a:lnTo>
                  <a:cubicBezTo>
                    <a:pt x="144375" y="192605"/>
                    <a:pt x="121499" y="208337"/>
                    <a:pt x="110729" y="230913"/>
                  </a:cubicBezTo>
                  <a:lnTo>
                    <a:pt x="110729" y="222825"/>
                  </a:lnTo>
                  <a:cubicBezTo>
                    <a:pt x="110729" y="216781"/>
                    <a:pt x="105833" y="211803"/>
                    <a:pt x="99692" y="211803"/>
                  </a:cubicBezTo>
                  <a:lnTo>
                    <a:pt x="55988" y="211803"/>
                  </a:lnTo>
                  <a:cubicBezTo>
                    <a:pt x="49846" y="211803"/>
                    <a:pt x="44950" y="216781"/>
                    <a:pt x="44950" y="222825"/>
                  </a:cubicBezTo>
                  <a:lnTo>
                    <a:pt x="44950" y="266554"/>
                  </a:lnTo>
                  <a:cubicBezTo>
                    <a:pt x="44950" y="272598"/>
                    <a:pt x="49846" y="277487"/>
                    <a:pt x="55988" y="277487"/>
                  </a:cubicBezTo>
                  <a:lnTo>
                    <a:pt x="99692" y="277487"/>
                  </a:lnTo>
                  <a:cubicBezTo>
                    <a:pt x="101294" y="277487"/>
                    <a:pt x="102807" y="277131"/>
                    <a:pt x="104142" y="276598"/>
                  </a:cubicBezTo>
                  <a:lnTo>
                    <a:pt x="104142" y="349569"/>
                  </a:lnTo>
                  <a:cubicBezTo>
                    <a:pt x="102807" y="349036"/>
                    <a:pt x="101294" y="348680"/>
                    <a:pt x="99692" y="348680"/>
                  </a:cubicBezTo>
                  <a:lnTo>
                    <a:pt x="55988" y="348680"/>
                  </a:lnTo>
                  <a:cubicBezTo>
                    <a:pt x="49846" y="348680"/>
                    <a:pt x="44950" y="353569"/>
                    <a:pt x="44950" y="359613"/>
                  </a:cubicBezTo>
                  <a:lnTo>
                    <a:pt x="44950" y="403342"/>
                  </a:lnTo>
                  <a:cubicBezTo>
                    <a:pt x="44950" y="409475"/>
                    <a:pt x="49846" y="414364"/>
                    <a:pt x="55988" y="414364"/>
                  </a:cubicBezTo>
                  <a:lnTo>
                    <a:pt x="99692" y="414364"/>
                  </a:lnTo>
                  <a:cubicBezTo>
                    <a:pt x="101294" y="414364"/>
                    <a:pt x="102807" y="414008"/>
                    <a:pt x="104142" y="413386"/>
                  </a:cubicBezTo>
                  <a:lnTo>
                    <a:pt x="104142" y="579060"/>
                  </a:lnTo>
                  <a:lnTo>
                    <a:pt x="27682" y="579060"/>
                  </a:lnTo>
                  <a:cubicBezTo>
                    <a:pt x="12372" y="579060"/>
                    <a:pt x="0" y="566617"/>
                    <a:pt x="0" y="551329"/>
                  </a:cubicBezTo>
                  <a:lnTo>
                    <a:pt x="0" y="27642"/>
                  </a:lnTo>
                  <a:cubicBezTo>
                    <a:pt x="0" y="12354"/>
                    <a:pt x="12372" y="0"/>
                    <a:pt x="27682" y="0"/>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sp>
          <p:nvSpPr>
            <p:cNvPr id="47" name="îṣľíḓê"/>
            <p:cNvSpPr/>
            <p:nvPr/>
          </p:nvSpPr>
          <p:spPr bwMode="auto">
            <a:xfrm>
              <a:off x="4265331" y="4065360"/>
              <a:ext cx="1549400" cy="490538"/>
            </a:xfrm>
            <a:prstGeom prst="homePlate">
              <a:avLst/>
            </a:prstGeom>
            <a:solidFill>
              <a:srgbClr val="62EFFE"/>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数据质量</a:t>
              </a: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差</a:t>
              </a:r>
              <a:endPar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49" name="iş1îďe"/>
            <p:cNvSpPr/>
            <p:nvPr/>
          </p:nvSpPr>
          <p:spPr bwMode="auto">
            <a:xfrm>
              <a:off x="6992314" y="3854430"/>
              <a:ext cx="658813" cy="658812"/>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51" name="îṣľíḓê"/>
            <p:cNvSpPr/>
            <p:nvPr/>
          </p:nvSpPr>
          <p:spPr bwMode="auto">
            <a:xfrm>
              <a:off x="4265331" y="4929951"/>
              <a:ext cx="1549400" cy="490537"/>
            </a:xfrm>
            <a:prstGeom prst="homePlate">
              <a:avLst/>
            </a:pr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数据变化</a:t>
              </a: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快</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3" name="iş1îďe"/>
            <p:cNvSpPr/>
            <p:nvPr/>
          </p:nvSpPr>
          <p:spPr bwMode="auto">
            <a:xfrm>
              <a:off x="6992314" y="4706917"/>
              <a:ext cx="658813" cy="658813"/>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54" name="ïŝľidê"/>
            <p:cNvSpPr/>
            <p:nvPr/>
          </p:nvSpPr>
          <p:spPr bwMode="auto">
            <a:xfrm>
              <a:off x="7179316" y="4058989"/>
              <a:ext cx="284810" cy="284808"/>
            </a:xfrm>
            <a:custGeom>
              <a:avLst/>
              <a:gdLst>
                <a:gd name="connsiteX0" fmla="*/ 0 w 607639"/>
                <a:gd name="connsiteY0" fmla="*/ 488737 h 606722"/>
                <a:gd name="connsiteX1" fmla="*/ 50666 w 607639"/>
                <a:gd name="connsiteY1" fmla="*/ 488737 h 606722"/>
                <a:gd name="connsiteX2" fmla="*/ 50666 w 607639"/>
                <a:gd name="connsiteY2" fmla="*/ 556197 h 606722"/>
                <a:gd name="connsiteX3" fmla="*/ 118127 w 607639"/>
                <a:gd name="connsiteY3" fmla="*/ 556197 h 606722"/>
                <a:gd name="connsiteX4" fmla="*/ 118127 w 607639"/>
                <a:gd name="connsiteY4" fmla="*/ 488737 h 606722"/>
                <a:gd name="connsiteX5" fmla="*/ 489442 w 607639"/>
                <a:gd name="connsiteY5" fmla="*/ 488737 h 606722"/>
                <a:gd name="connsiteX6" fmla="*/ 489442 w 607639"/>
                <a:gd name="connsiteY6" fmla="*/ 556197 h 606722"/>
                <a:gd name="connsiteX7" fmla="*/ 556973 w 607639"/>
                <a:gd name="connsiteY7" fmla="*/ 556197 h 606722"/>
                <a:gd name="connsiteX8" fmla="*/ 556973 w 607639"/>
                <a:gd name="connsiteY8" fmla="*/ 488737 h 606722"/>
                <a:gd name="connsiteX9" fmla="*/ 607639 w 607639"/>
                <a:gd name="connsiteY9" fmla="*/ 488737 h 606722"/>
                <a:gd name="connsiteX10" fmla="*/ 607639 w 607639"/>
                <a:gd name="connsiteY10" fmla="*/ 556198 h 606722"/>
                <a:gd name="connsiteX11" fmla="*/ 556973 w 607639"/>
                <a:gd name="connsiteY11" fmla="*/ 556198 h 606722"/>
                <a:gd name="connsiteX12" fmla="*/ 556973 w 607639"/>
                <a:gd name="connsiteY12" fmla="*/ 606722 h 606722"/>
                <a:gd name="connsiteX13" fmla="*/ 489442 w 607639"/>
                <a:gd name="connsiteY13" fmla="*/ 606722 h 606722"/>
                <a:gd name="connsiteX14" fmla="*/ 489442 w 607639"/>
                <a:gd name="connsiteY14" fmla="*/ 556198 h 606722"/>
                <a:gd name="connsiteX15" fmla="*/ 118127 w 607639"/>
                <a:gd name="connsiteY15" fmla="*/ 556198 h 606722"/>
                <a:gd name="connsiteX16" fmla="*/ 118127 w 607639"/>
                <a:gd name="connsiteY16" fmla="*/ 606722 h 606722"/>
                <a:gd name="connsiteX17" fmla="*/ 50666 w 607639"/>
                <a:gd name="connsiteY17" fmla="*/ 606722 h 606722"/>
                <a:gd name="connsiteX18" fmla="*/ 50666 w 607639"/>
                <a:gd name="connsiteY18" fmla="*/ 556198 h 606722"/>
                <a:gd name="connsiteX19" fmla="*/ 0 w 607639"/>
                <a:gd name="connsiteY19" fmla="*/ 556198 h 606722"/>
                <a:gd name="connsiteX20" fmla="*/ 168722 w 607639"/>
                <a:gd name="connsiteY20" fmla="*/ 168510 h 606722"/>
                <a:gd name="connsiteX21" fmla="*/ 438776 w 607639"/>
                <a:gd name="connsiteY21" fmla="*/ 168510 h 606722"/>
                <a:gd name="connsiteX22" fmla="*/ 438776 w 607639"/>
                <a:gd name="connsiteY22" fmla="*/ 438141 h 606722"/>
                <a:gd name="connsiteX23" fmla="*/ 168722 w 607639"/>
                <a:gd name="connsiteY23" fmla="*/ 438141 h 606722"/>
                <a:gd name="connsiteX24" fmla="*/ 489442 w 607639"/>
                <a:gd name="connsiteY24" fmla="*/ 117915 h 606722"/>
                <a:gd name="connsiteX25" fmla="*/ 556973 w 607639"/>
                <a:gd name="connsiteY25" fmla="*/ 117915 h 606722"/>
                <a:gd name="connsiteX26" fmla="*/ 556973 w 607639"/>
                <a:gd name="connsiteY26" fmla="*/ 488737 h 606722"/>
                <a:gd name="connsiteX27" fmla="*/ 489442 w 607639"/>
                <a:gd name="connsiteY27" fmla="*/ 488737 h 606722"/>
                <a:gd name="connsiteX28" fmla="*/ 50666 w 607639"/>
                <a:gd name="connsiteY28" fmla="*/ 117915 h 606722"/>
                <a:gd name="connsiteX29" fmla="*/ 118127 w 607639"/>
                <a:gd name="connsiteY29" fmla="*/ 117915 h 606722"/>
                <a:gd name="connsiteX30" fmla="*/ 118127 w 607639"/>
                <a:gd name="connsiteY30" fmla="*/ 488737 h 606722"/>
                <a:gd name="connsiteX31" fmla="*/ 50666 w 607639"/>
                <a:gd name="connsiteY31" fmla="*/ 488737 h 606722"/>
                <a:gd name="connsiteX32" fmla="*/ 556973 w 607639"/>
                <a:gd name="connsiteY32" fmla="*/ 50595 h 606722"/>
                <a:gd name="connsiteX33" fmla="*/ 607639 w 607639"/>
                <a:gd name="connsiteY33" fmla="*/ 50595 h 606722"/>
                <a:gd name="connsiteX34" fmla="*/ 607639 w 607639"/>
                <a:gd name="connsiteY34" fmla="*/ 117914 h 606722"/>
                <a:gd name="connsiteX35" fmla="*/ 556973 w 607639"/>
                <a:gd name="connsiteY35" fmla="*/ 117914 h 606722"/>
                <a:gd name="connsiteX36" fmla="*/ 118127 w 607639"/>
                <a:gd name="connsiteY36" fmla="*/ 50595 h 606722"/>
                <a:gd name="connsiteX37" fmla="*/ 489442 w 607639"/>
                <a:gd name="connsiteY37" fmla="*/ 50595 h 606722"/>
                <a:gd name="connsiteX38" fmla="*/ 489442 w 607639"/>
                <a:gd name="connsiteY38" fmla="*/ 117914 h 606722"/>
                <a:gd name="connsiteX39" fmla="*/ 118127 w 607639"/>
                <a:gd name="connsiteY39" fmla="*/ 117914 h 606722"/>
                <a:gd name="connsiteX40" fmla="*/ 0 w 607639"/>
                <a:gd name="connsiteY40" fmla="*/ 50595 h 606722"/>
                <a:gd name="connsiteX41" fmla="*/ 50666 w 607639"/>
                <a:gd name="connsiteY41" fmla="*/ 50595 h 606722"/>
                <a:gd name="connsiteX42" fmla="*/ 50666 w 607639"/>
                <a:gd name="connsiteY42" fmla="*/ 117914 h 606722"/>
                <a:gd name="connsiteX43" fmla="*/ 0 w 607639"/>
                <a:gd name="connsiteY43" fmla="*/ 117914 h 606722"/>
                <a:gd name="connsiteX44" fmla="*/ 489442 w 607639"/>
                <a:gd name="connsiteY44" fmla="*/ 0 h 606722"/>
                <a:gd name="connsiteX45" fmla="*/ 556973 w 607639"/>
                <a:gd name="connsiteY45" fmla="*/ 0 h 606722"/>
                <a:gd name="connsiteX46" fmla="*/ 556973 w 607639"/>
                <a:gd name="connsiteY46" fmla="*/ 50595 h 606722"/>
                <a:gd name="connsiteX47" fmla="*/ 489442 w 607639"/>
                <a:gd name="connsiteY47" fmla="*/ 50595 h 606722"/>
                <a:gd name="connsiteX48" fmla="*/ 50666 w 607639"/>
                <a:gd name="connsiteY48" fmla="*/ 0 h 606722"/>
                <a:gd name="connsiteX49" fmla="*/ 118127 w 607639"/>
                <a:gd name="connsiteY49" fmla="*/ 0 h 606722"/>
                <a:gd name="connsiteX50" fmla="*/ 118127 w 607639"/>
                <a:gd name="connsiteY50" fmla="*/ 50595 h 606722"/>
                <a:gd name="connsiteX51" fmla="*/ 50666 w 607639"/>
                <a:gd name="connsiteY51" fmla="*/ 50595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39" h="606722">
                  <a:moveTo>
                    <a:pt x="0" y="488737"/>
                  </a:moveTo>
                  <a:lnTo>
                    <a:pt x="50666" y="488737"/>
                  </a:lnTo>
                  <a:lnTo>
                    <a:pt x="50666" y="556197"/>
                  </a:lnTo>
                  <a:lnTo>
                    <a:pt x="118127" y="556197"/>
                  </a:lnTo>
                  <a:lnTo>
                    <a:pt x="118127" y="488737"/>
                  </a:lnTo>
                  <a:lnTo>
                    <a:pt x="489442" y="488737"/>
                  </a:lnTo>
                  <a:lnTo>
                    <a:pt x="489442" y="556197"/>
                  </a:lnTo>
                  <a:lnTo>
                    <a:pt x="556973" y="556197"/>
                  </a:lnTo>
                  <a:lnTo>
                    <a:pt x="556973" y="488737"/>
                  </a:lnTo>
                  <a:lnTo>
                    <a:pt x="607639" y="488737"/>
                  </a:lnTo>
                  <a:lnTo>
                    <a:pt x="607639" y="556198"/>
                  </a:lnTo>
                  <a:lnTo>
                    <a:pt x="556973" y="556198"/>
                  </a:lnTo>
                  <a:lnTo>
                    <a:pt x="556973" y="606722"/>
                  </a:lnTo>
                  <a:lnTo>
                    <a:pt x="489442" y="606722"/>
                  </a:lnTo>
                  <a:lnTo>
                    <a:pt x="489442" y="556198"/>
                  </a:lnTo>
                  <a:lnTo>
                    <a:pt x="118127" y="556198"/>
                  </a:lnTo>
                  <a:lnTo>
                    <a:pt x="118127" y="606722"/>
                  </a:lnTo>
                  <a:lnTo>
                    <a:pt x="50666" y="606722"/>
                  </a:lnTo>
                  <a:lnTo>
                    <a:pt x="50666" y="556198"/>
                  </a:lnTo>
                  <a:lnTo>
                    <a:pt x="0" y="556198"/>
                  </a:lnTo>
                  <a:close/>
                  <a:moveTo>
                    <a:pt x="168722" y="168510"/>
                  </a:moveTo>
                  <a:lnTo>
                    <a:pt x="438776" y="168510"/>
                  </a:lnTo>
                  <a:lnTo>
                    <a:pt x="438776" y="438141"/>
                  </a:lnTo>
                  <a:lnTo>
                    <a:pt x="168722" y="438141"/>
                  </a:lnTo>
                  <a:close/>
                  <a:moveTo>
                    <a:pt x="489442" y="117915"/>
                  </a:moveTo>
                  <a:lnTo>
                    <a:pt x="556973" y="117915"/>
                  </a:lnTo>
                  <a:lnTo>
                    <a:pt x="556973" y="488737"/>
                  </a:lnTo>
                  <a:lnTo>
                    <a:pt x="489442" y="488737"/>
                  </a:lnTo>
                  <a:close/>
                  <a:moveTo>
                    <a:pt x="50666" y="117915"/>
                  </a:moveTo>
                  <a:lnTo>
                    <a:pt x="118127" y="117915"/>
                  </a:lnTo>
                  <a:lnTo>
                    <a:pt x="118127" y="488737"/>
                  </a:lnTo>
                  <a:lnTo>
                    <a:pt x="50666" y="488737"/>
                  </a:lnTo>
                  <a:close/>
                  <a:moveTo>
                    <a:pt x="556973" y="50595"/>
                  </a:moveTo>
                  <a:lnTo>
                    <a:pt x="607639" y="50595"/>
                  </a:lnTo>
                  <a:lnTo>
                    <a:pt x="607639" y="117914"/>
                  </a:lnTo>
                  <a:lnTo>
                    <a:pt x="556973" y="117914"/>
                  </a:lnTo>
                  <a:close/>
                  <a:moveTo>
                    <a:pt x="118127" y="50595"/>
                  </a:moveTo>
                  <a:lnTo>
                    <a:pt x="489442" y="50595"/>
                  </a:lnTo>
                  <a:lnTo>
                    <a:pt x="489442" y="117914"/>
                  </a:lnTo>
                  <a:lnTo>
                    <a:pt x="118127" y="117914"/>
                  </a:lnTo>
                  <a:close/>
                  <a:moveTo>
                    <a:pt x="0" y="50595"/>
                  </a:moveTo>
                  <a:lnTo>
                    <a:pt x="50666" y="50595"/>
                  </a:lnTo>
                  <a:lnTo>
                    <a:pt x="50666" y="117914"/>
                  </a:lnTo>
                  <a:lnTo>
                    <a:pt x="0" y="117914"/>
                  </a:lnTo>
                  <a:close/>
                  <a:moveTo>
                    <a:pt x="489442" y="0"/>
                  </a:moveTo>
                  <a:lnTo>
                    <a:pt x="556973" y="0"/>
                  </a:lnTo>
                  <a:lnTo>
                    <a:pt x="556973" y="50595"/>
                  </a:lnTo>
                  <a:lnTo>
                    <a:pt x="489442" y="50595"/>
                  </a:lnTo>
                  <a:close/>
                  <a:moveTo>
                    <a:pt x="50666" y="0"/>
                  </a:moveTo>
                  <a:lnTo>
                    <a:pt x="118127" y="0"/>
                  </a:lnTo>
                  <a:lnTo>
                    <a:pt x="118127" y="50595"/>
                  </a:lnTo>
                  <a:lnTo>
                    <a:pt x="50666" y="50595"/>
                  </a:ln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grpSp>
      <p:grpSp>
        <p:nvGrpSpPr>
          <p:cNvPr id="15" name="组合 14"/>
          <p:cNvGrpSpPr/>
          <p:nvPr/>
        </p:nvGrpSpPr>
        <p:grpSpPr>
          <a:xfrm>
            <a:off x="7642793" y="1563161"/>
            <a:ext cx="3193936" cy="4106100"/>
            <a:chOff x="6677593" y="1613961"/>
            <a:chExt cx="3193936" cy="4106100"/>
          </a:xfrm>
        </p:grpSpPr>
        <p:sp>
          <p:nvSpPr>
            <p:cNvPr id="55" name="矩形 3"/>
            <p:cNvSpPr>
              <a:spLocks noChangeArrowheads="1"/>
            </p:cNvSpPr>
            <p:nvPr/>
          </p:nvSpPr>
          <p:spPr bwMode="auto">
            <a:xfrm>
              <a:off x="6677593" y="1613961"/>
              <a:ext cx="2232025"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需求</a:t>
              </a: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分析</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6" name="文本框 55"/>
            <p:cNvSpPr txBox="1"/>
            <p:nvPr/>
          </p:nvSpPr>
          <p:spPr>
            <a:xfrm>
              <a:off x="6904470" y="2026901"/>
              <a:ext cx="2967059" cy="3693160"/>
            </a:xfrm>
            <a:prstGeom prst="rect">
              <a:avLst/>
            </a:prstGeom>
            <a:noFill/>
          </p:spPr>
          <p:txBody>
            <a:bodyPr wrap="square" lIns="0" tIns="0" rIns="0" bIns="0">
              <a:spAutoFit/>
            </a:bodyPr>
            <a:lstStyle/>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人工智能成熟方案少，基于机器学习等人工智能方法的VTE风险评估预测方案较少</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患病影响因素多，无法准确归因。患者检查项、检查指标比较多，VTE影响因素众多</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现有的</a:t>
              </a:r>
              <a:r>
                <a:rPr lang="en-US" altLang="zh-CN"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VTE</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数据质量差，存在异常数据、缺失数据等</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患者</a:t>
              </a:r>
              <a:r>
                <a:rPr lang="en-US" altLang="zh-CN"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VTE</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数据时刻变化，需要持续监控，</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检查数据随时间变化存在变动，需要考虑检查指标变动带来的影响</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7" name="ïŝľidê"/>
          <p:cNvSpPr/>
          <p:nvPr/>
        </p:nvSpPr>
        <p:spPr bwMode="auto">
          <a:xfrm>
            <a:off x="6982548" y="4838506"/>
            <a:ext cx="276178" cy="237026"/>
          </a:xfrm>
          <a:custGeom>
            <a:avLst/>
            <a:gdLst>
              <a:gd name="connsiteX0" fmla="*/ 231569 w 609272"/>
              <a:gd name="connsiteY0" fmla="*/ 280751 h 523426"/>
              <a:gd name="connsiteX1" fmla="*/ 251519 w 609272"/>
              <a:gd name="connsiteY1" fmla="*/ 311575 h 523426"/>
              <a:gd name="connsiteX2" fmla="*/ 278714 w 609272"/>
              <a:gd name="connsiteY2" fmla="*/ 349634 h 523426"/>
              <a:gd name="connsiteX3" fmla="*/ 37927 w 609272"/>
              <a:gd name="connsiteY3" fmla="*/ 467972 h 523426"/>
              <a:gd name="connsiteX4" fmla="*/ 37927 w 609272"/>
              <a:gd name="connsiteY4" fmla="*/ 389476 h 523426"/>
              <a:gd name="connsiteX5" fmla="*/ 186806 w 609272"/>
              <a:gd name="connsiteY5" fmla="*/ 339029 h 523426"/>
              <a:gd name="connsiteX6" fmla="*/ 231569 w 609272"/>
              <a:gd name="connsiteY6" fmla="*/ 280751 h 523426"/>
              <a:gd name="connsiteX7" fmla="*/ 54586 w 609272"/>
              <a:gd name="connsiteY7" fmla="*/ 54942 h 523426"/>
              <a:gd name="connsiteX8" fmla="*/ 291446 w 609272"/>
              <a:gd name="connsiteY8" fmla="*/ 191046 h 523426"/>
              <a:gd name="connsiteX9" fmla="*/ 299090 w 609272"/>
              <a:gd name="connsiteY9" fmla="*/ 202050 h 523426"/>
              <a:gd name="connsiteX10" fmla="*/ 337607 w 609272"/>
              <a:gd name="connsiteY10" fmla="*/ 261725 h 523426"/>
              <a:gd name="connsiteX11" fmla="*/ 382874 w 609272"/>
              <a:gd name="connsiteY11" fmla="*/ 319121 h 523426"/>
              <a:gd name="connsiteX12" fmla="*/ 485123 w 609272"/>
              <a:gd name="connsiteY12" fmla="*/ 366604 h 523426"/>
              <a:gd name="connsiteX13" fmla="*/ 477975 w 609272"/>
              <a:gd name="connsiteY13" fmla="*/ 357980 h 523426"/>
              <a:gd name="connsiteX14" fmla="*/ 477975 w 609272"/>
              <a:gd name="connsiteY14" fmla="*/ 302468 h 523426"/>
              <a:gd name="connsiteX15" fmla="*/ 507062 w 609272"/>
              <a:gd name="connsiteY15" fmla="*/ 290969 h 523426"/>
              <a:gd name="connsiteX16" fmla="*/ 533567 w 609272"/>
              <a:gd name="connsiteY16" fmla="*/ 302468 h 523426"/>
              <a:gd name="connsiteX17" fmla="*/ 596505 w 609272"/>
              <a:gd name="connsiteY17" fmla="*/ 378995 h 523426"/>
              <a:gd name="connsiteX18" fmla="*/ 598490 w 609272"/>
              <a:gd name="connsiteY18" fmla="*/ 434507 h 523426"/>
              <a:gd name="connsiteX19" fmla="*/ 527710 w 609272"/>
              <a:gd name="connsiteY19" fmla="*/ 511035 h 523426"/>
              <a:gd name="connsiteX20" fmla="*/ 501602 w 609272"/>
              <a:gd name="connsiteY20" fmla="*/ 523426 h 523426"/>
              <a:gd name="connsiteX21" fmla="*/ 472118 w 609272"/>
              <a:gd name="connsiteY21" fmla="*/ 455523 h 523426"/>
              <a:gd name="connsiteX22" fmla="*/ 481251 w 609272"/>
              <a:gd name="connsiteY22" fmla="*/ 445610 h 523426"/>
              <a:gd name="connsiteX23" fmla="*/ 371160 w 609272"/>
              <a:gd name="connsiteY23" fmla="*/ 410816 h 523426"/>
              <a:gd name="connsiteX24" fmla="*/ 291446 w 609272"/>
              <a:gd name="connsiteY24" fmla="*/ 332405 h 523426"/>
              <a:gd name="connsiteX25" fmla="*/ 268713 w 609272"/>
              <a:gd name="connsiteY25" fmla="*/ 300088 h 523426"/>
              <a:gd name="connsiteX26" fmla="*/ 243895 w 609272"/>
              <a:gd name="connsiteY26" fmla="*/ 261725 h 523426"/>
              <a:gd name="connsiteX27" fmla="*/ 186814 w 609272"/>
              <a:gd name="connsiteY27" fmla="*/ 184405 h 523426"/>
              <a:gd name="connsiteX28" fmla="*/ 54188 w 609272"/>
              <a:gd name="connsiteY28" fmla="*/ 133452 h 523426"/>
              <a:gd name="connsiteX29" fmla="*/ 37908 w 609272"/>
              <a:gd name="connsiteY29" fmla="*/ 133849 h 523426"/>
              <a:gd name="connsiteX30" fmla="*/ 35526 w 609272"/>
              <a:gd name="connsiteY30" fmla="*/ 133948 h 523426"/>
              <a:gd name="connsiteX31" fmla="*/ 37908 w 609272"/>
              <a:gd name="connsiteY31" fmla="*/ 55339 h 523426"/>
              <a:gd name="connsiteX32" fmla="*/ 54586 w 609272"/>
              <a:gd name="connsiteY32" fmla="*/ 54942 h 523426"/>
              <a:gd name="connsiteX33" fmla="*/ 499664 w 609272"/>
              <a:gd name="connsiteY33" fmla="*/ 55 h 523426"/>
              <a:gd name="connsiteX34" fmla="*/ 527712 w 609272"/>
              <a:gd name="connsiteY34" fmla="*/ 12333 h 523426"/>
              <a:gd name="connsiteX35" fmla="*/ 598490 w 609272"/>
              <a:gd name="connsiteY35" fmla="*/ 88858 h 523426"/>
              <a:gd name="connsiteX36" fmla="*/ 596505 w 609272"/>
              <a:gd name="connsiteY36" fmla="*/ 144467 h 523426"/>
              <a:gd name="connsiteX37" fmla="*/ 533568 w 609272"/>
              <a:gd name="connsiteY37" fmla="*/ 220992 h 523426"/>
              <a:gd name="connsiteX38" fmla="*/ 477978 w 609272"/>
              <a:gd name="connsiteY38" fmla="*/ 220992 h 523426"/>
              <a:gd name="connsiteX39" fmla="*/ 477978 w 609272"/>
              <a:gd name="connsiteY39" fmla="*/ 165383 h 523426"/>
              <a:gd name="connsiteX40" fmla="*/ 485125 w 609272"/>
              <a:gd name="connsiteY40" fmla="*/ 156759 h 523426"/>
              <a:gd name="connsiteX41" fmla="*/ 382878 w 609272"/>
              <a:gd name="connsiteY41" fmla="*/ 204240 h 523426"/>
              <a:gd name="connsiteX42" fmla="*/ 350318 w 609272"/>
              <a:gd name="connsiteY42" fmla="*/ 243493 h 523426"/>
              <a:gd name="connsiteX43" fmla="*/ 334037 w 609272"/>
              <a:gd name="connsiteY43" fmla="*/ 218315 h 523426"/>
              <a:gd name="connsiteX44" fmla="*/ 316268 w 609272"/>
              <a:gd name="connsiteY44" fmla="*/ 190759 h 523426"/>
              <a:gd name="connsiteX45" fmla="*/ 304753 w 609272"/>
              <a:gd name="connsiteY45" fmla="*/ 174106 h 523426"/>
              <a:gd name="connsiteX46" fmla="*/ 371164 w 609272"/>
              <a:gd name="connsiteY46" fmla="*/ 112648 h 523426"/>
              <a:gd name="connsiteX47" fmla="*/ 481254 w 609272"/>
              <a:gd name="connsiteY47" fmla="*/ 77756 h 523426"/>
              <a:gd name="connsiteX48" fmla="*/ 472121 w 609272"/>
              <a:gd name="connsiteY48" fmla="*/ 67843 h 523426"/>
              <a:gd name="connsiteX49" fmla="*/ 499664 w 609272"/>
              <a:gd name="connsiteY49" fmla="*/ 55 h 52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9272" h="523426">
                <a:moveTo>
                  <a:pt x="231569" y="280751"/>
                </a:moveTo>
                <a:cubicBezTo>
                  <a:pt x="238020" y="290960"/>
                  <a:pt x="244670" y="301366"/>
                  <a:pt x="251519" y="311575"/>
                </a:cubicBezTo>
                <a:cubicBezTo>
                  <a:pt x="259757" y="323964"/>
                  <a:pt x="268888" y="336848"/>
                  <a:pt x="278714" y="349634"/>
                </a:cubicBezTo>
                <a:cubicBezTo>
                  <a:pt x="219063" y="427535"/>
                  <a:pt x="144028" y="473324"/>
                  <a:pt x="37927" y="467972"/>
                </a:cubicBezTo>
                <a:cubicBezTo>
                  <a:pt x="-12493" y="465395"/>
                  <a:pt x="-12791" y="386899"/>
                  <a:pt x="37927" y="389476"/>
                </a:cubicBezTo>
                <a:cubicBezTo>
                  <a:pt x="94402" y="392350"/>
                  <a:pt x="146708" y="381151"/>
                  <a:pt x="186806" y="339029"/>
                </a:cubicBezTo>
                <a:cubicBezTo>
                  <a:pt x="203878" y="321089"/>
                  <a:pt x="218170" y="301267"/>
                  <a:pt x="231569" y="280751"/>
                </a:cubicBezTo>
                <a:close/>
                <a:moveTo>
                  <a:pt x="54586" y="54942"/>
                </a:moveTo>
                <a:cubicBezTo>
                  <a:pt x="159416" y="54942"/>
                  <a:pt x="232777" y="106985"/>
                  <a:pt x="291446" y="191046"/>
                </a:cubicBezTo>
                <a:cubicBezTo>
                  <a:pt x="294027" y="194714"/>
                  <a:pt x="296508" y="198283"/>
                  <a:pt x="299090" y="202050"/>
                </a:cubicBezTo>
                <a:cubicBezTo>
                  <a:pt x="312094" y="221876"/>
                  <a:pt x="324503" y="242098"/>
                  <a:pt x="337607" y="261725"/>
                </a:cubicBezTo>
                <a:cubicBezTo>
                  <a:pt x="351207" y="281948"/>
                  <a:pt x="365700" y="301476"/>
                  <a:pt x="382874" y="319121"/>
                </a:cubicBezTo>
                <a:cubicBezTo>
                  <a:pt x="413052" y="350248"/>
                  <a:pt x="447400" y="363035"/>
                  <a:pt x="485123" y="366604"/>
                </a:cubicBezTo>
                <a:cubicBezTo>
                  <a:pt x="482740" y="363729"/>
                  <a:pt x="480457" y="360855"/>
                  <a:pt x="477975" y="357980"/>
                </a:cubicBezTo>
                <a:cubicBezTo>
                  <a:pt x="464177" y="341624"/>
                  <a:pt x="461894" y="318526"/>
                  <a:pt x="477975" y="302468"/>
                </a:cubicBezTo>
                <a:cubicBezTo>
                  <a:pt x="485321" y="295132"/>
                  <a:pt x="496341" y="290969"/>
                  <a:pt x="507062" y="290969"/>
                </a:cubicBezTo>
                <a:cubicBezTo>
                  <a:pt x="517088" y="290969"/>
                  <a:pt x="526916" y="294537"/>
                  <a:pt x="533567" y="302468"/>
                </a:cubicBezTo>
                <a:cubicBezTo>
                  <a:pt x="554910" y="327646"/>
                  <a:pt x="575162" y="353717"/>
                  <a:pt x="596505" y="378995"/>
                </a:cubicBezTo>
                <a:cubicBezTo>
                  <a:pt x="610303" y="392873"/>
                  <a:pt x="615664" y="415970"/>
                  <a:pt x="598490" y="434507"/>
                </a:cubicBezTo>
                <a:lnTo>
                  <a:pt x="527710" y="511035"/>
                </a:lnTo>
                <a:cubicBezTo>
                  <a:pt x="519669" y="519758"/>
                  <a:pt x="510437" y="523426"/>
                  <a:pt x="501602" y="523426"/>
                </a:cubicBezTo>
                <a:cubicBezTo>
                  <a:pt x="472218" y="523426"/>
                  <a:pt x="445812" y="484072"/>
                  <a:pt x="472118" y="455523"/>
                </a:cubicBezTo>
                <a:lnTo>
                  <a:pt x="481251" y="445610"/>
                </a:lnTo>
                <a:cubicBezTo>
                  <a:pt x="442635" y="442834"/>
                  <a:pt x="405508" y="433021"/>
                  <a:pt x="371160" y="410816"/>
                </a:cubicBezTo>
                <a:cubicBezTo>
                  <a:pt x="339493" y="390197"/>
                  <a:pt x="313980" y="362441"/>
                  <a:pt x="291446" y="332405"/>
                </a:cubicBezTo>
                <a:cubicBezTo>
                  <a:pt x="283504" y="321798"/>
                  <a:pt x="275959" y="310993"/>
                  <a:pt x="268713" y="300088"/>
                </a:cubicBezTo>
                <a:cubicBezTo>
                  <a:pt x="260175" y="287499"/>
                  <a:pt x="252134" y="274513"/>
                  <a:pt x="243895" y="261725"/>
                </a:cubicBezTo>
                <a:cubicBezTo>
                  <a:pt x="226721" y="234564"/>
                  <a:pt x="209150" y="207799"/>
                  <a:pt x="186814" y="184405"/>
                </a:cubicBezTo>
                <a:cubicBezTo>
                  <a:pt x="150580" y="146240"/>
                  <a:pt x="104420" y="133452"/>
                  <a:pt x="54188" y="133452"/>
                </a:cubicBezTo>
                <a:cubicBezTo>
                  <a:pt x="48729" y="133452"/>
                  <a:pt x="43368" y="133651"/>
                  <a:pt x="37908" y="133849"/>
                </a:cubicBezTo>
                <a:cubicBezTo>
                  <a:pt x="37114" y="133948"/>
                  <a:pt x="36320" y="133948"/>
                  <a:pt x="35526" y="133948"/>
                </a:cubicBezTo>
                <a:cubicBezTo>
                  <a:pt x="-12720" y="133948"/>
                  <a:pt x="-11727" y="57916"/>
                  <a:pt x="37908" y="55339"/>
                </a:cubicBezTo>
                <a:cubicBezTo>
                  <a:pt x="43567" y="55041"/>
                  <a:pt x="49126" y="54942"/>
                  <a:pt x="54586" y="54942"/>
                </a:cubicBezTo>
                <a:close/>
                <a:moveTo>
                  <a:pt x="499664" y="55"/>
                </a:moveTo>
                <a:cubicBezTo>
                  <a:pt x="509173" y="-498"/>
                  <a:pt x="519100" y="3015"/>
                  <a:pt x="527712" y="12333"/>
                </a:cubicBezTo>
                <a:lnTo>
                  <a:pt x="598490" y="88858"/>
                </a:lnTo>
                <a:cubicBezTo>
                  <a:pt x="615664" y="107394"/>
                  <a:pt x="610303" y="130590"/>
                  <a:pt x="596505" y="144467"/>
                </a:cubicBezTo>
                <a:cubicBezTo>
                  <a:pt x="575162" y="169645"/>
                  <a:pt x="554911" y="195715"/>
                  <a:pt x="533568" y="220992"/>
                </a:cubicBezTo>
                <a:cubicBezTo>
                  <a:pt x="519770" y="237347"/>
                  <a:pt x="492173" y="235068"/>
                  <a:pt x="477978" y="220992"/>
                </a:cubicBezTo>
                <a:cubicBezTo>
                  <a:pt x="461896" y="204834"/>
                  <a:pt x="464179" y="181837"/>
                  <a:pt x="477978" y="165383"/>
                </a:cubicBezTo>
                <a:cubicBezTo>
                  <a:pt x="480360" y="162607"/>
                  <a:pt x="482743" y="159633"/>
                  <a:pt x="485125" y="156759"/>
                </a:cubicBezTo>
                <a:cubicBezTo>
                  <a:pt x="447403" y="160327"/>
                  <a:pt x="413056" y="173114"/>
                  <a:pt x="382878" y="204240"/>
                </a:cubicBezTo>
                <a:cubicBezTo>
                  <a:pt x="370866" y="216531"/>
                  <a:pt x="360244" y="229814"/>
                  <a:pt x="350318" y="243493"/>
                </a:cubicBezTo>
                <a:cubicBezTo>
                  <a:pt x="344858" y="235266"/>
                  <a:pt x="339497" y="226840"/>
                  <a:pt x="334037" y="218315"/>
                </a:cubicBezTo>
                <a:cubicBezTo>
                  <a:pt x="328280" y="209295"/>
                  <a:pt x="322324" y="199878"/>
                  <a:pt x="316268" y="190759"/>
                </a:cubicBezTo>
                <a:cubicBezTo>
                  <a:pt x="312496" y="185009"/>
                  <a:pt x="308624" y="179458"/>
                  <a:pt x="304753" y="174106"/>
                </a:cubicBezTo>
                <a:cubicBezTo>
                  <a:pt x="324011" y="150613"/>
                  <a:pt x="345553" y="129301"/>
                  <a:pt x="371164" y="112648"/>
                </a:cubicBezTo>
                <a:cubicBezTo>
                  <a:pt x="405511" y="90345"/>
                  <a:pt x="442638" y="80531"/>
                  <a:pt x="481254" y="77756"/>
                </a:cubicBezTo>
                <a:lnTo>
                  <a:pt x="472121" y="67843"/>
                </a:lnTo>
                <a:cubicBezTo>
                  <a:pt x="446361" y="39964"/>
                  <a:pt x="471134" y="1714"/>
                  <a:pt x="499664" y="55"/>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401426" y="5067935"/>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1076325"/>
            <a:chOff x="284882" y="285115"/>
            <a:chExt cx="6191219" cy="1076325"/>
          </a:xfrm>
        </p:grpSpPr>
        <p:sp>
          <p:nvSpPr>
            <p:cNvPr id="21" name="文本框 20"/>
            <p:cNvSpPr txBox="1"/>
            <p:nvPr/>
          </p:nvSpPr>
          <p:spPr>
            <a:xfrm>
              <a:off x="831727" y="285115"/>
              <a:ext cx="5644374" cy="107632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数据分析</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a:p>
              <a:r>
                <a:rPr lang="zh-CN" altLang="en-US" sz="3200" b="1" noProof="0" dirty="0">
                  <a:ln>
                    <a:noFill/>
                  </a:ln>
                  <a:solidFill>
                    <a:prstClr val="black">
                      <a:lumMod val="75000"/>
                      <a:lumOff val="25000"/>
                    </a:prstClr>
                  </a:solidFill>
                  <a:effectLst/>
                  <a:uLnTx/>
                  <a:uFillTx/>
                  <a:cs typeface="+mn-ea"/>
                  <a:sym typeface="+mn-lt"/>
                </a:rPr>
                <a:t>以江西某医院为例</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aphicFrame>
        <p:nvGraphicFramePr>
          <p:cNvPr id="16" name="表格 15"/>
          <p:cNvGraphicFramePr/>
          <p:nvPr>
            <p:custDataLst>
              <p:tags r:id="rId2"/>
            </p:custDataLst>
          </p:nvPr>
        </p:nvGraphicFramePr>
        <p:xfrm>
          <a:off x="1640205" y="1748155"/>
          <a:ext cx="1361440" cy="3707130"/>
        </p:xfrm>
        <a:graphic>
          <a:graphicData uri="http://schemas.openxmlformats.org/drawingml/2006/table">
            <a:tbl>
              <a:tblPr firstRow="1" bandRow="1">
                <a:tableStyleId>{5C22544A-7EE6-4342-B048-85BDC9FD1C3A}</a:tableStyleId>
              </a:tblPr>
              <a:tblGrid>
                <a:gridCol w="387350"/>
                <a:gridCol w="974090"/>
              </a:tblGrid>
              <a:tr h="304800">
                <a:tc>
                  <a:txBody>
                    <a:bodyPr/>
                    <a:p>
                      <a:pPr indent="0" algn="ctr">
                        <a:buNone/>
                      </a:pPr>
                      <a:r>
                        <a:rPr lang="zh-CN" sz="900" b="1">
                          <a:solidFill>
                            <a:srgbClr val="000000"/>
                          </a:solidFill>
                          <a:latin typeface="Arial" panose="020B0604020202020204" pitchFamily="34" charset="0"/>
                          <a:ea typeface="宋体" pitchFamily="2" charset="-122"/>
                        </a:rPr>
                        <a:t>序号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900" b="1">
                          <a:solidFill>
                            <a:srgbClr val="000000"/>
                          </a:solidFill>
                          <a:latin typeface="Arial" panose="020B0604020202020204" pitchFamily="34" charset="0"/>
                          <a:ea typeface="宋体" pitchFamily="2" charset="-122"/>
                        </a:rPr>
                        <a:t>字段名称</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34340">
                <a:tc>
                  <a:txBody>
                    <a:bodyPr/>
                    <a:p>
                      <a:pPr indent="0" algn="ctr">
                        <a:buNone/>
                      </a:pPr>
                      <a:r>
                        <a:rPr lang="en-US" sz="900" b="1">
                          <a:solidFill>
                            <a:srgbClr val="000000"/>
                          </a:solidFill>
                          <a:latin typeface="宋体" pitchFamily="2" charset="-122"/>
                        </a:rPr>
                        <a:t>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唯一标识</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81000">
                <a:tc>
                  <a:txBody>
                    <a:bodyPr/>
                    <a:p>
                      <a:pPr indent="0" algn="ctr">
                        <a:buNone/>
                      </a:pPr>
                      <a:r>
                        <a:rPr lang="en-US" sz="900" b="1">
                          <a:solidFill>
                            <a:srgbClr val="000000"/>
                          </a:solidFill>
                          <a:latin typeface="宋体" pitchFamily="2" charset="-122"/>
                        </a:rPr>
                        <a:t>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1">
                          <a:solidFill>
                            <a:srgbClr val="FF0000"/>
                          </a:solidFill>
                          <a:latin typeface="宋体" pitchFamily="2" charset="-122"/>
                        </a:rPr>
                        <a:t>flag</a:t>
                      </a:r>
                      <a:endParaRPr lang="en-US" altLang="en-US" sz="900" b="1">
                        <a:solidFill>
                          <a:srgbClr val="FF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40030">
                <a:tc>
                  <a:txBody>
                    <a:bodyPr/>
                    <a:p>
                      <a:pPr indent="0" algn="ctr">
                        <a:buNone/>
                      </a:pPr>
                      <a:r>
                        <a:rPr lang="en-US" sz="900" b="1">
                          <a:solidFill>
                            <a:srgbClr val="000000"/>
                          </a:solidFill>
                          <a:latin typeface="宋体" pitchFamily="2" charset="-122"/>
                        </a:rPr>
                        <a:t>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总评分</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住院号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住院次数</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性别</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民族</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身高</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体重</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心率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呼吸</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收缩压</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舒张压</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诊断</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3P试验</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20" name="表格 19"/>
          <p:cNvGraphicFramePr/>
          <p:nvPr>
            <p:custDataLst>
              <p:tags r:id="rId3"/>
            </p:custDataLst>
          </p:nvPr>
        </p:nvGraphicFramePr>
        <p:xfrm>
          <a:off x="3122930" y="1748155"/>
          <a:ext cx="1666240" cy="3707130"/>
        </p:xfrm>
        <a:graphic>
          <a:graphicData uri="http://schemas.openxmlformats.org/drawingml/2006/table">
            <a:tbl>
              <a:tblPr firstRow="1" bandRow="1">
                <a:tableStyleId>{5C22544A-7EE6-4342-B048-85BDC9FD1C3A}</a:tableStyleId>
              </a:tblPr>
              <a:tblGrid>
                <a:gridCol w="474345"/>
                <a:gridCol w="1191895"/>
              </a:tblGrid>
              <a:tr h="217170">
                <a:tc>
                  <a:txBody>
                    <a:bodyPr/>
                    <a:p>
                      <a:pPr indent="0" algn="ctr">
                        <a:buNone/>
                      </a:pPr>
                      <a:r>
                        <a:rPr lang="en-US" sz="900" b="1">
                          <a:solidFill>
                            <a:srgbClr val="000000"/>
                          </a:solidFill>
                          <a:latin typeface="宋体" pitchFamily="2" charset="-122"/>
                        </a:rPr>
                        <a:t>16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C反应蛋白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6535">
                <a:tc>
                  <a:txBody>
                    <a:bodyPr/>
                    <a:p>
                      <a:pPr indent="0" algn="ctr">
                        <a:buNone/>
                      </a:pPr>
                      <a:r>
                        <a:rPr lang="en-US" sz="900" b="1">
                          <a:solidFill>
                            <a:srgbClr val="000000"/>
                          </a:solidFill>
                          <a:latin typeface="宋体" pitchFamily="2" charset="-122"/>
                        </a:rPr>
                        <a:t>17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D-二聚体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7170">
                <a:tc>
                  <a:txBody>
                    <a:bodyPr/>
                    <a:p>
                      <a:pPr indent="0" algn="ctr">
                        <a:buNone/>
                      </a:pPr>
                      <a:r>
                        <a:rPr lang="en-US" sz="900" b="1">
                          <a:solidFill>
                            <a:srgbClr val="000000"/>
                          </a:solidFill>
                          <a:latin typeface="宋体" pitchFamily="2" charset="-122"/>
                        </a:rPr>
                        <a:t>18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α-淀粉酶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7170">
                <a:tc>
                  <a:txBody>
                    <a:bodyPr/>
                    <a:p>
                      <a:pPr indent="0" algn="ctr">
                        <a:buNone/>
                      </a:pPr>
                      <a:r>
                        <a:rPr lang="en-US" sz="900" b="1">
                          <a:solidFill>
                            <a:srgbClr val="000000"/>
                          </a:solidFill>
                          <a:latin typeface="宋体" pitchFamily="2" charset="-122"/>
                        </a:rPr>
                        <a:t>19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α-羟丁酸脱氢酶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6535">
                <a:tc>
                  <a:txBody>
                    <a:bodyPr/>
                    <a:p>
                      <a:pPr indent="0" algn="ctr">
                        <a:buNone/>
                      </a:pPr>
                      <a:r>
                        <a:rPr lang="en-US" sz="900" b="1">
                          <a:solidFill>
                            <a:srgbClr val="000000"/>
                          </a:solidFill>
                          <a:latin typeface="宋体" pitchFamily="2" charset="-122"/>
                        </a:rPr>
                        <a:t>20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α羟丁酸脱氢酶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7170">
                <a:tc>
                  <a:txBody>
                    <a:bodyPr/>
                    <a:p>
                      <a:pPr indent="0" algn="ctr">
                        <a:buNone/>
                      </a:pPr>
                      <a:r>
                        <a:rPr lang="en-US" sz="900" b="1">
                          <a:solidFill>
                            <a:srgbClr val="000000"/>
                          </a:solidFill>
                          <a:latin typeface="宋体" pitchFamily="2" charset="-122"/>
                        </a:rPr>
                        <a:t>21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β2-微球蛋白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344170">
                <a:tc>
                  <a:txBody>
                    <a:bodyPr/>
                    <a:p>
                      <a:pPr indent="0" algn="ctr">
                        <a:buNone/>
                      </a:pPr>
                      <a:r>
                        <a:rPr lang="en-US" sz="900" b="1">
                          <a:solidFill>
                            <a:srgbClr val="000000"/>
                          </a:solidFill>
                          <a:latin typeface="宋体" pitchFamily="2" charset="-122"/>
                        </a:rPr>
                        <a:t>22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γ-谷氨酰基转移酶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6535">
                <a:tc>
                  <a:txBody>
                    <a:bodyPr/>
                    <a:p>
                      <a:pPr indent="0" algn="ctr">
                        <a:buNone/>
                      </a:pPr>
                      <a:r>
                        <a:rPr lang="en-US" sz="900" b="1">
                          <a:solidFill>
                            <a:srgbClr val="000000"/>
                          </a:solidFill>
                          <a:latin typeface="宋体" pitchFamily="2" charset="-122"/>
                        </a:rPr>
                        <a:t>23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γ谷氨酰转移酶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7170">
                <a:tc>
                  <a:txBody>
                    <a:bodyPr/>
                    <a:p>
                      <a:pPr indent="0" algn="ctr">
                        <a:buNone/>
                      </a:pPr>
                      <a:r>
                        <a:rPr lang="en-US" sz="900" b="1">
                          <a:solidFill>
                            <a:srgbClr val="000000"/>
                          </a:solidFill>
                          <a:latin typeface="宋体" pitchFamily="2" charset="-122"/>
                        </a:rPr>
                        <a:t>24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不饱和铁结合力</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77825">
                <a:tc>
                  <a:txBody>
                    <a:bodyPr/>
                    <a:p>
                      <a:pPr indent="0" algn="ctr">
                        <a:buNone/>
                      </a:pPr>
                      <a:r>
                        <a:rPr lang="en-US" sz="900" b="1">
                          <a:solidFill>
                            <a:srgbClr val="000000"/>
                          </a:solidFill>
                          <a:latin typeface="宋体" pitchFamily="2" charset="-122"/>
                        </a:rPr>
                        <a:t>25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丙型肝炎病毒IgG抗体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44170">
                <a:tc>
                  <a:txBody>
                    <a:bodyPr/>
                    <a:p>
                      <a:pPr indent="0" algn="ctr">
                        <a:buNone/>
                      </a:pPr>
                      <a:r>
                        <a:rPr lang="en-US" sz="900" b="1">
                          <a:solidFill>
                            <a:srgbClr val="000000"/>
                          </a:solidFill>
                          <a:latin typeface="宋体" pitchFamily="2" charset="-122"/>
                        </a:rPr>
                        <a:t>26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丙氨酸氨基转移酶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17170">
                <a:tc>
                  <a:txBody>
                    <a:bodyPr/>
                    <a:p>
                      <a:pPr indent="0" algn="ctr">
                        <a:buNone/>
                      </a:pPr>
                      <a:r>
                        <a:rPr lang="en-US" sz="900" b="1">
                          <a:solidFill>
                            <a:srgbClr val="000000"/>
                          </a:solidFill>
                          <a:latin typeface="宋体" pitchFamily="2" charset="-122"/>
                        </a:rPr>
                        <a:t>27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丙肝核心抗原</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44805">
                <a:tc>
                  <a:txBody>
                    <a:bodyPr/>
                    <a:p>
                      <a:pPr indent="0" algn="ctr">
                        <a:buNone/>
                      </a:pPr>
                      <a:r>
                        <a:rPr lang="en-US" sz="900" b="1">
                          <a:solidFill>
                            <a:srgbClr val="000000"/>
                          </a:solidFill>
                          <a:latin typeface="宋体" pitchFamily="2" charset="-122"/>
                        </a:rPr>
                        <a:t>28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乙型肝炎病毒e抗体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43535">
                <a:tc>
                  <a:txBody>
                    <a:bodyPr/>
                    <a:p>
                      <a:pPr indent="0" algn="ctr">
                        <a:buNone/>
                      </a:pPr>
                      <a:r>
                        <a:rPr lang="en-US" sz="900" b="1">
                          <a:solidFill>
                            <a:srgbClr val="000000"/>
                          </a:solidFill>
                          <a:latin typeface="宋体" pitchFamily="2" charset="-122"/>
                        </a:rPr>
                        <a:t>29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乙型肝炎病毒e抗原</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bl>
          </a:graphicData>
        </a:graphic>
      </p:graphicFrame>
      <p:graphicFrame>
        <p:nvGraphicFramePr>
          <p:cNvPr id="28" name="表格 27"/>
          <p:cNvGraphicFramePr/>
          <p:nvPr>
            <p:custDataLst>
              <p:tags r:id="rId4"/>
            </p:custDataLst>
          </p:nvPr>
        </p:nvGraphicFramePr>
        <p:xfrm>
          <a:off x="4910455" y="1748155"/>
          <a:ext cx="1713230" cy="3708400"/>
        </p:xfrm>
        <a:graphic>
          <a:graphicData uri="http://schemas.openxmlformats.org/drawingml/2006/table">
            <a:tbl>
              <a:tblPr firstRow="1" bandRow="1">
                <a:tableStyleId>{5C22544A-7EE6-4342-B048-85BDC9FD1C3A}</a:tableStyleId>
              </a:tblPr>
              <a:tblGrid>
                <a:gridCol w="487680"/>
                <a:gridCol w="1225550"/>
              </a:tblGrid>
              <a:tr h="231775">
                <a:tc>
                  <a:txBody>
                    <a:bodyPr/>
                    <a:p>
                      <a:pPr indent="0" algn="ctr">
                        <a:buNone/>
                      </a:pPr>
                      <a:r>
                        <a:rPr lang="en-US" sz="900" b="1">
                          <a:solidFill>
                            <a:srgbClr val="000000"/>
                          </a:solidFill>
                          <a:latin typeface="宋体" pitchFamily="2" charset="-122"/>
                        </a:rPr>
                        <a:t>30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乙型肝炎病毒核心抗体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乙型肝炎病毒表面抗体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乙型肝炎病毒表面抗原</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乙肝病毒大蛋白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1775">
                <a:tc>
                  <a:txBody>
                    <a:bodyPr/>
                    <a:p>
                      <a:pPr indent="0" algn="ctr">
                        <a:buNone/>
                      </a:pPr>
                      <a:r>
                        <a:rPr lang="en-US" sz="900" b="1">
                          <a:solidFill>
                            <a:srgbClr val="000000"/>
                          </a:solidFill>
                          <a:latin typeface="宋体" pitchFamily="2" charset="-122"/>
                        </a:rPr>
                        <a:t>34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乳酸脱氢酶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1775">
                <a:tc>
                  <a:txBody>
                    <a:bodyPr/>
                    <a:p>
                      <a:pPr indent="0" algn="ctr">
                        <a:buNone/>
                      </a:pPr>
                      <a:r>
                        <a:rPr lang="en-US" sz="900" b="1">
                          <a:solidFill>
                            <a:srgbClr val="000000"/>
                          </a:solidFill>
                          <a:latin typeface="宋体" pitchFamily="2" charset="-122"/>
                        </a:rPr>
                        <a:t>35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人类免疫缺陷病毒抗体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低密度脂蛋白胆固醇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1775">
                <a:tc>
                  <a:txBody>
                    <a:bodyPr/>
                    <a:p>
                      <a:pPr indent="0" algn="ctr">
                        <a:buNone/>
                      </a:pPr>
                      <a:r>
                        <a:rPr lang="en-US" sz="900" b="1">
                          <a:solidFill>
                            <a:srgbClr val="000000"/>
                          </a:solidFill>
                          <a:latin typeface="宋体" pitchFamily="2" charset="-122"/>
                        </a:rPr>
                        <a:t>37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凝血酶原时间</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38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凝血酶原时间比率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39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凝血酶原时间活动度</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40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凝血酶时间</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41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前白蛋白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1775">
                <a:tc>
                  <a:txBody>
                    <a:bodyPr/>
                    <a:p>
                      <a:pPr indent="0" algn="ctr">
                        <a:buNone/>
                      </a:pPr>
                      <a:r>
                        <a:rPr lang="en-US" sz="900" b="1">
                          <a:solidFill>
                            <a:srgbClr val="000000"/>
                          </a:solidFill>
                          <a:latin typeface="宋体" pitchFamily="2" charset="-122"/>
                        </a:rPr>
                        <a:t>42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同型半胱氨酸</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1775">
                <a:tc>
                  <a:txBody>
                    <a:bodyPr/>
                    <a:p>
                      <a:pPr indent="0" algn="ctr">
                        <a:buNone/>
                      </a:pPr>
                      <a:r>
                        <a:rPr lang="en-US" sz="900" b="1">
                          <a:solidFill>
                            <a:srgbClr val="000000"/>
                          </a:solidFill>
                          <a:latin typeface="宋体" pitchFamily="2" charset="-122"/>
                        </a:rPr>
                        <a:t>43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国际标准化比率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1775">
                <a:tc>
                  <a:txBody>
                    <a:bodyPr/>
                    <a:p>
                      <a:pPr indent="0" algn="ctr">
                        <a:buNone/>
                      </a:pPr>
                      <a:r>
                        <a:rPr lang="en-US" sz="900" b="1">
                          <a:solidFill>
                            <a:srgbClr val="000000"/>
                          </a:solidFill>
                          <a:latin typeface="宋体" pitchFamily="2" charset="-122"/>
                        </a:rPr>
                        <a:t>44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天门冬氨酸氨基转移酶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1775">
                <a:tc>
                  <a:txBody>
                    <a:bodyPr/>
                    <a:p>
                      <a:pPr indent="0" algn="ctr">
                        <a:buNone/>
                      </a:pPr>
                      <a:r>
                        <a:rPr lang="en-US" sz="900" b="1">
                          <a:solidFill>
                            <a:srgbClr val="000000"/>
                          </a:solidFill>
                          <a:latin typeface="宋体" pitchFamily="2" charset="-122"/>
                        </a:rPr>
                        <a:t>45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尿素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29" name="表格 28"/>
          <p:cNvGraphicFramePr/>
          <p:nvPr>
            <p:custDataLst>
              <p:tags r:id="rId5"/>
            </p:custDataLst>
          </p:nvPr>
        </p:nvGraphicFramePr>
        <p:xfrm>
          <a:off x="6744970" y="1748155"/>
          <a:ext cx="1637665" cy="3707765"/>
        </p:xfrm>
        <a:graphic>
          <a:graphicData uri="http://schemas.openxmlformats.org/drawingml/2006/table">
            <a:tbl>
              <a:tblPr firstRow="1" bandRow="1">
                <a:tableStyleId>{5C22544A-7EE6-4342-B048-85BDC9FD1C3A}</a:tableStyleId>
              </a:tblPr>
              <a:tblGrid>
                <a:gridCol w="466090"/>
                <a:gridCol w="1171575"/>
              </a:tblGrid>
              <a:tr h="213360">
                <a:tc>
                  <a:txBody>
                    <a:bodyPr/>
                    <a:p>
                      <a:pPr indent="0" algn="ctr">
                        <a:buNone/>
                      </a:pPr>
                      <a:r>
                        <a:rPr lang="en-US" sz="900" b="1">
                          <a:solidFill>
                            <a:srgbClr val="000000"/>
                          </a:solidFill>
                          <a:latin typeface="宋体" pitchFamily="2" charset="-122"/>
                        </a:rPr>
                        <a:t>46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尿酸</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47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总胆固醇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48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总胆红素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49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995">
                <a:tc>
                  <a:txBody>
                    <a:bodyPr/>
                    <a:p>
                      <a:pPr indent="0" algn="ctr">
                        <a:buNone/>
                      </a:pPr>
                      <a:r>
                        <a:rPr lang="en-US" sz="900" b="1">
                          <a:solidFill>
                            <a:srgbClr val="000000"/>
                          </a:solidFill>
                          <a:latin typeface="宋体" pitchFamily="2" charset="-122"/>
                        </a:rPr>
                        <a:t>50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总铁结合力</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51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c>
                  <a:txBody>
                    <a:bodyPr/>
                    <a:p>
                      <a:pPr indent="0">
                        <a:buNone/>
                      </a:pPr>
                      <a:r>
                        <a:rPr lang="zh-CN" sz="900" b="1">
                          <a:solidFill>
                            <a:srgbClr val="000000"/>
                          </a:solidFill>
                          <a:latin typeface="Arial" panose="020B0604020202020204" pitchFamily="34" charset="0"/>
                          <a:ea typeface="宋体" pitchFamily="2" charset="-122"/>
                        </a:rPr>
                        <a:t>抗RA33抗体IgG</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725">
                <a:tc>
                  <a:txBody>
                    <a:bodyPr/>
                    <a:p>
                      <a:pPr indent="0" algn="ctr">
                        <a:buNone/>
                      </a:pPr>
                      <a:r>
                        <a:rPr lang="en-US" sz="900" b="1">
                          <a:solidFill>
                            <a:srgbClr val="000000"/>
                          </a:solidFill>
                          <a:latin typeface="宋体" pitchFamily="2" charset="-122"/>
                        </a:rPr>
                        <a:t>52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抗环瓜氨酸多肽抗体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725">
                <a:tc>
                  <a:txBody>
                    <a:bodyPr/>
                    <a:p>
                      <a:pPr indent="0" algn="ctr">
                        <a:buNone/>
                      </a:pPr>
                      <a:r>
                        <a:rPr lang="en-US" sz="900" b="1">
                          <a:solidFill>
                            <a:srgbClr val="000000"/>
                          </a:solidFill>
                          <a:latin typeface="宋体" pitchFamily="2" charset="-122"/>
                        </a:rPr>
                        <a:t>53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抗环瓜氨酸肽抗体抗体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090">
                <a:tc>
                  <a:txBody>
                    <a:bodyPr/>
                    <a:p>
                      <a:pPr indent="0" algn="ctr">
                        <a:buNone/>
                      </a:pPr>
                      <a:r>
                        <a:rPr lang="en-US" sz="900" b="1">
                          <a:solidFill>
                            <a:srgbClr val="000000"/>
                          </a:solidFill>
                          <a:latin typeface="宋体" pitchFamily="2" charset="-122"/>
                        </a:rPr>
                        <a:t>54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抗链球菌溶血素O</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55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无机磷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56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果糖胺</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57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梅毒螺旋体抗体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13360">
                <a:tc>
                  <a:txBody>
                    <a:bodyPr/>
                    <a:p>
                      <a:pPr indent="0" algn="ctr">
                        <a:buNone/>
                      </a:pPr>
                      <a:r>
                        <a:rPr lang="en-US" sz="900" b="1">
                          <a:solidFill>
                            <a:srgbClr val="000000"/>
                          </a:solidFill>
                          <a:latin typeface="宋体" pitchFamily="2" charset="-122"/>
                        </a:rPr>
                        <a:t>58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氯</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9725">
                <a:tc>
                  <a:txBody>
                    <a:bodyPr/>
                    <a:p>
                      <a:pPr indent="0" algn="ctr">
                        <a:buNone/>
                      </a:pPr>
                      <a:r>
                        <a:rPr lang="en-US" sz="900" b="1">
                          <a:solidFill>
                            <a:srgbClr val="000000"/>
                          </a:solidFill>
                          <a:latin typeface="宋体" pitchFamily="2" charset="-122"/>
                        </a:rPr>
                        <a:t>59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活化部分凝血活酶时间</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2">
                        <a:lumMod val="75000"/>
                      </a:schemeClr>
                    </a:solidFill>
                  </a:tcPr>
                </a:tc>
              </a:tr>
              <a:tr h="213360">
                <a:tc>
                  <a:txBody>
                    <a:bodyPr/>
                    <a:p>
                      <a:pPr indent="0" algn="ctr">
                        <a:buNone/>
                      </a:pPr>
                      <a:r>
                        <a:rPr lang="en-US" sz="900" b="1">
                          <a:solidFill>
                            <a:srgbClr val="000000"/>
                          </a:solidFill>
                          <a:latin typeface="宋体" pitchFamily="2" charset="-122"/>
                        </a:rPr>
                        <a:t>60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淀粉酶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bl>
          </a:graphicData>
        </a:graphic>
      </p:graphicFrame>
      <p:graphicFrame>
        <p:nvGraphicFramePr>
          <p:cNvPr id="33" name="表格 32"/>
          <p:cNvGraphicFramePr/>
          <p:nvPr>
            <p:custDataLst>
              <p:tags r:id="rId6"/>
            </p:custDataLst>
          </p:nvPr>
        </p:nvGraphicFramePr>
        <p:xfrm>
          <a:off x="8503920" y="1748155"/>
          <a:ext cx="1484630" cy="3709035"/>
        </p:xfrm>
        <a:graphic>
          <a:graphicData uri="http://schemas.openxmlformats.org/drawingml/2006/table">
            <a:tbl>
              <a:tblPr firstRow="1" bandRow="1">
                <a:tableStyleId>{5C22544A-7EE6-4342-B048-85BDC9FD1C3A}</a:tableStyleId>
              </a:tblPr>
              <a:tblGrid>
                <a:gridCol w="422275"/>
                <a:gridCol w="1062355"/>
              </a:tblGrid>
              <a:tr h="213360">
                <a:tc>
                  <a:txBody>
                    <a:bodyPr/>
                    <a:p>
                      <a:pPr indent="0" algn="ctr">
                        <a:buNone/>
                      </a:pPr>
                      <a:r>
                        <a:rPr lang="en-US" sz="900" b="1">
                          <a:solidFill>
                            <a:srgbClr val="000000"/>
                          </a:solidFill>
                          <a:latin typeface="宋体" pitchFamily="2" charset="-122"/>
                        </a:rPr>
                        <a:t>61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球蛋白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995">
                <a:tc>
                  <a:txBody>
                    <a:bodyPr/>
                    <a:p>
                      <a:pPr indent="0" algn="ctr">
                        <a:buNone/>
                      </a:pPr>
                      <a:r>
                        <a:rPr lang="en-US" sz="900" b="1">
                          <a:solidFill>
                            <a:srgbClr val="000000"/>
                          </a:solidFill>
                          <a:latin typeface="宋体" pitchFamily="2" charset="-122"/>
                        </a:rPr>
                        <a:t>62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甘油三酯</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63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白球比</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64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白蛋白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360">
                <a:tc>
                  <a:txBody>
                    <a:bodyPr/>
                    <a:p>
                      <a:pPr indent="0" algn="ctr">
                        <a:buNone/>
                      </a:pPr>
                      <a:r>
                        <a:rPr lang="en-US" sz="900" b="1">
                          <a:solidFill>
                            <a:srgbClr val="000000"/>
                          </a:solidFill>
                          <a:latin typeface="宋体" pitchFamily="2" charset="-122"/>
                        </a:rPr>
                        <a:t>65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直接胆红素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66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碱性磷酸酶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3360">
                <a:tc>
                  <a:txBody>
                    <a:bodyPr/>
                    <a:p>
                      <a:pPr indent="0" algn="ctr">
                        <a:buNone/>
                      </a:pPr>
                      <a:r>
                        <a:rPr lang="en-US" sz="900" b="1">
                          <a:solidFill>
                            <a:srgbClr val="000000"/>
                          </a:solidFill>
                          <a:latin typeface="宋体" pitchFamily="2" charset="-122"/>
                        </a:rPr>
                        <a:t>67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13995">
                <a:tc>
                  <a:txBody>
                    <a:bodyPr/>
                    <a:p>
                      <a:pPr indent="0" algn="ctr">
                        <a:buNone/>
                      </a:pPr>
                      <a:r>
                        <a:rPr lang="en-US" sz="900" b="1">
                          <a:solidFill>
                            <a:srgbClr val="000000"/>
                          </a:solidFill>
                          <a:latin typeface="宋体" pitchFamily="2" charset="-122"/>
                        </a:rPr>
                        <a:t>68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类风湿因子</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69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糖化血清蛋白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339725">
                <a:tc>
                  <a:txBody>
                    <a:bodyPr/>
                    <a:p>
                      <a:pPr indent="0" algn="ctr">
                        <a:buNone/>
                      </a:pPr>
                      <a:r>
                        <a:rPr lang="en-US" sz="900" b="1">
                          <a:solidFill>
                            <a:srgbClr val="000000"/>
                          </a:solidFill>
                          <a:latin typeface="宋体" pitchFamily="2" charset="-122"/>
                        </a:rPr>
                        <a:t>70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糖类抗原CA242</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725">
                <a:tc>
                  <a:txBody>
                    <a:bodyPr/>
                    <a:p>
                      <a:pPr indent="0" algn="ctr">
                        <a:buNone/>
                      </a:pPr>
                      <a:r>
                        <a:rPr lang="en-US" sz="900" b="1">
                          <a:solidFill>
                            <a:srgbClr val="000000"/>
                          </a:solidFill>
                          <a:latin typeface="宋体" pitchFamily="2" charset="-122"/>
                        </a:rPr>
                        <a:t>71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纤维蛋白原(Clauss法）</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995">
                <a:tc>
                  <a:txBody>
                    <a:bodyPr/>
                    <a:p>
                      <a:pPr indent="0" algn="ctr">
                        <a:buNone/>
                      </a:pPr>
                      <a:r>
                        <a:rPr lang="en-US" sz="900" b="1">
                          <a:solidFill>
                            <a:srgbClr val="000000"/>
                          </a:solidFill>
                          <a:latin typeface="宋体" pitchFamily="2" charset="-122"/>
                        </a:rPr>
                        <a:t>72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肌酐</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73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肌酸激酶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339725">
                <a:tc>
                  <a:txBody>
                    <a:bodyPr/>
                    <a:p>
                      <a:pPr indent="0" algn="ctr">
                        <a:buNone/>
                      </a:pPr>
                      <a:r>
                        <a:rPr lang="en-US" sz="900" b="1">
                          <a:solidFill>
                            <a:srgbClr val="000000"/>
                          </a:solidFill>
                          <a:latin typeface="宋体" pitchFamily="2" charset="-122"/>
                        </a:rPr>
                        <a:t>74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肌酸激酶MB同功酶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339725">
                <a:tc>
                  <a:txBody>
                    <a:bodyPr/>
                    <a:p>
                      <a:pPr indent="0" algn="ctr">
                        <a:buNone/>
                      </a:pPr>
                      <a:r>
                        <a:rPr lang="en-US" sz="900" b="1">
                          <a:solidFill>
                            <a:srgbClr val="000000"/>
                          </a:solidFill>
                          <a:latin typeface="宋体" pitchFamily="2" charset="-122"/>
                        </a:rPr>
                        <a:t>75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肌酸激酶同工酶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bl>
          </a:graphicData>
        </a:graphic>
      </p:graphicFrame>
      <p:graphicFrame>
        <p:nvGraphicFramePr>
          <p:cNvPr id="44" name="表格 43"/>
          <p:cNvGraphicFramePr/>
          <p:nvPr>
            <p:custDataLst>
              <p:tags r:id="rId7"/>
            </p:custDataLst>
          </p:nvPr>
        </p:nvGraphicFramePr>
        <p:xfrm>
          <a:off x="10109835" y="1748155"/>
          <a:ext cx="1612265" cy="3707130"/>
        </p:xfrm>
        <a:graphic>
          <a:graphicData uri="http://schemas.openxmlformats.org/drawingml/2006/table">
            <a:tbl>
              <a:tblPr firstRow="1" bandRow="1">
                <a:tableStyleId>{5C22544A-7EE6-4342-B048-85BDC9FD1C3A}</a:tableStyleId>
              </a:tblPr>
              <a:tblGrid>
                <a:gridCol w="458470"/>
                <a:gridCol w="1153795"/>
              </a:tblGrid>
              <a:tr h="237490">
                <a:tc>
                  <a:txBody>
                    <a:bodyPr/>
                    <a:p>
                      <a:pPr indent="0" algn="ctr">
                        <a:buNone/>
                      </a:pPr>
                      <a:r>
                        <a:rPr lang="en-US" sz="900" b="1">
                          <a:solidFill>
                            <a:srgbClr val="000000"/>
                          </a:solidFill>
                          <a:latin typeface="宋体" pitchFamily="2" charset="-122"/>
                        </a:rPr>
                        <a:t>76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胰淀粉酶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8125">
                <a:tc>
                  <a:txBody>
                    <a:bodyPr/>
                    <a:p>
                      <a:pPr indent="0" algn="ctr">
                        <a:buNone/>
                      </a:pPr>
                      <a:r>
                        <a:rPr lang="en-US" sz="900" b="1">
                          <a:solidFill>
                            <a:srgbClr val="000000"/>
                          </a:solidFill>
                          <a:latin typeface="宋体" pitchFamily="2" charset="-122"/>
                        </a:rPr>
                        <a:t>77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脂肪酶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7490">
                <a:tc>
                  <a:txBody>
                    <a:bodyPr/>
                    <a:p>
                      <a:pPr indent="0" algn="ctr">
                        <a:buNone/>
                      </a:pPr>
                      <a:r>
                        <a:rPr lang="en-US" sz="900" b="1">
                          <a:solidFill>
                            <a:srgbClr val="000000"/>
                          </a:solidFill>
                          <a:latin typeface="宋体" pitchFamily="2" charset="-122"/>
                        </a:rPr>
                        <a:t>78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脂蛋白a</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8125">
                <a:tc>
                  <a:txBody>
                    <a:bodyPr/>
                    <a:p>
                      <a:pPr indent="0" algn="ctr">
                        <a:buNone/>
                      </a:pPr>
                      <a:r>
                        <a:rPr lang="en-US" sz="900" b="1">
                          <a:solidFill>
                            <a:srgbClr val="000000"/>
                          </a:solidFill>
                          <a:latin typeface="宋体" pitchFamily="2" charset="-122"/>
                        </a:rPr>
                        <a:t>79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葡萄糖</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7490">
                <a:tc>
                  <a:txBody>
                    <a:bodyPr/>
                    <a:p>
                      <a:pPr indent="0" algn="ctr">
                        <a:buNone/>
                      </a:pPr>
                      <a:r>
                        <a:rPr lang="en-US" sz="900" b="1">
                          <a:solidFill>
                            <a:srgbClr val="000000"/>
                          </a:solidFill>
                          <a:latin typeface="宋体" pitchFamily="2" charset="-122"/>
                        </a:rPr>
                        <a:t>80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血清铁</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8125">
                <a:tc>
                  <a:txBody>
                    <a:bodyPr/>
                    <a:p>
                      <a:pPr indent="0" algn="ctr">
                        <a:buNone/>
                      </a:pPr>
                      <a:r>
                        <a:rPr lang="en-US" sz="900" b="1">
                          <a:solidFill>
                            <a:srgbClr val="000000"/>
                          </a:solidFill>
                          <a:latin typeface="宋体" pitchFamily="2" charset="-122"/>
                        </a:rPr>
                        <a:t>81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谷胱甘肽还原酶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7490">
                <a:tc>
                  <a:txBody>
                    <a:bodyPr/>
                    <a:p>
                      <a:pPr indent="0" algn="ctr">
                        <a:buNone/>
                      </a:pPr>
                      <a:r>
                        <a:rPr lang="en-US" sz="900" b="1">
                          <a:solidFill>
                            <a:srgbClr val="000000"/>
                          </a:solidFill>
                          <a:latin typeface="宋体" pitchFamily="2" charset="-122"/>
                        </a:rPr>
                        <a:t>82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转铁蛋白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8125">
                <a:tc>
                  <a:txBody>
                    <a:bodyPr/>
                    <a:p>
                      <a:pPr indent="0" algn="ctr">
                        <a:buNone/>
                      </a:pPr>
                      <a:r>
                        <a:rPr lang="en-US" sz="900" b="1">
                          <a:solidFill>
                            <a:srgbClr val="000000"/>
                          </a:solidFill>
                          <a:latin typeface="宋体" pitchFamily="2" charset="-122"/>
                        </a:rPr>
                        <a:t>83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载脂蛋白A1</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7490">
                <a:tc>
                  <a:txBody>
                    <a:bodyPr/>
                    <a:p>
                      <a:pPr indent="0" algn="ctr">
                        <a:buNone/>
                      </a:pPr>
                      <a:r>
                        <a:rPr lang="en-US" sz="900" b="1">
                          <a:solidFill>
                            <a:srgbClr val="000000"/>
                          </a:solidFill>
                          <a:latin typeface="宋体" pitchFamily="2" charset="-122"/>
                        </a:rPr>
                        <a:t>84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载脂蛋白B</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8125">
                <a:tc>
                  <a:txBody>
                    <a:bodyPr/>
                    <a:p>
                      <a:pPr indent="0" algn="ctr">
                        <a:buNone/>
                      </a:pPr>
                      <a:r>
                        <a:rPr lang="en-US" sz="900" b="1">
                          <a:solidFill>
                            <a:srgbClr val="000000"/>
                          </a:solidFill>
                          <a:latin typeface="宋体" pitchFamily="2" charset="-122"/>
                        </a:rPr>
                        <a:t>85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钙</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7490">
                <a:tc>
                  <a:txBody>
                    <a:bodyPr/>
                    <a:p>
                      <a:pPr indent="0" algn="ctr">
                        <a:buNone/>
                      </a:pPr>
                      <a:r>
                        <a:rPr lang="en-US" sz="900" b="1">
                          <a:solidFill>
                            <a:srgbClr val="000000"/>
                          </a:solidFill>
                          <a:latin typeface="宋体" pitchFamily="2" charset="-122"/>
                        </a:rPr>
                        <a:t>86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8125">
                <a:tc>
                  <a:txBody>
                    <a:bodyPr/>
                    <a:p>
                      <a:pPr indent="0" algn="ctr">
                        <a:buNone/>
                      </a:pPr>
                      <a:r>
                        <a:rPr lang="en-US" sz="900" b="1">
                          <a:solidFill>
                            <a:srgbClr val="000000"/>
                          </a:solidFill>
                          <a:latin typeface="宋体" pitchFamily="2" charset="-122"/>
                        </a:rPr>
                        <a:t>87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钾</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7490">
                <a:tc>
                  <a:txBody>
                    <a:bodyPr/>
                    <a:p>
                      <a:pPr indent="0" algn="ctr">
                        <a:buNone/>
                      </a:pPr>
                      <a:r>
                        <a:rPr lang="en-US" sz="900" b="1">
                          <a:solidFill>
                            <a:srgbClr val="000000"/>
                          </a:solidFill>
                          <a:latin typeface="宋体" pitchFamily="2" charset="-122"/>
                        </a:rPr>
                        <a:t>88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铁</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8125">
                <a:tc>
                  <a:txBody>
                    <a:bodyPr/>
                    <a:p>
                      <a:pPr indent="0" algn="ctr">
                        <a:buNone/>
                      </a:pPr>
                      <a:r>
                        <a:rPr lang="en-US" sz="900" b="1">
                          <a:solidFill>
                            <a:srgbClr val="000000"/>
                          </a:solidFill>
                          <a:latin typeface="宋体" pitchFamily="2" charset="-122"/>
                        </a:rPr>
                        <a:t>89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镁</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377825">
                <a:tc>
                  <a:txBody>
                    <a:bodyPr/>
                    <a:p>
                      <a:pPr indent="0" algn="ctr">
                        <a:buNone/>
                      </a:pPr>
                      <a:r>
                        <a:rPr lang="en-US" sz="900" b="1">
                          <a:solidFill>
                            <a:srgbClr val="000000"/>
                          </a:solidFill>
                          <a:latin typeface="宋体" pitchFamily="2" charset="-122"/>
                        </a:rPr>
                        <a:t>90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高密度脂蛋白胆固醇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48" name="圆角矩形 47"/>
          <p:cNvSpPr/>
          <p:nvPr/>
        </p:nvSpPr>
        <p:spPr>
          <a:xfrm>
            <a:off x="513715" y="2179320"/>
            <a:ext cx="577215" cy="20129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蛋白</a:t>
            </a:r>
            <a:endParaRPr lang="zh-CN" altLang="en-US" sz="1400" b="1">
              <a:solidFill>
                <a:schemeClr val="tx1"/>
              </a:solidFill>
            </a:endParaRPr>
          </a:p>
        </p:txBody>
      </p:sp>
      <p:sp>
        <p:nvSpPr>
          <p:cNvPr id="50" name="圆角矩形 49"/>
          <p:cNvSpPr/>
          <p:nvPr/>
        </p:nvSpPr>
        <p:spPr>
          <a:xfrm>
            <a:off x="530225" y="2679700"/>
            <a:ext cx="577215" cy="201295"/>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酶</a:t>
            </a:r>
            <a:endParaRPr lang="zh-CN" altLang="en-US"/>
          </a:p>
        </p:txBody>
      </p:sp>
      <p:sp>
        <p:nvSpPr>
          <p:cNvPr id="52" name="圆角矩形 51"/>
          <p:cNvSpPr/>
          <p:nvPr/>
        </p:nvSpPr>
        <p:spPr>
          <a:xfrm>
            <a:off x="530225" y="3180080"/>
            <a:ext cx="577215" cy="20129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抗体</a:t>
            </a:r>
            <a:endParaRPr lang="zh-CN" altLang="en-US"/>
          </a:p>
        </p:txBody>
      </p:sp>
      <p:sp>
        <p:nvSpPr>
          <p:cNvPr id="57" name="圆角矩形 56"/>
          <p:cNvSpPr/>
          <p:nvPr/>
        </p:nvSpPr>
        <p:spPr>
          <a:xfrm>
            <a:off x="530225" y="3761740"/>
            <a:ext cx="577215" cy="20129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元素</a:t>
            </a:r>
            <a:endParaRPr lang="zh-CN" altLang="en-US"/>
          </a:p>
        </p:txBody>
      </p:sp>
      <p:sp>
        <p:nvSpPr>
          <p:cNvPr id="58" name="圆角矩形 57"/>
          <p:cNvSpPr/>
          <p:nvPr/>
        </p:nvSpPr>
        <p:spPr>
          <a:xfrm>
            <a:off x="530225" y="4343400"/>
            <a:ext cx="577215" cy="201295"/>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凝血</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7178040" cy="626543"/>
            <a:chOff x="284882" y="285115"/>
            <a:chExt cx="7178040" cy="626543"/>
          </a:xfrm>
        </p:grpSpPr>
        <p:sp>
          <p:nvSpPr>
            <p:cNvPr id="21" name="文本框 20"/>
            <p:cNvSpPr txBox="1"/>
            <p:nvPr/>
          </p:nvSpPr>
          <p:spPr>
            <a:xfrm>
              <a:off x="831617" y="285115"/>
              <a:ext cx="6631305"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Refine-</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数据</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探索</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pSp>
        <p:nvGrpSpPr>
          <p:cNvPr id="16" name="组合 15"/>
          <p:cNvGrpSpPr/>
          <p:nvPr/>
        </p:nvGrpSpPr>
        <p:grpSpPr>
          <a:xfrm>
            <a:off x="813435" y="1602105"/>
            <a:ext cx="10374630" cy="4187190"/>
            <a:chOff x="1617" y="2103"/>
            <a:chExt cx="16338" cy="6594"/>
          </a:xfrm>
        </p:grpSpPr>
        <p:pic>
          <p:nvPicPr>
            <p:cNvPr id="14" name="图片 13"/>
            <p:cNvPicPr>
              <a:picLocks noChangeAspect="1"/>
            </p:cNvPicPr>
            <p:nvPr/>
          </p:nvPicPr>
          <p:blipFill>
            <a:blip r:embed="rId2"/>
            <a:stretch>
              <a:fillRect/>
            </a:stretch>
          </p:blipFill>
          <p:spPr>
            <a:xfrm>
              <a:off x="1617" y="2103"/>
              <a:ext cx="7968" cy="6579"/>
            </a:xfrm>
            <a:prstGeom prst="rect">
              <a:avLst/>
            </a:prstGeom>
          </p:spPr>
        </p:pic>
        <p:pic>
          <p:nvPicPr>
            <p:cNvPr id="15" name="图片 14"/>
            <p:cNvPicPr>
              <a:picLocks noChangeAspect="1"/>
            </p:cNvPicPr>
            <p:nvPr/>
          </p:nvPicPr>
          <p:blipFill>
            <a:blip r:embed="rId3"/>
            <a:stretch>
              <a:fillRect/>
            </a:stretch>
          </p:blipFill>
          <p:spPr>
            <a:xfrm>
              <a:off x="9987" y="2103"/>
              <a:ext cx="7969" cy="6595"/>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2061210"/>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阶段成果</a:t>
            </a:r>
            <a:endParaRPr lang="zh-CN" altLang="en-US" sz="6400" b="1" dirty="0">
              <a:solidFill>
                <a:schemeClr val="bg1"/>
              </a:solidFill>
              <a:latin typeface="华文楷体" panose="02010600040101010101" charset="-122"/>
              <a:ea typeface="华文楷体" panose="02010600040101010101" charset="-122"/>
              <a:cs typeface="+mn-ea"/>
              <a:sym typeface="+mn-lt"/>
            </a:endParaRPr>
          </a:p>
          <a:p>
            <a:pPr algn="dist"/>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3"/>
            </p:custDataLst>
          </p:nvPr>
        </p:nvSpPr>
        <p:spPr>
          <a:xfrm>
            <a:off x="6079692" y="3925277"/>
            <a:ext cx="4049919" cy="830580"/>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 TensorFlow allows us to build a deep learning model that learns from a large amount of patient data, while Facets helps us understand our data better through visualization</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4880"/>
          </a:xfrm>
          <a:prstGeom prst="rect">
            <a:avLst/>
          </a:prstGeom>
          <a:noFill/>
        </p:spPr>
        <p:txBody>
          <a:bodyPr wrap="square" rtlCol="0">
            <a:spAutoFit/>
          </a:bodyPr>
          <a:lstStyle/>
          <a:p>
            <a:pPr algn="ctr"/>
            <a:r>
              <a:rPr lang="en-US" altLang="zh-CN" sz="1380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02.</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070591" y="4584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0437" y="280308"/>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阶段</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成果</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aphicFrame>
        <p:nvGraphicFramePr>
          <p:cNvPr id="15" name="图表 14"/>
          <p:cNvGraphicFramePr/>
          <p:nvPr/>
        </p:nvGraphicFramePr>
        <p:xfrm>
          <a:off x="5332730" y="2423160"/>
          <a:ext cx="6134735" cy="396430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6" name="表格 15"/>
          <p:cNvGraphicFramePr/>
          <p:nvPr>
            <p:custDataLst>
              <p:tags r:id="rId3"/>
            </p:custDataLst>
          </p:nvPr>
        </p:nvGraphicFramePr>
        <p:xfrm>
          <a:off x="827405" y="1289685"/>
          <a:ext cx="4035425" cy="5097780"/>
        </p:xfrm>
        <a:graphic>
          <a:graphicData uri="http://schemas.openxmlformats.org/drawingml/2006/table">
            <a:tbl>
              <a:tblPr firstRow="1" bandRow="1">
                <a:tableStyleId>{5C22544A-7EE6-4342-B048-85BDC9FD1C3A}</a:tableStyleId>
              </a:tblPr>
              <a:tblGrid>
                <a:gridCol w="4035425"/>
              </a:tblGrid>
              <a:tr h="180340">
                <a:tc>
                  <a:txBody>
                    <a:bodyPr/>
                    <a:p>
                      <a:pPr algn="ctr">
                        <a:buClrTx/>
                        <a:buSzTx/>
                        <a:buFontTx/>
                        <a:buNone/>
                      </a:pPr>
                      <a:r>
                        <a:rPr lang="en-US" sz="800" b="1">
                          <a:solidFill>
                            <a:srgbClr val="0070C0"/>
                          </a:solidFill>
                          <a:latin typeface="宋体" pitchFamily="2" charset="-122"/>
                        </a:rPr>
                        <a:t>诊断_mean_target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收缩压_舒张压_ratio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住院号_mean_target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null_count_mean_target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0">
                <a:tc>
                  <a:txBody>
                    <a:bodyPr/>
                    <a:p>
                      <a:pPr algn="ctr">
                        <a:buClrTx/>
                        <a:buSzTx/>
                        <a:buFontTx/>
                        <a:buNone/>
                      </a:pPr>
                      <a:r>
                        <a:rPr lang="en-US" sz="800" b="1">
                          <a:solidFill>
                            <a:srgbClr val="0070C0"/>
                          </a:solidFill>
                          <a:latin typeface="宋体" pitchFamily="2" charset="-122"/>
                        </a:rPr>
                        <a:t>null_count_住院次数_ratio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谷胱甘肽还原酶_D-二聚体_ratio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白球比_收缩压_ratio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白蛋白_住院次数_ratio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同型半胱氨酸_D-二聚体_ratio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体重_收缩压_ratio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白蛋白_收缩压_ratio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收缩压_mean_target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白蛋白_尿素_ratio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肌酐_project_max_diff_住院次数_ratio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同型半胱氨酸_project_max_diff_D-二聚体_ratio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诊断</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白蛋白_project_max_ratio_住院次数_ratio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null_count_收缩压_ratio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谷胱甘肽还原酶_project_max_ratio_D-二聚体_ratio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钙_收缩压_ratio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白球比_project_max_ratio_收缩压_ratio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钾_mean_target</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体重_尿素_ratio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0">
                <a:tc>
                  <a:txBody>
                    <a:bodyPr/>
                    <a:p>
                      <a:pPr algn="ctr">
                        <a:buClrTx/>
                        <a:buSzTx/>
                        <a:buFontTx/>
                        <a:buNone/>
                      </a:pPr>
                      <a:r>
                        <a:rPr lang="en-US" sz="800" b="1">
                          <a:solidFill>
                            <a:schemeClr val="accent2">
                              <a:lumMod val="75000"/>
                            </a:schemeClr>
                          </a:solidFill>
                          <a:latin typeface="宋体" pitchFamily="2" charset="-122"/>
                        </a:rPr>
                        <a:t>直接胆红素_体重_ratio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combine_性别_诊断</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葡萄糖_凝血酶原时间活动度_ratio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白蛋白_project_min_diff_住院次数_ratio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bl>
          </a:graphicData>
        </a:graphic>
      </p:graphicFrame>
      <p:sp>
        <p:nvSpPr>
          <p:cNvPr id="17" name="文本框 16"/>
          <p:cNvSpPr txBox="1"/>
          <p:nvPr/>
        </p:nvSpPr>
        <p:spPr>
          <a:xfrm>
            <a:off x="5474970" y="1329690"/>
            <a:ext cx="6331585" cy="922020"/>
          </a:xfrm>
          <a:prstGeom prst="rect">
            <a:avLst/>
          </a:prstGeom>
          <a:noFill/>
        </p:spPr>
        <p:txBody>
          <a:bodyPr wrap="square" rtlCol="0">
            <a:spAutoFit/>
          </a:bodyPr>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rPr>
              <a:t>医生做出的初始诊断比较重要</a:t>
            </a:r>
            <a:endParaRPr lang="zh-CN" altLang="en-US">
              <a:latin typeface="汉仪中宋简" panose="02010600000101010101" charset="-122"/>
              <a:ea typeface="汉仪中宋简" panose="02010600000101010101" charset="-122"/>
            </a:endParaRPr>
          </a:p>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rPr>
              <a:t>收缩压与舒张压比较重要，与现有临床试验结果相符合</a:t>
            </a:r>
            <a:endParaRPr lang="zh-CN" altLang="en-US">
              <a:latin typeface="汉仪中宋简" panose="02010600000101010101" charset="-122"/>
              <a:ea typeface="汉仪中宋简" panose="02010600000101010101" charset="-122"/>
            </a:endParaRPr>
          </a:p>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rPr>
              <a:t>白蛋白以及白球比与其他特征的衍生特征比较重要</a:t>
            </a:r>
            <a:endParaRPr lang="zh-CN" altLang="en-US">
              <a:latin typeface="汉仪中宋简" panose="02010600000101010101" charset="-122"/>
              <a:ea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Arial" panose="020B0604020202020204" pitchFamily="34" charset="0"/>
                </a:rPr>
                <a:t>MLFLOW+TensorFlow</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6" name="文本框 15"/>
          <p:cNvSpPr txBox="1"/>
          <p:nvPr>
            <p:custDataLst>
              <p:tags r:id="rId2"/>
            </p:custDataLst>
          </p:nvPr>
        </p:nvSpPr>
        <p:spPr>
          <a:xfrm>
            <a:off x="858520" y="906780"/>
            <a:ext cx="10322560" cy="1032510"/>
          </a:xfrm>
          <a:prstGeom prst="rect">
            <a:avLst/>
          </a:prstGeom>
          <a:noFill/>
        </p:spPr>
        <p:txBody>
          <a:bodyPr wrap="square" rtlCol="0">
            <a:noAutofit/>
          </a:bodyPr>
          <a:p>
            <a:r>
              <a:rPr lang="zh-CN" altLang="en-US" sz="1400">
                <a:latin typeface="汉仪中宋简" panose="02010600000101010101" charset="-122"/>
                <a:ea typeface="汉仪中宋简" panose="02010600000101010101" charset="-122"/>
              </a:rPr>
              <a:t>基于数据分析以及特征构造等过程，构建</a:t>
            </a:r>
            <a:r>
              <a:rPr lang="en-US" altLang="zh-CN" sz="1400">
                <a:latin typeface="汉仪中宋简" panose="02010600000101010101" charset="-122"/>
                <a:ea typeface="汉仪中宋简" panose="02010600000101010101" charset="-122"/>
              </a:rPr>
              <a:t>VTE</a:t>
            </a:r>
            <a:r>
              <a:rPr lang="zh-CN" altLang="en-US" sz="1400">
                <a:latin typeface="汉仪中宋简" panose="02010600000101010101" charset="-122"/>
                <a:ea typeface="汉仪中宋简" panose="02010600000101010101" charset="-122"/>
              </a:rPr>
              <a:t>分类预测模型的输入特征和输出目标，基于</a:t>
            </a:r>
            <a:r>
              <a:rPr lang="en-US" altLang="zh-CN" sz="1400">
                <a:latin typeface="汉仪中宋简" panose="02010600000101010101" charset="-122"/>
                <a:ea typeface="汉仪中宋简" panose="02010600000101010101" charset="-122"/>
              </a:rPr>
              <a:t>MLFLOW</a:t>
            </a:r>
            <a:r>
              <a:rPr lang="zh-CN" altLang="en-US" sz="1400">
                <a:latin typeface="汉仪中宋简" panose="02010600000101010101" charset="-122"/>
                <a:ea typeface="汉仪中宋简" panose="02010600000101010101" charset="-122"/>
              </a:rPr>
              <a:t>和</a:t>
            </a:r>
            <a:r>
              <a:rPr lang="en-US" altLang="zh-CN" sz="1400">
                <a:latin typeface="汉仪中宋简" panose="02010600000101010101" charset="-122"/>
                <a:ea typeface="汉仪中宋简" panose="02010600000101010101" charset="-122"/>
              </a:rPr>
              <a:t>TensorFlow</a:t>
            </a:r>
            <a:r>
              <a:rPr lang="zh-CN" altLang="en-US" sz="1400">
                <a:latin typeface="汉仪中宋简" panose="02010600000101010101" charset="-122"/>
                <a:ea typeface="汉仪中宋简" panose="02010600000101010101" charset="-122"/>
              </a:rPr>
              <a:t>快速构建</a:t>
            </a:r>
            <a:r>
              <a:rPr lang="en-US" altLang="zh-CN" sz="1400">
                <a:latin typeface="汉仪中宋简" panose="02010600000101010101" charset="-122"/>
                <a:ea typeface="汉仪中宋简" panose="02010600000101010101" charset="-122"/>
              </a:rPr>
              <a:t>VTE</a:t>
            </a:r>
            <a:r>
              <a:rPr lang="zh-CN" altLang="en-US" sz="1400">
                <a:latin typeface="汉仪中宋简" panose="02010600000101010101" charset="-122"/>
                <a:ea typeface="汉仪中宋简" panose="02010600000101010101" charset="-122"/>
              </a:rPr>
              <a:t>模型训练日志记录系统，方便开发者针对特征和模型优化分析实验。</a:t>
            </a:r>
            <a:endParaRPr lang="zh-CN" altLang="en-US" sz="1400">
              <a:latin typeface="汉仪中宋简" panose="02010600000101010101" charset="-122"/>
              <a:ea typeface="汉仪中宋简" panose="02010600000101010101" charset="-122"/>
            </a:endParaRPr>
          </a:p>
        </p:txBody>
      </p:sp>
      <p:pic>
        <p:nvPicPr>
          <p:cNvPr id="17" name="图片 16"/>
          <p:cNvPicPr>
            <a:picLocks noChangeAspect="1"/>
          </p:cNvPicPr>
          <p:nvPr>
            <p:custDataLst>
              <p:tags r:id="rId3"/>
            </p:custDataLst>
          </p:nvPr>
        </p:nvPicPr>
        <p:blipFill>
          <a:blip r:embed="rId4"/>
          <a:stretch>
            <a:fillRect/>
          </a:stretch>
        </p:blipFill>
        <p:spPr>
          <a:xfrm>
            <a:off x="1243330" y="1624965"/>
            <a:ext cx="9328785" cy="45650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Arial" panose="020B0604020202020204" pitchFamily="34" charset="0"/>
                </a:rPr>
                <a:t>MLFLOW+TensorFlow</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4" name="20230907_035842">
            <a:hlinkClick r:id="" action="ppaction://media"/>
          </p:cNvPr>
          <p:cNvPicPr/>
          <p:nvPr>
            <a:videoFile r:link="rId2"/>
            <p:extLst>
              <p:ext uri="{DAA4B4D4-6D71-4841-9C94-3DE7FCFB9230}">
                <p14:media xmlns:p14="http://schemas.microsoft.com/office/powerpoint/2010/main" r:embed="rId3"/>
              </p:ext>
            </p:extLst>
          </p:nvPr>
        </p:nvPicPr>
        <p:blipFill>
          <a:blip r:embed="rId4"/>
          <a:stretch>
            <a:fillRect/>
          </a:stretch>
        </p:blipFill>
        <p:spPr>
          <a:xfrm>
            <a:off x="2848610" y="1223010"/>
            <a:ext cx="8003540" cy="5172075"/>
          </a:xfrm>
          <a:prstGeom prst="rect">
            <a:avLst/>
          </a:prstGeom>
        </p:spPr>
      </p:pic>
      <p:sp>
        <p:nvSpPr>
          <p:cNvPr id="15" name="圆角矩形 14"/>
          <p:cNvSpPr/>
          <p:nvPr/>
        </p:nvSpPr>
        <p:spPr>
          <a:xfrm>
            <a:off x="454660" y="2291080"/>
            <a:ext cx="1917700" cy="387985"/>
          </a:xfrm>
          <a:prstGeom prst="roundRect">
            <a:avLst/>
          </a:prstGeom>
          <a:effectLst>
            <a:softEdge rad="50800"/>
          </a:effectLst>
        </p:spPr>
        <p:style>
          <a:lnRef idx="0">
            <a:srgbClr val="FFFFFF"/>
          </a:lnRef>
          <a:fillRef idx="1">
            <a:schemeClr val="accent5"/>
          </a:fillRef>
          <a:effectRef idx="0">
            <a:srgbClr val="FFFFFF"/>
          </a:effectRef>
          <a:fontRef idx="minor">
            <a:schemeClr val="lt1"/>
          </a:fontRef>
        </p:style>
        <p:txBody>
          <a:bodyPr rtlCol="0" anchor="ctr"/>
          <a:p>
            <a:pPr algn="ctr"/>
            <a:r>
              <a:rPr lang="zh-CN" altLang="en-US"/>
              <a:t>多次实验记录</a:t>
            </a:r>
            <a:endParaRPr lang="zh-CN" altLang="en-US"/>
          </a:p>
        </p:txBody>
      </p:sp>
      <p:sp>
        <p:nvSpPr>
          <p:cNvPr id="16" name="圆角矩形 15"/>
          <p:cNvSpPr/>
          <p:nvPr>
            <p:custDataLst>
              <p:tags r:id="rId5"/>
            </p:custDataLst>
          </p:nvPr>
        </p:nvSpPr>
        <p:spPr>
          <a:xfrm>
            <a:off x="454660" y="3288665"/>
            <a:ext cx="1917700" cy="387985"/>
          </a:xfrm>
          <a:prstGeom prst="roundRect">
            <a:avLst/>
          </a:prstGeom>
          <a:effectLst>
            <a:softEdge rad="50800"/>
          </a:effectLst>
        </p:spPr>
        <p:style>
          <a:lnRef idx="0">
            <a:srgbClr val="FFFFFF"/>
          </a:lnRef>
          <a:fillRef idx="1">
            <a:schemeClr val="accent2"/>
          </a:fillRef>
          <a:effectRef idx="0">
            <a:srgbClr val="FFFFFF"/>
          </a:effectRef>
          <a:fontRef idx="minor">
            <a:schemeClr val="lt1"/>
          </a:fontRef>
        </p:style>
        <p:txBody>
          <a:bodyPr rtlCol="0" anchor="ctr"/>
          <a:p>
            <a:pPr algn="ctr"/>
            <a:r>
              <a:rPr lang="zh-CN" altLang="en-US"/>
              <a:t>模型性能对比</a:t>
            </a:r>
            <a:endParaRPr lang="zh-CN" altLang="en-US"/>
          </a:p>
        </p:txBody>
      </p:sp>
      <p:sp>
        <p:nvSpPr>
          <p:cNvPr id="17" name="圆角矩形 16"/>
          <p:cNvSpPr/>
          <p:nvPr>
            <p:custDataLst>
              <p:tags r:id="rId6"/>
            </p:custDataLst>
          </p:nvPr>
        </p:nvSpPr>
        <p:spPr>
          <a:xfrm>
            <a:off x="452120" y="4286250"/>
            <a:ext cx="1917700" cy="387985"/>
          </a:xfrm>
          <a:prstGeom prst="roundRect">
            <a:avLst/>
          </a:prstGeom>
          <a:effectLst>
            <a:softEdge rad="50800"/>
          </a:effectLst>
        </p:spPr>
        <p:style>
          <a:lnRef idx="0">
            <a:srgbClr val="FFFFFF"/>
          </a:lnRef>
          <a:fillRef idx="1">
            <a:schemeClr val="accent6"/>
          </a:fillRef>
          <a:effectRef idx="0">
            <a:srgbClr val="FFFFFF"/>
          </a:effectRef>
          <a:fontRef idx="minor">
            <a:schemeClr val="lt1"/>
          </a:fontRef>
        </p:style>
        <p:txBody>
          <a:bodyPr rtlCol="0" anchor="ctr"/>
          <a:p>
            <a:pPr algn="ctr"/>
            <a:r>
              <a:rPr lang="zh-CN" altLang="en-US"/>
              <a:t>指标超参记录</a:t>
            </a:r>
            <a:endParaRPr lang="zh-CN" altLang="en-US"/>
          </a:p>
        </p:txBody>
      </p:sp>
      <p:sp>
        <p:nvSpPr>
          <p:cNvPr id="18" name="圆角矩形 17"/>
          <p:cNvSpPr/>
          <p:nvPr>
            <p:custDataLst>
              <p:tags r:id="rId7"/>
            </p:custDataLst>
          </p:nvPr>
        </p:nvSpPr>
        <p:spPr>
          <a:xfrm>
            <a:off x="454660" y="5179695"/>
            <a:ext cx="1917700" cy="387985"/>
          </a:xfrm>
          <a:prstGeom prst="roundRect">
            <a:avLst/>
          </a:prstGeom>
          <a:effectLst>
            <a:softEdge rad="50800"/>
          </a:effectLst>
        </p:spPr>
        <p:style>
          <a:lnRef idx="0">
            <a:srgbClr val="FFFFFF"/>
          </a:lnRef>
          <a:fillRef idx="1">
            <a:schemeClr val="accent1"/>
          </a:fillRef>
          <a:effectRef idx="0">
            <a:srgbClr val="FFFFFF"/>
          </a:effectRef>
          <a:fontRef idx="minor">
            <a:schemeClr val="lt1"/>
          </a:fontRef>
        </p:style>
        <p:txBody>
          <a:bodyPr rtlCol="0" anchor="ctr"/>
          <a:p>
            <a:pPr algn="ctr"/>
            <a:r>
              <a:rPr lang="zh-CN" altLang="en-US"/>
              <a:t>模型接口部署</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video fullScrn="0">
              <p:cMediaNode>
                <p:cTn id="8" fill="hold" display="1">
                  <p:stCondLst>
                    <p:cond delay="indefinite"/>
                  </p:stCondLst>
                </p:cTn>
                <p:tgtEl>
                  <p:spTgt spid="14"/>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2061210"/>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未来展望</a:t>
            </a:r>
            <a:endParaRPr lang="zh-CN" altLang="en-US" sz="6400" b="1" dirty="0">
              <a:solidFill>
                <a:schemeClr val="bg1"/>
              </a:solidFill>
              <a:latin typeface="华文楷体" panose="02010600040101010101" charset="-122"/>
              <a:ea typeface="华文楷体" panose="02010600040101010101" charset="-122"/>
              <a:cs typeface="+mn-ea"/>
              <a:sym typeface="+mn-lt"/>
            </a:endParaRPr>
          </a:p>
          <a:p>
            <a:pPr algn="dist"/>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4880"/>
          </a:xfrm>
          <a:prstGeom prst="rect">
            <a:avLst/>
          </a:prstGeom>
          <a:noFill/>
        </p:spPr>
        <p:txBody>
          <a:bodyPr wrap="square" rtlCol="0">
            <a:spAutoFit/>
          </a:bodyPr>
          <a:lstStyle/>
          <a:p>
            <a:pPr algn="ctr"/>
            <a:r>
              <a:rPr lang="en-US" altLang="zh-CN" sz="1380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03.</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PA-文本框 88"/>
          <p:cNvSpPr txBox="1"/>
          <p:nvPr>
            <p:custDataLst>
              <p:tags r:id="rId4"/>
            </p:custDataLst>
          </p:nvPr>
        </p:nvSpPr>
        <p:spPr>
          <a:xfrm>
            <a:off x="6079692" y="3925277"/>
            <a:ext cx="4049919" cy="830580"/>
          </a:xfrm>
          <a:prstGeom prst="rect">
            <a:avLst/>
          </a:prstGeom>
          <a:noFill/>
        </p:spPr>
        <p:txBody>
          <a:bodyPr wrap="square" lIns="0" tIns="0" rIns="0" bIns="0" rtlCol="0">
            <a:spAutoFit/>
          </a:bodyPr>
          <a:p>
            <a:pPr hangingPunct="0">
              <a:lnSpc>
                <a:spcPct val="150000"/>
              </a:lnSpc>
            </a:pPr>
            <a:r>
              <a:rPr lang="en-US" altLang="zh-CN" sz="1200" dirty="0">
                <a:solidFill>
                  <a:schemeClr val="bg1">
                    <a:alpha val="80000"/>
                  </a:schemeClr>
                </a:solidFill>
                <a:cs typeface="+mn-ea"/>
                <a:sym typeface="+mn-lt"/>
              </a:rPr>
              <a:t>Looking forward,  we plan to explore other Google technologies and machine learning algorithms to enhance our VTE risk prediction capabilities.</a:t>
            </a:r>
            <a:endParaRPr lang="en-US" altLang="zh-CN" sz="1200" dirty="0">
              <a:solidFill>
                <a:schemeClr val="bg1">
                  <a:alpha val="80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未来</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展望</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981316" y="1994937"/>
            <a:ext cx="9991484" cy="3138170"/>
          </a:xfrm>
          <a:prstGeom prst="rect">
            <a:avLst/>
          </a:prstGeom>
          <a:noFill/>
        </p:spPr>
        <p:txBody>
          <a:bodyPr wrap="square">
            <a:spAutoFit/>
          </a:bodyPr>
          <a:p>
            <a:pPr marL="342900" indent="-342900">
              <a:buFont typeface="Wingdings" panose="05000000000000000000" pitchFamily="2" charset="2"/>
              <a:buChar char="l"/>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总结：</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树模型可解释性强且给出衍生特征构建方向，训练迭代速度快</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患者诊断、基本检查数据项比较重要，比如收缩压、舒张压、蛋白、</a:t>
            </a:r>
            <a:r>
              <a:rPr lang="en-US" altLang="zh-CN" dirty="0">
                <a:solidFill>
                  <a:schemeClr val="tx1"/>
                </a:solidFill>
                <a:latin typeface="汉仪中宋简" panose="02010600000101010101" charset="-122"/>
                <a:ea typeface="汉仪中宋简" panose="02010600000101010101" charset="-122"/>
                <a:cs typeface="汉仪中宋简" panose="02010600000101010101" charset="-122"/>
                <a:sym typeface="+mn-ea"/>
              </a:rPr>
              <a:t>D-</a:t>
            </a: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二聚体等</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用户历史就诊数据具有潜在挖掘价值，文本预训练模型可以对症状描述以及医生诊断进行有效刻画。</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a:p>
            <a:pPr marL="1257300" lvl="2" indent="-342900">
              <a:buFont typeface="Wingdings" panose="05000000000000000000" pitchFamily="2" charset="2"/>
              <a:buChar char="Ø"/>
            </a:pPr>
            <a:endParaRPr lang="en-US" altLang="zh-CN" dirty="0">
              <a:solidFill>
                <a:schemeClr val="tx1"/>
              </a:solidFill>
              <a:latin typeface="汉仪中宋简" panose="02010600000101010101" charset="-122"/>
              <a:ea typeface="汉仪中宋简" panose="02010600000101010101" charset="-122"/>
              <a:cs typeface="汉仪中宋简" panose="02010600000101010101" charset="-122"/>
            </a:endParaRPr>
          </a:p>
          <a:p>
            <a:pPr marL="342900" indent="-342900">
              <a:buFont typeface="Wingdings" panose="05000000000000000000" pitchFamily="2" charset="2"/>
              <a:buChar char="l"/>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展望：</a:t>
            </a:r>
            <a:endParaRPr lang="en-US" altLang="zh-CN"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通过有监督模型预测无标签数据集，之后进行伪标签学习</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尝试神经网络模型或者图神经网络的实验效果</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可以结合树模型以及给出的重要特征部署成</a:t>
            </a:r>
            <a:r>
              <a:rPr lang="en-US" altLang="zh-CN" dirty="0">
                <a:solidFill>
                  <a:schemeClr val="tx1"/>
                </a:solidFill>
                <a:latin typeface="汉仪中宋简" panose="02010600000101010101" charset="-122"/>
                <a:ea typeface="汉仪中宋简" panose="02010600000101010101" charset="-122"/>
                <a:cs typeface="汉仪中宋简" panose="02010600000101010101" charset="-122"/>
                <a:sym typeface="+mn-ea"/>
              </a:rPr>
              <a:t>VTE</a:t>
            </a: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风险预测微服务，有相关患者就诊记录时可以实时处理进行预测</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未来</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展望</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962660" y="1849120"/>
            <a:ext cx="3230880" cy="3415030"/>
          </a:xfrm>
          <a:prstGeom prst="rect">
            <a:avLst/>
          </a:prstGeom>
          <a:noFill/>
        </p:spPr>
        <p:txBody>
          <a:bodyPr wrap="square" rtlCol="0" anchor="t">
            <a:spAutoFit/>
          </a:bodyPr>
          <a:p>
            <a:r>
              <a:rPr lang="en-US" altLang="zh-CN" dirty="0">
                <a:solidFill>
                  <a:srgbClr val="FF0000"/>
                </a:solidFill>
                <a:latin typeface="汉仪中宋简" panose="02010600000101010101" charset="-122"/>
                <a:ea typeface="汉仪中宋简" panose="02010600000101010101" charset="-122"/>
                <a:cs typeface="汉仪中宋简" panose="02010600000101010101" charset="-122"/>
                <a:sym typeface="+mn-ea"/>
              </a:rPr>
              <a:t>VTE</a:t>
            </a:r>
            <a:r>
              <a:rPr lang="zh-CN" altLang="en-US" dirty="0">
                <a:solidFill>
                  <a:srgbClr val="FF0000"/>
                </a:solidFill>
                <a:latin typeface="汉仪中宋简" panose="02010600000101010101" charset="-122"/>
                <a:ea typeface="汉仪中宋简" panose="02010600000101010101" charset="-122"/>
                <a:cs typeface="汉仪中宋简" panose="02010600000101010101" charset="-122"/>
                <a:sym typeface="+mn-ea"/>
              </a:rPr>
              <a:t>风险预测应用原型设计</a:t>
            </a:r>
            <a:endParaRPr lang="zh-CN" altLang="en-US" dirty="0">
              <a:solidFill>
                <a:srgbClr val="FF0000"/>
              </a:solidFill>
              <a:latin typeface="汉仪中宋简" panose="02010600000101010101" charset="-122"/>
              <a:ea typeface="汉仪中宋简" panose="02010600000101010101" charset="-122"/>
              <a:cs typeface="汉仪中宋简" panose="02010600000101010101" charset="-122"/>
              <a:sym typeface="+mn-ea"/>
            </a:endParaRPr>
          </a:p>
          <a:p>
            <a:endParaRPr lang="zh-CN" altLang="en-US">
              <a:latin typeface="汉仪中宋简" panose="02010600000101010101" charset="-122"/>
              <a:ea typeface="汉仪中宋简" panose="02010600000101010101" charset="-122"/>
              <a:cs typeface="汉仪中宋简" panose="02010600000101010101" charset="-122"/>
            </a:endParaRPr>
          </a:p>
          <a:p>
            <a:r>
              <a:rPr lang="zh-CN" altLang="en-US">
                <a:latin typeface="汉仪中宋简" panose="02010600000101010101" charset="-122"/>
                <a:ea typeface="汉仪中宋简" panose="02010600000101010101" charset="-122"/>
                <a:cs typeface="汉仪中宋简" panose="02010600000101010101" charset="-122"/>
              </a:rPr>
              <a:t>通过收集患者历史就诊数据进行数据挖掘与建模，在取得一定效果之后，进行模型部署与微服务上线，为患者提供便捷就诊服务，</a:t>
            </a:r>
            <a:r>
              <a:rPr lang="en-US" altLang="zh-CN">
                <a:latin typeface="汉仪中宋简" panose="02010600000101010101" charset="-122"/>
                <a:ea typeface="汉仪中宋简" panose="02010600000101010101" charset="-122"/>
                <a:cs typeface="汉仪中宋简" panose="02010600000101010101" charset="-122"/>
              </a:rPr>
              <a:t>VTE</a:t>
            </a:r>
            <a:r>
              <a:rPr lang="zh-CN" altLang="en-US">
                <a:latin typeface="汉仪中宋简" panose="02010600000101010101" charset="-122"/>
                <a:ea typeface="汉仪中宋简" panose="02010600000101010101" charset="-122"/>
                <a:cs typeface="汉仪中宋简" panose="02010600000101010101" charset="-122"/>
              </a:rPr>
              <a:t>风险预警，及时将风险指标推送给患者，同时将重要指标特征为医生提供参考建议，为患者提供科学问诊，智能问诊，便捷就诊全方位服务。</a:t>
            </a:r>
            <a:endParaRPr lang="zh-CN" altLang="en-US">
              <a:latin typeface="汉仪中宋简" panose="02010600000101010101" charset="-122"/>
              <a:ea typeface="汉仪中宋简" panose="02010600000101010101" charset="-122"/>
              <a:cs typeface="汉仪中宋简" panose="02010600000101010101" charset="-122"/>
            </a:endParaRPr>
          </a:p>
        </p:txBody>
      </p:sp>
      <p:pic>
        <p:nvPicPr>
          <p:cNvPr id="16" name="图片 15" descr="APP设计"/>
          <p:cNvPicPr>
            <a:picLocks noChangeAspect="1"/>
          </p:cNvPicPr>
          <p:nvPr>
            <p:custDataLst>
              <p:tags r:id="rId2"/>
            </p:custDataLst>
          </p:nvPr>
        </p:nvPicPr>
        <p:blipFill>
          <a:blip r:embed="rId3"/>
          <a:stretch>
            <a:fillRect/>
          </a:stretch>
        </p:blipFill>
        <p:spPr>
          <a:xfrm>
            <a:off x="4761865" y="1422400"/>
            <a:ext cx="6566535" cy="4908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参考</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资料</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750570" y="1771015"/>
            <a:ext cx="10860405" cy="3692525"/>
          </a:xfrm>
          <a:prstGeom prst="rect">
            <a:avLst/>
          </a:prstGeom>
          <a:noFill/>
        </p:spPr>
        <p:txBody>
          <a:bodyPr wrap="square" rtlCol="0" anchor="t">
            <a:spAutoFit/>
          </a:bodyPr>
          <a:p>
            <a:pPr indent="0">
              <a:buFont typeface="Wingdings" panose="05000000000000000000" charset="0"/>
              <a:buNone/>
            </a:pPr>
            <a:r>
              <a:rPr lang="en-US" altLang="zh-CN">
                <a:latin typeface="Times New Roman Regular" panose="02020603050405020304" charset="0"/>
                <a:cs typeface="Times New Roman Regular" panose="02020603050405020304" charset="0"/>
                <a:sym typeface="+mn-ea"/>
              </a:rPr>
              <a:t>[1]</a:t>
            </a:r>
            <a:r>
              <a:rPr lang="zh-CN" altLang="en-US">
                <a:latin typeface="Times New Roman Regular" panose="02020603050405020304" charset="0"/>
                <a:cs typeface="Times New Roman Regular" panose="02020603050405020304" charset="0"/>
                <a:sym typeface="+mn-ea"/>
              </a:rPr>
              <a:t>Zhengye Liu, Jiarui Mi</a:t>
            </a:r>
            <a:r>
              <a:rPr lang="zh-CN" altLang="en-US">
                <a:latin typeface="Times New Roman Regular" panose="02020603050405020304" charset="0"/>
                <a:cs typeface="Times New Roman Regular" panose="02020603050405020304" charset="0"/>
              </a:rPr>
              <a:t>血清白蛋白和循环代谢物与静脉血栓栓塞的风险：两个样本的孟德尔随机化研究</a:t>
            </a: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[2]</a:t>
            </a:r>
            <a:r>
              <a:rPr lang="zh-CN" altLang="en-US">
                <a:latin typeface="Times New Roman Regular" panose="02020603050405020304" charset="0"/>
                <a:cs typeface="Times New Roman Regular" panose="02020603050405020304" charset="0"/>
              </a:rPr>
              <a:t>朱浩杰, 蒋超, 孔祥怡, 等.  高血压病史及血压水平对非瓣膜性心房颤动患者血栓栓塞事件的影响 [J] . 中华心血管病杂志,2020,48 (09)</a:t>
            </a: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[3]</a:t>
            </a:r>
            <a:r>
              <a:rPr lang="zh-CN" altLang="en-US">
                <a:latin typeface="Times New Roman Regular" panose="02020603050405020304" charset="0"/>
                <a:cs typeface="Times New Roman Regular" panose="02020603050405020304" charset="0"/>
              </a:rPr>
              <a:t>《中国血栓性疾病防治指南》专家委员会</a:t>
            </a:r>
            <a:r>
              <a:rPr lang="en-US" altLang="zh-CN">
                <a:latin typeface="Times New Roman Regular" panose="02020603050405020304" charset="0"/>
                <a:cs typeface="Times New Roman Regular" panose="02020603050405020304" charset="0"/>
              </a:rPr>
              <a:t> </a:t>
            </a:r>
            <a:r>
              <a:rPr lang="zh-CN" altLang="en-US">
                <a:latin typeface="Times New Roman Regular" panose="02020603050405020304" charset="0"/>
                <a:cs typeface="Times New Roman Regular" panose="02020603050405020304" charset="0"/>
              </a:rPr>
              <a:t>中国血栓性疾病防治指南</a:t>
            </a: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[4]</a:t>
            </a:r>
            <a:r>
              <a:rPr lang="zh-CN" altLang="en-US">
                <a:latin typeface="Times New Roman Regular" panose="02020603050405020304" charset="0"/>
                <a:cs typeface="Times New Roman Regular" panose="02020603050405020304" charset="0"/>
              </a:rPr>
              <a:t>D-二聚体=深静脉血栓</a:t>
            </a:r>
            <a:r>
              <a:rPr lang="en-US" altLang="zh-CN">
                <a:latin typeface="Times New Roman Regular" panose="02020603050405020304" charset="0"/>
                <a:cs typeface="Times New Roman Regular" panose="02020603050405020304" charset="0"/>
              </a:rPr>
              <a:t>?  http://www.tjmuch.com/system/2017/09/19/011265090.shtml</a:t>
            </a: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[5]Chen Q, Zhang Z, Dong H, Miao J, Li H. [Perioperative Venous Thromboembolism (VTE) Prophylaxis in Thoracic Cancer Patients</a:t>
            </a: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[6]王艳生,姚宏静 铁调素在经典型阵发性睡眠性血红蛋白尿症中的表达及影响因素分析</a:t>
            </a:r>
            <a:endParaRPr lang="en-US" altLang="zh-CN">
              <a:latin typeface="Times New Roman Regular" panose="02020603050405020304" charset="0"/>
              <a:cs typeface="Times New Roman Regular"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pic>
        <p:nvPicPr>
          <p:cNvPr id="16" name="图片 15"/>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490069" y="1621454"/>
            <a:ext cx="4683508" cy="3647750"/>
          </a:xfrm>
          <a:prstGeom prst="rect">
            <a:avLst/>
          </a:prstGeom>
        </p:spPr>
      </p:pic>
      <p:sp>
        <p:nvSpPr>
          <p:cNvPr id="18" name="矩形: 圆角 17"/>
          <p:cNvSpPr/>
          <p:nvPr/>
        </p:nvSpPr>
        <p:spPr>
          <a:xfrm>
            <a:off x="8050538" y="5058423"/>
            <a:ext cx="1668318" cy="383142"/>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时间：</a:t>
            </a:r>
            <a:r>
              <a:rPr lang="en-US" altLang="zh-CN"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2023.09.06</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0" name="文本框 19"/>
          <p:cNvSpPr txBox="1"/>
          <p:nvPr/>
        </p:nvSpPr>
        <p:spPr>
          <a:xfrm>
            <a:off x="6140921" y="19490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6062313" y="2564727"/>
            <a:ext cx="5644374" cy="1076325"/>
          </a:xfrm>
          <a:prstGeom prst="rect">
            <a:avLst/>
          </a:prstGeom>
          <a:noFill/>
        </p:spPr>
        <p:txBody>
          <a:bodyPr wrap="square" rtlCol="0">
            <a:spAutoFit/>
          </a:bodyPr>
          <a:lstStyle/>
          <a:p>
            <a:pPr algn="dist"/>
            <a:r>
              <a:rPr lang="en-US" altLang="zh-CN" sz="6400" dirty="0">
                <a:solidFill>
                  <a:schemeClr val="bg1"/>
                </a:solidFill>
                <a:latin typeface="三极正智黑简体" panose="00000500000000000000" pitchFamily="2" charset="-122"/>
                <a:ea typeface="三极正智黑简体" panose="00000500000000000000" pitchFamily="2" charset="-122"/>
                <a:cs typeface="+mn-ea"/>
                <a:sym typeface="+mn-lt"/>
              </a:rPr>
              <a:t>THANKS</a:t>
            </a:r>
            <a:endParaRPr lang="en-US" altLang="zh-CN"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5"/>
            </p:custDataLst>
          </p:nvPr>
        </p:nvSpPr>
        <p:spPr>
          <a:xfrm>
            <a:off x="6219392" y="3845410"/>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50673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9" name="矩形: 圆角 17"/>
          <p:cNvSpPr/>
          <p:nvPr/>
        </p:nvSpPr>
        <p:spPr>
          <a:xfrm>
            <a:off x="6177915" y="5055235"/>
            <a:ext cx="1471295"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队名：怎么</a:t>
            </a: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码</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tags/tag1.xml><?xml version="1.0" encoding="utf-8"?>
<p:tagLst xmlns:p="http://schemas.openxmlformats.org/presentationml/2006/main">
  <p:tag name="PA" val="v5.2.11"/>
</p:tagLst>
</file>

<file path=ppt/tags/tag2.xml><?xml version="1.0" encoding="utf-8"?>
<p:tagLst xmlns:p="http://schemas.openxmlformats.org/presentationml/2006/main">
  <p:tag name="PA" val="v5.2.11"/>
</p:tagLst>
</file>

<file path=ppt/tags/tag3.xml><?xml version="1.0" encoding="utf-8"?>
<p:tagLst xmlns:p="http://schemas.openxmlformats.org/presentationml/2006/main">
  <p:tag name="KSO_WM_UNIT_TABLE_BEAUTIFY" val="smartTable{2c3fb94d-8698-4ca7-b24d-6c1ee593f78d}"/>
  <p:tag name="TABLE_ENDDRAG_ORIGIN_RECT" val="107*338"/>
  <p:tag name="TABLE_ENDDRAG_RECT" val="68*201*107*338"/>
</p:tagLst>
</file>

<file path=ppt/tags/tag4.xml><?xml version="1.0" encoding="utf-8"?>
<p:tagLst xmlns:p="http://schemas.openxmlformats.org/presentationml/2006/main">
  <p:tag name="KSO_WM_UNIT_TABLE_BEAUTIFY" val="smartTable{bcbd1b95-5713-483d-8655-9889cc6a42ca}"/>
  <p:tag name="TABLE_ENDDRAG_ORIGIN_RECT" val="131*291"/>
  <p:tag name="TABLE_ENDDRAG_RECT" val="194*197*131*291"/>
</p:tagLst>
</file>

<file path=ppt/tags/tag5.xml><?xml version="1.0" encoding="utf-8"?>
<p:tagLst xmlns:p="http://schemas.openxmlformats.org/presentationml/2006/main">
  <p:tag name="KSO_WM_UNIT_TABLE_BEAUTIFY" val="smartTable{31397389-9494-4486-a3b3-673c47f4eecc}"/>
  <p:tag name="TABLE_ENDDRAG_ORIGIN_RECT" val="134*291"/>
  <p:tag name="TABLE_ENDDRAG_RECT" val="334*197*134*291"/>
</p:tagLst>
</file>

<file path=ppt/tags/tag6.xml><?xml version="1.0" encoding="utf-8"?>
<p:tagLst xmlns:p="http://schemas.openxmlformats.org/presentationml/2006/main">
  <p:tag name="KSO_WM_UNIT_TABLE_BEAUTIFY" val="smartTable{7ba9dd8e-0cd2-4dad-9955-20bae0d7248e}"/>
  <p:tag name="TABLE_ENDDRAG_ORIGIN_RECT" val="128*291"/>
  <p:tag name="TABLE_ENDDRAG_RECT" val="479*197*128*291"/>
</p:tagLst>
</file>

<file path=ppt/tags/tag7.xml><?xml version="1.0" encoding="utf-8"?>
<p:tagLst xmlns:p="http://schemas.openxmlformats.org/presentationml/2006/main">
  <p:tag name="KSO_WM_UNIT_TABLE_BEAUTIFY" val="smartTable{5f866747-09dd-41eb-9c98-a98fea150f43}"/>
  <p:tag name="TABLE_ENDDRAG_ORIGIN_RECT" val="116*292"/>
  <p:tag name="TABLE_ENDDRAG_RECT" val="617*197*116*292"/>
</p:tagLst>
</file>

<file path=ppt/tags/tag8.xml><?xml version="1.0" encoding="utf-8"?>
<p:tagLst xmlns:p="http://schemas.openxmlformats.org/presentationml/2006/main">
  <p:tag name="KSO_WM_UNIT_TABLE_BEAUTIFY" val="smartTable{afdccb37-1520-41f6-b800-8a52bcfc4384}"/>
  <p:tag name="TABLE_ENDDRAG_ORIGIN_RECT" val="126*291"/>
  <p:tag name="TABLE_ENDDRAG_RECT" val="744*197*126*291"/>
</p:tagLst>
</file>

<file path=ppt/tags/tag9.xml><?xml version="1.0" encoding="utf-8"?>
<p:tagLst xmlns:p="http://schemas.openxmlformats.org/presentationml/2006/main">
  <p:tag name="PA" val="v5.2.11"/>
</p:tagLst>
</file>

<file path=ppt/tags/tag10.xml><?xml version="1.0" encoding="utf-8"?>
<p:tagLst xmlns:p="http://schemas.openxmlformats.org/presentationml/2006/main">
  <p:tag name="TABLE_ENDDRAG_ORIGIN_RECT" val="317*357"/>
  <p:tag name="TABLE_ENDDRAG_RECT" val="89*138*317*357"/>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PA" val="v5.2.11"/>
</p:tagLst>
</file>

<file path=ppt/tags/tag17.xml><?xml version="1.0" encoding="utf-8"?>
<p:tagLst xmlns:p="http://schemas.openxmlformats.org/presentationml/2006/main">
  <p:tag name="KSO_WM_UNIT_PLACING_PICTURE_USER_VIEWPORT" val="{&quot;height&quot;:7730,&quot;width&quot;:10341}"/>
</p:tagLst>
</file>

<file path=ppt/tags/tag18.xml><?xml version="1.0" encoding="utf-8"?>
<p:tagLst xmlns:p="http://schemas.openxmlformats.org/presentationml/2006/main">
  <p:tag name="PA" val="v5.2.11"/>
</p:tagLst>
</file>

<file path=ppt/tags/tag19.xml><?xml version="1.0" encoding="utf-8"?>
<p:tagLst xmlns:p="http://schemas.openxmlformats.org/presentationml/2006/main">
  <p:tag name="COMMONDATA" val="eyJoZGlkIjoiYTYzNjYyMzgzOTlkZWE0MTE4MmExM2ZmZTE5ZWEzZW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3831</Words>
  <Application>WPS 演示</Application>
  <PresentationFormat>宽屏</PresentationFormat>
  <Paragraphs>600</Paragraphs>
  <Slides>15</Slides>
  <Notes>0</Notes>
  <HiddenSlides>0</HiddenSlides>
  <MMClips>1</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15</vt:i4>
      </vt:variant>
    </vt:vector>
  </HeadingPairs>
  <TitlesOfParts>
    <vt:vector size="41" baseType="lpstr">
      <vt:lpstr>Arial</vt:lpstr>
      <vt:lpstr>宋体</vt:lpstr>
      <vt:lpstr>Wingdings</vt:lpstr>
      <vt:lpstr>思源黑体 CN Bold</vt:lpstr>
      <vt:lpstr>汉仪中黑KW</vt:lpstr>
      <vt:lpstr>三极正智黑简体</vt:lpstr>
      <vt:lpstr>华文楷体</vt:lpstr>
      <vt:lpstr>Al Bayan Bold</vt:lpstr>
      <vt:lpstr>思源黑体 CN Normal</vt:lpstr>
      <vt:lpstr>报隶-简</vt:lpstr>
      <vt:lpstr>汉仪中宋简</vt:lpstr>
      <vt:lpstr>汉仪书宋二KW</vt:lpstr>
      <vt:lpstr>阿里巴巴普惠体 B</vt:lpstr>
      <vt:lpstr>阿里巴巴普惠体 R</vt:lpstr>
      <vt:lpstr>Wingdings</vt:lpstr>
      <vt:lpstr>汉仪旗黑-55简</vt:lpstr>
      <vt:lpstr>微软雅黑</vt:lpstr>
      <vt:lpstr>Times New Roman Regular</vt:lpstr>
      <vt:lpstr>等线</vt:lpstr>
      <vt:lpstr>宋体</vt:lpstr>
      <vt:lpstr>等线 Light</vt:lpstr>
      <vt:lpstr>Calibri</vt:lpstr>
      <vt:lpstr>苹方-简</vt:lpstr>
      <vt:lpstr>Arial Unicode MS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bing</dc:creator>
  <cp:lastModifiedBy>永恒</cp:lastModifiedBy>
  <cp:revision>34</cp:revision>
  <dcterms:created xsi:type="dcterms:W3CDTF">2023-09-07T07:31:03Z</dcterms:created>
  <dcterms:modified xsi:type="dcterms:W3CDTF">2023-09-07T07:31:03Z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1BDE88AE64B44016BC30F96486501682_43</vt:lpwstr>
  </property>
  <property fmtid="{D5CDD505-2E9C-101B-9397-08002B2CF9AE}" pid="3" name="KSOProductBuildVer">
    <vt:lpwstr>2052-5.2.0.7734</vt:lpwstr>
  </property>
</Properties>
</file>