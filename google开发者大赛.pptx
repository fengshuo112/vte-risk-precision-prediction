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1" r:id="rId3"/>
  </p:sldMasterIdLst>
  <p:notesMasterIdLst>
    <p:notesMasterId r:id="rId11"/>
  </p:notesMasterIdLst>
  <p:sldIdLst>
    <p:sldId id="257" r:id="rId4"/>
    <p:sldId id="259" r:id="rId5"/>
    <p:sldId id="260" r:id="rId6"/>
    <p:sldId id="265" r:id="rId7"/>
    <p:sldId id="285" r:id="rId8"/>
    <p:sldId id="286" r:id="rId9"/>
    <p:sldId id="287" r:id="rId10"/>
    <p:sldId id="288" r:id="rId12"/>
    <p:sldId id="261" r:id="rId13"/>
    <p:sldId id="290" r:id="rId14"/>
    <p:sldId id="291" r:id="rId15"/>
    <p:sldId id="306" r:id="rId16"/>
    <p:sldId id="305" r:id="rId17"/>
    <p:sldId id="292" r:id="rId18"/>
    <p:sldId id="293" r:id="rId19"/>
    <p:sldId id="300" r:id="rId20"/>
    <p:sldId id="294" r:id="rId21"/>
    <p:sldId id="295" r:id="rId22"/>
    <p:sldId id="296" r:id="rId23"/>
    <p:sldId id="301" r:id="rId24"/>
    <p:sldId id="297" r:id="rId25"/>
    <p:sldId id="298" r:id="rId26"/>
    <p:sldId id="299" r:id="rId27"/>
    <p:sldId id="302" r:id="rId28"/>
    <p:sldId id="304" r:id="rId29"/>
    <p:sldId id="303" r:id="rId30"/>
    <p:sldId id="268" r:id="rId31"/>
    <p:sldId id="269" r:id="rId32"/>
    <p:sldId id="270" r:id="rId33"/>
    <p:sldId id="272" r:id="rId34"/>
    <p:sldId id="273" r:id="rId35"/>
    <p:sldId id="284" r:id="rId36"/>
    <p:sldId id="271" r:id="rId37"/>
    <p:sldId id="275" r:id="rId38"/>
    <p:sldId id="278" r:id="rId39"/>
    <p:sldId id="277" r:id="rId40"/>
    <p:sldId id="274" r:id="rId41"/>
  </p:sldIdLst>
  <p:sldSz cx="12192000" cy="6858000"/>
  <p:notesSz cx="6858000" cy="9144000"/>
  <p:embeddedFontLst>
    <p:embeddedFont>
      <p:font typeface="三极正智黑简体" panose="00000500000000000000" pitchFamily="2" charset="-122"/>
      <p:regular r:id="rId45"/>
    </p:embeddedFont>
    <p:embeddedFont>
      <p:font typeface="微软雅黑" pitchFamily="34" charset="-122"/>
      <p:regular r:id="rId46"/>
    </p:embeddedFont>
    <p:embeddedFont>
      <p:font typeface="等线" charset="0"/>
      <p:regular r:id="rId4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2EFFE"/>
    <a:srgbClr val="13245C"/>
    <a:srgbClr val="ABF7FF"/>
    <a:srgbClr val="02ECFE"/>
    <a:srgbClr val="23EFFE"/>
    <a:srgbClr val="23BEF2"/>
    <a:srgbClr val="23B4DB"/>
    <a:srgbClr val="E6E6E6"/>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649" autoAdjust="0"/>
    <p:restoredTop sz="94660"/>
  </p:normalViewPr>
  <p:slideViewPr>
    <p:cSldViewPr snapToGrid="0">
      <p:cViewPr>
        <p:scale>
          <a:sx n="66" d="100"/>
          <a:sy n="66" d="100"/>
        </p:scale>
        <p:origin x="588" y="1446"/>
      </p:cViewPr>
      <p:guideLst>
        <p:guide pos="461"/>
        <p:guide orient="horz" pos="3835"/>
        <p:guide orient="horz" pos="35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font" Target="fonts/font3.fntdata"/><Relationship Id="rId46" Type="http://schemas.openxmlformats.org/officeDocument/2006/relationships/font" Target="fonts/font2.fntdata"/><Relationship Id="rId45" Type="http://schemas.openxmlformats.org/officeDocument/2006/relationships/font" Target="fonts/font1.fntdata"/><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notesMaster" Target="notesMasters/notes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5" Type="http://schemas.microsoft.com/office/2011/relationships/chartColorStyle" Target="colors1.xml"/><Relationship Id="rId4" Type="http://schemas.microsoft.com/office/2011/relationships/chartStyle" Target="style1.xml"/><Relationship Id="rId3" Type="http://schemas.openxmlformats.org/officeDocument/2006/relationships/image" Target="../media/image23.png"/><Relationship Id="rId2" Type="http://schemas.openxmlformats.org/officeDocument/2006/relationships/themeOverride" Target="../theme/themeOverride1.xml"/><Relationship Id="rId1" Type="http://schemas.openxmlformats.org/officeDocument/2006/relationships/oleObject" Target="file:///C:\Users\yanqiang\Downloads\fimp.xlsx" TargetMode="External"/></Relationships>
</file>

<file path=ppt/charts/_rels/chart2.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2.xml"/><Relationship Id="rId1" Type="http://schemas.openxmlformats.org/officeDocument/2006/relationships/package" Target="../embeddings/Workbook1.xlsx"/></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3.xml"/><Relationship Id="rId1" Type="http://schemas.openxmlformats.org/officeDocument/2006/relationships/package" Target="../embeddings/Workbook2.xlsx"/></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package" Target="../embeddings/Workbook3.xlsx"/></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package" Target="../embeddings/Workbook4.xlsx"/></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package" Target="../embeddings/Workbook5.xlsx"/></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package" Target="../embeddings/Workbook6.xlsx"/></Relationships>
</file>

<file path=ppt/charts/_rels/chart8.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package" Target="../embeddings/Workbook7.xlsx"/></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package" Target="../embeddings/Workbook8.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9779906907198"/>
          <c:y val="0.0888676540850454"/>
          <c:w val="0.832950091455448"/>
          <c:h val="0.584762954796031"/>
        </c:manualLayout>
      </c:layout>
      <c:barChart>
        <c:barDir val="col"/>
        <c:grouping val="clustered"/>
        <c:varyColors val="0"/>
        <c:ser>
          <c:idx val="0"/>
          <c:order val="0"/>
          <c:tx>
            <c:strRef>
              <c:f>[fimp.xlsx]Sheet2!$B$1</c:f>
              <c:strCache>
                <c:ptCount val="1"/>
                <c:pt idx="0">
                  <c:v>importance</c:v>
                </c:pt>
              </c:strCache>
            </c:strRef>
          </c:tx>
          <c:spPr>
            <a:gradFill>
              <a:gsLst>
                <a:gs pos="25000">
                  <a:srgbClr val="62BEFF"/>
                </a:gs>
                <a:gs pos="100000">
                  <a:srgbClr val="129CFF"/>
                </a:gs>
              </a:gsLst>
              <a:lin ang="5400000" scaled="0"/>
            </a:gradFill>
            <a:ln>
              <a:noFill/>
            </a:ln>
            <a:effectLst/>
          </c:spPr>
          <c:invertIfNegative val="0"/>
          <c:dLbls>
            <c:delete val="1"/>
          </c:dLbls>
          <c:cat>
            <c:strRef>
              <c:f>[fimp.xlsx]Sheet2!$A$2:$A$28</c:f>
              <c:strCache>
                <c:ptCount val="27"/>
                <c:pt idx="0">
                  <c:v>诊断_mean_target</c:v>
                </c:pt>
                <c:pt idx="1">
                  <c:v>收缩压_舒张压_ratio</c:v>
                </c:pt>
                <c:pt idx="2">
                  <c:v>住院号_mean_target</c:v>
                </c:pt>
                <c:pt idx="3">
                  <c:v>null_count_mean_target</c:v>
                </c:pt>
                <c:pt idx="4">
                  <c:v>null_count_住院次数_ratio</c:v>
                </c:pt>
                <c:pt idx="5">
                  <c:v>谷胱甘肽还原酶_D-二聚体_ratio</c:v>
                </c:pt>
                <c:pt idx="6">
                  <c:v>白球比_收缩压_ratio</c:v>
                </c:pt>
                <c:pt idx="7">
                  <c:v>白蛋白_住院次数_ratio</c:v>
                </c:pt>
                <c:pt idx="8">
                  <c:v>同型半胱氨酸_D-二聚体_ratio</c:v>
                </c:pt>
                <c:pt idx="9">
                  <c:v>体重_收缩压_ratio</c:v>
                </c:pt>
                <c:pt idx="10">
                  <c:v>白蛋白_收缩压_ratio</c:v>
                </c:pt>
                <c:pt idx="11">
                  <c:v>收缩压_mean_target</c:v>
                </c:pt>
                <c:pt idx="12">
                  <c:v>白蛋白_尿素_ratio</c:v>
                </c:pt>
                <c:pt idx="13">
                  <c:v>肌酐_project_max_diff_住院次数_ratio</c:v>
                </c:pt>
                <c:pt idx="14">
                  <c:v>同型半胱氨酸_project_max_diff_D-二聚体_ratio</c:v>
                </c:pt>
                <c:pt idx="15">
                  <c:v>诊断</c:v>
                </c:pt>
                <c:pt idx="16">
                  <c:v>白蛋白_project_max_ratio_住院次数_ratio</c:v>
                </c:pt>
                <c:pt idx="17">
                  <c:v>null_count_收缩压_ratio</c:v>
                </c:pt>
                <c:pt idx="18">
                  <c:v>谷胱甘肽还原酶_project_max_ratio_D-二聚体_ratio</c:v>
                </c:pt>
                <c:pt idx="19">
                  <c:v>钙_收缩压_ratio</c:v>
                </c:pt>
                <c:pt idx="20">
                  <c:v>白球比_project_max_ratio_收缩压_ratio</c:v>
                </c:pt>
                <c:pt idx="21">
                  <c:v>钾_mean_target</c:v>
                </c:pt>
                <c:pt idx="22">
                  <c:v>体重_尿素_ratio</c:v>
                </c:pt>
                <c:pt idx="23">
                  <c:v>直接胆红素_体重_ratio</c:v>
                </c:pt>
                <c:pt idx="24">
                  <c:v>combine_性别_诊断</c:v>
                </c:pt>
                <c:pt idx="25">
                  <c:v>葡萄糖_凝血酶原时间活动度_ratio</c:v>
                </c:pt>
                <c:pt idx="26">
                  <c:v>白蛋白_project_min_diff_住院次数_ratio</c:v>
                </c:pt>
              </c:strCache>
            </c:strRef>
          </c:cat>
          <c:val>
            <c:numRef>
              <c:f>[fimp.xlsx]Sheet2!$B$2:$B$28</c:f>
              <c:numCache>
                <c:formatCode>General</c:formatCode>
                <c:ptCount val="27"/>
                <c:pt idx="0">
                  <c:v>16626.3728435054</c:v>
                </c:pt>
                <c:pt idx="1">
                  <c:v>2019.64273000732</c:v>
                </c:pt>
                <c:pt idx="2">
                  <c:v>1245.89226369858</c:v>
                </c:pt>
                <c:pt idx="3">
                  <c:v>699.416808748245</c:v>
                </c:pt>
                <c:pt idx="4">
                  <c:v>639.578826808929</c:v>
                </c:pt>
                <c:pt idx="5">
                  <c:v>523.008415985107</c:v>
                </c:pt>
                <c:pt idx="6">
                  <c:v>480.225279808044</c:v>
                </c:pt>
                <c:pt idx="7">
                  <c:v>470.743221569061</c:v>
                </c:pt>
                <c:pt idx="8">
                  <c:v>435.623446559906</c:v>
                </c:pt>
                <c:pt idx="9">
                  <c:v>382.188444018364</c:v>
                </c:pt>
                <c:pt idx="10">
                  <c:v>368.701648139954</c:v>
                </c:pt>
                <c:pt idx="11">
                  <c:v>338.755347397924</c:v>
                </c:pt>
                <c:pt idx="12">
                  <c:v>307.775448945165</c:v>
                </c:pt>
                <c:pt idx="13">
                  <c:v>300.469561195374</c:v>
                </c:pt>
                <c:pt idx="14">
                  <c:v>255.258580589294</c:v>
                </c:pt>
                <c:pt idx="15">
                  <c:v>238.663973808289</c:v>
                </c:pt>
                <c:pt idx="16">
                  <c:v>210.015428924561</c:v>
                </c:pt>
                <c:pt idx="17">
                  <c:v>185.806966662407</c:v>
                </c:pt>
                <c:pt idx="18">
                  <c:v>185.076678657532</c:v>
                </c:pt>
                <c:pt idx="19">
                  <c:v>183.75788974762</c:v>
                </c:pt>
                <c:pt idx="20">
                  <c:v>181.666954135895</c:v>
                </c:pt>
                <c:pt idx="21">
                  <c:v>179.393259620666</c:v>
                </c:pt>
                <c:pt idx="22">
                  <c:v>178.203891944885</c:v>
                </c:pt>
                <c:pt idx="23">
                  <c:v>169.570666176081</c:v>
                </c:pt>
                <c:pt idx="24">
                  <c:v>168.176050758362</c:v>
                </c:pt>
                <c:pt idx="25">
                  <c:v>162.075270652771</c:v>
                </c:pt>
                <c:pt idx="26">
                  <c:v>160.16120634079</c:v>
                </c:pt>
              </c:numCache>
            </c:numRef>
          </c:val>
        </c:ser>
        <c:dLbls>
          <c:showLegendKey val="0"/>
          <c:showVal val="0"/>
          <c:showCatName val="0"/>
          <c:showSerName val="0"/>
          <c:showPercent val="0"/>
          <c:showBubbleSize val="0"/>
        </c:dLbls>
        <c:gapWidth val="219"/>
        <c:overlap val="-27"/>
        <c:axId val="629698642"/>
        <c:axId val="102589837"/>
      </c:barChart>
      <c:catAx>
        <c:axId val="629698642"/>
        <c:scaling>
          <c:orientation val="minMax"/>
        </c:scaling>
        <c:delete val="0"/>
        <c:axPos val="b"/>
        <c:majorTickMark val="none"/>
        <c:minorTickMark val="none"/>
        <c:tickLblPos val="nextTo"/>
        <c:spPr>
          <a:noFill/>
          <a:ln w="9525" cap="flat" cmpd="sng" algn="ctr">
            <a:solidFill>
              <a:srgbClr val="21017F"/>
            </a:solidFill>
            <a:round/>
          </a:ln>
          <a:effectLst/>
        </c:spPr>
        <c:txPr>
          <a:bodyPr rot="-60000000" spcFirstLastPara="0" vertOverflow="ellipsis" vert="horz" wrap="square" anchor="ctr" anchorCtr="1" forceAA="0"/>
          <a:lstStyle/>
          <a:p>
            <a:pPr>
              <a:defRPr lang="zh-CN" sz="500" b="0" i="0" u="none" strike="noStrike" kern="1200" baseline="0">
                <a:solidFill>
                  <a:schemeClr val="bg1"/>
                </a:solidFill>
                <a:latin typeface="汉仪旗黑-55简" panose="00020600040101010101" charset="-122"/>
                <a:ea typeface="汉仪旗黑-55简" panose="00020600040101010101" charset="-122"/>
                <a:cs typeface="汉仪旗黑-55简" panose="00020600040101010101" charset="-122"/>
                <a:sym typeface="汉仪旗黑-55简" panose="00020600040101010101" charset="-122"/>
              </a:defRPr>
            </a:pPr>
          </a:p>
        </c:txPr>
        <c:crossAx val="102589837"/>
        <c:crosses val="autoZero"/>
        <c:auto val="1"/>
        <c:lblAlgn val="ctr"/>
        <c:lblOffset val="100"/>
        <c:noMultiLvlLbl val="0"/>
      </c:catAx>
      <c:valAx>
        <c:axId val="102589837"/>
        <c:scaling>
          <c:orientation val="minMax"/>
        </c:scaling>
        <c:delete val="0"/>
        <c:axPos val="l"/>
        <c:majorGridlines>
          <c:spPr>
            <a:ln w="9525" cap="flat" cmpd="sng" algn="ctr">
              <a:solidFill>
                <a:srgbClr val="21017F"/>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800" b="0" i="0" u="none" strike="noStrike" kern="1200" baseline="0">
                <a:solidFill>
                  <a:schemeClr val="bg1"/>
                </a:solidFill>
                <a:latin typeface="汉仪旗黑-55简" panose="00020600040101010101" charset="-122"/>
                <a:ea typeface="汉仪旗黑-55简" panose="00020600040101010101" charset="-122"/>
                <a:cs typeface="汉仪旗黑-55简" panose="00020600040101010101" charset="-122"/>
                <a:sym typeface="汉仪旗黑-55简" panose="00020600040101010101" charset="-122"/>
              </a:defRPr>
            </a:pPr>
          </a:p>
        </c:txPr>
        <c:crossAx val="629698642"/>
        <c:crosses val="autoZero"/>
        <c:crossBetween val="between"/>
      </c:valAx>
      <c:spPr>
        <a:noFill/>
        <a:ln>
          <a:noFill/>
        </a:ln>
        <a:effectLst/>
      </c:spPr>
    </c:plotArea>
    <c:plotVisOnly val="1"/>
    <c:dispBlanksAs val="gap"/>
    <c:showDLblsOverMax val="0"/>
  </c:chart>
  <c:spPr>
    <a:blipFill rotWithShape="1">
      <a:blip xmlns:r="http://schemas.openxmlformats.org/officeDocument/2006/relationships" r:embed="rId3"/>
      <a:stretch>
        <a:fillRect/>
      </a:stretch>
    </a:blipFill>
    <a:ln w="9525" cap="flat" cmpd="sng" algn="ctr">
      <a:noFill/>
      <a:round/>
    </a:ln>
    <a:effectLst/>
  </c:spPr>
  <c:txPr>
    <a:bodyPr/>
    <a:lstStyle/>
    <a:p>
      <a:pPr>
        <a:defRPr lang="zh-CN" sz="800">
          <a:solidFill>
            <a:schemeClr val="bg1"/>
          </a:solidFill>
          <a:latin typeface="汉仪旗黑-55简" panose="00020600040101010101" charset="-122"/>
          <a:ea typeface="汉仪旗黑-55简" panose="00020600040101010101" charset="-122"/>
          <a:cs typeface="汉仪旗黑-55简" panose="00020600040101010101" charset="-122"/>
          <a:sym typeface="汉仪旗黑-55简" panose="00020600040101010101"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Sheet1!$B$1</c:f>
              <c:strCache>
                <c:ptCount val="1"/>
                <c:pt idx="0">
                  <c:v>移动直播用户规模（亿人）</c:v>
                </c:pt>
              </c:strCache>
            </c:strRef>
          </c:tx>
          <c:spPr>
            <a:solidFill>
              <a:srgbClr val="13245C"/>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2">
                        <a:lumMod val="60000"/>
                        <a:lumOff val="40000"/>
                      </a:schemeClr>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202X.XX</c:v>
                </c:pt>
                <c:pt idx="1">
                  <c:v>202X.XX</c:v>
                </c:pt>
                <c:pt idx="2">
                  <c:v>202X.XX</c:v>
                </c:pt>
                <c:pt idx="3">
                  <c:v>202X.XX</c:v>
                </c:pt>
                <c:pt idx="4">
                  <c:v>202X.XX</c:v>
                </c:pt>
              </c:strCache>
            </c:strRef>
          </c:cat>
          <c:val>
            <c:numRef>
              <c:f>Sheet1!$B$2:$B$6</c:f>
              <c:numCache>
                <c:formatCode>General</c:formatCode>
                <c:ptCount val="5"/>
                <c:pt idx="0">
                  <c:v>4.11</c:v>
                </c:pt>
                <c:pt idx="1">
                  <c:v>4.36</c:v>
                </c:pt>
                <c:pt idx="2">
                  <c:v>4.56</c:v>
                </c:pt>
                <c:pt idx="3">
                  <c:v>4.78</c:v>
                </c:pt>
                <c:pt idx="4">
                  <c:v>4.83</c:v>
                </c:pt>
              </c:numCache>
            </c:numRef>
          </c:val>
        </c:ser>
        <c:dLbls>
          <c:showLegendKey val="0"/>
          <c:showVal val="0"/>
          <c:showCatName val="0"/>
          <c:showSerName val="0"/>
          <c:showPercent val="0"/>
          <c:showBubbleSize val="0"/>
        </c:dLbls>
        <c:gapWidth val="60"/>
        <c:axId val="1068826760"/>
        <c:axId val="1068840840"/>
      </c:barChart>
      <c:catAx>
        <c:axId val="1068826760"/>
        <c:scaling>
          <c:orientation val="minMax"/>
        </c:scaling>
        <c:delete val="0"/>
        <c:axPos val="b"/>
        <c:numFmt formatCode="General" sourceLinked="1"/>
        <c:majorTickMark val="none"/>
        <c:minorTickMark val="none"/>
        <c:tickLblPos val="nextTo"/>
        <c:spPr>
          <a:noFill/>
          <a:ln w="9525" cap="flat" cmpd="sng" algn="ctr">
            <a:solidFill>
              <a:schemeClr val="bg1">
                <a:lumMod val="75000"/>
              </a:schemeClr>
            </a:solidFill>
            <a:round/>
          </a:ln>
          <a:effectLst/>
        </c:spPr>
        <c:txPr>
          <a:bodyPr rot="-60000000" spcFirstLastPara="1" vertOverflow="ellipsis" vert="horz" wrap="square" anchor="ctr" anchorCtr="1"/>
          <a:lstStyle/>
          <a:p>
            <a:pPr>
              <a:defRPr lang="zh-CN" sz="1195" b="0" i="0" u="none" strike="noStrike" kern="1200" baseline="0">
                <a:solidFill>
                  <a:schemeClr val="tx2">
                    <a:lumMod val="60000"/>
                    <a:lumOff val="40000"/>
                  </a:schemeClr>
                </a:solidFill>
                <a:latin typeface="+mn-lt"/>
                <a:ea typeface="+mn-ea"/>
                <a:cs typeface="+mn-ea"/>
                <a:sym typeface="+mn-lt"/>
              </a:defRPr>
            </a:pPr>
          </a:p>
        </c:txPr>
        <c:crossAx val="1068840840"/>
        <c:crosses val="autoZero"/>
        <c:auto val="1"/>
        <c:lblAlgn val="ctr"/>
        <c:lblOffset val="100"/>
        <c:noMultiLvlLbl val="0"/>
      </c:catAx>
      <c:valAx>
        <c:axId val="1068840840"/>
        <c:scaling>
          <c:orientation val="minMax"/>
        </c:scaling>
        <c:delete val="1"/>
        <c:axPos val="l"/>
        <c:majorGridlines>
          <c:spPr>
            <a:ln w="6350" cap="flat" cmpd="sng" algn="ctr">
              <a:solidFill>
                <a:schemeClr val="bg1">
                  <a:lumMod val="95000"/>
                </a:schemeClr>
              </a:solidFill>
              <a:round/>
            </a:ln>
            <a:effectLst/>
          </c:spPr>
        </c:majorGridlines>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2">
                    <a:lumMod val="60000"/>
                    <a:lumOff val="40000"/>
                  </a:schemeClr>
                </a:solidFill>
                <a:latin typeface="+mn-lt"/>
                <a:ea typeface="+mn-ea"/>
                <a:cs typeface="+mn-ea"/>
                <a:sym typeface="+mn-lt"/>
              </a:defRPr>
            </a:pPr>
          </a:p>
        </c:txPr>
        <c:crossAx val="1068826760"/>
        <c:crosses val="autoZero"/>
        <c:crossBetween val="between"/>
      </c:valAx>
      <c:spPr>
        <a:noFill/>
        <a:ln>
          <a:noFill/>
        </a:ln>
        <a:effectLst/>
      </c:spPr>
    </c:plotArea>
    <c:plotVisOnly val="1"/>
    <c:dispBlanksAs val="gap"/>
    <c:showDLblsOverMax val="0"/>
  </c:chart>
  <c:spPr>
    <a:noFill/>
    <a:ln>
      <a:noFill/>
    </a:ln>
    <a:effectLst/>
  </c:spPr>
  <c:txPr>
    <a:bodyPr/>
    <a:lstStyle/>
    <a:p>
      <a:pPr>
        <a:defRPr lang="zh-CN">
          <a:solidFill>
            <a:schemeClr val="tx2">
              <a:lumMod val="60000"/>
              <a:lumOff val="40000"/>
            </a:schemeClr>
          </a:solidFill>
          <a:latin typeface="+mn-lt"/>
          <a:ea typeface="+mn-ea"/>
          <a:cs typeface="+mn-ea"/>
          <a:sym typeface="+mn-lt"/>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Sheet1!$B$1</c:f>
              <c:strCache>
                <c:ptCount val="1"/>
                <c:pt idx="0">
                  <c:v>移动直播用户规模（亿人）</c:v>
                </c:pt>
              </c:strCache>
            </c:strRef>
          </c:tx>
          <c:spPr>
            <a:solidFill>
              <a:srgbClr val="62EFFE"/>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2">
                        <a:lumMod val="60000"/>
                        <a:lumOff val="40000"/>
                      </a:schemeClr>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2016</c:v>
                </c:pt>
                <c:pt idx="1">
                  <c:v>2017</c:v>
                </c:pt>
                <c:pt idx="2">
                  <c:v>2018</c:v>
                </c:pt>
                <c:pt idx="3">
                  <c:v>2019</c:v>
                </c:pt>
                <c:pt idx="4">
                  <c:v>2020</c:v>
                </c:pt>
              </c:numCache>
            </c:numRef>
          </c:cat>
          <c:val>
            <c:numRef>
              <c:f>Sheet1!$B$2:$B$6</c:f>
              <c:numCache>
                <c:formatCode>General</c:formatCode>
                <c:ptCount val="5"/>
                <c:pt idx="0">
                  <c:v>1.53</c:v>
                </c:pt>
                <c:pt idx="1">
                  <c:v>2.42</c:v>
                </c:pt>
                <c:pt idx="2">
                  <c:v>3.53</c:v>
                </c:pt>
                <c:pt idx="3">
                  <c:v>4.92</c:v>
                </c:pt>
                <c:pt idx="4">
                  <c:v>6.67</c:v>
                </c:pt>
              </c:numCache>
            </c:numRef>
          </c:val>
        </c:ser>
        <c:dLbls>
          <c:showLegendKey val="0"/>
          <c:showVal val="0"/>
          <c:showCatName val="0"/>
          <c:showSerName val="0"/>
          <c:showPercent val="0"/>
          <c:showBubbleSize val="0"/>
        </c:dLbls>
        <c:gapWidth val="60"/>
        <c:axId val="1068826760"/>
        <c:axId val="1068840840"/>
      </c:barChart>
      <c:catAx>
        <c:axId val="1068826760"/>
        <c:scaling>
          <c:orientation val="minMax"/>
        </c:scaling>
        <c:delete val="0"/>
        <c:axPos val="b"/>
        <c:numFmt formatCode="General" sourceLinked="1"/>
        <c:majorTickMark val="none"/>
        <c:minorTickMark val="none"/>
        <c:tickLblPos val="nextTo"/>
        <c:spPr>
          <a:noFill/>
          <a:ln w="9525" cap="flat" cmpd="sng" algn="ctr">
            <a:solidFill>
              <a:schemeClr val="bg1">
                <a:lumMod val="75000"/>
              </a:schemeClr>
            </a:solidFill>
            <a:round/>
          </a:ln>
          <a:effectLst/>
        </c:spPr>
        <c:txPr>
          <a:bodyPr rot="-60000000" spcFirstLastPara="1" vertOverflow="ellipsis" vert="horz" wrap="square" anchor="ctr" anchorCtr="1"/>
          <a:lstStyle/>
          <a:p>
            <a:pPr>
              <a:defRPr lang="zh-CN" sz="1195" b="0" i="0" u="none" strike="noStrike" kern="1200" baseline="0">
                <a:solidFill>
                  <a:schemeClr val="tx2">
                    <a:lumMod val="60000"/>
                    <a:lumOff val="40000"/>
                  </a:schemeClr>
                </a:solidFill>
                <a:latin typeface="+mn-lt"/>
                <a:ea typeface="+mn-ea"/>
                <a:cs typeface="+mn-ea"/>
                <a:sym typeface="+mn-lt"/>
              </a:defRPr>
            </a:pPr>
          </a:p>
        </c:txPr>
        <c:crossAx val="1068840840"/>
        <c:crosses val="autoZero"/>
        <c:auto val="1"/>
        <c:lblAlgn val="ctr"/>
        <c:lblOffset val="100"/>
        <c:noMultiLvlLbl val="0"/>
      </c:catAx>
      <c:valAx>
        <c:axId val="1068840840"/>
        <c:scaling>
          <c:orientation val="minMax"/>
        </c:scaling>
        <c:delete val="1"/>
        <c:axPos val="l"/>
        <c:majorGridlines>
          <c:spPr>
            <a:ln w="6350" cap="flat" cmpd="sng" algn="ctr">
              <a:solidFill>
                <a:schemeClr val="bg1">
                  <a:lumMod val="95000"/>
                </a:schemeClr>
              </a:solidFill>
              <a:round/>
            </a:ln>
            <a:effectLst/>
          </c:spPr>
        </c:majorGridlines>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2">
                    <a:lumMod val="60000"/>
                    <a:lumOff val="40000"/>
                  </a:schemeClr>
                </a:solidFill>
                <a:latin typeface="+mn-lt"/>
                <a:ea typeface="+mn-ea"/>
                <a:cs typeface="+mn-ea"/>
                <a:sym typeface="+mn-lt"/>
              </a:defRPr>
            </a:pPr>
          </a:p>
        </c:txPr>
        <c:crossAx val="1068826760"/>
        <c:crosses val="autoZero"/>
        <c:crossBetween val="between"/>
      </c:valAx>
      <c:spPr>
        <a:noFill/>
        <a:ln>
          <a:noFill/>
        </a:ln>
        <a:effectLst/>
      </c:spPr>
    </c:plotArea>
    <c:plotVisOnly val="1"/>
    <c:dispBlanksAs val="gap"/>
    <c:showDLblsOverMax val="0"/>
  </c:chart>
  <c:spPr>
    <a:noFill/>
    <a:ln>
      <a:noFill/>
    </a:ln>
    <a:effectLst/>
  </c:spPr>
  <c:txPr>
    <a:bodyPr/>
    <a:lstStyle/>
    <a:p>
      <a:pPr>
        <a:defRPr lang="zh-CN">
          <a:solidFill>
            <a:schemeClr val="tx2">
              <a:lumMod val="60000"/>
              <a:lumOff val="40000"/>
            </a:schemeClr>
          </a:solidFill>
          <a:latin typeface="+mn-lt"/>
          <a:ea typeface="+mn-ea"/>
          <a:cs typeface="+mn-ea"/>
          <a:sym typeface="+mn-lt"/>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rgbClr val="13245C"/>
            </a:solidFill>
            <a:ln>
              <a:noFill/>
            </a:ln>
            <a:effectLst/>
          </c:spPr>
          <c:invertIfNegative val="0"/>
          <c:dLbls>
            <c:delete val="1"/>
          </c:dLbls>
          <c:cat>
            <c:strRef>
              <c:f>Sheet1!$A$2:$A$3</c:f>
              <c:strCache>
                <c:ptCount val="2"/>
                <c:pt idx="0">
                  <c:v>类别 1</c:v>
                </c:pt>
                <c:pt idx="1">
                  <c:v>类别 2</c:v>
                </c:pt>
              </c:strCache>
            </c:strRef>
          </c:cat>
          <c:val>
            <c:numRef>
              <c:f>Sheet1!$B$2:$B$3</c:f>
              <c:numCache>
                <c:formatCode>General</c:formatCode>
                <c:ptCount val="2"/>
                <c:pt idx="0">
                  <c:v>4.3</c:v>
                </c:pt>
                <c:pt idx="1">
                  <c:v>3.5</c:v>
                </c:pt>
              </c:numCache>
            </c:numRef>
          </c:val>
        </c:ser>
        <c:ser>
          <c:idx val="1"/>
          <c:order val="1"/>
          <c:tx>
            <c:strRef>
              <c:f>Sheet1!$C$1</c:f>
              <c:strCache>
                <c:ptCount val="1"/>
                <c:pt idx="0">
                  <c:v>系列 2</c:v>
                </c:pt>
              </c:strCache>
            </c:strRef>
          </c:tx>
          <c:spPr>
            <a:solidFill>
              <a:srgbClr val="62EFFE"/>
            </a:solidFill>
            <a:ln>
              <a:noFill/>
            </a:ln>
            <a:effectLst/>
          </c:spPr>
          <c:invertIfNegative val="0"/>
          <c:dLbls>
            <c:delete val="1"/>
          </c:dLbls>
          <c:cat>
            <c:strRef>
              <c:f>Sheet1!$A$2:$A$3</c:f>
              <c:strCache>
                <c:ptCount val="2"/>
                <c:pt idx="0">
                  <c:v>类别 1</c:v>
                </c:pt>
                <c:pt idx="1">
                  <c:v>类别 2</c:v>
                </c:pt>
              </c:strCache>
            </c:strRef>
          </c:cat>
          <c:val>
            <c:numRef>
              <c:f>Sheet1!$C$2:$C$3</c:f>
              <c:numCache>
                <c:formatCode>General</c:formatCode>
                <c:ptCount val="2"/>
                <c:pt idx="0">
                  <c:v>2.4</c:v>
                </c:pt>
                <c:pt idx="1">
                  <c:v>2.8</c:v>
                </c:pt>
              </c:numCache>
            </c:numRef>
          </c:val>
        </c:ser>
        <c:dLbls>
          <c:showLegendKey val="0"/>
          <c:showVal val="0"/>
          <c:showCatName val="0"/>
          <c:showSerName val="0"/>
          <c:showPercent val="0"/>
          <c:showBubbleSize val="0"/>
        </c:dLbls>
        <c:gapWidth val="219"/>
        <c:overlap val="-27"/>
        <c:axId val="246811392"/>
        <c:axId val="246810144"/>
      </c:barChart>
      <c:catAx>
        <c:axId val="246811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p>
        </c:txPr>
        <c:crossAx val="246810144"/>
        <c:crosses val="autoZero"/>
        <c:auto val="1"/>
        <c:lblAlgn val="ctr"/>
        <c:lblOffset val="100"/>
        <c:noMultiLvlLbl val="0"/>
      </c:catAx>
      <c:valAx>
        <c:axId val="246810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p>
        </c:txPr>
        <c:crossAx val="246811392"/>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rgbClr val="13245C"/>
            </a:solidFill>
            <a:ln>
              <a:noFill/>
            </a:ln>
            <a:effectLst/>
          </c:spPr>
          <c:invertIfNegative val="0"/>
          <c:dLbls>
            <c:delete val="1"/>
          </c:dLbls>
          <c:cat>
            <c:strRef>
              <c:f>Sheet1!$A$2:$A$3</c:f>
              <c:strCache>
                <c:ptCount val="2"/>
                <c:pt idx="0">
                  <c:v>类别 1</c:v>
                </c:pt>
                <c:pt idx="1">
                  <c:v>类别 2</c:v>
                </c:pt>
              </c:strCache>
            </c:strRef>
          </c:cat>
          <c:val>
            <c:numRef>
              <c:f>Sheet1!$B$2:$B$3</c:f>
              <c:numCache>
                <c:formatCode>General</c:formatCode>
                <c:ptCount val="2"/>
                <c:pt idx="0">
                  <c:v>4.3</c:v>
                </c:pt>
                <c:pt idx="1">
                  <c:v>3.5</c:v>
                </c:pt>
              </c:numCache>
            </c:numRef>
          </c:val>
        </c:ser>
        <c:ser>
          <c:idx val="1"/>
          <c:order val="1"/>
          <c:tx>
            <c:strRef>
              <c:f>Sheet1!$C$1</c:f>
              <c:strCache>
                <c:ptCount val="1"/>
                <c:pt idx="0">
                  <c:v>系列 2</c:v>
                </c:pt>
              </c:strCache>
            </c:strRef>
          </c:tx>
          <c:spPr>
            <a:solidFill>
              <a:srgbClr val="62EFFE"/>
            </a:solidFill>
            <a:ln>
              <a:noFill/>
            </a:ln>
            <a:effectLst/>
          </c:spPr>
          <c:invertIfNegative val="0"/>
          <c:dLbls>
            <c:delete val="1"/>
          </c:dLbls>
          <c:cat>
            <c:strRef>
              <c:f>Sheet1!$A$2:$A$3</c:f>
              <c:strCache>
                <c:ptCount val="2"/>
                <c:pt idx="0">
                  <c:v>类别 1</c:v>
                </c:pt>
                <c:pt idx="1">
                  <c:v>类别 2</c:v>
                </c:pt>
              </c:strCache>
            </c:strRef>
          </c:cat>
          <c:val>
            <c:numRef>
              <c:f>Sheet1!$C$2:$C$3</c:f>
              <c:numCache>
                <c:formatCode>General</c:formatCode>
                <c:ptCount val="2"/>
                <c:pt idx="0">
                  <c:v>3.4</c:v>
                </c:pt>
                <c:pt idx="1">
                  <c:v>4.8</c:v>
                </c:pt>
              </c:numCache>
            </c:numRef>
          </c:val>
        </c:ser>
        <c:dLbls>
          <c:showLegendKey val="0"/>
          <c:showVal val="0"/>
          <c:showCatName val="0"/>
          <c:showSerName val="0"/>
          <c:showPercent val="0"/>
          <c:showBubbleSize val="0"/>
        </c:dLbls>
        <c:gapWidth val="219"/>
        <c:overlap val="-27"/>
        <c:axId val="246811392"/>
        <c:axId val="246810144"/>
      </c:barChart>
      <c:catAx>
        <c:axId val="246811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p>
        </c:txPr>
        <c:crossAx val="246810144"/>
        <c:crosses val="autoZero"/>
        <c:auto val="1"/>
        <c:lblAlgn val="ctr"/>
        <c:lblOffset val="100"/>
        <c:noMultiLvlLbl val="0"/>
      </c:catAx>
      <c:valAx>
        <c:axId val="246810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p>
        </c:txPr>
        <c:crossAx val="246811392"/>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rgbClr val="62EFFE"/>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思源黑体 CN Regular" panose="020B0500000000000000" pitchFamily="34" charset="-122"/>
                    <a:ea typeface="思源黑体 CN Regular" panose="020B0500000000000000" pitchFamily="34" charset="-122"/>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产品A</c:v>
                </c:pt>
                <c:pt idx="1">
                  <c:v>产品B</c:v>
                </c:pt>
                <c:pt idx="2">
                  <c:v>产品C</c:v>
                </c:pt>
              </c:strCache>
            </c:strRef>
          </c:cat>
          <c:val>
            <c:numRef>
              <c:f>Sheet1!$B$2:$B$4</c:f>
              <c:numCache>
                <c:formatCode>General</c:formatCode>
                <c:ptCount val="3"/>
                <c:pt idx="0">
                  <c:v>4.3</c:v>
                </c:pt>
                <c:pt idx="1">
                  <c:v>2.5</c:v>
                </c:pt>
                <c:pt idx="2">
                  <c:v>3.5</c:v>
                </c:pt>
              </c:numCache>
            </c:numRef>
          </c:val>
        </c:ser>
        <c:ser>
          <c:idx val="1"/>
          <c:order val="1"/>
          <c:tx>
            <c:strRef>
              <c:f>Sheet1!$C$1</c:f>
              <c:strCache>
                <c:ptCount val="1"/>
                <c:pt idx="0">
                  <c:v>系列 2</c:v>
                </c:pt>
              </c:strCache>
            </c:strRef>
          </c:tx>
          <c:spPr>
            <a:solidFill>
              <a:srgbClr val="13245C"/>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思源黑体 CN Regular" panose="020B0500000000000000" pitchFamily="34" charset="-122"/>
                    <a:ea typeface="思源黑体 CN Regular" panose="020B0500000000000000" pitchFamily="34" charset="-122"/>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产品A</c:v>
                </c:pt>
                <c:pt idx="1">
                  <c:v>产品B</c:v>
                </c:pt>
                <c:pt idx="2">
                  <c:v>产品C</c:v>
                </c:pt>
              </c:strCache>
            </c:strRef>
          </c:cat>
          <c:val>
            <c:numRef>
              <c:f>Sheet1!$C$2:$C$4</c:f>
              <c:numCache>
                <c:formatCode>General</c:formatCode>
                <c:ptCount val="3"/>
                <c:pt idx="0">
                  <c:v>2.4</c:v>
                </c:pt>
                <c:pt idx="1">
                  <c:v>4.4</c:v>
                </c:pt>
                <c:pt idx="2">
                  <c:v>1.8</c:v>
                </c:pt>
              </c:numCache>
            </c:numRef>
          </c:val>
        </c:ser>
        <c:dLbls>
          <c:showLegendKey val="0"/>
          <c:showVal val="1"/>
          <c:showCatName val="0"/>
          <c:showSerName val="0"/>
          <c:showPercent val="0"/>
          <c:showBubbleSize val="0"/>
        </c:dLbls>
        <c:gapWidth val="182"/>
        <c:axId val="246811808"/>
        <c:axId val="246810976"/>
      </c:barChart>
      <c:catAx>
        <c:axId val="24681180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思源黑体 CN Regular" panose="020B0500000000000000" pitchFamily="34" charset="-122"/>
                <a:ea typeface="思源黑体 CN Regular" panose="020B0500000000000000" pitchFamily="34" charset="-122"/>
                <a:cs typeface="+mn-ea"/>
                <a:sym typeface="+mn-lt"/>
              </a:defRPr>
            </a:pPr>
          </a:p>
        </c:txPr>
        <c:crossAx val="246810976"/>
        <c:crosses val="autoZero"/>
        <c:auto val="1"/>
        <c:lblAlgn val="ctr"/>
        <c:lblOffset val="100"/>
        <c:noMultiLvlLbl val="0"/>
      </c:catAx>
      <c:valAx>
        <c:axId val="246810976"/>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思源黑体 CN Regular" panose="020B0500000000000000" pitchFamily="34" charset="-122"/>
                <a:ea typeface="思源黑体 CN Regular" panose="020B0500000000000000" pitchFamily="34" charset="-122"/>
                <a:cs typeface="+mn-ea"/>
                <a:sym typeface="+mn-lt"/>
              </a:defRPr>
            </a:pPr>
          </a:p>
        </c:txPr>
        <c:crossAx val="246811808"/>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latin typeface="思源黑体 CN Regular" panose="020B0500000000000000" pitchFamily="34" charset="-122"/>
          <a:ea typeface="思源黑体 CN Regular" panose="020B0500000000000000" pitchFamily="34" charset="-122"/>
          <a:cs typeface="+mn-ea"/>
          <a:sym typeface="+mn-lt"/>
        </a:defRPr>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系列 1</c:v>
                </c:pt>
              </c:strCache>
            </c:strRef>
          </c:tx>
          <c:spPr>
            <a:solidFill>
              <a:srgbClr val="62EFFE"/>
            </a:solidFill>
            <a:ln>
              <a:noFill/>
            </a:ln>
            <a:effectLst/>
          </c:spPr>
          <c:dLbls>
            <c:delete val="1"/>
          </c:dLbls>
          <c:cat>
            <c:numRef>
              <c:f>Sheet1!$A$2:$A$6</c:f>
              <c:numCache>
                <c:formatCode>yyyy/m/d</c:formatCode>
                <c:ptCount val="5"/>
                <c:pt idx="0" c:formatCode="yyyy/m/d">
                  <c:v>37261</c:v>
                </c:pt>
                <c:pt idx="1" c:formatCode="yyyy/m/d">
                  <c:v>37262</c:v>
                </c:pt>
                <c:pt idx="2" c:formatCode="yyyy/m/d">
                  <c:v>37263</c:v>
                </c:pt>
                <c:pt idx="3" c:formatCode="yyyy/m/d">
                  <c:v>37264</c:v>
                </c:pt>
                <c:pt idx="4" c:formatCode="yyyy/m/d">
                  <c:v>37265</c:v>
                </c:pt>
              </c:numCache>
            </c:numRef>
          </c:cat>
          <c:val>
            <c:numRef>
              <c:f>Sheet1!$B$2:$B$6</c:f>
              <c:numCache>
                <c:formatCode>General</c:formatCode>
                <c:ptCount val="5"/>
                <c:pt idx="0">
                  <c:v>10</c:v>
                </c:pt>
                <c:pt idx="1">
                  <c:v>13</c:v>
                </c:pt>
                <c:pt idx="2">
                  <c:v>20</c:v>
                </c:pt>
                <c:pt idx="3">
                  <c:v>21</c:v>
                </c:pt>
                <c:pt idx="4">
                  <c:v>25</c:v>
                </c:pt>
              </c:numCache>
            </c:numRef>
          </c:val>
        </c:ser>
        <c:ser>
          <c:idx val="1"/>
          <c:order val="1"/>
          <c:tx>
            <c:strRef>
              <c:f>Sheet1!$C$1</c:f>
              <c:strCache>
                <c:ptCount val="1"/>
                <c:pt idx="0">
                  <c:v>系列 2</c:v>
                </c:pt>
              </c:strCache>
            </c:strRef>
          </c:tx>
          <c:spPr>
            <a:solidFill>
              <a:srgbClr val="13245C"/>
            </a:solidFill>
            <a:ln>
              <a:noFill/>
            </a:ln>
            <a:effectLst/>
          </c:spPr>
          <c:dLbls>
            <c:delete val="1"/>
          </c:dLbls>
          <c:cat>
            <c:numRef>
              <c:f>Sheet1!$A$2:$A$6</c:f>
              <c:numCache>
                <c:formatCode>yyyy/m/d</c:formatCode>
                <c:ptCount val="5"/>
                <c:pt idx="0" c:formatCode="yyyy/m/d">
                  <c:v>37261</c:v>
                </c:pt>
                <c:pt idx="1" c:formatCode="yyyy/m/d">
                  <c:v>37262</c:v>
                </c:pt>
                <c:pt idx="2" c:formatCode="yyyy/m/d">
                  <c:v>37263</c:v>
                </c:pt>
                <c:pt idx="3" c:formatCode="yyyy/m/d">
                  <c:v>37264</c:v>
                </c:pt>
                <c:pt idx="4" c:formatCode="yyyy/m/d">
                  <c:v>37265</c:v>
                </c:pt>
              </c:numCache>
            </c:numRef>
          </c:cat>
          <c:val>
            <c:numRef>
              <c:f>Sheet1!$C$2:$C$6</c:f>
              <c:numCache>
                <c:formatCode>General</c:formatCode>
                <c:ptCount val="5"/>
                <c:pt idx="0">
                  <c:v>8</c:v>
                </c:pt>
                <c:pt idx="1">
                  <c:v>7</c:v>
                </c:pt>
                <c:pt idx="2">
                  <c:v>15</c:v>
                </c:pt>
                <c:pt idx="3">
                  <c:v>15</c:v>
                </c:pt>
                <c:pt idx="4">
                  <c:v>23</c:v>
                </c:pt>
              </c:numCache>
            </c:numRef>
          </c:val>
        </c:ser>
        <c:dLbls>
          <c:showLegendKey val="0"/>
          <c:showVal val="0"/>
          <c:showCatName val="0"/>
          <c:showSerName val="0"/>
          <c:showPercent val="0"/>
          <c:showBubbleSize val="0"/>
        </c:dLbls>
        <c:axId val="60331392"/>
        <c:axId val="60330560"/>
      </c:areaChart>
      <c:dateAx>
        <c:axId val="60331392"/>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p>
        </c:txPr>
        <c:crossAx val="60330560"/>
        <c:crosses val="autoZero"/>
        <c:auto val="1"/>
        <c:lblOffset val="100"/>
        <c:baseTimeUnit val="days"/>
      </c:dateAx>
      <c:valAx>
        <c:axId val="603305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p>
        </c:txPr>
        <c:crossAx val="60331392"/>
        <c:crosses val="autoZero"/>
        <c:crossBetween val="midCat"/>
      </c:valAx>
      <c:spPr>
        <a:noFill/>
        <a:ln>
          <a:noFill/>
        </a:ln>
        <a:effectLst/>
      </c:spPr>
    </c:plotArea>
    <c:plotVisOnly val="1"/>
    <c:dispBlanksAs val="zero"/>
    <c:showDLblsOverMax val="0"/>
  </c:chart>
  <c:spPr>
    <a:noFill/>
    <a:ln>
      <a:noFill/>
    </a:ln>
    <a:effectLst/>
  </c:spPr>
  <c:txPr>
    <a:bodyPr/>
    <a:lstStyle/>
    <a:p>
      <a:pPr>
        <a:defRPr lang="zh-CN">
          <a:latin typeface="+mn-lt"/>
          <a:ea typeface="+mn-ea"/>
          <a:cs typeface="+mn-ea"/>
          <a:sym typeface="+mn-lt"/>
        </a:defRPr>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系列 1</c:v>
                </c:pt>
              </c:strCache>
            </c:strRef>
          </c:tx>
          <c:spPr>
            <a:ln w="28575" cap="rnd">
              <a:solidFill>
                <a:schemeClr val="bg1">
                  <a:lumMod val="6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AAA</c:v>
                </c:pt>
                <c:pt idx="1">
                  <c:v>AAA</c:v>
                </c:pt>
                <c:pt idx="2">
                  <c:v>AAA</c:v>
                </c:pt>
              </c:strCache>
            </c:strRef>
          </c:cat>
          <c:val>
            <c:numRef>
              <c:f>Sheet1!$B$2:$B$4</c:f>
              <c:numCache>
                <c:formatCode>General</c:formatCode>
                <c:ptCount val="3"/>
                <c:pt idx="0">
                  <c:v>1.71</c:v>
                </c:pt>
                <c:pt idx="1">
                  <c:v>1.95</c:v>
                </c:pt>
                <c:pt idx="2">
                  <c:v>2.47</c:v>
                </c:pt>
              </c:numCache>
            </c:numRef>
          </c:val>
          <c:smooth val="1"/>
        </c:ser>
        <c:ser>
          <c:idx val="1"/>
          <c:order val="1"/>
          <c:tx>
            <c:strRef>
              <c:f>Sheet1!$C$1</c:f>
              <c:strCache>
                <c:ptCount val="1"/>
                <c:pt idx="0">
                  <c:v>系列 2</c:v>
                </c:pt>
              </c:strCache>
            </c:strRef>
          </c:tx>
          <c:spPr>
            <a:ln w="28575" cap="rnd">
              <a:solidFill>
                <a:srgbClr val="13245C"/>
              </a:solidFill>
              <a:round/>
            </a:ln>
            <a:effectLst/>
          </c:spPr>
          <c:marker>
            <c:symbol val="none"/>
          </c:marker>
          <c:dLbls>
            <c:dLbl>
              <c:idx val="2"/>
              <c:delete val="1"/>
            </c:dLbl>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AAA</c:v>
                </c:pt>
                <c:pt idx="1">
                  <c:v>AAA</c:v>
                </c:pt>
                <c:pt idx="2">
                  <c:v>AAA</c:v>
                </c:pt>
              </c:strCache>
            </c:strRef>
          </c:cat>
          <c:val>
            <c:numRef>
              <c:f>Sheet1!$C$2:$C$4</c:f>
              <c:numCache>
                <c:formatCode>General</c:formatCode>
                <c:ptCount val="3"/>
                <c:pt idx="0">
                  <c:v>1.89</c:v>
                </c:pt>
                <c:pt idx="1">
                  <c:v>2.26</c:v>
                </c:pt>
                <c:pt idx="2">
                  <c:v>2.7</c:v>
                </c:pt>
              </c:numCache>
            </c:numRef>
          </c:val>
          <c:smooth val="1"/>
        </c:ser>
        <c:ser>
          <c:idx val="2"/>
          <c:order val="2"/>
          <c:tx>
            <c:strRef>
              <c:f>Sheet1!$D$1</c:f>
              <c:strCache>
                <c:ptCount val="1"/>
                <c:pt idx="0">
                  <c:v>系列 3</c:v>
                </c:pt>
              </c:strCache>
            </c:strRef>
          </c:tx>
          <c:spPr>
            <a:ln w="28575" cap="rnd">
              <a:solidFill>
                <a:srgbClr val="6EC7EF"/>
              </a:solidFill>
              <a:round/>
            </a:ln>
            <a:effectLst/>
          </c:spPr>
          <c:marker>
            <c:symbol val="none"/>
          </c:marker>
          <c:dPt>
            <c:idx val="1"/>
            <c:marker>
              <c:symbol val="none"/>
            </c:marker>
            <c:bubble3D val="0"/>
            <c:spPr>
              <a:ln w="28575" cap="rnd">
                <a:solidFill>
                  <a:srgbClr val="62EFFE"/>
                </a:solidFill>
                <a:round/>
              </a:ln>
              <a:effectLst/>
            </c:spPr>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AAA</c:v>
                </c:pt>
                <c:pt idx="1">
                  <c:v>AAA</c:v>
                </c:pt>
                <c:pt idx="2">
                  <c:v>AAA</c:v>
                </c:pt>
              </c:strCache>
            </c:strRef>
          </c:cat>
          <c:val>
            <c:numRef>
              <c:f>Sheet1!$D$2:$D$4</c:f>
              <c:numCache>
                <c:formatCode>General</c:formatCode>
                <c:ptCount val="3"/>
                <c:pt idx="0">
                  <c:v>1.97</c:v>
                </c:pt>
                <c:pt idx="1">
                  <c:v>2.16</c:v>
                </c:pt>
                <c:pt idx="2">
                  <c:v>2.71</c:v>
                </c:pt>
              </c:numCache>
            </c:numRef>
          </c:val>
          <c:smooth val="1"/>
        </c:ser>
        <c:dLbls>
          <c:showLegendKey val="0"/>
          <c:showVal val="0"/>
          <c:showCatName val="0"/>
          <c:showSerName val="0"/>
          <c:showPercent val="0"/>
          <c:showBubbleSize val="0"/>
        </c:dLbls>
        <c:marker val="0"/>
        <c:smooth val="1"/>
        <c:axId val="1358552480"/>
        <c:axId val="1426092304"/>
      </c:lineChart>
      <c:catAx>
        <c:axId val="1358552480"/>
        <c:scaling>
          <c:orientation val="minMax"/>
        </c:scaling>
        <c:delete val="1"/>
        <c:axPos val="b"/>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p>
        </c:txPr>
        <c:crossAx val="1426092304"/>
        <c:crosses val="autoZero"/>
        <c:auto val="1"/>
        <c:lblAlgn val="ctr"/>
        <c:lblOffset val="100"/>
        <c:noMultiLvlLbl val="0"/>
      </c:catAx>
      <c:valAx>
        <c:axId val="1426092304"/>
        <c:scaling>
          <c:orientation val="minMax"/>
          <c:max val="2.8"/>
          <c:min val="1.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p>
        </c:txPr>
        <c:crossAx val="1358552480"/>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系列 1</c:v>
                </c:pt>
              </c:strCache>
            </c:strRef>
          </c:tx>
          <c:spPr>
            <a:ln w="28575" cap="rnd">
              <a:solidFill>
                <a:schemeClr val="bg1">
                  <a:lumMod val="6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AAA</c:v>
                </c:pt>
                <c:pt idx="1">
                  <c:v>AAA</c:v>
                </c:pt>
                <c:pt idx="2">
                  <c:v>AAA</c:v>
                </c:pt>
              </c:strCache>
            </c:strRef>
          </c:cat>
          <c:val>
            <c:numRef>
              <c:f>Sheet1!$B$2:$B$4</c:f>
              <c:numCache>
                <c:formatCode>General</c:formatCode>
                <c:ptCount val="3"/>
                <c:pt idx="0">
                  <c:v>1.63</c:v>
                </c:pt>
                <c:pt idx="1">
                  <c:v>2.01</c:v>
                </c:pt>
                <c:pt idx="2">
                  <c:v>2.26</c:v>
                </c:pt>
              </c:numCache>
            </c:numRef>
          </c:val>
          <c:smooth val="1"/>
        </c:ser>
        <c:ser>
          <c:idx val="1"/>
          <c:order val="1"/>
          <c:tx>
            <c:strRef>
              <c:f>Sheet1!$C$1</c:f>
              <c:strCache>
                <c:ptCount val="1"/>
                <c:pt idx="0">
                  <c:v>系列 2</c:v>
                </c:pt>
              </c:strCache>
            </c:strRef>
          </c:tx>
          <c:spPr>
            <a:ln w="28575" cap="rnd">
              <a:solidFill>
                <a:srgbClr val="6EC7EF"/>
              </a:solidFill>
              <a:round/>
            </a:ln>
            <a:effectLst/>
          </c:spPr>
          <c:marker>
            <c:symbol val="none"/>
          </c:marker>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AAA</c:v>
                </c:pt>
                <c:pt idx="1">
                  <c:v>AAA</c:v>
                </c:pt>
                <c:pt idx="2">
                  <c:v>AAA</c:v>
                </c:pt>
              </c:strCache>
            </c:strRef>
          </c:cat>
          <c:val>
            <c:numRef>
              <c:f>Sheet1!$C$2:$C$4</c:f>
              <c:numCache>
                <c:formatCode>General</c:formatCode>
                <c:ptCount val="3"/>
                <c:pt idx="0">
                  <c:v>1.81</c:v>
                </c:pt>
                <c:pt idx="1">
                  <c:v>2.03</c:v>
                </c:pt>
                <c:pt idx="2">
                  <c:v>2.42</c:v>
                </c:pt>
              </c:numCache>
            </c:numRef>
          </c:val>
          <c:smooth val="1"/>
        </c:ser>
        <c:ser>
          <c:idx val="2"/>
          <c:order val="2"/>
          <c:tx>
            <c:strRef>
              <c:f>Sheet1!$D$1</c:f>
              <c:strCache>
                <c:ptCount val="1"/>
                <c:pt idx="0">
                  <c:v>系列 3</c:v>
                </c:pt>
              </c:strCache>
            </c:strRef>
          </c:tx>
          <c:spPr>
            <a:ln w="28575" cap="rnd">
              <a:solidFill>
                <a:srgbClr val="13245C"/>
              </a:solidFill>
              <a:round/>
            </a:ln>
            <a:effectLst/>
          </c:spPr>
          <c:marker>
            <c:symbol val="none"/>
          </c:marker>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AAA</c:v>
                </c:pt>
                <c:pt idx="1">
                  <c:v>AAA</c:v>
                </c:pt>
                <c:pt idx="2">
                  <c:v>AAA</c:v>
                </c:pt>
              </c:strCache>
            </c:strRef>
          </c:cat>
          <c:val>
            <c:numRef>
              <c:f>Sheet1!$D$2:$D$4</c:f>
              <c:numCache>
                <c:formatCode>General</c:formatCode>
                <c:ptCount val="3"/>
                <c:pt idx="0">
                  <c:v>1.93</c:v>
                </c:pt>
                <c:pt idx="1">
                  <c:v>2.27</c:v>
                </c:pt>
                <c:pt idx="2">
                  <c:v>2.79</c:v>
                </c:pt>
              </c:numCache>
            </c:numRef>
          </c:val>
          <c:smooth val="1"/>
        </c:ser>
        <c:dLbls>
          <c:showLegendKey val="0"/>
          <c:showVal val="0"/>
          <c:showCatName val="0"/>
          <c:showSerName val="0"/>
          <c:showPercent val="0"/>
          <c:showBubbleSize val="0"/>
        </c:dLbls>
        <c:marker val="0"/>
        <c:smooth val="1"/>
        <c:axId val="1358552480"/>
        <c:axId val="1426092304"/>
      </c:lineChart>
      <c:catAx>
        <c:axId val="1358552480"/>
        <c:scaling>
          <c:orientation val="minMax"/>
        </c:scaling>
        <c:delete val="1"/>
        <c:axPos val="b"/>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p>
        </c:txPr>
        <c:crossAx val="1426092304"/>
        <c:crosses val="autoZero"/>
        <c:auto val="1"/>
        <c:lblAlgn val="ctr"/>
        <c:lblOffset val="100"/>
        <c:noMultiLvlLbl val="0"/>
      </c:catAx>
      <c:valAx>
        <c:axId val="1426092304"/>
        <c:scaling>
          <c:orientation val="minMax"/>
          <c:max val="2.8"/>
          <c:min val="1.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p>
        </c:txPr>
        <c:crossAx val="1358552480"/>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latin typeface="汉仪中宋简" panose="02010600000101010101" charset="-122"/>
                <a:ea typeface="汉仪中宋简" panose="02010600000101010101" charset="-122"/>
                <a:cs typeface="汉仪中宋简" panose="02010600000101010101" charset="-122"/>
                <a:sym typeface="+mn-ea"/>
              </a:rPr>
              <a:t>强相关特征：</a:t>
            </a:r>
            <a:endParaRPr lang="zh-CN" altLang="en-US">
              <a:latin typeface="汉仪中宋简" panose="02010600000101010101" charset="-122"/>
              <a:ea typeface="汉仪中宋简" panose="02010600000101010101" charset="-122"/>
              <a:cs typeface="汉仪中宋简" panose="02010600000101010101" charset="-122"/>
            </a:endParaRPr>
          </a:p>
          <a:p>
            <a:r>
              <a:rPr lang="zh-CN" altLang="en-US" b="1">
                <a:latin typeface="汉仪中宋简" panose="02010600000101010101" charset="-122"/>
                <a:ea typeface="汉仪中宋简" panose="02010600000101010101" charset="-122"/>
                <a:cs typeface="汉仪中宋简" panose="02010600000101010101" charset="-122"/>
                <a:sym typeface="+mn-ea"/>
              </a:rPr>
              <a:t>(1) 收缩压/舒张压</a:t>
            </a:r>
            <a:endParaRPr lang="zh-CN" altLang="en-US" b="1">
              <a:latin typeface="汉仪中宋简" panose="02010600000101010101" charset="-122"/>
              <a:ea typeface="汉仪中宋简" panose="02010600000101010101" charset="-122"/>
              <a:cs typeface="汉仪中宋简" panose="02010600000101010101" charset="-122"/>
            </a:endParaRPr>
          </a:p>
          <a:p>
            <a:r>
              <a:rPr lang="zh-CN" altLang="en-US">
                <a:latin typeface="汉仪中宋简" panose="02010600000101010101" charset="-122"/>
                <a:ea typeface="汉仪中宋简" panose="02010600000101010101" charset="-122"/>
                <a:cs typeface="汉仪中宋简" panose="02010600000101010101" charset="-122"/>
                <a:sym typeface="+mn-ea"/>
              </a:rPr>
              <a:t>有高血压病史的患者血栓栓塞事件发生率高于无高血压病史的患者</a:t>
            </a:r>
            <a:endParaRPr lang="zh-CN" altLang="en-US">
              <a:latin typeface="汉仪中宋简" panose="02010600000101010101" charset="-122"/>
              <a:ea typeface="汉仪中宋简" panose="02010600000101010101" charset="-122"/>
              <a:cs typeface="汉仪中宋简" panose="02010600000101010101" charset="-122"/>
            </a:endParaRPr>
          </a:p>
          <a:p>
            <a:r>
              <a:rPr lang="zh-CN" altLang="en-US" b="1">
                <a:latin typeface="汉仪中宋简" panose="02010600000101010101" charset="-122"/>
                <a:ea typeface="汉仪中宋简" panose="02010600000101010101" charset="-122"/>
                <a:cs typeface="汉仪中宋简" panose="02010600000101010101" charset="-122"/>
                <a:sym typeface="+mn-ea"/>
              </a:rPr>
              <a:t>(2) D-二聚体</a:t>
            </a:r>
            <a:endParaRPr lang="zh-CN" altLang="en-US" b="1">
              <a:latin typeface="汉仪中宋简" panose="02010600000101010101" charset="-122"/>
              <a:ea typeface="汉仪中宋简" panose="02010600000101010101" charset="-122"/>
              <a:cs typeface="汉仪中宋简" panose="02010600000101010101" charset="-122"/>
            </a:endParaRPr>
          </a:p>
          <a:p>
            <a:r>
              <a:rPr lang="zh-CN" altLang="en-US">
                <a:latin typeface="汉仪中宋简" panose="02010600000101010101" charset="-122"/>
                <a:ea typeface="汉仪中宋简" panose="02010600000101010101" charset="-122"/>
                <a:cs typeface="汉仪中宋简" panose="02010600000101010101" charset="-122"/>
                <a:sym typeface="+mn-ea"/>
              </a:rPr>
              <a:t>D-二聚体水平对患者下肢术后的血凝状态、血栓形成的高发预测诊断有一定的临床参考价值</a:t>
            </a:r>
            <a:r>
              <a:rPr lang="zh-CN" altLang="en-US">
                <a:solidFill>
                  <a:schemeClr val="bg1">
                    <a:lumMod val="50000"/>
                  </a:schemeClr>
                </a:solidFill>
                <a:latin typeface="汉仪中宋简" panose="02010600000101010101" charset="-122"/>
                <a:ea typeface="汉仪中宋简" panose="02010600000101010101" charset="-122"/>
                <a:cs typeface="汉仪中宋简" panose="02010600000101010101" charset="-122"/>
                <a:sym typeface="+mn-ea"/>
              </a:rPr>
              <a:t>。</a:t>
            </a:r>
            <a:endParaRPr lang="zh-CN" altLang="en-US">
              <a:solidFill>
                <a:schemeClr val="bg1">
                  <a:lumMod val="50000"/>
                </a:schemeClr>
              </a:solidFill>
              <a:latin typeface="汉仪中宋简" panose="02010600000101010101" charset="-122"/>
              <a:ea typeface="汉仪中宋简" panose="02010600000101010101" charset="-122"/>
              <a:cs typeface="汉仪中宋简" panose="02010600000101010101" charset="-122"/>
              <a:sym typeface="+mn-ea"/>
            </a:endParaRPr>
          </a:p>
          <a:p>
            <a:pPr algn="l">
              <a:buClrTx/>
              <a:buSzTx/>
              <a:buNone/>
            </a:pPr>
            <a:r>
              <a:rPr lang="zh-CN" altLang="en-US">
                <a:latin typeface="汉仪中宋简" panose="02010600000101010101" charset="-122"/>
                <a:ea typeface="汉仪中宋简" panose="02010600000101010101" charset="-122"/>
                <a:cs typeface="汉仪中宋简" panose="02010600000101010101" charset="-122"/>
                <a:sym typeface="+mn-ea"/>
              </a:rPr>
              <a:t>(3) 白蛋白</a:t>
            </a:r>
            <a:endParaRPr lang="zh-CN" altLang="en-US">
              <a:latin typeface="汉仪中宋简" panose="02010600000101010101" charset="-122"/>
              <a:ea typeface="汉仪中宋简" panose="02010600000101010101" charset="-122"/>
              <a:cs typeface="汉仪中宋简" panose="02010600000101010101" charset="-122"/>
            </a:endParaRPr>
          </a:p>
          <a:p>
            <a:pPr algn="l">
              <a:buClrTx/>
              <a:buSzTx/>
              <a:buNone/>
            </a:pPr>
            <a:r>
              <a:rPr lang="zh-CN" altLang="en-US">
                <a:latin typeface="汉仪中宋简" panose="02010600000101010101" charset="-122"/>
                <a:ea typeface="汉仪中宋简" panose="02010600000101010101" charset="-122"/>
                <a:cs typeface="汉仪中宋简" panose="02010600000101010101" charset="-122"/>
                <a:sym typeface="+mn-ea"/>
              </a:rPr>
              <a:t>先前的观察性研究表明，血清白蛋白水平和循环代谢物与静脉血栓栓塞(VTE) 的高风险有关。</a:t>
            </a:r>
            <a:endParaRPr lang="zh-CN" altLang="en-US">
              <a:latin typeface="汉仪中宋简" panose="02010600000101010101" charset="-122"/>
              <a:ea typeface="汉仪中宋简" panose="02010600000101010101" charset="-122"/>
              <a:cs typeface="汉仪中宋简" panose="02010600000101010101" charset="-122"/>
            </a:endParaRPr>
          </a:p>
          <a:p>
            <a:pPr algn="l">
              <a:buClrTx/>
              <a:buSzTx/>
              <a:buNone/>
            </a:pPr>
            <a:r>
              <a:rPr lang="zh-CN" altLang="en-US">
                <a:latin typeface="汉仪中宋简" panose="02010600000101010101" charset="-122"/>
                <a:ea typeface="汉仪中宋简" panose="02010600000101010101" charset="-122"/>
                <a:cs typeface="汉仪中宋简" panose="02010600000101010101" charset="-122"/>
                <a:sym typeface="+mn-ea"/>
              </a:rPr>
              <a:t>(2) 血清铁</a:t>
            </a:r>
            <a:endParaRPr lang="zh-CN" altLang="en-US">
              <a:latin typeface="汉仪中宋简" panose="02010600000101010101" charset="-122"/>
              <a:ea typeface="汉仪中宋简" panose="02010600000101010101" charset="-122"/>
              <a:cs typeface="汉仪中宋简" panose="02010600000101010101" charset="-122"/>
            </a:endParaRPr>
          </a:p>
          <a:p>
            <a:pPr algn="l">
              <a:buClrTx/>
              <a:buSzTx/>
              <a:buNone/>
            </a:pPr>
            <a:r>
              <a:rPr lang="zh-CN" altLang="en-US">
                <a:latin typeface="汉仪中宋简" panose="02010600000101010101" charset="-122"/>
                <a:ea typeface="汉仪中宋简" panose="02010600000101010101" charset="-122"/>
                <a:cs typeface="汉仪中宋简" panose="02010600000101010101" charset="-122"/>
                <a:sym typeface="+mn-ea"/>
              </a:rPr>
              <a:t>富含红细胞的血栓与有利的临床结果以及与富含红细胞的血栓相关的因素之间的关系。</a:t>
            </a:r>
            <a:endParaRPr lang="zh-CN" altLang="en-US">
              <a:latin typeface="汉仪中宋简" panose="02010600000101010101" charset="-122"/>
              <a:ea typeface="汉仪中宋简" panose="02010600000101010101" charset="-122"/>
              <a:cs typeface="汉仪中宋简" panose="02010600000101010101" charset="-122"/>
              <a:sym typeface="+mn-ea"/>
            </a:endParaRPr>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latin typeface="汉仪中宋简" panose="02010600000101010101" charset="-122"/>
                <a:ea typeface="汉仪中宋简" panose="02010600000101010101" charset="-122"/>
                <a:cs typeface="汉仪中宋简" panose="02010600000101010101" charset="-122"/>
                <a:sym typeface="+mn-ea"/>
              </a:rPr>
              <a:t>检查项中存在一些噪音数据，比如大于号、逗号，单位或者反斜杠，需要把这些噪音符号去除，然后转为数值数据，如果存在其他噪音的，直接赋值为</a:t>
            </a:r>
            <a:r>
              <a:rPr lang="en-US" altLang="zh-CN">
                <a:latin typeface="汉仪中宋简" panose="02010600000101010101" charset="-122"/>
                <a:ea typeface="汉仪中宋简" panose="02010600000101010101" charset="-122"/>
                <a:cs typeface="汉仪中宋简" panose="02010600000101010101" charset="-122"/>
                <a:sym typeface="+mn-ea"/>
              </a:rPr>
              <a:t>-1</a:t>
            </a:r>
            <a:r>
              <a:rPr lang="zh-CN" altLang="en-US">
                <a:latin typeface="汉仪中宋简" panose="02010600000101010101" charset="-122"/>
                <a:ea typeface="汉仪中宋简" panose="02010600000101010101" charset="-122"/>
                <a:cs typeface="汉仪中宋简" panose="02010600000101010101" charset="-122"/>
                <a:sym typeface="+mn-ea"/>
              </a:rPr>
              <a:t>。</a:t>
            </a:r>
            <a:endParaRPr lang="zh-CN" altLang="en-US">
              <a:latin typeface="汉仪中宋简" panose="02010600000101010101" charset="-122"/>
              <a:ea typeface="汉仪中宋简" panose="02010600000101010101" charset="-122"/>
              <a:cs typeface="汉仪中宋简" panose="02010600000101010101" charset="-122"/>
            </a:endParaRPr>
          </a:p>
          <a:p>
            <a:endParaRPr lang="zh-CN" altLang="en-US">
              <a:latin typeface="汉仪中宋简" panose="02010600000101010101" charset="-122"/>
              <a:ea typeface="汉仪中宋简" panose="02010600000101010101" charset="-122"/>
              <a:cs typeface="汉仪中宋简" panose="02010600000101010101" charset="-122"/>
            </a:endParaRPr>
          </a:p>
          <a:p>
            <a:r>
              <a:rPr lang="zh-CN">
                <a:latin typeface="汉仪中宋简" panose="02010600000101010101" charset="-122"/>
                <a:ea typeface="汉仪中宋简" panose="02010600000101010101" charset="-122"/>
                <a:sym typeface="+mn-ea"/>
              </a:rPr>
              <a:t>检验明细项目的参考范围提取，提取出对应的检验项的最大值和最小值，后续可以用作构造特征</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DA2CC75-8280-4D50-8556-C2874ADEF9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90E77-D57C-49F8-ADC2-FB99C50EBC2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DA2CC75-8280-4D50-8556-C2874ADEF92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90E77-D57C-49F8-ADC2-FB99C50EBC2E}"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DA2CC75-8280-4D50-8556-C2874ADEF9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90E77-D57C-49F8-ADC2-FB99C50EBC2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DA2CC75-8280-4D50-8556-C2874ADEF92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90E77-D57C-49F8-ADC2-FB99C50EBC2E}"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A2CC75-8280-4D50-8556-C2874ADEF92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190E77-D57C-49F8-ADC2-FB99C50EBC2E}" type="slidenum">
              <a:rPr lang="zh-CN" altLang="en-US" smtClean="0"/>
            </a:fld>
            <a:endParaRPr lang="zh-CN" altLang="en-US"/>
          </a:p>
        </p:txBody>
      </p:sp>
      <p:sp>
        <p:nvSpPr>
          <p:cNvPr id="7" name="页面-上"/>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页面-下"/>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A2CC75-8280-4D50-8556-C2874ADEF92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190E77-D57C-49F8-ADC2-FB99C50EBC2E}" type="slidenum">
              <a:rPr lang="zh-CN" altLang="en-US" smtClean="0"/>
            </a:fld>
            <a:endParaRPr lang="zh-CN" altLang="en-US"/>
          </a:p>
        </p:txBody>
      </p:sp>
      <p:sp>
        <p:nvSpPr>
          <p:cNvPr id="7" name="页面-上"/>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页面-下"/>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png"/><Relationship Id="rId7" Type="http://schemas.microsoft.com/office/2007/relationships/media" Target="../media/media1.mp3"/><Relationship Id="rId6" Type="http://schemas.openxmlformats.org/officeDocument/2006/relationships/audio" Target="../media/media1.mp3"/><Relationship Id="rId5" Type="http://schemas.openxmlformats.org/officeDocument/2006/relationships/tags" Target="../tags/tag1.xml"/><Relationship Id="rId4" Type="http://schemas.microsoft.com/office/2007/relationships/hdphoto" Target="../media/image4.wdp"/><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6.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tags" Target="../tags/tag6.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4.xml"/><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tags" Target="../tags/tag15.xml"/><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3.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4.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5.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file:///C:\Users\yanqiang\AppData\Local\Temp\wps\INetCache\a65af8147e51f7673321e775f9e9a78b" TargetMode="External"/><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7.png"/><Relationship Id="rId3" Type="http://schemas.openxmlformats.org/officeDocument/2006/relationships/tags" Target="../tags/tag16.xml"/><Relationship Id="rId2" Type="http://schemas.openxmlformats.org/officeDocument/2006/relationships/image" Target="../media/image2.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17.xml"/><Relationship Id="rId2" Type="http://schemas.openxmlformats.org/officeDocument/2006/relationships/image" Target="../media/image7.png"/><Relationship Id="rId1" Type="http://schemas.openxmlformats.org/officeDocument/2006/relationships/chart" Target="../charts/chart1.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19.xml"/><Relationship Id="rId3" Type="http://schemas.openxmlformats.org/officeDocument/2006/relationships/image" Target="../media/image24.png"/><Relationship Id="rId2" Type="http://schemas.openxmlformats.org/officeDocument/2006/relationships/tags" Target="../tags/tag18.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5.png"/><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7.png"/><Relationship Id="rId3" Type="http://schemas.openxmlformats.org/officeDocument/2006/relationships/tags" Target="../tags/tag22.xml"/><Relationship Id="rId2" Type="http://schemas.openxmlformats.org/officeDocument/2006/relationships/image" Target="../media/image2.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6.png"/><Relationship Id="rId2" Type="http://schemas.openxmlformats.org/officeDocument/2006/relationships/tags" Target="../tags/tag23.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24.xml"/><Relationship Id="rId4" Type="http://schemas.microsoft.com/office/2007/relationships/hdphoto" Target="../media/image4.wdp"/><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7.png"/><Relationship Id="rId2" Type="http://schemas.openxmlformats.org/officeDocument/2006/relationships/chart" Target="../charts/chart3.xml"/><Relationship Id="rId1" Type="http://schemas.openxmlformats.org/officeDocument/2006/relationships/chart" Target="../charts/chart2.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chart" Target="../charts/chart5.xml"/><Relationship Id="rId1" Type="http://schemas.openxmlformats.org/officeDocument/2006/relationships/chart" Target="../charts/chart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chart" Target="../charts/chart6.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chart" Target="../charts/chart7.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chart" Target="../charts/chart9.xml"/><Relationship Id="rId1" Type="http://schemas.openxmlformats.org/officeDocument/2006/relationships/chart" Target="../charts/chart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27.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pic>
        <p:nvPicPr>
          <p:cNvPr id="16" name="图片 15"/>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64364" y="1621454"/>
            <a:ext cx="4683508" cy="3647750"/>
          </a:xfrm>
          <a:prstGeom prst="rect">
            <a:avLst/>
          </a:prstGeom>
        </p:spPr>
      </p:pic>
      <p:sp>
        <p:nvSpPr>
          <p:cNvPr id="17" name="矩形: 圆角 16"/>
          <p:cNvSpPr/>
          <p:nvPr/>
        </p:nvSpPr>
        <p:spPr>
          <a:xfrm>
            <a:off x="9215120" y="5048885"/>
            <a:ext cx="1385570" cy="382905"/>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汇报：</a:t>
            </a: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刘永恒</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18" name="矩形: 圆角 17"/>
          <p:cNvSpPr/>
          <p:nvPr/>
        </p:nvSpPr>
        <p:spPr>
          <a:xfrm>
            <a:off x="6177915" y="5055235"/>
            <a:ext cx="1471295" cy="382905"/>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队名：怎么</a:t>
            </a: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码</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0" name="文本框 19"/>
          <p:cNvSpPr txBox="1"/>
          <p:nvPr/>
        </p:nvSpPr>
        <p:spPr>
          <a:xfrm>
            <a:off x="6147906" y="162138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580348" y="1924647"/>
            <a:ext cx="5644374" cy="1986280"/>
          </a:xfrm>
          <a:prstGeom prst="rect">
            <a:avLst/>
          </a:prstGeom>
          <a:noFill/>
        </p:spPr>
        <p:txBody>
          <a:bodyPr wrap="square" rtlCol="0">
            <a:spAutoFit/>
          </a:bodyPr>
          <a:lstStyle/>
          <a:p>
            <a:pPr marL="0" marR="0" lvl="0" indent="0" algn="ctr" defTabSz="914400" rtl="0" eaLnBrk="1" fontAlgn="auto" latinLnBrk="0" hangingPunct="1">
              <a:lnSpc>
                <a:spcPct val="140000"/>
              </a:lnSpc>
              <a:spcBef>
                <a:spcPts val="0"/>
              </a:spcBef>
              <a:spcAft>
                <a:spcPts val="0"/>
              </a:spcAft>
              <a:buClrTx/>
              <a:buSzTx/>
              <a:buFontTx/>
              <a:buNone/>
              <a:defRPr/>
            </a:pPr>
            <a:r>
              <a:rPr lang="zh-CN" altLang="en-US" sz="4400" b="1" dirty="0">
                <a:solidFill>
                  <a:schemeClr val="bg1"/>
                </a:solidFill>
                <a:latin typeface="华文楷体" panose="02010600040101010101" charset="-122"/>
                <a:ea typeface="华文楷体" panose="02010600040101010101" charset="-122"/>
                <a:cs typeface="华文楷体" panose="02010600040101010101" charset="-122"/>
                <a:sym typeface="Arial" panose="020B0604020202020204" pitchFamily="34" charset="0"/>
              </a:rPr>
              <a:t>基于谷歌技术下的</a:t>
            </a:r>
            <a:endParaRPr kumimoji="0" lang="zh-CN" altLang="en-US" sz="4400" b="1" i="0" u="none" strike="noStrike" kern="1200" cap="none" spc="0" normalizeH="0" baseline="0" dirty="0">
              <a:solidFill>
                <a:schemeClr val="bg1"/>
              </a:solidFill>
              <a:latin typeface="华文楷体" panose="02010600040101010101" charset="-122"/>
              <a:ea typeface="华文楷体" panose="02010600040101010101" charset="-122"/>
              <a:cs typeface="华文楷体" panose="02010600040101010101" charset="-122"/>
              <a:sym typeface="Arial" panose="020B0604020202020204" pitchFamily="34" charset="0"/>
            </a:endParaRPr>
          </a:p>
          <a:p>
            <a:pPr marL="0" marR="0" lvl="0" indent="0" algn="ctr" defTabSz="914400" rtl="0" eaLnBrk="1" fontAlgn="auto" latinLnBrk="0" hangingPunct="1">
              <a:lnSpc>
                <a:spcPct val="140000"/>
              </a:lnSpc>
              <a:spcBef>
                <a:spcPts val="0"/>
              </a:spcBef>
              <a:spcAft>
                <a:spcPts val="0"/>
              </a:spcAft>
              <a:buClrTx/>
              <a:buSzTx/>
              <a:buFontTx/>
              <a:buNone/>
              <a:defRPr/>
            </a:pPr>
            <a:r>
              <a:rPr lang="zh-CN" altLang="en-US" sz="4400" b="1" dirty="0">
                <a:solidFill>
                  <a:schemeClr val="bg1"/>
                </a:solidFill>
                <a:latin typeface="Al Bayan Bold" charset="0"/>
                <a:ea typeface="华文楷体" panose="02010600040101010101" charset="-122"/>
                <a:cs typeface="Al Bayan Bold" charset="0"/>
                <a:sym typeface="Arial" panose="020B0604020202020204" pitchFamily="34" charset="0"/>
              </a:rPr>
              <a:t>VTE</a:t>
            </a:r>
            <a:r>
              <a:rPr lang="zh-CN" altLang="en-US" sz="4400" b="1" dirty="0">
                <a:solidFill>
                  <a:schemeClr val="bg1"/>
                </a:solidFill>
                <a:latin typeface="华文楷体" panose="02010600040101010101" charset="-122"/>
                <a:ea typeface="华文楷体" panose="02010600040101010101" charset="-122"/>
                <a:cs typeface="华文楷体" panose="02010600040101010101" charset="-122"/>
                <a:sym typeface="Arial" panose="020B0604020202020204" pitchFamily="34" charset="0"/>
              </a:rPr>
              <a:t>风险精准预测</a:t>
            </a:r>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5"/>
            </p:custDataLst>
          </p:nvPr>
        </p:nvSpPr>
        <p:spPr>
          <a:xfrm>
            <a:off x="6177280" y="3910965"/>
            <a:ext cx="4505960" cy="923290"/>
          </a:xfrm>
          <a:prstGeom prst="rect">
            <a:avLst/>
          </a:prstGeom>
          <a:noFill/>
        </p:spPr>
        <p:txBody>
          <a:bodyPr wrap="square" lIns="0" tIns="0" rIns="0" bIns="0" rtlCol="0">
            <a:spAutoFit/>
          </a:bodyPr>
          <a:lstStyle/>
          <a:p>
            <a:pPr hangingPunct="0">
              <a:lnSpc>
                <a:spcPct val="150000"/>
              </a:lnSpc>
            </a:pPr>
            <a:r>
              <a:rPr lang="en-US" altLang="zh-CN" sz="2000" dirty="0">
                <a:solidFill>
                  <a:schemeClr val="bg1">
                    <a:alpha val="80000"/>
                  </a:schemeClr>
                </a:solidFill>
                <a:cs typeface="+mn-ea"/>
                <a:sym typeface="+mn-lt"/>
              </a:rPr>
              <a:t>Based on Google technology accurate risk prediction of VTE</a:t>
            </a:r>
            <a:endParaRPr lang="en-US" altLang="zh-CN" sz="2000" dirty="0">
              <a:solidFill>
                <a:schemeClr val="bg1">
                  <a:alpha val="80000"/>
                </a:schemeClr>
              </a:solidFill>
              <a:cs typeface="+mn-ea"/>
              <a:sym typeface="+mn-lt"/>
            </a:endParaRPr>
          </a:p>
        </p:txBody>
      </p:sp>
      <p:sp>
        <p:nvSpPr>
          <p:cNvPr id="25" name="任意多边形: 形状 24"/>
          <p:cNvSpPr/>
          <p:nvPr/>
        </p:nvSpPr>
        <p:spPr>
          <a:xfrm>
            <a:off x="11328401" y="50673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9" name="组合 28"/>
          <p:cNvGrpSpPr/>
          <p:nvPr/>
        </p:nvGrpSpPr>
        <p:grpSpPr>
          <a:xfrm>
            <a:off x="9031605" y="543790"/>
            <a:ext cx="3160395" cy="362952"/>
            <a:chOff x="9031605" y="543790"/>
            <a:chExt cx="3160395" cy="362952"/>
          </a:xfrm>
        </p:grpSpPr>
        <p:sp>
          <p:nvSpPr>
            <p:cNvPr id="27" name="矩形 26"/>
            <p:cNvSpPr/>
            <p:nvPr/>
          </p:nvSpPr>
          <p:spPr>
            <a:xfrm>
              <a:off x="11933382" y="543790"/>
              <a:ext cx="258618" cy="1119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gr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pic>
        <p:nvPicPr>
          <p:cNvPr id="40" name="pd-5b768150cbb72419">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10991850" y="-909638"/>
            <a:ext cx="609600" cy="609600"/>
          </a:xfrm>
          <a:prstGeom prst="rect">
            <a:avLst/>
          </a:prstGeom>
        </p:spPr>
      </p:pic>
      <p:sp>
        <p:nvSpPr>
          <p:cNvPr id="9" name="矩形: 圆角 16"/>
          <p:cNvSpPr/>
          <p:nvPr/>
        </p:nvSpPr>
        <p:spPr>
          <a:xfrm>
            <a:off x="7766050" y="5055235"/>
            <a:ext cx="1385570" cy="382905"/>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队长：水广山</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advTm="5000"/>
    </mc:Choice>
    <mc:Fallback>
      <p:transition advTm="5000"/>
    </mc:Fallback>
  </mc:AlternateContent>
  <p:timing>
    <p:tnLst>
      <p:par>
        <p:cTn id="1" dur="indefinite" restart="never" nodeType="tmRoot">
          <p:childTnLst>
            <p:audio>
              <p:cMediaNode vol="80000" numSld="999" showWhenStopped="0">
                <p:cTn id="2" repeatCount="indefinite" fill="hold" display="0">
                  <p:stCondLst>
                    <p:cond delay="indefinite"/>
                  </p:stCondLst>
                  <p:endCondLst>
                    <p:cond evt="onStopAudio" delay="0">
                      <p:tgtEl>
                        <p:sldTgt/>
                      </p:tgtEl>
                    </p:cond>
                  </p:endCondLst>
                </p:cTn>
                <p:tgtEl>
                  <p:spTgt spid="40"/>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1" name="文本框 20"/>
          <p:cNvSpPr txBox="1"/>
          <p:nvPr/>
        </p:nvSpPr>
        <p:spPr>
          <a:xfrm>
            <a:off x="3273813" y="518213"/>
            <a:ext cx="5644374" cy="923330"/>
          </a:xfrm>
          <a:prstGeom prst="rect">
            <a:avLst/>
          </a:prstGeom>
          <a:noFill/>
        </p:spPr>
        <p:txBody>
          <a:bodyPr wrap="square" rtlCol="0">
            <a:spAutoFit/>
          </a:bodyPr>
          <a:lstStyle/>
          <a:p>
            <a:pPr algn="ctr"/>
            <a:r>
              <a:rPr lang="zh-CN" altLang="en-US" sz="5400" dirty="0">
                <a:solidFill>
                  <a:schemeClr val="bg1"/>
                </a:solidFill>
                <a:latin typeface="三极正智黑简体" panose="00000500000000000000" pitchFamily="2" charset="-122"/>
                <a:ea typeface="三极正智黑简体" panose="00000500000000000000" pitchFamily="2" charset="-122"/>
                <a:cs typeface="+mn-ea"/>
                <a:sym typeface="+mn-lt"/>
              </a:rPr>
              <a:t>目录</a:t>
            </a:r>
            <a:endParaRPr lang="zh-CN" altLang="en-US" sz="5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5" name="任意多边形: 形状 24"/>
          <p:cNvSpPr/>
          <p:nvPr/>
        </p:nvSpPr>
        <p:spPr>
          <a:xfrm>
            <a:off x="11328401" y="50673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pic>
        <p:nvPicPr>
          <p:cNvPr id="24" name="图片 23"/>
          <p:cNvPicPr>
            <a:picLocks noChangeAspect="1"/>
          </p:cNvPicPr>
          <p:nvPr/>
        </p:nvPicPr>
        <p:blipFill rotWithShape="1">
          <a:blip r:embed="rId2"/>
          <a:srcRect l="10285" r="67365"/>
          <a:stretch>
            <a:fillRect/>
          </a:stretch>
        </p:blipFill>
        <p:spPr>
          <a:xfrm>
            <a:off x="1034143" y="1553029"/>
            <a:ext cx="841829" cy="4097132"/>
          </a:xfrm>
          <a:prstGeom prst="rect">
            <a:avLst/>
          </a:prstGeom>
        </p:spPr>
      </p:pic>
      <p:pic>
        <p:nvPicPr>
          <p:cNvPr id="59" name="图片 58"/>
          <p:cNvPicPr>
            <a:picLocks noChangeAspect="1"/>
          </p:cNvPicPr>
          <p:nvPr/>
        </p:nvPicPr>
        <p:blipFill rotWithShape="1">
          <a:blip r:embed="rId2"/>
          <a:srcRect l="10285" r="67365"/>
          <a:stretch>
            <a:fillRect/>
          </a:stretch>
        </p:blipFill>
        <p:spPr>
          <a:xfrm flipH="1" flipV="1">
            <a:off x="10316028" y="1219200"/>
            <a:ext cx="841829" cy="4097132"/>
          </a:xfrm>
          <a:prstGeom prst="rect">
            <a:avLst/>
          </a:prstGeom>
        </p:spPr>
      </p:pic>
      <p:sp>
        <p:nvSpPr>
          <p:cNvPr id="61" name="文本框 60"/>
          <p:cNvSpPr txBox="1"/>
          <p:nvPr/>
        </p:nvSpPr>
        <p:spPr>
          <a:xfrm>
            <a:off x="3273813" y="1403586"/>
            <a:ext cx="5644374" cy="307777"/>
          </a:xfrm>
          <a:prstGeom prst="rect">
            <a:avLst/>
          </a:prstGeom>
          <a:noFill/>
        </p:spPr>
        <p:txBody>
          <a:bodyPr wrap="square" rtlCol="0">
            <a:spAutoFit/>
          </a:bodyPr>
          <a:lstStyle/>
          <a:p>
            <a:pPr algn="dist"/>
            <a:r>
              <a:rPr lang="en-US" altLang="zh-CN" sz="1400" dirty="0">
                <a:solidFill>
                  <a:schemeClr val="bg1"/>
                </a:solidFill>
                <a:latin typeface="三极正智黑简体" panose="00000500000000000000" pitchFamily="2" charset="-122"/>
                <a:ea typeface="三极正智黑简体" panose="00000500000000000000" pitchFamily="2" charset="-122"/>
                <a:cs typeface="+mn-ea"/>
                <a:sym typeface="+mn-lt"/>
              </a:rPr>
              <a:t>CONTENTS</a:t>
            </a:r>
            <a:endParaRPr lang="en-US" altLang="zh-CN" sz="1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63" name="文本框 62"/>
          <p:cNvSpPr txBox="1"/>
          <p:nvPr/>
        </p:nvSpPr>
        <p:spPr>
          <a:xfrm>
            <a:off x="2676912" y="2327983"/>
            <a:ext cx="2851215" cy="583565"/>
          </a:xfrm>
          <a:prstGeom prst="rect">
            <a:avLst/>
          </a:prstGeom>
          <a:noFill/>
        </p:spPr>
        <p:txBody>
          <a:bodyPr wrap="square" rtlCol="0">
            <a:spAutoFit/>
          </a:bodyPr>
          <a:lstStyle/>
          <a:p>
            <a:pPr algn="just"/>
            <a:r>
              <a:rPr lang="zh-CN" altLang="en-US" sz="3200" b="1" dirty="0">
                <a:solidFill>
                  <a:schemeClr val="bg1"/>
                </a:solidFill>
                <a:latin typeface="华文楷体" panose="02010600040101010101" charset="-122"/>
                <a:ea typeface="华文楷体" panose="02010600040101010101" charset="-122"/>
                <a:cs typeface="+mn-ea"/>
                <a:sym typeface="+mn-lt"/>
              </a:rPr>
              <a:t>现状分析</a:t>
            </a:r>
            <a:endParaRPr lang="zh-CN" altLang="en-US" sz="3200" b="1" dirty="0">
              <a:solidFill>
                <a:schemeClr val="bg1"/>
              </a:solidFill>
              <a:latin typeface="华文楷体" panose="02010600040101010101" charset="-122"/>
              <a:ea typeface="华文楷体" panose="02010600040101010101" charset="-122"/>
              <a:cs typeface="+mn-ea"/>
              <a:sym typeface="+mn-lt"/>
            </a:endParaRPr>
          </a:p>
        </p:txBody>
      </p:sp>
      <p:sp>
        <p:nvSpPr>
          <p:cNvPr id="71" name="文本框 70"/>
          <p:cNvSpPr txBox="1"/>
          <p:nvPr/>
        </p:nvSpPr>
        <p:spPr>
          <a:xfrm>
            <a:off x="2676912" y="3828398"/>
            <a:ext cx="2851215" cy="583565"/>
          </a:xfrm>
          <a:prstGeom prst="rect">
            <a:avLst/>
          </a:prstGeom>
          <a:noFill/>
        </p:spPr>
        <p:txBody>
          <a:bodyPr wrap="square" rtlCol="0">
            <a:spAutoFit/>
          </a:bodyPr>
          <a:lstStyle/>
          <a:p>
            <a:pPr algn="just">
              <a:buClrTx/>
              <a:buSzTx/>
              <a:buFontTx/>
            </a:pPr>
            <a:r>
              <a:rPr lang="zh-CN" altLang="en-US" sz="3200" b="1" dirty="0">
                <a:solidFill>
                  <a:schemeClr val="bg1"/>
                </a:solidFill>
                <a:latin typeface="华文楷体" panose="02010600040101010101" charset="-122"/>
                <a:ea typeface="华文楷体" panose="02010600040101010101" charset="-122"/>
                <a:cs typeface="+mn-ea"/>
                <a:sym typeface="+mn-lt"/>
              </a:rPr>
              <a:t>阶段</a:t>
            </a:r>
            <a:r>
              <a:rPr lang="zh-CN" altLang="en-US" sz="3200" b="1" dirty="0">
                <a:solidFill>
                  <a:schemeClr val="bg1"/>
                </a:solidFill>
                <a:latin typeface="华文楷体" panose="02010600040101010101" charset="-122"/>
                <a:ea typeface="华文楷体" panose="02010600040101010101" charset="-122"/>
                <a:cs typeface="+mn-ea"/>
                <a:sym typeface="+mn-lt"/>
              </a:rPr>
              <a:t>成果</a:t>
            </a:r>
            <a:endParaRPr lang="zh-CN" altLang="en-US" sz="3200" b="1" dirty="0">
              <a:solidFill>
                <a:schemeClr val="bg1"/>
              </a:solidFill>
              <a:latin typeface="华文楷体" panose="02010600040101010101" charset="-122"/>
              <a:ea typeface="华文楷体" panose="02010600040101010101" charset="-122"/>
              <a:cs typeface="+mn-ea"/>
              <a:sym typeface="+mn-lt"/>
            </a:endParaRPr>
          </a:p>
        </p:txBody>
      </p:sp>
      <p:sp>
        <p:nvSpPr>
          <p:cNvPr id="87" name="文本框 86"/>
          <p:cNvSpPr txBox="1"/>
          <p:nvPr/>
        </p:nvSpPr>
        <p:spPr>
          <a:xfrm>
            <a:off x="7325112" y="2327983"/>
            <a:ext cx="2851215" cy="583565"/>
          </a:xfrm>
          <a:prstGeom prst="rect">
            <a:avLst/>
          </a:prstGeom>
          <a:noFill/>
        </p:spPr>
        <p:txBody>
          <a:bodyPr wrap="square" rtlCol="0">
            <a:spAutoFit/>
          </a:bodyPr>
          <a:lstStyle/>
          <a:p>
            <a:pPr algn="just">
              <a:buClrTx/>
              <a:buSzTx/>
              <a:buFontTx/>
            </a:pPr>
            <a:r>
              <a:rPr lang="zh-CN" altLang="en-US" sz="3200" b="1" dirty="0">
                <a:solidFill>
                  <a:schemeClr val="bg1"/>
                </a:solidFill>
                <a:latin typeface="华文楷体" panose="02010600040101010101" charset="-122"/>
                <a:ea typeface="华文楷体" panose="02010600040101010101" charset="-122"/>
                <a:cs typeface="+mn-ea"/>
                <a:sym typeface="+mn-lt"/>
              </a:rPr>
              <a:t>解决</a:t>
            </a:r>
            <a:r>
              <a:rPr lang="zh-CN" altLang="en-US" sz="3200" b="1" dirty="0">
                <a:solidFill>
                  <a:schemeClr val="bg1"/>
                </a:solidFill>
                <a:latin typeface="华文楷体" panose="02010600040101010101" charset="-122"/>
                <a:ea typeface="华文楷体" panose="02010600040101010101" charset="-122"/>
                <a:cs typeface="+mn-ea"/>
                <a:sym typeface="+mn-lt"/>
              </a:rPr>
              <a:t>方案</a:t>
            </a:r>
            <a:endParaRPr lang="zh-CN" altLang="en-US" sz="3200" b="1" dirty="0">
              <a:solidFill>
                <a:schemeClr val="bg1"/>
              </a:solidFill>
              <a:latin typeface="华文楷体" panose="02010600040101010101" charset="-122"/>
              <a:ea typeface="华文楷体" panose="02010600040101010101" charset="-122"/>
              <a:cs typeface="+mn-ea"/>
              <a:sym typeface="+mn-lt"/>
            </a:endParaRPr>
          </a:p>
        </p:txBody>
      </p:sp>
      <p:sp>
        <p:nvSpPr>
          <p:cNvPr id="92" name="文本框 91"/>
          <p:cNvSpPr txBox="1"/>
          <p:nvPr/>
        </p:nvSpPr>
        <p:spPr>
          <a:xfrm>
            <a:off x="7325112" y="3828398"/>
            <a:ext cx="2851215" cy="583565"/>
          </a:xfrm>
          <a:prstGeom prst="rect">
            <a:avLst/>
          </a:prstGeom>
          <a:noFill/>
        </p:spPr>
        <p:txBody>
          <a:bodyPr wrap="square" rtlCol="0">
            <a:spAutoFit/>
          </a:bodyPr>
          <a:lstStyle/>
          <a:p>
            <a:pPr algn="just"/>
            <a:r>
              <a:rPr lang="zh-CN" altLang="en-US" sz="3200" b="1" dirty="0">
                <a:solidFill>
                  <a:schemeClr val="bg1"/>
                </a:solidFill>
                <a:latin typeface="华文楷体" panose="02010600040101010101" charset="-122"/>
                <a:ea typeface="华文楷体" panose="02010600040101010101" charset="-122"/>
                <a:cs typeface="+mn-ea"/>
                <a:sym typeface="+mn-lt"/>
              </a:rPr>
              <a:t>未来</a:t>
            </a:r>
            <a:r>
              <a:rPr lang="zh-CN" altLang="en-US" sz="3200" b="1" dirty="0">
                <a:solidFill>
                  <a:schemeClr val="bg1"/>
                </a:solidFill>
                <a:latin typeface="华文楷体" panose="02010600040101010101" charset="-122"/>
                <a:ea typeface="华文楷体" panose="02010600040101010101" charset="-122"/>
                <a:cs typeface="+mn-ea"/>
                <a:sym typeface="+mn-lt"/>
              </a:rPr>
              <a:t>展望</a:t>
            </a:r>
            <a:endParaRPr lang="zh-CN" altLang="en-US" sz="3200" b="1" dirty="0">
              <a:solidFill>
                <a:schemeClr val="bg1"/>
              </a:solidFill>
              <a:latin typeface="华文楷体" panose="02010600040101010101" charset="-122"/>
              <a:ea typeface="华文楷体" panose="02010600040101010101" charset="-122"/>
              <a:cs typeface="+mn-ea"/>
              <a:sym typeface="+mn-lt"/>
            </a:endParaRPr>
          </a:p>
        </p:txBody>
      </p:sp>
      <p:sp>
        <p:nvSpPr>
          <p:cNvPr id="93" name="PA-文本框 88"/>
          <p:cNvSpPr txBox="1"/>
          <p:nvPr>
            <p:custDataLst>
              <p:tags r:id="rId3"/>
            </p:custDataLst>
          </p:nvPr>
        </p:nvSpPr>
        <p:spPr>
          <a:xfrm>
            <a:off x="2811710" y="2881571"/>
            <a:ext cx="3228047" cy="525850"/>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94" name="PA-文本框 88"/>
          <p:cNvSpPr txBox="1"/>
          <p:nvPr>
            <p:custDataLst>
              <p:tags r:id="rId4"/>
            </p:custDataLst>
          </p:nvPr>
        </p:nvSpPr>
        <p:spPr>
          <a:xfrm>
            <a:off x="2811710" y="4590628"/>
            <a:ext cx="3228047" cy="525850"/>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95" name="PA-文本框 88"/>
          <p:cNvSpPr txBox="1"/>
          <p:nvPr>
            <p:custDataLst>
              <p:tags r:id="rId5"/>
            </p:custDataLst>
          </p:nvPr>
        </p:nvSpPr>
        <p:spPr>
          <a:xfrm>
            <a:off x="7405482" y="2881571"/>
            <a:ext cx="3228047" cy="525850"/>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96" name="PA-文本框 88"/>
          <p:cNvSpPr txBox="1"/>
          <p:nvPr>
            <p:custDataLst>
              <p:tags r:id="rId6"/>
            </p:custDataLst>
          </p:nvPr>
        </p:nvSpPr>
        <p:spPr>
          <a:xfrm>
            <a:off x="7405482" y="4590628"/>
            <a:ext cx="3228047" cy="525850"/>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97" name="椭圆 96"/>
          <p:cNvSpPr/>
          <p:nvPr/>
        </p:nvSpPr>
        <p:spPr>
          <a:xfrm>
            <a:off x="6330043" y="2258787"/>
            <a:ext cx="841828" cy="841828"/>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rPr>
              <a:t>02</a:t>
            </a:r>
            <a:endParaRPr lang="zh-CN" altLang="en-US"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98" name="椭圆 97"/>
          <p:cNvSpPr/>
          <p:nvPr/>
        </p:nvSpPr>
        <p:spPr>
          <a:xfrm>
            <a:off x="1681843" y="2258787"/>
            <a:ext cx="841828" cy="841828"/>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rPr>
              <a:t>01</a:t>
            </a:r>
            <a:endParaRPr lang="zh-CN" altLang="en-US"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99" name="椭圆 98"/>
          <p:cNvSpPr/>
          <p:nvPr/>
        </p:nvSpPr>
        <p:spPr>
          <a:xfrm>
            <a:off x="1681843" y="3759202"/>
            <a:ext cx="841828" cy="841828"/>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rPr>
              <a:t>03</a:t>
            </a:r>
            <a:endParaRPr lang="zh-CN" altLang="en-US"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100" name="椭圆 99"/>
          <p:cNvSpPr/>
          <p:nvPr/>
        </p:nvSpPr>
        <p:spPr>
          <a:xfrm>
            <a:off x="6330043" y="3759202"/>
            <a:ext cx="841828" cy="841828"/>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rPr>
              <a:t>04</a:t>
            </a:r>
            <a:endParaRPr lang="zh-CN" altLang="en-US" sz="2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9" name="文本框 8"/>
          <p:cNvSpPr txBox="1"/>
          <p:nvPr/>
        </p:nvSpPr>
        <p:spPr>
          <a:xfrm>
            <a:off x="9031605" y="569557"/>
            <a:ext cx="2705562" cy="337185"/>
          </a:xfrm>
          <a:prstGeom prst="rect">
            <a:avLst/>
          </a:prstGeom>
          <a:noFill/>
        </p:spPr>
        <p:txBody>
          <a:bodyPr wrap="square" rtlCol="0">
            <a:spAutoFit/>
          </a:bodyPr>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gallery dir="l"/>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par>
                                <p:cTn id="10" presetID="53" presetClass="entr" presetSubtype="16" fill="hold" nodeType="withEffect">
                                  <p:stCondLst>
                                    <p:cond delay="0"/>
                                  </p:stCondLst>
                                  <p:childTnLst>
                                    <p:set>
                                      <p:cBhvr>
                                        <p:cTn id="11" dur="1" fill="hold">
                                          <p:stCondLst>
                                            <p:cond delay="0"/>
                                          </p:stCondLst>
                                        </p:cTn>
                                        <p:tgtEl>
                                          <p:spTgt spid="38"/>
                                        </p:tgtEl>
                                        <p:attrNameLst>
                                          <p:attrName>style.visibility</p:attrName>
                                        </p:attrNameLst>
                                      </p:cBhvr>
                                      <p:to>
                                        <p:strVal val="visible"/>
                                      </p:to>
                                    </p:set>
                                    <p:anim calcmode="lin" valueType="num">
                                      <p:cBhvr>
                                        <p:cTn id="12" dur="500" fill="hold"/>
                                        <p:tgtEl>
                                          <p:spTgt spid="38"/>
                                        </p:tgtEl>
                                        <p:attrNameLst>
                                          <p:attrName>ppt_w</p:attrName>
                                        </p:attrNameLst>
                                      </p:cBhvr>
                                      <p:tavLst>
                                        <p:tav tm="0">
                                          <p:val>
                                            <p:fltVal val="0"/>
                                          </p:val>
                                        </p:tav>
                                        <p:tav tm="100000">
                                          <p:val>
                                            <p:strVal val="#ppt_w"/>
                                          </p:val>
                                        </p:tav>
                                      </p:tavLst>
                                    </p:anim>
                                    <p:anim calcmode="lin" valueType="num">
                                      <p:cBhvr>
                                        <p:cTn id="13" dur="500" fill="hold"/>
                                        <p:tgtEl>
                                          <p:spTgt spid="38"/>
                                        </p:tgtEl>
                                        <p:attrNameLst>
                                          <p:attrName>ppt_h</p:attrName>
                                        </p:attrNameLst>
                                      </p:cBhvr>
                                      <p:tavLst>
                                        <p:tav tm="0">
                                          <p:val>
                                            <p:fltVal val="0"/>
                                          </p:val>
                                        </p:tav>
                                        <p:tav tm="100000">
                                          <p:val>
                                            <p:strVal val="#ppt_h"/>
                                          </p:val>
                                        </p:tav>
                                      </p:tavLst>
                                    </p:anim>
                                    <p:animEffect transition="in" filter="fade">
                                      <p:cBhvr>
                                        <p:cTn id="14" dur="500"/>
                                        <p:tgtEl>
                                          <p:spTgt spid="38"/>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down)">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sp>
        <p:nvSpPr>
          <p:cNvPr id="20" name="文本框 19"/>
          <p:cNvSpPr txBox="1"/>
          <p:nvPr/>
        </p:nvSpPr>
        <p:spPr>
          <a:xfrm>
            <a:off x="6001221" y="20633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922613" y="2644594"/>
            <a:ext cx="5644374" cy="1076325"/>
          </a:xfrm>
          <a:prstGeom prst="rect">
            <a:avLst/>
          </a:prstGeom>
          <a:noFill/>
        </p:spPr>
        <p:txBody>
          <a:bodyPr wrap="square" rtlCol="0">
            <a:spAutoFit/>
          </a:bodyPr>
          <a:lstStyle/>
          <a:p>
            <a:pPr algn="dist"/>
            <a:r>
              <a:rPr lang="zh-CN" altLang="en-US" sz="6400" b="1" dirty="0">
                <a:solidFill>
                  <a:schemeClr val="bg1"/>
                </a:solidFill>
                <a:latin typeface="华文楷体" panose="02010600040101010101" charset="-122"/>
                <a:ea typeface="华文楷体" panose="02010600040101010101" charset="-122"/>
                <a:cs typeface="+mn-ea"/>
                <a:sym typeface="+mn-lt"/>
              </a:rPr>
              <a:t>现状分析</a:t>
            </a:r>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3"/>
            </p:custDataLst>
          </p:nvPr>
        </p:nvSpPr>
        <p:spPr>
          <a:xfrm>
            <a:off x="6079692" y="3925277"/>
            <a:ext cx="4049919" cy="802848"/>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Click here to enter your text, change the color or size of the text. 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32" name="文本框 31"/>
          <p:cNvSpPr txBox="1"/>
          <p:nvPr/>
        </p:nvSpPr>
        <p:spPr>
          <a:xfrm>
            <a:off x="1513000" y="2247227"/>
            <a:ext cx="3541600" cy="2215991"/>
          </a:xfrm>
          <a:prstGeom prst="rect">
            <a:avLst/>
          </a:prstGeom>
          <a:noFill/>
        </p:spPr>
        <p:txBody>
          <a:bodyPr wrap="square" rtlCol="0">
            <a:spAutoFit/>
          </a:bodyPr>
          <a:lstStyle/>
          <a:p>
            <a:pPr algn="ctr"/>
            <a:r>
              <a:rPr lang="en-US" altLang="zh-CN"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rPr>
              <a:t>01.</a:t>
            </a:r>
            <a:endParaRPr lang="zh-CN" altLang="en-US"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endParaRPr>
          </a:p>
        </p:txBody>
      </p:sp>
      <p:sp>
        <p:nvSpPr>
          <p:cNvPr id="37" name="矩形: 圆角 36"/>
          <p:cNvSpPr/>
          <p:nvPr/>
        </p:nvSpPr>
        <p:spPr>
          <a:xfrm flipV="1">
            <a:off x="6063043" y="5162164"/>
            <a:ext cx="1048957" cy="45719"/>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grpSp>
        <p:nvGrpSpPr>
          <p:cNvPr id="13" name="组合 12"/>
          <p:cNvGrpSpPr/>
          <p:nvPr/>
        </p:nvGrpSpPr>
        <p:grpSpPr>
          <a:xfrm>
            <a:off x="4058577" y="4375150"/>
            <a:ext cx="1384300" cy="1384300"/>
            <a:chOff x="4058577" y="4375150"/>
            <a:chExt cx="1384300" cy="1384300"/>
          </a:xfrm>
        </p:grpSpPr>
        <p:sp>
          <p:nvSpPr>
            <p:cNvPr id="9" name="椭圆 8"/>
            <p:cNvSpPr/>
            <p:nvPr/>
          </p:nvSpPr>
          <p:spPr>
            <a:xfrm>
              <a:off x="4058577" y="4375150"/>
              <a:ext cx="1384300" cy="1384300"/>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sp>
        <p:nvSpPr>
          <p:cNvPr id="10" name="文本框 9"/>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32812" y="241573"/>
            <a:ext cx="6191219" cy="626543"/>
            <a:chOff x="284882" y="285115"/>
            <a:chExt cx="6191219" cy="626543"/>
          </a:xfrm>
        </p:grpSpPr>
        <p:sp>
          <p:nvSpPr>
            <p:cNvPr id="21" name="文本框 20"/>
            <p:cNvSpPr txBox="1"/>
            <p:nvPr/>
          </p:nvSpPr>
          <p:spPr>
            <a:xfrm>
              <a:off x="831727" y="285115"/>
              <a:ext cx="5644374"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背景</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描述</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8" name="矩形: 圆角 17"/>
          <p:cNvSpPr/>
          <p:nvPr/>
        </p:nvSpPr>
        <p:spPr>
          <a:xfrm>
            <a:off x="889639" y="1539305"/>
            <a:ext cx="6882761" cy="4213039"/>
          </a:xfrm>
          <a:prstGeom prst="roundRect">
            <a:avLst>
              <a:gd name="adj" fmla="val 5876"/>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išľïďe"/>
          <p:cNvSpPr/>
          <p:nvPr/>
        </p:nvSpPr>
        <p:spPr bwMode="auto">
          <a:xfrm>
            <a:off x="779780" y="2256790"/>
            <a:ext cx="421640" cy="2741930"/>
          </a:xfrm>
          <a:prstGeom prst="roundRect">
            <a:avLst>
              <a:gd name="adj" fmla="val 50000"/>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pPr algn="ctr"/>
            <a:r>
              <a:rPr lang="zh-CN" altLang="en-US" sz="24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静 脉 血 栓 栓 塞 症 </a:t>
            </a:r>
            <a:endParaRPr lang="id-ID" altLang="zh-CN" sz="2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cxnSp>
        <p:nvCxnSpPr>
          <p:cNvPr id="20" name="直接连接符 19"/>
          <p:cNvCxnSpPr/>
          <p:nvPr/>
        </p:nvCxnSpPr>
        <p:spPr>
          <a:xfrm>
            <a:off x="1507958" y="3035398"/>
            <a:ext cx="5045241" cy="0"/>
          </a:xfrm>
          <a:prstGeom prst="line">
            <a:avLst/>
          </a:prstGeom>
          <a:ln>
            <a:solidFill>
              <a:schemeClr val="bg1">
                <a:lumMod val="75000"/>
              </a:schemeClr>
            </a:solidFill>
            <a:prstDash val="dashDot"/>
          </a:ln>
        </p:spPr>
        <p:style>
          <a:lnRef idx="1">
            <a:schemeClr val="accent3"/>
          </a:lnRef>
          <a:fillRef idx="0">
            <a:schemeClr val="accent3"/>
          </a:fillRef>
          <a:effectRef idx="0">
            <a:schemeClr val="accent3"/>
          </a:effectRef>
          <a:fontRef idx="minor">
            <a:schemeClr val="tx1"/>
          </a:fontRef>
        </p:style>
      </p:cxnSp>
      <p:cxnSp>
        <p:nvCxnSpPr>
          <p:cNvPr id="22" name="直接连接符 21"/>
          <p:cNvCxnSpPr/>
          <p:nvPr/>
        </p:nvCxnSpPr>
        <p:spPr>
          <a:xfrm>
            <a:off x="1507958" y="4343337"/>
            <a:ext cx="5045241" cy="0"/>
          </a:xfrm>
          <a:prstGeom prst="line">
            <a:avLst/>
          </a:prstGeom>
          <a:ln>
            <a:solidFill>
              <a:schemeClr val="bg1">
                <a:lumMod val="75000"/>
              </a:schemeClr>
            </a:solidFill>
            <a:prstDash val="dashDot"/>
          </a:ln>
        </p:spPr>
        <p:style>
          <a:lnRef idx="1">
            <a:schemeClr val="accent3"/>
          </a:lnRef>
          <a:fillRef idx="0">
            <a:schemeClr val="accent3"/>
          </a:fillRef>
          <a:effectRef idx="0">
            <a:schemeClr val="accent3"/>
          </a:effectRef>
          <a:fontRef idx="minor">
            <a:schemeClr val="tx1"/>
          </a:fontRef>
        </p:style>
      </p:cxnSp>
      <p:sp>
        <p:nvSpPr>
          <p:cNvPr id="23" name="矩形 3"/>
          <p:cNvSpPr>
            <a:spLocks noChangeArrowheads="1"/>
          </p:cNvSpPr>
          <p:nvPr/>
        </p:nvSpPr>
        <p:spPr bwMode="auto">
          <a:xfrm>
            <a:off x="1430679" y="1713747"/>
            <a:ext cx="1617322"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en-US" altLang="zh-CN"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VET</a:t>
            </a: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背景</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24" name="文本框 23"/>
          <p:cNvSpPr txBox="1"/>
          <p:nvPr/>
        </p:nvSpPr>
        <p:spPr>
          <a:xfrm>
            <a:off x="1657555" y="2179091"/>
            <a:ext cx="5048045" cy="3939540"/>
          </a:xfrm>
          <a:prstGeom prst="rect">
            <a:avLst/>
          </a:prstGeom>
          <a:noFill/>
        </p:spPr>
        <p:txBody>
          <a:bodyPr wrap="square" lIns="0" tIns="0" rIns="0" bIns="0">
            <a:spAutoFit/>
          </a:bodyPr>
          <a:lstStyle/>
          <a:p>
            <a:pPr algn="l"/>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静 脉 血 栓 栓 塞 症 （ＶＴＥ）包 括 深 静 脉 血 栓（ＤＶＴ）和肺动脉栓塞（ＰＥ），是患者住院期间常见的并发症，甚至死亡的常见原因，俗称</a:t>
            </a:r>
            <a:r>
              <a:rPr lang="zh-CN" altLang="en-US"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疾病里的</a:t>
            </a:r>
            <a:r>
              <a:rPr lang="en-US" altLang="zh-CN"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a:t>
            </a:r>
            <a:r>
              <a:rPr lang="zh-CN" altLang="en-US"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温柔杀手</a:t>
            </a:r>
            <a:r>
              <a:rPr lang="en-US" altLang="zh-CN"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在世界范围内，VTE是导致死亡的第三位血管疾病。每年全球范围内大约有1000万例VTE。近十年来，我国VTE的住院率从3.2/10万人上升到17.5/10万人。</a:t>
            </a:r>
            <a:r>
              <a:rPr lang="zh-CN" altLang="en-US"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在所有住院患者中，无论是否手术，大部分患者至少存在一项及以上VTE的危险因素，但目前采取了预防手段的比例仍很低</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对发生VTE的高危人群风险进行有效的早期识别和针对性预防可显著减少VTE发生率、病死率和病残率，亟需一种方便、快速、可靠的预测评估工具。</a:t>
            </a:r>
            <a:endParaRPr lang="zh-CN" altLang="en-US" sz="1600">
              <a:latin typeface="汉仪中宋简" panose="02010600000101010101" charset="-122"/>
              <a:ea typeface="汉仪中宋简" panose="02010600000101010101" charset="-122"/>
              <a:cs typeface="汉仪中宋简" panose="02010600000101010101" charset="-122"/>
              <a:sym typeface="+mn-lt"/>
            </a:endParaRPr>
          </a:p>
          <a:p>
            <a:pPr algn="l"/>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algn="l"/>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pic>
        <p:nvPicPr>
          <p:cNvPr id="15" name="图片 14"/>
          <p:cNvPicPr>
            <a:picLocks noChangeAspect="1"/>
          </p:cNvPicPr>
          <p:nvPr/>
        </p:nvPicPr>
        <p:blipFill>
          <a:blip r:embed="rId2"/>
          <a:stretch>
            <a:fillRect/>
          </a:stretch>
        </p:blipFill>
        <p:spPr>
          <a:xfrm>
            <a:off x="6856730" y="2047240"/>
            <a:ext cx="3902710" cy="33045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down)">
                                      <p:cBhvr>
                                        <p:cTn id="15" dur="500"/>
                                        <p:tgtEl>
                                          <p:spTgt spid="20"/>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down)">
                                      <p:cBhvr>
                                        <p:cTn id="19" dur="500"/>
                                        <p:tgtEl>
                                          <p:spTgt spid="22"/>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down)">
                                      <p:cBhvr>
                                        <p:cTn id="23" dur="500"/>
                                        <p:tgtEl>
                                          <p:spTgt spid="23"/>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down)">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bldLvl="0" animBg="1"/>
      <p:bldP spid="23" grpId="0"/>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痛点</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分析</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pSp>
        <p:nvGrpSpPr>
          <p:cNvPr id="14" name="组合 13"/>
          <p:cNvGrpSpPr/>
          <p:nvPr/>
        </p:nvGrpSpPr>
        <p:grpSpPr>
          <a:xfrm>
            <a:off x="741082" y="2118022"/>
            <a:ext cx="6752952" cy="3173433"/>
            <a:chOff x="687106" y="2147867"/>
            <a:chExt cx="6964021" cy="3272621"/>
          </a:xfrm>
        </p:grpSpPr>
        <p:sp>
          <p:nvSpPr>
            <p:cNvPr id="18" name="îŝľiḑé"/>
            <p:cNvSpPr/>
            <p:nvPr/>
          </p:nvSpPr>
          <p:spPr bwMode="auto">
            <a:xfrm>
              <a:off x="687106" y="3520105"/>
              <a:ext cx="1744662" cy="728662"/>
            </a:xfrm>
            <a:prstGeom prst="homePlate">
              <a:avLst>
                <a:gd name="adj" fmla="val 43468"/>
              </a:avLst>
            </a:prstGeom>
            <a:solidFill>
              <a:srgbClr val="13245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en-US" altLang="zh-CN" sz="3200" b="1" dirty="0">
                  <a:solidFill>
                    <a:schemeClr val="bg1"/>
                  </a:solidFill>
                  <a:cs typeface="+mn-ea"/>
                  <a:sym typeface="+mn-lt"/>
                </a:rPr>
                <a:t>WHY?</a:t>
              </a:r>
              <a:endParaRPr lang="zh-CN" altLang="en-US" sz="3200" b="1" dirty="0">
                <a:solidFill>
                  <a:schemeClr val="bg1"/>
                </a:solidFill>
                <a:ea typeface="宋体" charset="0"/>
                <a:cs typeface="+mn-ea"/>
                <a:sym typeface="+mn-lt"/>
              </a:endParaRPr>
            </a:p>
          </p:txBody>
        </p:sp>
        <p:sp>
          <p:nvSpPr>
            <p:cNvPr id="19" name="îṣľíḓê"/>
            <p:cNvSpPr/>
            <p:nvPr/>
          </p:nvSpPr>
          <p:spPr bwMode="auto">
            <a:xfrm>
              <a:off x="4265331" y="2336177"/>
              <a:ext cx="1549400" cy="490537"/>
            </a:xfrm>
            <a:prstGeom prst="homePlate">
              <a:avLst/>
            </a:prstGeom>
            <a:solidFill>
              <a:srgbClr val="62EFFE"/>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先进技术</a:t>
              </a: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少</a:t>
              </a:r>
              <a:endPar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2" name="iş1îďe"/>
            <p:cNvSpPr/>
            <p:nvPr/>
          </p:nvSpPr>
          <p:spPr bwMode="auto">
            <a:xfrm>
              <a:off x="6992314" y="2147867"/>
              <a:ext cx="658813" cy="658813"/>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23" name="ïŝľidê"/>
            <p:cNvSpPr/>
            <p:nvPr/>
          </p:nvSpPr>
          <p:spPr bwMode="auto">
            <a:xfrm>
              <a:off x="7179316" y="2346873"/>
              <a:ext cx="284810" cy="260802"/>
            </a:xfrm>
            <a:custGeom>
              <a:avLst/>
              <a:gdLst>
                <a:gd name="connsiteX0" fmla="*/ 192176 w 607614"/>
                <a:gd name="connsiteY0" fmla="*/ 71398 h 556807"/>
                <a:gd name="connsiteX1" fmla="*/ 239270 w 607614"/>
                <a:gd name="connsiteY1" fmla="*/ 78224 h 556807"/>
                <a:gd name="connsiteX2" fmla="*/ 237751 w 607614"/>
                <a:gd name="connsiteY2" fmla="*/ 102495 h 556807"/>
                <a:gd name="connsiteX3" fmla="*/ 237751 w 607614"/>
                <a:gd name="connsiteY3" fmla="*/ 150277 h 556807"/>
                <a:gd name="connsiteX4" fmla="*/ 227877 w 607614"/>
                <a:gd name="connsiteY4" fmla="*/ 182132 h 556807"/>
                <a:gd name="connsiteX5" fmla="*/ 227877 w 607614"/>
                <a:gd name="connsiteY5" fmla="*/ 223088 h 556807"/>
                <a:gd name="connsiteX6" fmla="*/ 244588 w 607614"/>
                <a:gd name="connsiteY6" fmla="*/ 262528 h 556807"/>
                <a:gd name="connsiteX7" fmla="*/ 278769 w 607614"/>
                <a:gd name="connsiteY7" fmla="*/ 332305 h 556807"/>
                <a:gd name="connsiteX8" fmla="*/ 278769 w 607614"/>
                <a:gd name="connsiteY8" fmla="*/ 361127 h 556807"/>
                <a:gd name="connsiteX9" fmla="*/ 272692 w 607614"/>
                <a:gd name="connsiteY9" fmla="*/ 370986 h 556807"/>
                <a:gd name="connsiteX10" fmla="*/ 182301 w 607614"/>
                <a:gd name="connsiteY10" fmla="*/ 420286 h 556807"/>
                <a:gd name="connsiteX11" fmla="*/ 126851 w 607614"/>
                <a:gd name="connsiteY11" fmla="*/ 513575 h 556807"/>
                <a:gd name="connsiteX12" fmla="*/ 126851 w 607614"/>
                <a:gd name="connsiteY12" fmla="*/ 556807 h 556807"/>
                <a:gd name="connsiteX13" fmla="*/ 0 w 607614"/>
                <a:gd name="connsiteY13" fmla="*/ 556807 h 556807"/>
                <a:gd name="connsiteX14" fmla="*/ 0 w 607614"/>
                <a:gd name="connsiteY14" fmla="*/ 518126 h 556807"/>
                <a:gd name="connsiteX15" fmla="*/ 41777 w 607614"/>
                <a:gd name="connsiteY15" fmla="*/ 447590 h 556807"/>
                <a:gd name="connsiteX16" fmla="*/ 109381 w 607614"/>
                <a:gd name="connsiteY16" fmla="*/ 405875 h 556807"/>
                <a:gd name="connsiteX17" fmla="*/ 120775 w 607614"/>
                <a:gd name="connsiteY17" fmla="*/ 386155 h 556807"/>
                <a:gd name="connsiteX18" fmla="*/ 120775 w 607614"/>
                <a:gd name="connsiteY18" fmla="*/ 358851 h 556807"/>
                <a:gd name="connsiteX19" fmla="*/ 84314 w 607614"/>
                <a:gd name="connsiteY19" fmla="*/ 295141 h 556807"/>
                <a:gd name="connsiteX20" fmla="*/ 70642 w 607614"/>
                <a:gd name="connsiteY20" fmla="*/ 267079 h 556807"/>
                <a:gd name="connsiteX21" fmla="*/ 70642 w 607614"/>
                <a:gd name="connsiteY21" fmla="*/ 232190 h 556807"/>
                <a:gd name="connsiteX22" fmla="*/ 81276 w 607614"/>
                <a:gd name="connsiteY22" fmla="*/ 208678 h 556807"/>
                <a:gd name="connsiteX23" fmla="*/ 81276 w 607614"/>
                <a:gd name="connsiteY23" fmla="*/ 162412 h 556807"/>
                <a:gd name="connsiteX24" fmla="*/ 192176 w 607614"/>
                <a:gd name="connsiteY24" fmla="*/ 71398 h 556807"/>
                <a:gd name="connsiteX25" fmla="*/ 374460 w 607614"/>
                <a:gd name="connsiteY25" fmla="*/ 0 h 556807"/>
                <a:gd name="connsiteX26" fmla="*/ 474708 w 607614"/>
                <a:gd name="connsiteY26" fmla="*/ 35654 h 556807"/>
                <a:gd name="connsiteX27" fmla="*/ 495973 w 607614"/>
                <a:gd name="connsiteY27" fmla="*/ 101651 h 556807"/>
                <a:gd name="connsiteX28" fmla="*/ 495973 w 607614"/>
                <a:gd name="connsiteY28" fmla="*/ 155511 h 556807"/>
                <a:gd name="connsiteX29" fmla="*/ 506606 w 607614"/>
                <a:gd name="connsiteY29" fmla="*/ 182062 h 556807"/>
                <a:gd name="connsiteX30" fmla="*/ 506606 w 607614"/>
                <a:gd name="connsiteY30" fmla="*/ 223026 h 556807"/>
                <a:gd name="connsiteX31" fmla="*/ 483063 w 607614"/>
                <a:gd name="connsiteY31" fmla="*/ 259439 h 556807"/>
                <a:gd name="connsiteX32" fmla="*/ 452684 w 607614"/>
                <a:gd name="connsiteY32" fmla="*/ 317850 h 556807"/>
                <a:gd name="connsiteX33" fmla="*/ 445849 w 607614"/>
                <a:gd name="connsiteY33" fmla="*/ 327712 h 556807"/>
                <a:gd name="connsiteX34" fmla="*/ 445849 w 607614"/>
                <a:gd name="connsiteY34" fmla="*/ 361849 h 556807"/>
                <a:gd name="connsiteX35" fmla="*/ 460279 w 607614"/>
                <a:gd name="connsiteY35" fmla="*/ 386124 h 556807"/>
                <a:gd name="connsiteX36" fmla="*/ 557490 w 607614"/>
                <a:gd name="connsiteY36" fmla="*/ 433915 h 556807"/>
                <a:gd name="connsiteX37" fmla="*/ 607614 w 607614"/>
                <a:gd name="connsiteY37" fmla="*/ 515843 h 556807"/>
                <a:gd name="connsiteX38" fmla="*/ 607614 w 607614"/>
                <a:gd name="connsiteY38" fmla="*/ 556807 h 556807"/>
                <a:gd name="connsiteX39" fmla="*/ 142065 w 607614"/>
                <a:gd name="connsiteY39" fmla="*/ 556807 h 556807"/>
                <a:gd name="connsiteX40" fmla="*/ 142065 w 607614"/>
                <a:gd name="connsiteY40" fmla="*/ 513567 h 556807"/>
                <a:gd name="connsiteX41" fmla="*/ 189152 w 607614"/>
                <a:gd name="connsiteY41" fmla="*/ 433915 h 556807"/>
                <a:gd name="connsiteX42" fmla="*/ 279527 w 607614"/>
                <a:gd name="connsiteY42" fmla="*/ 384606 h 556807"/>
                <a:gd name="connsiteX43" fmla="*/ 293957 w 607614"/>
                <a:gd name="connsiteY43" fmla="*/ 361090 h 556807"/>
                <a:gd name="connsiteX44" fmla="*/ 293957 w 607614"/>
                <a:gd name="connsiteY44" fmla="*/ 327712 h 556807"/>
                <a:gd name="connsiteX45" fmla="*/ 258262 w 607614"/>
                <a:gd name="connsiteY45" fmla="*/ 254129 h 556807"/>
                <a:gd name="connsiteX46" fmla="*/ 243073 w 607614"/>
                <a:gd name="connsiteY46" fmla="*/ 223026 h 556807"/>
                <a:gd name="connsiteX47" fmla="*/ 243073 w 607614"/>
                <a:gd name="connsiteY47" fmla="*/ 182062 h 556807"/>
                <a:gd name="connsiteX48" fmla="*/ 252946 w 607614"/>
                <a:gd name="connsiteY48" fmla="*/ 155511 h 556807"/>
                <a:gd name="connsiteX49" fmla="*/ 252946 w 607614"/>
                <a:gd name="connsiteY49" fmla="*/ 101651 h 556807"/>
                <a:gd name="connsiteX50" fmla="*/ 274211 w 607614"/>
                <a:gd name="connsiteY50" fmla="*/ 35654 h 556807"/>
                <a:gd name="connsiteX51" fmla="*/ 374460 w 607614"/>
                <a:gd name="connsiteY51" fmla="*/ 0 h 556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14" h="556807">
                  <a:moveTo>
                    <a:pt x="192176" y="71398"/>
                  </a:moveTo>
                  <a:cubicBezTo>
                    <a:pt x="209646" y="71398"/>
                    <a:pt x="224838" y="73673"/>
                    <a:pt x="239270" y="78224"/>
                  </a:cubicBezTo>
                  <a:cubicBezTo>
                    <a:pt x="236992" y="89601"/>
                    <a:pt x="237751" y="98702"/>
                    <a:pt x="237751" y="102495"/>
                  </a:cubicBezTo>
                  <a:lnTo>
                    <a:pt x="237751" y="150277"/>
                  </a:lnTo>
                  <a:cubicBezTo>
                    <a:pt x="231675" y="160137"/>
                    <a:pt x="227877" y="170755"/>
                    <a:pt x="227877" y="182132"/>
                  </a:cubicBezTo>
                  <a:lnTo>
                    <a:pt x="227877" y="223088"/>
                  </a:lnTo>
                  <a:cubicBezTo>
                    <a:pt x="227877" y="238257"/>
                    <a:pt x="233953" y="251909"/>
                    <a:pt x="244588" y="262528"/>
                  </a:cubicBezTo>
                  <a:cubicBezTo>
                    <a:pt x="253703" y="295141"/>
                    <a:pt x="269654" y="320170"/>
                    <a:pt x="278769" y="332305"/>
                  </a:cubicBezTo>
                  <a:lnTo>
                    <a:pt x="278769" y="361127"/>
                  </a:lnTo>
                  <a:cubicBezTo>
                    <a:pt x="278769" y="364919"/>
                    <a:pt x="276490" y="368711"/>
                    <a:pt x="272692" y="370986"/>
                  </a:cubicBezTo>
                  <a:lnTo>
                    <a:pt x="182301" y="420286"/>
                  </a:lnTo>
                  <a:cubicBezTo>
                    <a:pt x="148120" y="439247"/>
                    <a:pt x="126851" y="474894"/>
                    <a:pt x="126851" y="513575"/>
                  </a:cubicBezTo>
                  <a:lnTo>
                    <a:pt x="126851" y="556807"/>
                  </a:lnTo>
                  <a:lnTo>
                    <a:pt x="0" y="556807"/>
                  </a:lnTo>
                  <a:lnTo>
                    <a:pt x="0" y="518126"/>
                  </a:lnTo>
                  <a:cubicBezTo>
                    <a:pt x="0" y="488546"/>
                    <a:pt x="15951" y="462001"/>
                    <a:pt x="41777" y="447590"/>
                  </a:cubicBezTo>
                  <a:lnTo>
                    <a:pt x="109381" y="405875"/>
                  </a:lnTo>
                  <a:cubicBezTo>
                    <a:pt x="116977" y="401324"/>
                    <a:pt x="120775" y="394498"/>
                    <a:pt x="120775" y="386155"/>
                  </a:cubicBezTo>
                  <a:lnTo>
                    <a:pt x="120775" y="358851"/>
                  </a:lnTo>
                  <a:cubicBezTo>
                    <a:pt x="113179" y="350508"/>
                    <a:pt x="92670" y="326238"/>
                    <a:pt x="84314" y="295141"/>
                  </a:cubicBezTo>
                  <a:cubicBezTo>
                    <a:pt x="75959" y="288315"/>
                    <a:pt x="70642" y="277697"/>
                    <a:pt x="70642" y="267079"/>
                  </a:cubicBezTo>
                  <a:lnTo>
                    <a:pt x="70642" y="232190"/>
                  </a:lnTo>
                  <a:cubicBezTo>
                    <a:pt x="70642" y="223847"/>
                    <a:pt x="74440" y="215504"/>
                    <a:pt x="81276" y="208678"/>
                  </a:cubicBezTo>
                  <a:lnTo>
                    <a:pt x="81276" y="162412"/>
                  </a:lnTo>
                  <a:cubicBezTo>
                    <a:pt x="81276" y="160895"/>
                    <a:pt x="87353" y="71398"/>
                    <a:pt x="192176" y="71398"/>
                  </a:cubicBezTo>
                  <a:close/>
                  <a:moveTo>
                    <a:pt x="374460" y="0"/>
                  </a:moveTo>
                  <a:cubicBezTo>
                    <a:pt x="420787" y="0"/>
                    <a:pt x="454203" y="12137"/>
                    <a:pt x="474708" y="35654"/>
                  </a:cubicBezTo>
                  <a:cubicBezTo>
                    <a:pt x="499011" y="62963"/>
                    <a:pt x="496733" y="96341"/>
                    <a:pt x="495973" y="101651"/>
                  </a:cubicBezTo>
                  <a:lnTo>
                    <a:pt x="495973" y="155511"/>
                  </a:lnTo>
                  <a:cubicBezTo>
                    <a:pt x="502808" y="163097"/>
                    <a:pt x="506606" y="172201"/>
                    <a:pt x="506606" y="182062"/>
                  </a:cubicBezTo>
                  <a:lnTo>
                    <a:pt x="506606" y="223026"/>
                  </a:lnTo>
                  <a:cubicBezTo>
                    <a:pt x="506606" y="238957"/>
                    <a:pt x="496733" y="252611"/>
                    <a:pt x="483063" y="259439"/>
                  </a:cubicBezTo>
                  <a:cubicBezTo>
                    <a:pt x="475468" y="280679"/>
                    <a:pt x="465595" y="300403"/>
                    <a:pt x="452684" y="317850"/>
                  </a:cubicBezTo>
                  <a:cubicBezTo>
                    <a:pt x="450406" y="321643"/>
                    <a:pt x="448127" y="324678"/>
                    <a:pt x="445849" y="327712"/>
                  </a:cubicBezTo>
                  <a:lnTo>
                    <a:pt x="445849" y="361849"/>
                  </a:lnTo>
                  <a:cubicBezTo>
                    <a:pt x="445849" y="371710"/>
                    <a:pt x="451165" y="380813"/>
                    <a:pt x="460279" y="386124"/>
                  </a:cubicBezTo>
                  <a:lnTo>
                    <a:pt x="557490" y="433915"/>
                  </a:lnTo>
                  <a:cubicBezTo>
                    <a:pt x="588628" y="449845"/>
                    <a:pt x="607614" y="480948"/>
                    <a:pt x="607614" y="515843"/>
                  </a:cubicBezTo>
                  <a:lnTo>
                    <a:pt x="607614" y="556807"/>
                  </a:lnTo>
                  <a:lnTo>
                    <a:pt x="142065" y="556807"/>
                  </a:lnTo>
                  <a:lnTo>
                    <a:pt x="142065" y="513567"/>
                  </a:lnTo>
                  <a:cubicBezTo>
                    <a:pt x="142065" y="480189"/>
                    <a:pt x="160292" y="449845"/>
                    <a:pt x="189152" y="433915"/>
                  </a:cubicBezTo>
                  <a:lnTo>
                    <a:pt x="279527" y="384606"/>
                  </a:lnTo>
                  <a:cubicBezTo>
                    <a:pt x="288641" y="379296"/>
                    <a:pt x="293957" y="370952"/>
                    <a:pt x="293957" y="361090"/>
                  </a:cubicBezTo>
                  <a:lnTo>
                    <a:pt x="293957" y="327712"/>
                  </a:lnTo>
                  <a:cubicBezTo>
                    <a:pt x="287122" y="318609"/>
                    <a:pt x="267376" y="290541"/>
                    <a:pt x="258262" y="254129"/>
                  </a:cubicBezTo>
                  <a:cubicBezTo>
                    <a:pt x="248389" y="246543"/>
                    <a:pt x="243073" y="235164"/>
                    <a:pt x="243073" y="223026"/>
                  </a:cubicBezTo>
                  <a:lnTo>
                    <a:pt x="243073" y="182062"/>
                  </a:lnTo>
                  <a:cubicBezTo>
                    <a:pt x="243073" y="172201"/>
                    <a:pt x="246870" y="163097"/>
                    <a:pt x="252946" y="155511"/>
                  </a:cubicBezTo>
                  <a:lnTo>
                    <a:pt x="252946" y="101651"/>
                  </a:lnTo>
                  <a:cubicBezTo>
                    <a:pt x="252946" y="96341"/>
                    <a:pt x="250668" y="62963"/>
                    <a:pt x="274211" y="35654"/>
                  </a:cubicBezTo>
                  <a:cubicBezTo>
                    <a:pt x="295476" y="12137"/>
                    <a:pt x="328892" y="0"/>
                    <a:pt x="374460" y="0"/>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grpSp>
          <p:nvGrpSpPr>
            <p:cNvPr id="24" name="组合 23"/>
            <p:cNvGrpSpPr/>
            <p:nvPr/>
          </p:nvGrpSpPr>
          <p:grpSpPr>
            <a:xfrm>
              <a:off x="5814731" y="2580652"/>
              <a:ext cx="1027112" cy="2317569"/>
              <a:chOff x="5725831" y="2529852"/>
              <a:chExt cx="1027112" cy="2317569"/>
            </a:xfrm>
          </p:grpSpPr>
          <p:cxnSp>
            <p:nvCxnSpPr>
              <p:cNvPr id="26" name="直接箭头连接符 25"/>
              <p:cNvCxnSpPr>
                <a:stCxn id="19" idx="3"/>
              </p:cNvCxnSpPr>
              <p:nvPr/>
            </p:nvCxnSpPr>
            <p:spPr bwMode="auto">
              <a:xfrm>
                <a:off x="5725831" y="2529852"/>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bwMode="auto">
              <a:xfrm>
                <a:off x="5725831" y="3140859"/>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bwMode="auto">
              <a:xfrm>
                <a:off x="5725831" y="3993346"/>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bwMode="auto">
              <a:xfrm>
                <a:off x="5725831" y="4847421"/>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34" name="肘形连接符 50"/>
            <p:cNvCxnSpPr>
              <a:stCxn id="18" idx="3"/>
            </p:cNvCxnSpPr>
            <p:nvPr/>
          </p:nvCxnSpPr>
          <p:spPr bwMode="auto">
            <a:xfrm flipV="1">
              <a:off x="2431768" y="2615377"/>
              <a:ext cx="1833563" cy="1269059"/>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5" name="肘形连接符 52"/>
            <p:cNvCxnSpPr>
              <a:stCxn id="18" idx="3"/>
            </p:cNvCxnSpPr>
            <p:nvPr/>
          </p:nvCxnSpPr>
          <p:spPr bwMode="auto">
            <a:xfrm flipV="1">
              <a:off x="2431768" y="3469451"/>
              <a:ext cx="1833563" cy="414985"/>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6" name="肘形连接符 54"/>
            <p:cNvCxnSpPr>
              <a:stCxn id="18" idx="3"/>
            </p:cNvCxnSpPr>
            <p:nvPr/>
          </p:nvCxnSpPr>
          <p:spPr bwMode="auto">
            <a:xfrm>
              <a:off x="2431768" y="3884436"/>
              <a:ext cx="1833563" cy="437502"/>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7" name="肘形连接符 55"/>
            <p:cNvCxnSpPr>
              <a:stCxn id="18" idx="3"/>
            </p:cNvCxnSpPr>
            <p:nvPr/>
          </p:nvCxnSpPr>
          <p:spPr bwMode="auto">
            <a:xfrm>
              <a:off x="2431768" y="3884436"/>
              <a:ext cx="1833563" cy="1291577"/>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3306054" y="2564087"/>
              <a:ext cx="80228" cy="2640699"/>
              <a:chOff x="3217154" y="2513287"/>
              <a:chExt cx="80228" cy="2640699"/>
            </a:xfrm>
            <a:solidFill>
              <a:srgbClr val="13245C"/>
            </a:solidFill>
          </p:grpSpPr>
          <p:sp>
            <p:nvSpPr>
              <p:cNvPr id="39" name="íş1ídè"/>
              <p:cNvSpPr/>
              <p:nvPr/>
            </p:nvSpPr>
            <p:spPr bwMode="auto">
              <a:xfrm>
                <a:off x="3217154" y="2513287"/>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0" name="íṥļíde"/>
              <p:cNvSpPr/>
              <p:nvPr/>
            </p:nvSpPr>
            <p:spPr bwMode="auto">
              <a:xfrm>
                <a:off x="3217154" y="3361012"/>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1" name="ïSḷîḋê"/>
              <p:cNvSpPr/>
              <p:nvPr/>
            </p:nvSpPr>
            <p:spPr bwMode="auto">
              <a:xfrm>
                <a:off x="3217154" y="4216675"/>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2" name="î$ļíḑè"/>
              <p:cNvSpPr/>
              <p:nvPr/>
            </p:nvSpPr>
            <p:spPr bwMode="auto">
              <a:xfrm>
                <a:off x="3217154" y="5072504"/>
                <a:ext cx="80228" cy="81482"/>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grpSp>
        <p:sp>
          <p:nvSpPr>
            <p:cNvPr id="43" name="îṣľíḓê"/>
            <p:cNvSpPr/>
            <p:nvPr/>
          </p:nvSpPr>
          <p:spPr bwMode="auto">
            <a:xfrm>
              <a:off x="4265331" y="3200768"/>
              <a:ext cx="1549400" cy="490538"/>
            </a:xfrm>
            <a:prstGeom prst="homePlate">
              <a:avLst/>
            </a:pr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患病影响</a:t>
              </a: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多</a:t>
              </a:r>
              <a:endPar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45" name="iş1îďe"/>
            <p:cNvSpPr/>
            <p:nvPr/>
          </p:nvSpPr>
          <p:spPr bwMode="auto">
            <a:xfrm>
              <a:off x="6992314" y="3000355"/>
              <a:ext cx="658813" cy="658812"/>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46" name="ïŝľidê"/>
            <p:cNvSpPr/>
            <p:nvPr/>
          </p:nvSpPr>
          <p:spPr bwMode="auto">
            <a:xfrm>
              <a:off x="7179317" y="3189539"/>
              <a:ext cx="284808" cy="280444"/>
            </a:xfrm>
            <a:custGeom>
              <a:avLst/>
              <a:gdLst>
                <a:gd name="connsiteX0" fmla="*/ 210237 w 587192"/>
                <a:gd name="connsiteY0" fmla="*/ 487697 h 579060"/>
                <a:gd name="connsiteX1" fmla="*/ 199202 w 587192"/>
                <a:gd name="connsiteY1" fmla="*/ 498628 h 579060"/>
                <a:gd name="connsiteX2" fmla="*/ 199202 w 587192"/>
                <a:gd name="connsiteY2" fmla="*/ 521647 h 579060"/>
                <a:gd name="connsiteX3" fmla="*/ 210237 w 587192"/>
                <a:gd name="connsiteY3" fmla="*/ 532667 h 579060"/>
                <a:gd name="connsiteX4" fmla="*/ 295575 w 587192"/>
                <a:gd name="connsiteY4" fmla="*/ 532667 h 579060"/>
                <a:gd name="connsiteX5" fmla="*/ 306521 w 587192"/>
                <a:gd name="connsiteY5" fmla="*/ 521647 h 579060"/>
                <a:gd name="connsiteX6" fmla="*/ 306521 w 587192"/>
                <a:gd name="connsiteY6" fmla="*/ 498628 h 579060"/>
                <a:gd name="connsiteX7" fmla="*/ 295575 w 587192"/>
                <a:gd name="connsiteY7" fmla="*/ 487697 h 579060"/>
                <a:gd name="connsiteX8" fmla="*/ 210237 w 587192"/>
                <a:gd name="connsiteY8" fmla="*/ 390112 h 579060"/>
                <a:gd name="connsiteX9" fmla="*/ 199202 w 587192"/>
                <a:gd name="connsiteY9" fmla="*/ 401133 h 579060"/>
                <a:gd name="connsiteX10" fmla="*/ 199202 w 587192"/>
                <a:gd name="connsiteY10" fmla="*/ 424062 h 579060"/>
                <a:gd name="connsiteX11" fmla="*/ 210237 w 587192"/>
                <a:gd name="connsiteY11" fmla="*/ 435083 h 579060"/>
                <a:gd name="connsiteX12" fmla="*/ 295575 w 587192"/>
                <a:gd name="connsiteY12" fmla="*/ 435083 h 579060"/>
                <a:gd name="connsiteX13" fmla="*/ 306521 w 587192"/>
                <a:gd name="connsiteY13" fmla="*/ 424062 h 579060"/>
                <a:gd name="connsiteX14" fmla="*/ 306521 w 587192"/>
                <a:gd name="connsiteY14" fmla="*/ 401133 h 579060"/>
                <a:gd name="connsiteX15" fmla="*/ 295575 w 587192"/>
                <a:gd name="connsiteY15" fmla="*/ 390112 h 579060"/>
                <a:gd name="connsiteX16" fmla="*/ 210237 w 587192"/>
                <a:gd name="connsiteY16" fmla="*/ 292527 h 579060"/>
                <a:gd name="connsiteX17" fmla="*/ 199202 w 587192"/>
                <a:gd name="connsiteY17" fmla="*/ 303459 h 579060"/>
                <a:gd name="connsiteX18" fmla="*/ 199202 w 587192"/>
                <a:gd name="connsiteY18" fmla="*/ 326478 h 579060"/>
                <a:gd name="connsiteX19" fmla="*/ 210237 w 587192"/>
                <a:gd name="connsiteY19" fmla="*/ 337498 h 579060"/>
                <a:gd name="connsiteX20" fmla="*/ 295575 w 587192"/>
                <a:gd name="connsiteY20" fmla="*/ 337498 h 579060"/>
                <a:gd name="connsiteX21" fmla="*/ 306521 w 587192"/>
                <a:gd name="connsiteY21" fmla="*/ 326478 h 579060"/>
                <a:gd name="connsiteX22" fmla="*/ 306521 w 587192"/>
                <a:gd name="connsiteY22" fmla="*/ 303459 h 579060"/>
                <a:gd name="connsiteX23" fmla="*/ 295575 w 587192"/>
                <a:gd name="connsiteY23" fmla="*/ 292527 h 579060"/>
                <a:gd name="connsiteX24" fmla="*/ 412250 w 587192"/>
                <a:gd name="connsiteY24" fmla="*/ 268713 h 579060"/>
                <a:gd name="connsiteX25" fmla="*/ 485772 w 587192"/>
                <a:gd name="connsiteY25" fmla="*/ 342022 h 579060"/>
                <a:gd name="connsiteX26" fmla="*/ 412250 w 587192"/>
                <a:gd name="connsiteY26" fmla="*/ 415419 h 579060"/>
                <a:gd name="connsiteX27" fmla="*/ 401658 w 587192"/>
                <a:gd name="connsiteY27" fmla="*/ 414353 h 579060"/>
                <a:gd name="connsiteX28" fmla="*/ 401658 w 587192"/>
                <a:gd name="connsiteY28" fmla="*/ 395692 h 579060"/>
                <a:gd name="connsiteX29" fmla="*/ 401658 w 587192"/>
                <a:gd name="connsiteY29" fmla="*/ 288440 h 579060"/>
                <a:gd name="connsiteX30" fmla="*/ 401658 w 587192"/>
                <a:gd name="connsiteY30" fmla="*/ 269691 h 579060"/>
                <a:gd name="connsiteX31" fmla="*/ 412250 w 587192"/>
                <a:gd name="connsiteY31" fmla="*/ 268713 h 579060"/>
                <a:gd name="connsiteX32" fmla="*/ 170993 w 587192"/>
                <a:gd name="connsiteY32" fmla="*/ 231737 h 579060"/>
                <a:gd name="connsiteX33" fmla="*/ 334819 w 587192"/>
                <a:gd name="connsiteY33" fmla="*/ 231737 h 579060"/>
                <a:gd name="connsiteX34" fmla="*/ 362494 w 587192"/>
                <a:gd name="connsiteY34" fmla="*/ 259377 h 579060"/>
                <a:gd name="connsiteX35" fmla="*/ 362494 w 587192"/>
                <a:gd name="connsiteY35" fmla="*/ 579060 h 579060"/>
                <a:gd name="connsiteX36" fmla="*/ 143318 w 587192"/>
                <a:gd name="connsiteY36" fmla="*/ 579060 h 579060"/>
                <a:gd name="connsiteX37" fmla="*/ 143318 w 587192"/>
                <a:gd name="connsiteY37" fmla="*/ 259377 h 579060"/>
                <a:gd name="connsiteX38" fmla="*/ 170993 w 587192"/>
                <a:gd name="connsiteY38" fmla="*/ 231737 h 579060"/>
                <a:gd name="connsiteX39" fmla="*/ 385391 w 587192"/>
                <a:gd name="connsiteY39" fmla="*/ 159196 h 579060"/>
                <a:gd name="connsiteX40" fmla="*/ 439244 w 587192"/>
                <a:gd name="connsiteY40" fmla="*/ 159196 h 579060"/>
                <a:gd name="connsiteX41" fmla="*/ 460518 w 587192"/>
                <a:gd name="connsiteY41" fmla="*/ 180435 h 579060"/>
                <a:gd name="connsiteX42" fmla="*/ 460518 w 587192"/>
                <a:gd name="connsiteY42" fmla="*/ 206918 h 579060"/>
                <a:gd name="connsiteX43" fmla="*/ 505469 w 587192"/>
                <a:gd name="connsiteY43" fmla="*/ 232778 h 579060"/>
                <a:gd name="connsiteX44" fmla="*/ 528345 w 587192"/>
                <a:gd name="connsiteY44" fmla="*/ 219626 h 579060"/>
                <a:gd name="connsiteX45" fmla="*/ 557363 w 587192"/>
                <a:gd name="connsiteY45" fmla="*/ 227357 h 579060"/>
                <a:gd name="connsiteX46" fmla="*/ 584334 w 587192"/>
                <a:gd name="connsiteY46" fmla="*/ 273924 h 579060"/>
                <a:gd name="connsiteX47" fmla="*/ 576590 w 587192"/>
                <a:gd name="connsiteY47" fmla="*/ 302894 h 579060"/>
                <a:gd name="connsiteX48" fmla="*/ 553625 w 587192"/>
                <a:gd name="connsiteY48" fmla="*/ 316136 h 579060"/>
                <a:gd name="connsiteX49" fmla="*/ 556028 w 587192"/>
                <a:gd name="connsiteY49" fmla="*/ 341996 h 579060"/>
                <a:gd name="connsiteX50" fmla="*/ 553625 w 587192"/>
                <a:gd name="connsiteY50" fmla="*/ 367945 h 579060"/>
                <a:gd name="connsiteX51" fmla="*/ 576590 w 587192"/>
                <a:gd name="connsiteY51" fmla="*/ 381187 h 579060"/>
                <a:gd name="connsiteX52" fmla="*/ 584334 w 587192"/>
                <a:gd name="connsiteY52" fmla="*/ 410157 h 579060"/>
                <a:gd name="connsiteX53" fmla="*/ 557363 w 587192"/>
                <a:gd name="connsiteY53" fmla="*/ 456724 h 579060"/>
                <a:gd name="connsiteX54" fmla="*/ 544546 w 587192"/>
                <a:gd name="connsiteY54" fmla="*/ 466588 h 579060"/>
                <a:gd name="connsiteX55" fmla="*/ 528345 w 587192"/>
                <a:gd name="connsiteY55" fmla="*/ 464455 h 579060"/>
                <a:gd name="connsiteX56" fmla="*/ 505469 w 587192"/>
                <a:gd name="connsiteY56" fmla="*/ 451214 h 579060"/>
                <a:gd name="connsiteX57" fmla="*/ 460518 w 587192"/>
                <a:gd name="connsiteY57" fmla="*/ 477074 h 579060"/>
                <a:gd name="connsiteX58" fmla="*/ 460518 w 587192"/>
                <a:gd name="connsiteY58" fmla="*/ 503557 h 579060"/>
                <a:gd name="connsiteX59" fmla="*/ 439244 w 587192"/>
                <a:gd name="connsiteY59" fmla="*/ 524796 h 579060"/>
                <a:gd name="connsiteX60" fmla="*/ 401680 w 587192"/>
                <a:gd name="connsiteY60" fmla="*/ 524796 h 579060"/>
                <a:gd name="connsiteX61" fmla="*/ 401680 w 587192"/>
                <a:gd name="connsiteY61" fmla="*/ 476363 h 579060"/>
                <a:gd name="connsiteX62" fmla="*/ 401680 w 587192"/>
                <a:gd name="connsiteY62" fmla="*/ 434151 h 579060"/>
                <a:gd name="connsiteX63" fmla="*/ 412273 w 587192"/>
                <a:gd name="connsiteY63" fmla="*/ 434951 h 579060"/>
                <a:gd name="connsiteX64" fmla="*/ 505380 w 587192"/>
                <a:gd name="connsiteY64" fmla="*/ 341996 h 579060"/>
                <a:gd name="connsiteX65" fmla="*/ 412273 w 587192"/>
                <a:gd name="connsiteY65" fmla="*/ 249130 h 579060"/>
                <a:gd name="connsiteX66" fmla="*/ 400701 w 587192"/>
                <a:gd name="connsiteY66" fmla="*/ 249930 h 579060"/>
                <a:gd name="connsiteX67" fmla="*/ 364117 w 587192"/>
                <a:gd name="connsiteY67" fmla="*/ 199719 h 579060"/>
                <a:gd name="connsiteX68" fmla="*/ 364117 w 587192"/>
                <a:gd name="connsiteY68" fmla="*/ 180435 h 579060"/>
                <a:gd name="connsiteX69" fmla="*/ 385391 w 587192"/>
                <a:gd name="connsiteY69" fmla="*/ 159196 h 579060"/>
                <a:gd name="connsiteX70" fmla="*/ 189325 w 587192"/>
                <a:gd name="connsiteY70" fmla="*/ 75016 h 579060"/>
                <a:gd name="connsiteX71" fmla="*/ 178288 w 587192"/>
                <a:gd name="connsiteY71" fmla="*/ 86037 h 579060"/>
                <a:gd name="connsiteX72" fmla="*/ 178288 w 587192"/>
                <a:gd name="connsiteY72" fmla="*/ 129677 h 579060"/>
                <a:gd name="connsiteX73" fmla="*/ 189325 w 587192"/>
                <a:gd name="connsiteY73" fmla="*/ 140699 h 579060"/>
                <a:gd name="connsiteX74" fmla="*/ 233029 w 587192"/>
                <a:gd name="connsiteY74" fmla="*/ 140699 h 579060"/>
                <a:gd name="connsiteX75" fmla="*/ 244067 w 587192"/>
                <a:gd name="connsiteY75" fmla="*/ 129677 h 579060"/>
                <a:gd name="connsiteX76" fmla="*/ 244067 w 587192"/>
                <a:gd name="connsiteY76" fmla="*/ 86037 h 579060"/>
                <a:gd name="connsiteX77" fmla="*/ 233029 w 587192"/>
                <a:gd name="connsiteY77" fmla="*/ 75016 h 579060"/>
                <a:gd name="connsiteX78" fmla="*/ 55988 w 587192"/>
                <a:gd name="connsiteY78" fmla="*/ 75016 h 579060"/>
                <a:gd name="connsiteX79" fmla="*/ 44950 w 587192"/>
                <a:gd name="connsiteY79" fmla="*/ 86037 h 579060"/>
                <a:gd name="connsiteX80" fmla="*/ 44950 w 587192"/>
                <a:gd name="connsiteY80" fmla="*/ 129677 h 579060"/>
                <a:gd name="connsiteX81" fmla="*/ 55988 w 587192"/>
                <a:gd name="connsiteY81" fmla="*/ 140699 h 579060"/>
                <a:gd name="connsiteX82" fmla="*/ 99692 w 587192"/>
                <a:gd name="connsiteY82" fmla="*/ 140699 h 579060"/>
                <a:gd name="connsiteX83" fmla="*/ 110729 w 587192"/>
                <a:gd name="connsiteY83" fmla="*/ 129677 h 579060"/>
                <a:gd name="connsiteX84" fmla="*/ 110729 w 587192"/>
                <a:gd name="connsiteY84" fmla="*/ 86037 h 579060"/>
                <a:gd name="connsiteX85" fmla="*/ 99692 w 587192"/>
                <a:gd name="connsiteY85" fmla="*/ 75016 h 579060"/>
                <a:gd name="connsiteX86" fmla="*/ 27682 w 587192"/>
                <a:gd name="connsiteY86" fmla="*/ 0 h 579060"/>
                <a:gd name="connsiteX87" fmla="*/ 261424 w 587192"/>
                <a:gd name="connsiteY87" fmla="*/ 0 h 579060"/>
                <a:gd name="connsiteX88" fmla="*/ 289106 w 587192"/>
                <a:gd name="connsiteY88" fmla="*/ 27642 h 579060"/>
                <a:gd name="connsiteX89" fmla="*/ 289106 w 587192"/>
                <a:gd name="connsiteY89" fmla="*/ 192605 h 579060"/>
                <a:gd name="connsiteX90" fmla="*/ 170989 w 587192"/>
                <a:gd name="connsiteY90" fmla="*/ 192605 h 579060"/>
                <a:gd name="connsiteX91" fmla="*/ 110729 w 587192"/>
                <a:gd name="connsiteY91" fmla="*/ 230913 h 579060"/>
                <a:gd name="connsiteX92" fmla="*/ 110729 w 587192"/>
                <a:gd name="connsiteY92" fmla="*/ 222825 h 579060"/>
                <a:gd name="connsiteX93" fmla="*/ 99692 w 587192"/>
                <a:gd name="connsiteY93" fmla="*/ 211803 h 579060"/>
                <a:gd name="connsiteX94" fmla="*/ 55988 w 587192"/>
                <a:gd name="connsiteY94" fmla="*/ 211803 h 579060"/>
                <a:gd name="connsiteX95" fmla="*/ 44950 w 587192"/>
                <a:gd name="connsiteY95" fmla="*/ 222825 h 579060"/>
                <a:gd name="connsiteX96" fmla="*/ 44950 w 587192"/>
                <a:gd name="connsiteY96" fmla="*/ 266554 h 579060"/>
                <a:gd name="connsiteX97" fmla="*/ 55988 w 587192"/>
                <a:gd name="connsiteY97" fmla="*/ 277487 h 579060"/>
                <a:gd name="connsiteX98" fmla="*/ 99692 w 587192"/>
                <a:gd name="connsiteY98" fmla="*/ 277487 h 579060"/>
                <a:gd name="connsiteX99" fmla="*/ 104142 w 587192"/>
                <a:gd name="connsiteY99" fmla="*/ 276598 h 579060"/>
                <a:gd name="connsiteX100" fmla="*/ 104142 w 587192"/>
                <a:gd name="connsiteY100" fmla="*/ 349569 h 579060"/>
                <a:gd name="connsiteX101" fmla="*/ 99692 w 587192"/>
                <a:gd name="connsiteY101" fmla="*/ 348680 h 579060"/>
                <a:gd name="connsiteX102" fmla="*/ 55988 w 587192"/>
                <a:gd name="connsiteY102" fmla="*/ 348680 h 579060"/>
                <a:gd name="connsiteX103" fmla="*/ 44950 w 587192"/>
                <a:gd name="connsiteY103" fmla="*/ 359613 h 579060"/>
                <a:gd name="connsiteX104" fmla="*/ 44950 w 587192"/>
                <a:gd name="connsiteY104" fmla="*/ 403342 h 579060"/>
                <a:gd name="connsiteX105" fmla="*/ 55988 w 587192"/>
                <a:gd name="connsiteY105" fmla="*/ 414364 h 579060"/>
                <a:gd name="connsiteX106" fmla="*/ 99692 w 587192"/>
                <a:gd name="connsiteY106" fmla="*/ 414364 h 579060"/>
                <a:gd name="connsiteX107" fmla="*/ 104142 w 587192"/>
                <a:gd name="connsiteY107" fmla="*/ 413386 h 579060"/>
                <a:gd name="connsiteX108" fmla="*/ 104142 w 587192"/>
                <a:gd name="connsiteY108" fmla="*/ 579060 h 579060"/>
                <a:gd name="connsiteX109" fmla="*/ 27682 w 587192"/>
                <a:gd name="connsiteY109" fmla="*/ 579060 h 579060"/>
                <a:gd name="connsiteX110" fmla="*/ 0 w 587192"/>
                <a:gd name="connsiteY110" fmla="*/ 551329 h 579060"/>
                <a:gd name="connsiteX111" fmla="*/ 0 w 587192"/>
                <a:gd name="connsiteY111" fmla="*/ 27642 h 579060"/>
                <a:gd name="connsiteX112" fmla="*/ 27682 w 587192"/>
                <a:gd name="connsiteY112" fmla="*/ 0 h 57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587192" h="579060">
                  <a:moveTo>
                    <a:pt x="210237" y="487697"/>
                  </a:moveTo>
                  <a:cubicBezTo>
                    <a:pt x="204096" y="487697"/>
                    <a:pt x="199202" y="492585"/>
                    <a:pt x="199202" y="498628"/>
                  </a:cubicBezTo>
                  <a:lnTo>
                    <a:pt x="199202" y="521647"/>
                  </a:lnTo>
                  <a:cubicBezTo>
                    <a:pt x="199202" y="527690"/>
                    <a:pt x="204096" y="532667"/>
                    <a:pt x="210237" y="532667"/>
                  </a:cubicBezTo>
                  <a:lnTo>
                    <a:pt x="295575" y="532667"/>
                  </a:lnTo>
                  <a:cubicBezTo>
                    <a:pt x="301627" y="532667"/>
                    <a:pt x="306521" y="527690"/>
                    <a:pt x="306521" y="521647"/>
                  </a:cubicBezTo>
                  <a:lnTo>
                    <a:pt x="306521" y="498628"/>
                  </a:lnTo>
                  <a:cubicBezTo>
                    <a:pt x="306521" y="492585"/>
                    <a:pt x="301627" y="487697"/>
                    <a:pt x="295575" y="487697"/>
                  </a:cubicBezTo>
                  <a:close/>
                  <a:moveTo>
                    <a:pt x="210237" y="390112"/>
                  </a:moveTo>
                  <a:cubicBezTo>
                    <a:pt x="204096" y="390112"/>
                    <a:pt x="199202" y="395000"/>
                    <a:pt x="199202" y="401133"/>
                  </a:cubicBezTo>
                  <a:lnTo>
                    <a:pt x="199202" y="424062"/>
                  </a:lnTo>
                  <a:cubicBezTo>
                    <a:pt x="199202" y="430106"/>
                    <a:pt x="204096" y="435083"/>
                    <a:pt x="210237" y="435083"/>
                  </a:cubicBezTo>
                  <a:lnTo>
                    <a:pt x="295575" y="435083"/>
                  </a:lnTo>
                  <a:cubicBezTo>
                    <a:pt x="301627" y="435083"/>
                    <a:pt x="306521" y="430106"/>
                    <a:pt x="306521" y="424062"/>
                  </a:cubicBezTo>
                  <a:lnTo>
                    <a:pt x="306521" y="401133"/>
                  </a:lnTo>
                  <a:cubicBezTo>
                    <a:pt x="306521" y="395000"/>
                    <a:pt x="301627" y="390112"/>
                    <a:pt x="295575" y="390112"/>
                  </a:cubicBezTo>
                  <a:close/>
                  <a:moveTo>
                    <a:pt x="210237" y="292527"/>
                  </a:moveTo>
                  <a:cubicBezTo>
                    <a:pt x="204096" y="292527"/>
                    <a:pt x="199202" y="297416"/>
                    <a:pt x="199202" y="303459"/>
                  </a:cubicBezTo>
                  <a:lnTo>
                    <a:pt x="199202" y="326478"/>
                  </a:lnTo>
                  <a:cubicBezTo>
                    <a:pt x="199202" y="332521"/>
                    <a:pt x="204096" y="337498"/>
                    <a:pt x="210237" y="337498"/>
                  </a:cubicBezTo>
                  <a:lnTo>
                    <a:pt x="295575" y="337498"/>
                  </a:lnTo>
                  <a:cubicBezTo>
                    <a:pt x="301627" y="337498"/>
                    <a:pt x="306521" y="332521"/>
                    <a:pt x="306521" y="326478"/>
                  </a:cubicBezTo>
                  <a:lnTo>
                    <a:pt x="306521" y="303459"/>
                  </a:lnTo>
                  <a:cubicBezTo>
                    <a:pt x="306521" y="297416"/>
                    <a:pt x="301627" y="292527"/>
                    <a:pt x="295575" y="292527"/>
                  </a:cubicBezTo>
                  <a:close/>
                  <a:moveTo>
                    <a:pt x="412250" y="268713"/>
                  </a:moveTo>
                  <a:cubicBezTo>
                    <a:pt x="452838" y="268713"/>
                    <a:pt x="485772" y="301591"/>
                    <a:pt x="485772" y="342022"/>
                  </a:cubicBezTo>
                  <a:cubicBezTo>
                    <a:pt x="485772" y="382541"/>
                    <a:pt x="452838" y="415419"/>
                    <a:pt x="412250" y="415419"/>
                  </a:cubicBezTo>
                  <a:cubicBezTo>
                    <a:pt x="408690" y="415419"/>
                    <a:pt x="405129" y="414886"/>
                    <a:pt x="401658" y="414353"/>
                  </a:cubicBezTo>
                  <a:lnTo>
                    <a:pt x="401658" y="395692"/>
                  </a:lnTo>
                  <a:lnTo>
                    <a:pt x="401658" y="288440"/>
                  </a:lnTo>
                  <a:lnTo>
                    <a:pt x="401658" y="269691"/>
                  </a:lnTo>
                  <a:cubicBezTo>
                    <a:pt x="405129" y="269157"/>
                    <a:pt x="408690" y="268713"/>
                    <a:pt x="412250" y="268713"/>
                  </a:cubicBezTo>
                  <a:close/>
                  <a:moveTo>
                    <a:pt x="170993" y="231737"/>
                  </a:moveTo>
                  <a:lnTo>
                    <a:pt x="334819" y="231737"/>
                  </a:lnTo>
                  <a:cubicBezTo>
                    <a:pt x="350125" y="231737"/>
                    <a:pt x="362494" y="244091"/>
                    <a:pt x="362494" y="259377"/>
                  </a:cubicBezTo>
                  <a:lnTo>
                    <a:pt x="362494" y="579060"/>
                  </a:lnTo>
                  <a:lnTo>
                    <a:pt x="143318" y="579060"/>
                  </a:lnTo>
                  <a:lnTo>
                    <a:pt x="143318" y="259377"/>
                  </a:lnTo>
                  <a:cubicBezTo>
                    <a:pt x="143318" y="244091"/>
                    <a:pt x="155687" y="231737"/>
                    <a:pt x="170993" y="231737"/>
                  </a:cubicBezTo>
                  <a:close/>
                  <a:moveTo>
                    <a:pt x="385391" y="159196"/>
                  </a:moveTo>
                  <a:lnTo>
                    <a:pt x="439244" y="159196"/>
                  </a:lnTo>
                  <a:cubicBezTo>
                    <a:pt x="450993" y="159196"/>
                    <a:pt x="460518" y="168705"/>
                    <a:pt x="460518" y="180435"/>
                  </a:cubicBezTo>
                  <a:lnTo>
                    <a:pt x="460518" y="206918"/>
                  </a:lnTo>
                  <a:cubicBezTo>
                    <a:pt x="477074" y="212872"/>
                    <a:pt x="492295" y="221581"/>
                    <a:pt x="505469" y="232778"/>
                  </a:cubicBezTo>
                  <a:lnTo>
                    <a:pt x="528345" y="219626"/>
                  </a:lnTo>
                  <a:cubicBezTo>
                    <a:pt x="538582" y="213760"/>
                    <a:pt x="551578" y="217226"/>
                    <a:pt x="557363" y="227357"/>
                  </a:cubicBezTo>
                  <a:lnTo>
                    <a:pt x="584334" y="273924"/>
                  </a:lnTo>
                  <a:cubicBezTo>
                    <a:pt x="590209" y="284055"/>
                    <a:pt x="586738" y="297029"/>
                    <a:pt x="576590" y="302894"/>
                  </a:cubicBezTo>
                  <a:lnTo>
                    <a:pt x="553625" y="316136"/>
                  </a:lnTo>
                  <a:cubicBezTo>
                    <a:pt x="555138" y="324578"/>
                    <a:pt x="556028" y="333198"/>
                    <a:pt x="556028" y="341996"/>
                  </a:cubicBezTo>
                  <a:cubicBezTo>
                    <a:pt x="556028" y="350883"/>
                    <a:pt x="555138" y="359503"/>
                    <a:pt x="553625" y="367945"/>
                  </a:cubicBezTo>
                  <a:lnTo>
                    <a:pt x="576590" y="381187"/>
                  </a:lnTo>
                  <a:cubicBezTo>
                    <a:pt x="586738" y="387052"/>
                    <a:pt x="590209" y="400026"/>
                    <a:pt x="584334" y="410157"/>
                  </a:cubicBezTo>
                  <a:lnTo>
                    <a:pt x="557363" y="456724"/>
                  </a:lnTo>
                  <a:cubicBezTo>
                    <a:pt x="554604" y="461611"/>
                    <a:pt x="549975" y="465166"/>
                    <a:pt x="544546" y="466588"/>
                  </a:cubicBezTo>
                  <a:cubicBezTo>
                    <a:pt x="539027" y="468010"/>
                    <a:pt x="533241" y="467299"/>
                    <a:pt x="528345" y="464455"/>
                  </a:cubicBezTo>
                  <a:lnTo>
                    <a:pt x="505469" y="451214"/>
                  </a:lnTo>
                  <a:cubicBezTo>
                    <a:pt x="492295" y="462411"/>
                    <a:pt x="477074" y="471209"/>
                    <a:pt x="460518" y="477074"/>
                  </a:cubicBezTo>
                  <a:lnTo>
                    <a:pt x="460518" y="503557"/>
                  </a:lnTo>
                  <a:cubicBezTo>
                    <a:pt x="460518" y="515287"/>
                    <a:pt x="450993" y="524796"/>
                    <a:pt x="439244" y="524796"/>
                  </a:cubicBezTo>
                  <a:lnTo>
                    <a:pt x="401680" y="524796"/>
                  </a:lnTo>
                  <a:lnTo>
                    <a:pt x="401680" y="476363"/>
                  </a:lnTo>
                  <a:lnTo>
                    <a:pt x="401680" y="434151"/>
                  </a:lnTo>
                  <a:cubicBezTo>
                    <a:pt x="405152" y="434596"/>
                    <a:pt x="408712" y="434951"/>
                    <a:pt x="412273" y="434951"/>
                  </a:cubicBezTo>
                  <a:cubicBezTo>
                    <a:pt x="463633" y="434951"/>
                    <a:pt x="505380" y="393272"/>
                    <a:pt x="505380" y="341996"/>
                  </a:cubicBezTo>
                  <a:cubicBezTo>
                    <a:pt x="505380" y="290809"/>
                    <a:pt x="463633" y="249130"/>
                    <a:pt x="412273" y="249130"/>
                  </a:cubicBezTo>
                  <a:cubicBezTo>
                    <a:pt x="408356" y="249130"/>
                    <a:pt x="404529" y="249485"/>
                    <a:pt x="400701" y="249930"/>
                  </a:cubicBezTo>
                  <a:cubicBezTo>
                    <a:pt x="397497" y="227801"/>
                    <a:pt x="383522" y="209228"/>
                    <a:pt x="364117" y="199719"/>
                  </a:cubicBezTo>
                  <a:lnTo>
                    <a:pt x="364117" y="180435"/>
                  </a:lnTo>
                  <a:cubicBezTo>
                    <a:pt x="364117" y="168705"/>
                    <a:pt x="373641" y="159196"/>
                    <a:pt x="385391" y="159196"/>
                  </a:cubicBezTo>
                  <a:close/>
                  <a:moveTo>
                    <a:pt x="189325" y="75016"/>
                  </a:moveTo>
                  <a:cubicBezTo>
                    <a:pt x="183273" y="75016"/>
                    <a:pt x="178288" y="79904"/>
                    <a:pt x="178288" y="86037"/>
                  </a:cubicBezTo>
                  <a:lnTo>
                    <a:pt x="178288" y="129677"/>
                  </a:lnTo>
                  <a:cubicBezTo>
                    <a:pt x="178288" y="135810"/>
                    <a:pt x="183273" y="140699"/>
                    <a:pt x="189325" y="140699"/>
                  </a:cubicBezTo>
                  <a:lnTo>
                    <a:pt x="233029" y="140699"/>
                  </a:lnTo>
                  <a:cubicBezTo>
                    <a:pt x="239171" y="140699"/>
                    <a:pt x="244067" y="135810"/>
                    <a:pt x="244067" y="129677"/>
                  </a:cubicBezTo>
                  <a:lnTo>
                    <a:pt x="244067" y="86037"/>
                  </a:lnTo>
                  <a:cubicBezTo>
                    <a:pt x="244067" y="79904"/>
                    <a:pt x="239171" y="75016"/>
                    <a:pt x="233029" y="75016"/>
                  </a:cubicBezTo>
                  <a:close/>
                  <a:moveTo>
                    <a:pt x="55988" y="75016"/>
                  </a:moveTo>
                  <a:cubicBezTo>
                    <a:pt x="49846" y="75016"/>
                    <a:pt x="44950" y="79904"/>
                    <a:pt x="44950" y="86037"/>
                  </a:cubicBezTo>
                  <a:lnTo>
                    <a:pt x="44950" y="129677"/>
                  </a:lnTo>
                  <a:cubicBezTo>
                    <a:pt x="44950" y="135810"/>
                    <a:pt x="49846" y="140699"/>
                    <a:pt x="55988" y="140699"/>
                  </a:cubicBezTo>
                  <a:lnTo>
                    <a:pt x="99692" y="140699"/>
                  </a:lnTo>
                  <a:cubicBezTo>
                    <a:pt x="105833" y="140699"/>
                    <a:pt x="110729" y="135810"/>
                    <a:pt x="110729" y="129677"/>
                  </a:cubicBezTo>
                  <a:lnTo>
                    <a:pt x="110729" y="86037"/>
                  </a:lnTo>
                  <a:cubicBezTo>
                    <a:pt x="110729" y="79904"/>
                    <a:pt x="105833" y="75016"/>
                    <a:pt x="99692" y="75016"/>
                  </a:cubicBezTo>
                  <a:close/>
                  <a:moveTo>
                    <a:pt x="27682" y="0"/>
                  </a:moveTo>
                  <a:lnTo>
                    <a:pt x="261424" y="0"/>
                  </a:lnTo>
                  <a:cubicBezTo>
                    <a:pt x="276645" y="0"/>
                    <a:pt x="289106" y="12354"/>
                    <a:pt x="289106" y="27642"/>
                  </a:cubicBezTo>
                  <a:lnTo>
                    <a:pt x="289106" y="192605"/>
                  </a:lnTo>
                  <a:lnTo>
                    <a:pt x="170989" y="192605"/>
                  </a:lnTo>
                  <a:cubicBezTo>
                    <a:pt x="144375" y="192605"/>
                    <a:pt x="121499" y="208337"/>
                    <a:pt x="110729" y="230913"/>
                  </a:cubicBezTo>
                  <a:lnTo>
                    <a:pt x="110729" y="222825"/>
                  </a:lnTo>
                  <a:cubicBezTo>
                    <a:pt x="110729" y="216781"/>
                    <a:pt x="105833" y="211803"/>
                    <a:pt x="99692" y="211803"/>
                  </a:cubicBezTo>
                  <a:lnTo>
                    <a:pt x="55988" y="211803"/>
                  </a:lnTo>
                  <a:cubicBezTo>
                    <a:pt x="49846" y="211803"/>
                    <a:pt x="44950" y="216781"/>
                    <a:pt x="44950" y="222825"/>
                  </a:cubicBezTo>
                  <a:lnTo>
                    <a:pt x="44950" y="266554"/>
                  </a:lnTo>
                  <a:cubicBezTo>
                    <a:pt x="44950" y="272598"/>
                    <a:pt x="49846" y="277487"/>
                    <a:pt x="55988" y="277487"/>
                  </a:cubicBezTo>
                  <a:lnTo>
                    <a:pt x="99692" y="277487"/>
                  </a:lnTo>
                  <a:cubicBezTo>
                    <a:pt x="101294" y="277487"/>
                    <a:pt x="102807" y="277131"/>
                    <a:pt x="104142" y="276598"/>
                  </a:cubicBezTo>
                  <a:lnTo>
                    <a:pt x="104142" y="349569"/>
                  </a:lnTo>
                  <a:cubicBezTo>
                    <a:pt x="102807" y="349036"/>
                    <a:pt x="101294" y="348680"/>
                    <a:pt x="99692" y="348680"/>
                  </a:cubicBezTo>
                  <a:lnTo>
                    <a:pt x="55988" y="348680"/>
                  </a:lnTo>
                  <a:cubicBezTo>
                    <a:pt x="49846" y="348680"/>
                    <a:pt x="44950" y="353569"/>
                    <a:pt x="44950" y="359613"/>
                  </a:cubicBezTo>
                  <a:lnTo>
                    <a:pt x="44950" y="403342"/>
                  </a:lnTo>
                  <a:cubicBezTo>
                    <a:pt x="44950" y="409475"/>
                    <a:pt x="49846" y="414364"/>
                    <a:pt x="55988" y="414364"/>
                  </a:cubicBezTo>
                  <a:lnTo>
                    <a:pt x="99692" y="414364"/>
                  </a:lnTo>
                  <a:cubicBezTo>
                    <a:pt x="101294" y="414364"/>
                    <a:pt x="102807" y="414008"/>
                    <a:pt x="104142" y="413386"/>
                  </a:cubicBezTo>
                  <a:lnTo>
                    <a:pt x="104142" y="579060"/>
                  </a:lnTo>
                  <a:lnTo>
                    <a:pt x="27682" y="579060"/>
                  </a:lnTo>
                  <a:cubicBezTo>
                    <a:pt x="12372" y="579060"/>
                    <a:pt x="0" y="566617"/>
                    <a:pt x="0" y="551329"/>
                  </a:cubicBezTo>
                  <a:lnTo>
                    <a:pt x="0" y="27642"/>
                  </a:lnTo>
                  <a:cubicBezTo>
                    <a:pt x="0" y="12354"/>
                    <a:pt x="12372" y="0"/>
                    <a:pt x="27682" y="0"/>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sp>
          <p:nvSpPr>
            <p:cNvPr id="47" name="îṣľíḓê"/>
            <p:cNvSpPr/>
            <p:nvPr/>
          </p:nvSpPr>
          <p:spPr bwMode="auto">
            <a:xfrm>
              <a:off x="4265331" y="4065360"/>
              <a:ext cx="1549400" cy="490538"/>
            </a:xfrm>
            <a:prstGeom prst="homePlate">
              <a:avLst/>
            </a:prstGeom>
            <a:solidFill>
              <a:srgbClr val="62EFFE"/>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数据质量</a:t>
              </a: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差</a:t>
              </a:r>
              <a:endPar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49" name="iş1îďe"/>
            <p:cNvSpPr/>
            <p:nvPr/>
          </p:nvSpPr>
          <p:spPr bwMode="auto">
            <a:xfrm>
              <a:off x="6992314" y="3854430"/>
              <a:ext cx="658813" cy="658812"/>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51" name="îṣľíḓê"/>
            <p:cNvSpPr/>
            <p:nvPr/>
          </p:nvSpPr>
          <p:spPr bwMode="auto">
            <a:xfrm>
              <a:off x="4265331" y="4929951"/>
              <a:ext cx="1549400" cy="490537"/>
            </a:xfrm>
            <a:prstGeom prst="homePlate">
              <a:avLst/>
            </a:pr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数据变化</a:t>
              </a: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快</a:t>
              </a:r>
              <a:endPar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3" name="iş1îďe"/>
            <p:cNvSpPr/>
            <p:nvPr/>
          </p:nvSpPr>
          <p:spPr bwMode="auto">
            <a:xfrm>
              <a:off x="6992314" y="4706917"/>
              <a:ext cx="658813" cy="658813"/>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54" name="ïŝľidê"/>
            <p:cNvSpPr/>
            <p:nvPr/>
          </p:nvSpPr>
          <p:spPr bwMode="auto">
            <a:xfrm>
              <a:off x="7179316" y="4058989"/>
              <a:ext cx="284810" cy="284808"/>
            </a:xfrm>
            <a:custGeom>
              <a:avLst/>
              <a:gdLst>
                <a:gd name="connsiteX0" fmla="*/ 0 w 607639"/>
                <a:gd name="connsiteY0" fmla="*/ 488737 h 606722"/>
                <a:gd name="connsiteX1" fmla="*/ 50666 w 607639"/>
                <a:gd name="connsiteY1" fmla="*/ 488737 h 606722"/>
                <a:gd name="connsiteX2" fmla="*/ 50666 w 607639"/>
                <a:gd name="connsiteY2" fmla="*/ 556197 h 606722"/>
                <a:gd name="connsiteX3" fmla="*/ 118127 w 607639"/>
                <a:gd name="connsiteY3" fmla="*/ 556197 h 606722"/>
                <a:gd name="connsiteX4" fmla="*/ 118127 w 607639"/>
                <a:gd name="connsiteY4" fmla="*/ 488737 h 606722"/>
                <a:gd name="connsiteX5" fmla="*/ 489442 w 607639"/>
                <a:gd name="connsiteY5" fmla="*/ 488737 h 606722"/>
                <a:gd name="connsiteX6" fmla="*/ 489442 w 607639"/>
                <a:gd name="connsiteY6" fmla="*/ 556197 h 606722"/>
                <a:gd name="connsiteX7" fmla="*/ 556973 w 607639"/>
                <a:gd name="connsiteY7" fmla="*/ 556197 h 606722"/>
                <a:gd name="connsiteX8" fmla="*/ 556973 w 607639"/>
                <a:gd name="connsiteY8" fmla="*/ 488737 h 606722"/>
                <a:gd name="connsiteX9" fmla="*/ 607639 w 607639"/>
                <a:gd name="connsiteY9" fmla="*/ 488737 h 606722"/>
                <a:gd name="connsiteX10" fmla="*/ 607639 w 607639"/>
                <a:gd name="connsiteY10" fmla="*/ 556198 h 606722"/>
                <a:gd name="connsiteX11" fmla="*/ 556973 w 607639"/>
                <a:gd name="connsiteY11" fmla="*/ 556198 h 606722"/>
                <a:gd name="connsiteX12" fmla="*/ 556973 w 607639"/>
                <a:gd name="connsiteY12" fmla="*/ 606722 h 606722"/>
                <a:gd name="connsiteX13" fmla="*/ 489442 w 607639"/>
                <a:gd name="connsiteY13" fmla="*/ 606722 h 606722"/>
                <a:gd name="connsiteX14" fmla="*/ 489442 w 607639"/>
                <a:gd name="connsiteY14" fmla="*/ 556198 h 606722"/>
                <a:gd name="connsiteX15" fmla="*/ 118127 w 607639"/>
                <a:gd name="connsiteY15" fmla="*/ 556198 h 606722"/>
                <a:gd name="connsiteX16" fmla="*/ 118127 w 607639"/>
                <a:gd name="connsiteY16" fmla="*/ 606722 h 606722"/>
                <a:gd name="connsiteX17" fmla="*/ 50666 w 607639"/>
                <a:gd name="connsiteY17" fmla="*/ 606722 h 606722"/>
                <a:gd name="connsiteX18" fmla="*/ 50666 w 607639"/>
                <a:gd name="connsiteY18" fmla="*/ 556198 h 606722"/>
                <a:gd name="connsiteX19" fmla="*/ 0 w 607639"/>
                <a:gd name="connsiteY19" fmla="*/ 556198 h 606722"/>
                <a:gd name="connsiteX20" fmla="*/ 168722 w 607639"/>
                <a:gd name="connsiteY20" fmla="*/ 168510 h 606722"/>
                <a:gd name="connsiteX21" fmla="*/ 438776 w 607639"/>
                <a:gd name="connsiteY21" fmla="*/ 168510 h 606722"/>
                <a:gd name="connsiteX22" fmla="*/ 438776 w 607639"/>
                <a:gd name="connsiteY22" fmla="*/ 438141 h 606722"/>
                <a:gd name="connsiteX23" fmla="*/ 168722 w 607639"/>
                <a:gd name="connsiteY23" fmla="*/ 438141 h 606722"/>
                <a:gd name="connsiteX24" fmla="*/ 489442 w 607639"/>
                <a:gd name="connsiteY24" fmla="*/ 117915 h 606722"/>
                <a:gd name="connsiteX25" fmla="*/ 556973 w 607639"/>
                <a:gd name="connsiteY25" fmla="*/ 117915 h 606722"/>
                <a:gd name="connsiteX26" fmla="*/ 556973 w 607639"/>
                <a:gd name="connsiteY26" fmla="*/ 488737 h 606722"/>
                <a:gd name="connsiteX27" fmla="*/ 489442 w 607639"/>
                <a:gd name="connsiteY27" fmla="*/ 488737 h 606722"/>
                <a:gd name="connsiteX28" fmla="*/ 50666 w 607639"/>
                <a:gd name="connsiteY28" fmla="*/ 117915 h 606722"/>
                <a:gd name="connsiteX29" fmla="*/ 118127 w 607639"/>
                <a:gd name="connsiteY29" fmla="*/ 117915 h 606722"/>
                <a:gd name="connsiteX30" fmla="*/ 118127 w 607639"/>
                <a:gd name="connsiteY30" fmla="*/ 488737 h 606722"/>
                <a:gd name="connsiteX31" fmla="*/ 50666 w 607639"/>
                <a:gd name="connsiteY31" fmla="*/ 488737 h 606722"/>
                <a:gd name="connsiteX32" fmla="*/ 556973 w 607639"/>
                <a:gd name="connsiteY32" fmla="*/ 50595 h 606722"/>
                <a:gd name="connsiteX33" fmla="*/ 607639 w 607639"/>
                <a:gd name="connsiteY33" fmla="*/ 50595 h 606722"/>
                <a:gd name="connsiteX34" fmla="*/ 607639 w 607639"/>
                <a:gd name="connsiteY34" fmla="*/ 117914 h 606722"/>
                <a:gd name="connsiteX35" fmla="*/ 556973 w 607639"/>
                <a:gd name="connsiteY35" fmla="*/ 117914 h 606722"/>
                <a:gd name="connsiteX36" fmla="*/ 118127 w 607639"/>
                <a:gd name="connsiteY36" fmla="*/ 50595 h 606722"/>
                <a:gd name="connsiteX37" fmla="*/ 489442 w 607639"/>
                <a:gd name="connsiteY37" fmla="*/ 50595 h 606722"/>
                <a:gd name="connsiteX38" fmla="*/ 489442 w 607639"/>
                <a:gd name="connsiteY38" fmla="*/ 117914 h 606722"/>
                <a:gd name="connsiteX39" fmla="*/ 118127 w 607639"/>
                <a:gd name="connsiteY39" fmla="*/ 117914 h 606722"/>
                <a:gd name="connsiteX40" fmla="*/ 0 w 607639"/>
                <a:gd name="connsiteY40" fmla="*/ 50595 h 606722"/>
                <a:gd name="connsiteX41" fmla="*/ 50666 w 607639"/>
                <a:gd name="connsiteY41" fmla="*/ 50595 h 606722"/>
                <a:gd name="connsiteX42" fmla="*/ 50666 w 607639"/>
                <a:gd name="connsiteY42" fmla="*/ 117914 h 606722"/>
                <a:gd name="connsiteX43" fmla="*/ 0 w 607639"/>
                <a:gd name="connsiteY43" fmla="*/ 117914 h 606722"/>
                <a:gd name="connsiteX44" fmla="*/ 489442 w 607639"/>
                <a:gd name="connsiteY44" fmla="*/ 0 h 606722"/>
                <a:gd name="connsiteX45" fmla="*/ 556973 w 607639"/>
                <a:gd name="connsiteY45" fmla="*/ 0 h 606722"/>
                <a:gd name="connsiteX46" fmla="*/ 556973 w 607639"/>
                <a:gd name="connsiteY46" fmla="*/ 50595 h 606722"/>
                <a:gd name="connsiteX47" fmla="*/ 489442 w 607639"/>
                <a:gd name="connsiteY47" fmla="*/ 50595 h 606722"/>
                <a:gd name="connsiteX48" fmla="*/ 50666 w 607639"/>
                <a:gd name="connsiteY48" fmla="*/ 0 h 606722"/>
                <a:gd name="connsiteX49" fmla="*/ 118127 w 607639"/>
                <a:gd name="connsiteY49" fmla="*/ 0 h 606722"/>
                <a:gd name="connsiteX50" fmla="*/ 118127 w 607639"/>
                <a:gd name="connsiteY50" fmla="*/ 50595 h 606722"/>
                <a:gd name="connsiteX51" fmla="*/ 50666 w 607639"/>
                <a:gd name="connsiteY51" fmla="*/ 50595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39" h="606722">
                  <a:moveTo>
                    <a:pt x="0" y="488737"/>
                  </a:moveTo>
                  <a:lnTo>
                    <a:pt x="50666" y="488737"/>
                  </a:lnTo>
                  <a:lnTo>
                    <a:pt x="50666" y="556197"/>
                  </a:lnTo>
                  <a:lnTo>
                    <a:pt x="118127" y="556197"/>
                  </a:lnTo>
                  <a:lnTo>
                    <a:pt x="118127" y="488737"/>
                  </a:lnTo>
                  <a:lnTo>
                    <a:pt x="489442" y="488737"/>
                  </a:lnTo>
                  <a:lnTo>
                    <a:pt x="489442" y="556197"/>
                  </a:lnTo>
                  <a:lnTo>
                    <a:pt x="556973" y="556197"/>
                  </a:lnTo>
                  <a:lnTo>
                    <a:pt x="556973" y="488737"/>
                  </a:lnTo>
                  <a:lnTo>
                    <a:pt x="607639" y="488737"/>
                  </a:lnTo>
                  <a:lnTo>
                    <a:pt x="607639" y="556198"/>
                  </a:lnTo>
                  <a:lnTo>
                    <a:pt x="556973" y="556198"/>
                  </a:lnTo>
                  <a:lnTo>
                    <a:pt x="556973" y="606722"/>
                  </a:lnTo>
                  <a:lnTo>
                    <a:pt x="489442" y="606722"/>
                  </a:lnTo>
                  <a:lnTo>
                    <a:pt x="489442" y="556198"/>
                  </a:lnTo>
                  <a:lnTo>
                    <a:pt x="118127" y="556198"/>
                  </a:lnTo>
                  <a:lnTo>
                    <a:pt x="118127" y="606722"/>
                  </a:lnTo>
                  <a:lnTo>
                    <a:pt x="50666" y="606722"/>
                  </a:lnTo>
                  <a:lnTo>
                    <a:pt x="50666" y="556198"/>
                  </a:lnTo>
                  <a:lnTo>
                    <a:pt x="0" y="556198"/>
                  </a:lnTo>
                  <a:close/>
                  <a:moveTo>
                    <a:pt x="168722" y="168510"/>
                  </a:moveTo>
                  <a:lnTo>
                    <a:pt x="438776" y="168510"/>
                  </a:lnTo>
                  <a:lnTo>
                    <a:pt x="438776" y="438141"/>
                  </a:lnTo>
                  <a:lnTo>
                    <a:pt x="168722" y="438141"/>
                  </a:lnTo>
                  <a:close/>
                  <a:moveTo>
                    <a:pt x="489442" y="117915"/>
                  </a:moveTo>
                  <a:lnTo>
                    <a:pt x="556973" y="117915"/>
                  </a:lnTo>
                  <a:lnTo>
                    <a:pt x="556973" y="488737"/>
                  </a:lnTo>
                  <a:lnTo>
                    <a:pt x="489442" y="488737"/>
                  </a:lnTo>
                  <a:close/>
                  <a:moveTo>
                    <a:pt x="50666" y="117915"/>
                  </a:moveTo>
                  <a:lnTo>
                    <a:pt x="118127" y="117915"/>
                  </a:lnTo>
                  <a:lnTo>
                    <a:pt x="118127" y="488737"/>
                  </a:lnTo>
                  <a:lnTo>
                    <a:pt x="50666" y="488737"/>
                  </a:lnTo>
                  <a:close/>
                  <a:moveTo>
                    <a:pt x="556973" y="50595"/>
                  </a:moveTo>
                  <a:lnTo>
                    <a:pt x="607639" y="50595"/>
                  </a:lnTo>
                  <a:lnTo>
                    <a:pt x="607639" y="117914"/>
                  </a:lnTo>
                  <a:lnTo>
                    <a:pt x="556973" y="117914"/>
                  </a:lnTo>
                  <a:close/>
                  <a:moveTo>
                    <a:pt x="118127" y="50595"/>
                  </a:moveTo>
                  <a:lnTo>
                    <a:pt x="489442" y="50595"/>
                  </a:lnTo>
                  <a:lnTo>
                    <a:pt x="489442" y="117914"/>
                  </a:lnTo>
                  <a:lnTo>
                    <a:pt x="118127" y="117914"/>
                  </a:lnTo>
                  <a:close/>
                  <a:moveTo>
                    <a:pt x="0" y="50595"/>
                  </a:moveTo>
                  <a:lnTo>
                    <a:pt x="50666" y="50595"/>
                  </a:lnTo>
                  <a:lnTo>
                    <a:pt x="50666" y="117914"/>
                  </a:lnTo>
                  <a:lnTo>
                    <a:pt x="0" y="117914"/>
                  </a:lnTo>
                  <a:close/>
                  <a:moveTo>
                    <a:pt x="489442" y="0"/>
                  </a:moveTo>
                  <a:lnTo>
                    <a:pt x="556973" y="0"/>
                  </a:lnTo>
                  <a:lnTo>
                    <a:pt x="556973" y="50595"/>
                  </a:lnTo>
                  <a:lnTo>
                    <a:pt x="489442" y="50595"/>
                  </a:lnTo>
                  <a:close/>
                  <a:moveTo>
                    <a:pt x="50666" y="0"/>
                  </a:moveTo>
                  <a:lnTo>
                    <a:pt x="118127" y="0"/>
                  </a:lnTo>
                  <a:lnTo>
                    <a:pt x="118127" y="50595"/>
                  </a:lnTo>
                  <a:lnTo>
                    <a:pt x="50666" y="50595"/>
                  </a:ln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grpSp>
      <p:grpSp>
        <p:nvGrpSpPr>
          <p:cNvPr id="15" name="组合 14"/>
          <p:cNvGrpSpPr/>
          <p:nvPr/>
        </p:nvGrpSpPr>
        <p:grpSpPr>
          <a:xfrm>
            <a:off x="7642793" y="1563161"/>
            <a:ext cx="3193936" cy="4106100"/>
            <a:chOff x="6677593" y="1613961"/>
            <a:chExt cx="3193936" cy="4106100"/>
          </a:xfrm>
        </p:grpSpPr>
        <p:sp>
          <p:nvSpPr>
            <p:cNvPr id="55" name="矩形 3"/>
            <p:cNvSpPr>
              <a:spLocks noChangeArrowheads="1"/>
            </p:cNvSpPr>
            <p:nvPr/>
          </p:nvSpPr>
          <p:spPr bwMode="auto">
            <a:xfrm>
              <a:off x="6677593" y="1613961"/>
              <a:ext cx="2232025"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需求</a:t>
              </a: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分析</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56" name="文本框 55"/>
            <p:cNvSpPr txBox="1"/>
            <p:nvPr/>
          </p:nvSpPr>
          <p:spPr>
            <a:xfrm>
              <a:off x="6904470" y="2026901"/>
              <a:ext cx="2967059" cy="3693160"/>
            </a:xfrm>
            <a:prstGeom prst="rect">
              <a:avLst/>
            </a:prstGeom>
            <a:noFill/>
          </p:spPr>
          <p:txBody>
            <a:bodyPr wrap="square" lIns="0" tIns="0" rIns="0" bIns="0">
              <a:spAutoFit/>
            </a:bodyPr>
            <a:lstStyle/>
            <a:p>
              <a:pPr marL="285750" indent="-285750" algn="l">
                <a:buFont typeface="Wingdings" panose="05000000000000000000" charset="0"/>
                <a:buChar char=""/>
              </a:pP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人工智能成熟方案少，基于机器学习等人工智能方法的VTE风险评估预测方案较少</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患病影响因素多，无法准确归因。患者检查项、检查指标比较多，VTE影响因素众多</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现有的</a:t>
              </a:r>
              <a:r>
                <a:rPr lang="en-US" altLang="zh-CN"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VTE</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数据质量差，存在异常数据、缺失数据等</a:t>
              </a: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endPar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endParaRPr>
            </a:p>
            <a:p>
              <a:pPr marL="285750" indent="-285750" algn="l">
                <a:buFont typeface="Wingdings" panose="05000000000000000000" charset="0"/>
                <a:buChar char=""/>
              </a:pP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患者</a:t>
              </a:r>
              <a:r>
                <a:rPr lang="en-US" altLang="zh-CN"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VTE</a:t>
              </a:r>
              <a:r>
                <a:rPr lang="zh-CN" altLang="en-US" sz="1600">
                  <a:latin typeface="汉仪中宋简" panose="02010600000101010101" charset="-122"/>
                  <a:ea typeface="汉仪中宋简" panose="02010600000101010101" charset="-122"/>
                  <a:cs typeface="汉仪中宋简" panose="02010600000101010101" charset="-122"/>
                  <a:sym typeface="Arial" panose="020B0604020202020204" pitchFamily="34" charset="0"/>
                </a:rPr>
                <a:t>数据时刻变化，需要持续监控，</a:t>
              </a:r>
              <a:r>
                <a:rPr lang="zh-CN" altLang="en-US" sz="1600" b="1">
                  <a:solidFill>
                    <a:schemeClr val="accent1">
                      <a:lumMod val="75000"/>
                    </a:schemeClr>
                  </a:solidFill>
                  <a:latin typeface="汉仪中宋简" panose="02010600000101010101" charset="-122"/>
                  <a:ea typeface="汉仪中宋简" panose="02010600000101010101" charset="-122"/>
                  <a:cs typeface="汉仪中宋简" panose="02010600000101010101" charset="-122"/>
                  <a:sym typeface="Arial" panose="020B0604020202020204" pitchFamily="34" charset="0"/>
                </a:rPr>
                <a:t>检查数据随时间变化存在变动，需要考虑检查指标变动带来的影响</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gr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7" name="ïŝľidê"/>
          <p:cNvSpPr/>
          <p:nvPr/>
        </p:nvSpPr>
        <p:spPr bwMode="auto">
          <a:xfrm>
            <a:off x="6982548" y="4838506"/>
            <a:ext cx="276178" cy="237026"/>
          </a:xfrm>
          <a:custGeom>
            <a:avLst/>
            <a:gdLst>
              <a:gd name="connsiteX0" fmla="*/ 231569 w 609272"/>
              <a:gd name="connsiteY0" fmla="*/ 280751 h 523426"/>
              <a:gd name="connsiteX1" fmla="*/ 251519 w 609272"/>
              <a:gd name="connsiteY1" fmla="*/ 311575 h 523426"/>
              <a:gd name="connsiteX2" fmla="*/ 278714 w 609272"/>
              <a:gd name="connsiteY2" fmla="*/ 349634 h 523426"/>
              <a:gd name="connsiteX3" fmla="*/ 37927 w 609272"/>
              <a:gd name="connsiteY3" fmla="*/ 467972 h 523426"/>
              <a:gd name="connsiteX4" fmla="*/ 37927 w 609272"/>
              <a:gd name="connsiteY4" fmla="*/ 389476 h 523426"/>
              <a:gd name="connsiteX5" fmla="*/ 186806 w 609272"/>
              <a:gd name="connsiteY5" fmla="*/ 339029 h 523426"/>
              <a:gd name="connsiteX6" fmla="*/ 231569 w 609272"/>
              <a:gd name="connsiteY6" fmla="*/ 280751 h 523426"/>
              <a:gd name="connsiteX7" fmla="*/ 54586 w 609272"/>
              <a:gd name="connsiteY7" fmla="*/ 54942 h 523426"/>
              <a:gd name="connsiteX8" fmla="*/ 291446 w 609272"/>
              <a:gd name="connsiteY8" fmla="*/ 191046 h 523426"/>
              <a:gd name="connsiteX9" fmla="*/ 299090 w 609272"/>
              <a:gd name="connsiteY9" fmla="*/ 202050 h 523426"/>
              <a:gd name="connsiteX10" fmla="*/ 337607 w 609272"/>
              <a:gd name="connsiteY10" fmla="*/ 261725 h 523426"/>
              <a:gd name="connsiteX11" fmla="*/ 382874 w 609272"/>
              <a:gd name="connsiteY11" fmla="*/ 319121 h 523426"/>
              <a:gd name="connsiteX12" fmla="*/ 485123 w 609272"/>
              <a:gd name="connsiteY12" fmla="*/ 366604 h 523426"/>
              <a:gd name="connsiteX13" fmla="*/ 477975 w 609272"/>
              <a:gd name="connsiteY13" fmla="*/ 357980 h 523426"/>
              <a:gd name="connsiteX14" fmla="*/ 477975 w 609272"/>
              <a:gd name="connsiteY14" fmla="*/ 302468 h 523426"/>
              <a:gd name="connsiteX15" fmla="*/ 507062 w 609272"/>
              <a:gd name="connsiteY15" fmla="*/ 290969 h 523426"/>
              <a:gd name="connsiteX16" fmla="*/ 533567 w 609272"/>
              <a:gd name="connsiteY16" fmla="*/ 302468 h 523426"/>
              <a:gd name="connsiteX17" fmla="*/ 596505 w 609272"/>
              <a:gd name="connsiteY17" fmla="*/ 378995 h 523426"/>
              <a:gd name="connsiteX18" fmla="*/ 598490 w 609272"/>
              <a:gd name="connsiteY18" fmla="*/ 434507 h 523426"/>
              <a:gd name="connsiteX19" fmla="*/ 527710 w 609272"/>
              <a:gd name="connsiteY19" fmla="*/ 511035 h 523426"/>
              <a:gd name="connsiteX20" fmla="*/ 501602 w 609272"/>
              <a:gd name="connsiteY20" fmla="*/ 523426 h 523426"/>
              <a:gd name="connsiteX21" fmla="*/ 472118 w 609272"/>
              <a:gd name="connsiteY21" fmla="*/ 455523 h 523426"/>
              <a:gd name="connsiteX22" fmla="*/ 481251 w 609272"/>
              <a:gd name="connsiteY22" fmla="*/ 445610 h 523426"/>
              <a:gd name="connsiteX23" fmla="*/ 371160 w 609272"/>
              <a:gd name="connsiteY23" fmla="*/ 410816 h 523426"/>
              <a:gd name="connsiteX24" fmla="*/ 291446 w 609272"/>
              <a:gd name="connsiteY24" fmla="*/ 332405 h 523426"/>
              <a:gd name="connsiteX25" fmla="*/ 268713 w 609272"/>
              <a:gd name="connsiteY25" fmla="*/ 300088 h 523426"/>
              <a:gd name="connsiteX26" fmla="*/ 243895 w 609272"/>
              <a:gd name="connsiteY26" fmla="*/ 261725 h 523426"/>
              <a:gd name="connsiteX27" fmla="*/ 186814 w 609272"/>
              <a:gd name="connsiteY27" fmla="*/ 184405 h 523426"/>
              <a:gd name="connsiteX28" fmla="*/ 54188 w 609272"/>
              <a:gd name="connsiteY28" fmla="*/ 133452 h 523426"/>
              <a:gd name="connsiteX29" fmla="*/ 37908 w 609272"/>
              <a:gd name="connsiteY29" fmla="*/ 133849 h 523426"/>
              <a:gd name="connsiteX30" fmla="*/ 35526 w 609272"/>
              <a:gd name="connsiteY30" fmla="*/ 133948 h 523426"/>
              <a:gd name="connsiteX31" fmla="*/ 37908 w 609272"/>
              <a:gd name="connsiteY31" fmla="*/ 55339 h 523426"/>
              <a:gd name="connsiteX32" fmla="*/ 54586 w 609272"/>
              <a:gd name="connsiteY32" fmla="*/ 54942 h 523426"/>
              <a:gd name="connsiteX33" fmla="*/ 499664 w 609272"/>
              <a:gd name="connsiteY33" fmla="*/ 55 h 523426"/>
              <a:gd name="connsiteX34" fmla="*/ 527712 w 609272"/>
              <a:gd name="connsiteY34" fmla="*/ 12333 h 523426"/>
              <a:gd name="connsiteX35" fmla="*/ 598490 w 609272"/>
              <a:gd name="connsiteY35" fmla="*/ 88858 h 523426"/>
              <a:gd name="connsiteX36" fmla="*/ 596505 w 609272"/>
              <a:gd name="connsiteY36" fmla="*/ 144467 h 523426"/>
              <a:gd name="connsiteX37" fmla="*/ 533568 w 609272"/>
              <a:gd name="connsiteY37" fmla="*/ 220992 h 523426"/>
              <a:gd name="connsiteX38" fmla="*/ 477978 w 609272"/>
              <a:gd name="connsiteY38" fmla="*/ 220992 h 523426"/>
              <a:gd name="connsiteX39" fmla="*/ 477978 w 609272"/>
              <a:gd name="connsiteY39" fmla="*/ 165383 h 523426"/>
              <a:gd name="connsiteX40" fmla="*/ 485125 w 609272"/>
              <a:gd name="connsiteY40" fmla="*/ 156759 h 523426"/>
              <a:gd name="connsiteX41" fmla="*/ 382878 w 609272"/>
              <a:gd name="connsiteY41" fmla="*/ 204240 h 523426"/>
              <a:gd name="connsiteX42" fmla="*/ 350318 w 609272"/>
              <a:gd name="connsiteY42" fmla="*/ 243493 h 523426"/>
              <a:gd name="connsiteX43" fmla="*/ 334037 w 609272"/>
              <a:gd name="connsiteY43" fmla="*/ 218315 h 523426"/>
              <a:gd name="connsiteX44" fmla="*/ 316268 w 609272"/>
              <a:gd name="connsiteY44" fmla="*/ 190759 h 523426"/>
              <a:gd name="connsiteX45" fmla="*/ 304753 w 609272"/>
              <a:gd name="connsiteY45" fmla="*/ 174106 h 523426"/>
              <a:gd name="connsiteX46" fmla="*/ 371164 w 609272"/>
              <a:gd name="connsiteY46" fmla="*/ 112648 h 523426"/>
              <a:gd name="connsiteX47" fmla="*/ 481254 w 609272"/>
              <a:gd name="connsiteY47" fmla="*/ 77756 h 523426"/>
              <a:gd name="connsiteX48" fmla="*/ 472121 w 609272"/>
              <a:gd name="connsiteY48" fmla="*/ 67843 h 523426"/>
              <a:gd name="connsiteX49" fmla="*/ 499664 w 609272"/>
              <a:gd name="connsiteY49" fmla="*/ 55 h 523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09272" h="523426">
                <a:moveTo>
                  <a:pt x="231569" y="280751"/>
                </a:moveTo>
                <a:cubicBezTo>
                  <a:pt x="238020" y="290960"/>
                  <a:pt x="244670" y="301366"/>
                  <a:pt x="251519" y="311575"/>
                </a:cubicBezTo>
                <a:cubicBezTo>
                  <a:pt x="259757" y="323964"/>
                  <a:pt x="268888" y="336848"/>
                  <a:pt x="278714" y="349634"/>
                </a:cubicBezTo>
                <a:cubicBezTo>
                  <a:pt x="219063" y="427535"/>
                  <a:pt x="144028" y="473324"/>
                  <a:pt x="37927" y="467972"/>
                </a:cubicBezTo>
                <a:cubicBezTo>
                  <a:pt x="-12493" y="465395"/>
                  <a:pt x="-12791" y="386899"/>
                  <a:pt x="37927" y="389476"/>
                </a:cubicBezTo>
                <a:cubicBezTo>
                  <a:pt x="94402" y="392350"/>
                  <a:pt x="146708" y="381151"/>
                  <a:pt x="186806" y="339029"/>
                </a:cubicBezTo>
                <a:cubicBezTo>
                  <a:pt x="203878" y="321089"/>
                  <a:pt x="218170" y="301267"/>
                  <a:pt x="231569" y="280751"/>
                </a:cubicBezTo>
                <a:close/>
                <a:moveTo>
                  <a:pt x="54586" y="54942"/>
                </a:moveTo>
                <a:cubicBezTo>
                  <a:pt x="159416" y="54942"/>
                  <a:pt x="232777" y="106985"/>
                  <a:pt x="291446" y="191046"/>
                </a:cubicBezTo>
                <a:cubicBezTo>
                  <a:pt x="294027" y="194714"/>
                  <a:pt x="296508" y="198283"/>
                  <a:pt x="299090" y="202050"/>
                </a:cubicBezTo>
                <a:cubicBezTo>
                  <a:pt x="312094" y="221876"/>
                  <a:pt x="324503" y="242098"/>
                  <a:pt x="337607" y="261725"/>
                </a:cubicBezTo>
                <a:cubicBezTo>
                  <a:pt x="351207" y="281948"/>
                  <a:pt x="365700" y="301476"/>
                  <a:pt x="382874" y="319121"/>
                </a:cubicBezTo>
                <a:cubicBezTo>
                  <a:pt x="413052" y="350248"/>
                  <a:pt x="447400" y="363035"/>
                  <a:pt x="485123" y="366604"/>
                </a:cubicBezTo>
                <a:cubicBezTo>
                  <a:pt x="482740" y="363729"/>
                  <a:pt x="480457" y="360855"/>
                  <a:pt x="477975" y="357980"/>
                </a:cubicBezTo>
                <a:cubicBezTo>
                  <a:pt x="464177" y="341624"/>
                  <a:pt x="461894" y="318526"/>
                  <a:pt x="477975" y="302468"/>
                </a:cubicBezTo>
                <a:cubicBezTo>
                  <a:pt x="485321" y="295132"/>
                  <a:pt x="496341" y="290969"/>
                  <a:pt x="507062" y="290969"/>
                </a:cubicBezTo>
                <a:cubicBezTo>
                  <a:pt x="517088" y="290969"/>
                  <a:pt x="526916" y="294537"/>
                  <a:pt x="533567" y="302468"/>
                </a:cubicBezTo>
                <a:cubicBezTo>
                  <a:pt x="554910" y="327646"/>
                  <a:pt x="575162" y="353717"/>
                  <a:pt x="596505" y="378995"/>
                </a:cubicBezTo>
                <a:cubicBezTo>
                  <a:pt x="610303" y="392873"/>
                  <a:pt x="615664" y="415970"/>
                  <a:pt x="598490" y="434507"/>
                </a:cubicBezTo>
                <a:lnTo>
                  <a:pt x="527710" y="511035"/>
                </a:lnTo>
                <a:cubicBezTo>
                  <a:pt x="519669" y="519758"/>
                  <a:pt x="510437" y="523426"/>
                  <a:pt x="501602" y="523426"/>
                </a:cubicBezTo>
                <a:cubicBezTo>
                  <a:pt x="472218" y="523426"/>
                  <a:pt x="445812" y="484072"/>
                  <a:pt x="472118" y="455523"/>
                </a:cubicBezTo>
                <a:lnTo>
                  <a:pt x="481251" y="445610"/>
                </a:lnTo>
                <a:cubicBezTo>
                  <a:pt x="442635" y="442834"/>
                  <a:pt x="405508" y="433021"/>
                  <a:pt x="371160" y="410816"/>
                </a:cubicBezTo>
                <a:cubicBezTo>
                  <a:pt x="339493" y="390197"/>
                  <a:pt x="313980" y="362441"/>
                  <a:pt x="291446" y="332405"/>
                </a:cubicBezTo>
                <a:cubicBezTo>
                  <a:pt x="283504" y="321798"/>
                  <a:pt x="275959" y="310993"/>
                  <a:pt x="268713" y="300088"/>
                </a:cubicBezTo>
                <a:cubicBezTo>
                  <a:pt x="260175" y="287499"/>
                  <a:pt x="252134" y="274513"/>
                  <a:pt x="243895" y="261725"/>
                </a:cubicBezTo>
                <a:cubicBezTo>
                  <a:pt x="226721" y="234564"/>
                  <a:pt x="209150" y="207799"/>
                  <a:pt x="186814" y="184405"/>
                </a:cubicBezTo>
                <a:cubicBezTo>
                  <a:pt x="150580" y="146240"/>
                  <a:pt x="104420" y="133452"/>
                  <a:pt x="54188" y="133452"/>
                </a:cubicBezTo>
                <a:cubicBezTo>
                  <a:pt x="48729" y="133452"/>
                  <a:pt x="43368" y="133651"/>
                  <a:pt x="37908" y="133849"/>
                </a:cubicBezTo>
                <a:cubicBezTo>
                  <a:pt x="37114" y="133948"/>
                  <a:pt x="36320" y="133948"/>
                  <a:pt x="35526" y="133948"/>
                </a:cubicBezTo>
                <a:cubicBezTo>
                  <a:pt x="-12720" y="133948"/>
                  <a:pt x="-11727" y="57916"/>
                  <a:pt x="37908" y="55339"/>
                </a:cubicBezTo>
                <a:cubicBezTo>
                  <a:pt x="43567" y="55041"/>
                  <a:pt x="49126" y="54942"/>
                  <a:pt x="54586" y="54942"/>
                </a:cubicBezTo>
                <a:close/>
                <a:moveTo>
                  <a:pt x="499664" y="55"/>
                </a:moveTo>
                <a:cubicBezTo>
                  <a:pt x="509173" y="-498"/>
                  <a:pt x="519100" y="3015"/>
                  <a:pt x="527712" y="12333"/>
                </a:cubicBezTo>
                <a:lnTo>
                  <a:pt x="598490" y="88858"/>
                </a:lnTo>
                <a:cubicBezTo>
                  <a:pt x="615664" y="107394"/>
                  <a:pt x="610303" y="130590"/>
                  <a:pt x="596505" y="144467"/>
                </a:cubicBezTo>
                <a:cubicBezTo>
                  <a:pt x="575162" y="169645"/>
                  <a:pt x="554911" y="195715"/>
                  <a:pt x="533568" y="220992"/>
                </a:cubicBezTo>
                <a:cubicBezTo>
                  <a:pt x="519770" y="237347"/>
                  <a:pt x="492173" y="235068"/>
                  <a:pt x="477978" y="220992"/>
                </a:cubicBezTo>
                <a:cubicBezTo>
                  <a:pt x="461896" y="204834"/>
                  <a:pt x="464179" y="181837"/>
                  <a:pt x="477978" y="165383"/>
                </a:cubicBezTo>
                <a:cubicBezTo>
                  <a:pt x="480360" y="162607"/>
                  <a:pt x="482743" y="159633"/>
                  <a:pt x="485125" y="156759"/>
                </a:cubicBezTo>
                <a:cubicBezTo>
                  <a:pt x="447403" y="160327"/>
                  <a:pt x="413056" y="173114"/>
                  <a:pt x="382878" y="204240"/>
                </a:cubicBezTo>
                <a:cubicBezTo>
                  <a:pt x="370866" y="216531"/>
                  <a:pt x="360244" y="229814"/>
                  <a:pt x="350318" y="243493"/>
                </a:cubicBezTo>
                <a:cubicBezTo>
                  <a:pt x="344858" y="235266"/>
                  <a:pt x="339497" y="226840"/>
                  <a:pt x="334037" y="218315"/>
                </a:cubicBezTo>
                <a:cubicBezTo>
                  <a:pt x="328280" y="209295"/>
                  <a:pt x="322324" y="199878"/>
                  <a:pt x="316268" y="190759"/>
                </a:cubicBezTo>
                <a:cubicBezTo>
                  <a:pt x="312496" y="185009"/>
                  <a:pt x="308624" y="179458"/>
                  <a:pt x="304753" y="174106"/>
                </a:cubicBezTo>
                <a:cubicBezTo>
                  <a:pt x="324011" y="150613"/>
                  <a:pt x="345553" y="129301"/>
                  <a:pt x="371164" y="112648"/>
                </a:cubicBezTo>
                <a:cubicBezTo>
                  <a:pt x="405511" y="90345"/>
                  <a:pt x="442638" y="80531"/>
                  <a:pt x="481254" y="77756"/>
                </a:cubicBezTo>
                <a:lnTo>
                  <a:pt x="472121" y="67843"/>
                </a:lnTo>
                <a:cubicBezTo>
                  <a:pt x="446361" y="39964"/>
                  <a:pt x="471134" y="1714"/>
                  <a:pt x="499664" y="55"/>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401426" y="4951095"/>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1076325"/>
            <a:chOff x="284882" y="285115"/>
            <a:chExt cx="6191219" cy="1076325"/>
          </a:xfrm>
        </p:grpSpPr>
        <p:sp>
          <p:nvSpPr>
            <p:cNvPr id="21" name="文本框 20"/>
            <p:cNvSpPr txBox="1"/>
            <p:nvPr/>
          </p:nvSpPr>
          <p:spPr>
            <a:xfrm>
              <a:off x="831727" y="285115"/>
              <a:ext cx="5644374" cy="107632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数据分析</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a:p>
              <a:r>
                <a:rPr lang="zh-CN" altLang="en-US" sz="3200" b="1" noProof="0" dirty="0">
                  <a:ln>
                    <a:noFill/>
                  </a:ln>
                  <a:solidFill>
                    <a:prstClr val="black">
                      <a:lumMod val="75000"/>
                      <a:lumOff val="25000"/>
                    </a:prstClr>
                  </a:solidFill>
                  <a:effectLst/>
                  <a:uLnTx/>
                  <a:uFillTx/>
                  <a:cs typeface="+mn-ea"/>
                  <a:sym typeface="+mn-lt"/>
                </a:rPr>
                <a:t>以江西某医院为例</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graphicFrame>
        <p:nvGraphicFramePr>
          <p:cNvPr id="16" name="表格 15"/>
          <p:cNvGraphicFramePr/>
          <p:nvPr>
            <p:custDataLst>
              <p:tags r:id="rId2"/>
            </p:custDataLst>
          </p:nvPr>
        </p:nvGraphicFramePr>
        <p:xfrm>
          <a:off x="1640205" y="1631315"/>
          <a:ext cx="1361440" cy="3707130"/>
        </p:xfrm>
        <a:graphic>
          <a:graphicData uri="http://schemas.openxmlformats.org/drawingml/2006/table">
            <a:tbl>
              <a:tblPr firstRow="1" bandRow="1">
                <a:tableStyleId>{5C22544A-7EE6-4342-B048-85BDC9FD1C3A}</a:tableStyleId>
              </a:tblPr>
              <a:tblGrid>
                <a:gridCol w="387350"/>
                <a:gridCol w="974090"/>
              </a:tblGrid>
              <a:tr h="304800">
                <a:tc>
                  <a:txBody>
                    <a:bodyPr/>
                    <a:p>
                      <a:pPr indent="0" algn="ctr">
                        <a:buNone/>
                      </a:pPr>
                      <a:r>
                        <a:rPr lang="zh-CN" sz="900" b="1">
                          <a:solidFill>
                            <a:srgbClr val="000000"/>
                          </a:solidFill>
                          <a:latin typeface="Arial" panose="020B0604020202020204" pitchFamily="34" charset="0"/>
                          <a:ea typeface="宋体" pitchFamily="2" charset="-122"/>
                        </a:rPr>
                        <a:t>序号</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900" b="1">
                          <a:solidFill>
                            <a:srgbClr val="000000"/>
                          </a:solidFill>
                          <a:latin typeface="Arial" panose="020B0604020202020204" pitchFamily="34" charset="0"/>
                          <a:ea typeface="宋体" pitchFamily="2" charset="-122"/>
                        </a:rPr>
                        <a:t>字段名称</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34340">
                <a:tc>
                  <a:txBody>
                    <a:bodyPr/>
                    <a:p>
                      <a:pPr indent="0" algn="ctr">
                        <a:buNone/>
                      </a:pPr>
                      <a:r>
                        <a:rPr lang="en-US" sz="900" b="1">
                          <a:solidFill>
                            <a:srgbClr val="000000"/>
                          </a:solidFill>
                          <a:latin typeface="宋体" pitchFamily="2" charset="-122"/>
                        </a:rPr>
                        <a:t>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唯一标识</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81000">
                <a:tc>
                  <a:txBody>
                    <a:bodyPr/>
                    <a:p>
                      <a:pPr indent="0" algn="ctr">
                        <a:buNone/>
                      </a:pPr>
                      <a:r>
                        <a:rPr lang="en-US" sz="900" b="1">
                          <a:solidFill>
                            <a:srgbClr val="000000"/>
                          </a:solidFill>
                          <a:latin typeface="宋体" pitchFamily="2" charset="-122"/>
                        </a:rPr>
                        <a:t>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1">
                          <a:solidFill>
                            <a:srgbClr val="FF0000"/>
                          </a:solidFill>
                          <a:latin typeface="宋体" pitchFamily="2" charset="-122"/>
                        </a:rPr>
                        <a:t>flag</a:t>
                      </a:r>
                      <a:endParaRPr lang="en-US" altLang="en-US" sz="900" b="1">
                        <a:solidFill>
                          <a:srgbClr val="FF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40030">
                <a:tc>
                  <a:txBody>
                    <a:bodyPr/>
                    <a:p>
                      <a:pPr indent="0" algn="ctr">
                        <a:buNone/>
                      </a:pPr>
                      <a:r>
                        <a:rPr lang="en-US" sz="900" b="1">
                          <a:solidFill>
                            <a:srgbClr val="000000"/>
                          </a:solidFill>
                          <a:latin typeface="宋体" pitchFamily="2" charset="-122"/>
                        </a:rPr>
                        <a:t>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总评分</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住院号</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住院次数</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性别</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民族</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身高</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体重</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心率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呼吸</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收缩压</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舒张压</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诊断</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195580">
                <a:tc>
                  <a:txBody>
                    <a:bodyPr/>
                    <a:p>
                      <a:pPr indent="0" algn="ctr">
                        <a:buNone/>
                      </a:pPr>
                      <a:r>
                        <a:rPr lang="en-US" sz="900" b="1">
                          <a:solidFill>
                            <a:srgbClr val="000000"/>
                          </a:solidFill>
                          <a:latin typeface="宋体" pitchFamily="2" charset="-122"/>
                        </a:rPr>
                        <a:t>15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3P试验</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20" name="表格 19"/>
          <p:cNvGraphicFramePr/>
          <p:nvPr>
            <p:custDataLst>
              <p:tags r:id="rId3"/>
            </p:custDataLst>
          </p:nvPr>
        </p:nvGraphicFramePr>
        <p:xfrm>
          <a:off x="3122930" y="1631315"/>
          <a:ext cx="1666240" cy="3707130"/>
        </p:xfrm>
        <a:graphic>
          <a:graphicData uri="http://schemas.openxmlformats.org/drawingml/2006/table">
            <a:tbl>
              <a:tblPr firstRow="1" bandRow="1">
                <a:tableStyleId>{5C22544A-7EE6-4342-B048-85BDC9FD1C3A}</a:tableStyleId>
              </a:tblPr>
              <a:tblGrid>
                <a:gridCol w="474345"/>
                <a:gridCol w="1191895"/>
              </a:tblGrid>
              <a:tr h="217170">
                <a:tc>
                  <a:txBody>
                    <a:bodyPr/>
                    <a:p>
                      <a:pPr indent="0" algn="ctr">
                        <a:buNone/>
                      </a:pPr>
                      <a:r>
                        <a:rPr lang="en-US" sz="900" b="1">
                          <a:solidFill>
                            <a:srgbClr val="000000"/>
                          </a:solidFill>
                          <a:latin typeface="宋体" pitchFamily="2" charset="-122"/>
                        </a:rPr>
                        <a:t>16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C反应蛋白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6535">
                <a:tc>
                  <a:txBody>
                    <a:bodyPr/>
                    <a:p>
                      <a:pPr indent="0" algn="ctr">
                        <a:buNone/>
                      </a:pPr>
                      <a:r>
                        <a:rPr lang="en-US" sz="900" b="1">
                          <a:solidFill>
                            <a:srgbClr val="000000"/>
                          </a:solidFill>
                          <a:latin typeface="宋体" pitchFamily="2" charset="-122"/>
                        </a:rPr>
                        <a:t>17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D-二聚体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7170">
                <a:tc>
                  <a:txBody>
                    <a:bodyPr/>
                    <a:p>
                      <a:pPr indent="0" algn="ctr">
                        <a:buNone/>
                      </a:pPr>
                      <a:r>
                        <a:rPr lang="en-US" sz="900" b="1">
                          <a:solidFill>
                            <a:srgbClr val="000000"/>
                          </a:solidFill>
                          <a:latin typeface="宋体" pitchFamily="2" charset="-122"/>
                        </a:rPr>
                        <a:t>18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α-淀粉酶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7170">
                <a:tc>
                  <a:txBody>
                    <a:bodyPr/>
                    <a:p>
                      <a:pPr indent="0" algn="ctr">
                        <a:buNone/>
                      </a:pPr>
                      <a:r>
                        <a:rPr lang="en-US" sz="900" b="1">
                          <a:solidFill>
                            <a:srgbClr val="000000"/>
                          </a:solidFill>
                          <a:latin typeface="宋体" pitchFamily="2" charset="-122"/>
                        </a:rPr>
                        <a:t>19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α-羟丁酸脱氢酶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6535">
                <a:tc>
                  <a:txBody>
                    <a:bodyPr/>
                    <a:p>
                      <a:pPr indent="0" algn="ctr">
                        <a:buNone/>
                      </a:pPr>
                      <a:r>
                        <a:rPr lang="en-US" sz="900" b="1">
                          <a:solidFill>
                            <a:srgbClr val="000000"/>
                          </a:solidFill>
                          <a:latin typeface="宋体" pitchFamily="2" charset="-122"/>
                        </a:rPr>
                        <a:t>20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α羟丁酸脱氢酶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7170">
                <a:tc>
                  <a:txBody>
                    <a:bodyPr/>
                    <a:p>
                      <a:pPr indent="0" algn="ctr">
                        <a:buNone/>
                      </a:pPr>
                      <a:r>
                        <a:rPr lang="en-US" sz="900" b="1">
                          <a:solidFill>
                            <a:srgbClr val="000000"/>
                          </a:solidFill>
                          <a:latin typeface="宋体" pitchFamily="2" charset="-122"/>
                        </a:rPr>
                        <a:t>21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β2-微球蛋白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344170">
                <a:tc>
                  <a:txBody>
                    <a:bodyPr/>
                    <a:p>
                      <a:pPr indent="0" algn="ctr">
                        <a:buNone/>
                      </a:pPr>
                      <a:r>
                        <a:rPr lang="en-US" sz="900" b="1">
                          <a:solidFill>
                            <a:srgbClr val="000000"/>
                          </a:solidFill>
                          <a:latin typeface="宋体" pitchFamily="2" charset="-122"/>
                        </a:rPr>
                        <a:t>22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γ-谷氨酰基转移酶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6535">
                <a:tc>
                  <a:txBody>
                    <a:bodyPr/>
                    <a:p>
                      <a:pPr indent="0" algn="ctr">
                        <a:buNone/>
                      </a:pPr>
                      <a:r>
                        <a:rPr lang="en-US" sz="900" b="1">
                          <a:solidFill>
                            <a:srgbClr val="000000"/>
                          </a:solidFill>
                          <a:latin typeface="宋体" pitchFamily="2" charset="-122"/>
                        </a:rPr>
                        <a:t>23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γ谷氨酰转移酶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7170">
                <a:tc>
                  <a:txBody>
                    <a:bodyPr/>
                    <a:p>
                      <a:pPr indent="0" algn="ctr">
                        <a:buNone/>
                      </a:pPr>
                      <a:r>
                        <a:rPr lang="en-US" sz="900" b="1">
                          <a:solidFill>
                            <a:srgbClr val="000000"/>
                          </a:solidFill>
                          <a:latin typeface="宋体" pitchFamily="2" charset="-122"/>
                        </a:rPr>
                        <a:t>24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不饱和铁结合力</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77825">
                <a:tc>
                  <a:txBody>
                    <a:bodyPr/>
                    <a:p>
                      <a:pPr indent="0" algn="ctr">
                        <a:buNone/>
                      </a:pPr>
                      <a:r>
                        <a:rPr lang="en-US" sz="900" b="1">
                          <a:solidFill>
                            <a:srgbClr val="000000"/>
                          </a:solidFill>
                          <a:latin typeface="宋体" pitchFamily="2" charset="-122"/>
                        </a:rPr>
                        <a:t>25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丙型肝炎病毒IgG抗体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44170">
                <a:tc>
                  <a:txBody>
                    <a:bodyPr/>
                    <a:p>
                      <a:pPr indent="0" algn="ctr">
                        <a:buNone/>
                      </a:pPr>
                      <a:r>
                        <a:rPr lang="en-US" sz="900" b="1">
                          <a:solidFill>
                            <a:srgbClr val="000000"/>
                          </a:solidFill>
                          <a:latin typeface="宋体" pitchFamily="2" charset="-122"/>
                        </a:rPr>
                        <a:t>26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丙氨酸氨基转移酶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17170">
                <a:tc>
                  <a:txBody>
                    <a:bodyPr/>
                    <a:p>
                      <a:pPr indent="0" algn="ctr">
                        <a:buNone/>
                      </a:pPr>
                      <a:r>
                        <a:rPr lang="en-US" sz="900" b="1">
                          <a:solidFill>
                            <a:srgbClr val="000000"/>
                          </a:solidFill>
                          <a:latin typeface="宋体" pitchFamily="2" charset="-122"/>
                        </a:rPr>
                        <a:t>27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丙肝核心抗原</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44805">
                <a:tc>
                  <a:txBody>
                    <a:bodyPr/>
                    <a:p>
                      <a:pPr indent="0" algn="ctr">
                        <a:buNone/>
                      </a:pPr>
                      <a:r>
                        <a:rPr lang="en-US" sz="900" b="1">
                          <a:solidFill>
                            <a:srgbClr val="000000"/>
                          </a:solidFill>
                          <a:latin typeface="宋体" pitchFamily="2" charset="-122"/>
                        </a:rPr>
                        <a:t>28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乙型肝炎病毒e抗体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43535">
                <a:tc>
                  <a:txBody>
                    <a:bodyPr/>
                    <a:p>
                      <a:pPr indent="0" algn="ctr">
                        <a:buNone/>
                      </a:pPr>
                      <a:r>
                        <a:rPr lang="en-US" sz="900" b="1">
                          <a:solidFill>
                            <a:srgbClr val="000000"/>
                          </a:solidFill>
                          <a:latin typeface="宋体" pitchFamily="2" charset="-122"/>
                        </a:rPr>
                        <a:t>29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乙型肝炎病毒e抗原</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bl>
          </a:graphicData>
        </a:graphic>
      </p:graphicFrame>
      <p:graphicFrame>
        <p:nvGraphicFramePr>
          <p:cNvPr id="28" name="表格 27"/>
          <p:cNvGraphicFramePr/>
          <p:nvPr>
            <p:custDataLst>
              <p:tags r:id="rId4"/>
            </p:custDataLst>
          </p:nvPr>
        </p:nvGraphicFramePr>
        <p:xfrm>
          <a:off x="4910455" y="1631315"/>
          <a:ext cx="1713230" cy="3708400"/>
        </p:xfrm>
        <a:graphic>
          <a:graphicData uri="http://schemas.openxmlformats.org/drawingml/2006/table">
            <a:tbl>
              <a:tblPr firstRow="1" bandRow="1">
                <a:tableStyleId>{5C22544A-7EE6-4342-B048-85BDC9FD1C3A}</a:tableStyleId>
              </a:tblPr>
              <a:tblGrid>
                <a:gridCol w="487680"/>
                <a:gridCol w="1225550"/>
              </a:tblGrid>
              <a:tr h="231775">
                <a:tc>
                  <a:txBody>
                    <a:bodyPr/>
                    <a:p>
                      <a:pPr indent="0" algn="ctr">
                        <a:buNone/>
                      </a:pPr>
                      <a:r>
                        <a:rPr lang="en-US" sz="900" b="1">
                          <a:solidFill>
                            <a:srgbClr val="000000"/>
                          </a:solidFill>
                          <a:latin typeface="宋体" pitchFamily="2" charset="-122"/>
                        </a:rPr>
                        <a:t>30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乙型肝炎病毒核心抗体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31775">
                <a:tc>
                  <a:txBody>
                    <a:bodyPr/>
                    <a:p>
                      <a:pPr indent="0" algn="ctr">
                        <a:buNone/>
                      </a:pPr>
                      <a:r>
                        <a:rPr lang="en-US" sz="900" b="1">
                          <a:solidFill>
                            <a:srgbClr val="000000"/>
                          </a:solidFill>
                          <a:latin typeface="宋体" pitchFamily="2" charset="-122"/>
                        </a:rPr>
                        <a:t>31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乙型肝炎病毒表面抗体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31775">
                <a:tc>
                  <a:txBody>
                    <a:bodyPr/>
                    <a:p>
                      <a:pPr indent="0" algn="ctr">
                        <a:buNone/>
                      </a:pPr>
                      <a:r>
                        <a:rPr lang="en-US" sz="900" b="1">
                          <a:solidFill>
                            <a:srgbClr val="000000"/>
                          </a:solidFill>
                          <a:latin typeface="宋体" pitchFamily="2" charset="-122"/>
                        </a:rPr>
                        <a:t>32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乙型肝炎病毒表面抗原</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31775">
                <a:tc>
                  <a:txBody>
                    <a:bodyPr/>
                    <a:p>
                      <a:pPr indent="0" algn="ctr">
                        <a:buNone/>
                      </a:pPr>
                      <a:r>
                        <a:rPr lang="en-US" sz="900" b="1">
                          <a:solidFill>
                            <a:srgbClr val="000000"/>
                          </a:solidFill>
                          <a:latin typeface="宋体" pitchFamily="2" charset="-122"/>
                        </a:rPr>
                        <a:t>33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乙肝病毒大蛋白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1775">
                <a:tc>
                  <a:txBody>
                    <a:bodyPr/>
                    <a:p>
                      <a:pPr indent="0" algn="ctr">
                        <a:buNone/>
                      </a:pPr>
                      <a:r>
                        <a:rPr lang="en-US" sz="900" b="1">
                          <a:solidFill>
                            <a:srgbClr val="000000"/>
                          </a:solidFill>
                          <a:latin typeface="宋体" pitchFamily="2" charset="-122"/>
                        </a:rPr>
                        <a:t>34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乳酸脱氢酶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31775">
                <a:tc>
                  <a:txBody>
                    <a:bodyPr/>
                    <a:p>
                      <a:pPr indent="0" algn="ctr">
                        <a:buNone/>
                      </a:pPr>
                      <a:r>
                        <a:rPr lang="en-US" sz="900" b="1">
                          <a:solidFill>
                            <a:srgbClr val="000000"/>
                          </a:solidFill>
                          <a:latin typeface="宋体" pitchFamily="2" charset="-122"/>
                        </a:rPr>
                        <a:t>35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人类免疫缺陷病毒抗体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31775">
                <a:tc>
                  <a:txBody>
                    <a:bodyPr/>
                    <a:p>
                      <a:pPr indent="0" algn="ctr">
                        <a:buNone/>
                      </a:pPr>
                      <a:r>
                        <a:rPr lang="en-US" sz="900" b="1">
                          <a:solidFill>
                            <a:srgbClr val="000000"/>
                          </a:solidFill>
                          <a:latin typeface="宋体" pitchFamily="2" charset="-122"/>
                        </a:rPr>
                        <a:t>36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低密度脂蛋白胆固醇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1775">
                <a:tc>
                  <a:txBody>
                    <a:bodyPr/>
                    <a:p>
                      <a:pPr indent="0" algn="ctr">
                        <a:buNone/>
                      </a:pPr>
                      <a:r>
                        <a:rPr lang="en-US" sz="900" b="1">
                          <a:solidFill>
                            <a:srgbClr val="000000"/>
                          </a:solidFill>
                          <a:latin typeface="宋体" pitchFamily="2" charset="-122"/>
                        </a:rPr>
                        <a:t>37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凝血酶原时间</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3">
                        <a:lumMod val="60000"/>
                        <a:lumOff val="40000"/>
                      </a:schemeClr>
                    </a:solidFill>
                  </a:tcPr>
                </a:tc>
              </a:tr>
              <a:tr h="231775">
                <a:tc>
                  <a:txBody>
                    <a:bodyPr/>
                    <a:p>
                      <a:pPr indent="0" algn="ctr">
                        <a:buNone/>
                      </a:pPr>
                      <a:r>
                        <a:rPr lang="en-US" sz="900" b="1">
                          <a:solidFill>
                            <a:srgbClr val="000000"/>
                          </a:solidFill>
                          <a:latin typeface="宋体" pitchFamily="2" charset="-122"/>
                        </a:rPr>
                        <a:t>38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凝血酶原时间比率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3">
                        <a:lumMod val="60000"/>
                        <a:lumOff val="40000"/>
                      </a:schemeClr>
                    </a:solidFill>
                  </a:tcPr>
                </a:tc>
              </a:tr>
              <a:tr h="231775">
                <a:tc>
                  <a:txBody>
                    <a:bodyPr/>
                    <a:p>
                      <a:pPr indent="0" algn="ctr">
                        <a:buNone/>
                      </a:pPr>
                      <a:r>
                        <a:rPr lang="en-US" sz="900" b="1">
                          <a:solidFill>
                            <a:srgbClr val="000000"/>
                          </a:solidFill>
                          <a:latin typeface="宋体" pitchFamily="2" charset="-122"/>
                        </a:rPr>
                        <a:t>39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凝血酶原时间活动度</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3">
                        <a:lumMod val="60000"/>
                        <a:lumOff val="40000"/>
                      </a:schemeClr>
                    </a:solidFill>
                  </a:tcPr>
                </a:tc>
              </a:tr>
              <a:tr h="231775">
                <a:tc>
                  <a:txBody>
                    <a:bodyPr/>
                    <a:p>
                      <a:pPr indent="0" algn="ctr">
                        <a:buNone/>
                      </a:pPr>
                      <a:r>
                        <a:rPr lang="en-US" sz="900" b="1">
                          <a:solidFill>
                            <a:srgbClr val="000000"/>
                          </a:solidFill>
                          <a:latin typeface="宋体" pitchFamily="2" charset="-122"/>
                        </a:rPr>
                        <a:t>40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凝血酶时间</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3">
                        <a:lumMod val="60000"/>
                        <a:lumOff val="40000"/>
                      </a:schemeClr>
                    </a:solidFill>
                  </a:tcPr>
                </a:tc>
              </a:tr>
              <a:tr h="231775">
                <a:tc>
                  <a:txBody>
                    <a:bodyPr/>
                    <a:p>
                      <a:pPr indent="0" algn="ctr">
                        <a:buNone/>
                      </a:pPr>
                      <a:r>
                        <a:rPr lang="en-US" sz="900" b="1">
                          <a:solidFill>
                            <a:srgbClr val="000000"/>
                          </a:solidFill>
                          <a:latin typeface="宋体" pitchFamily="2" charset="-122"/>
                        </a:rPr>
                        <a:t>41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前白蛋白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1775">
                <a:tc>
                  <a:txBody>
                    <a:bodyPr/>
                    <a:p>
                      <a:pPr indent="0" algn="ctr">
                        <a:buNone/>
                      </a:pPr>
                      <a:r>
                        <a:rPr lang="en-US" sz="900" b="1">
                          <a:solidFill>
                            <a:srgbClr val="000000"/>
                          </a:solidFill>
                          <a:latin typeface="宋体" pitchFamily="2" charset="-122"/>
                        </a:rPr>
                        <a:t>42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同型半胱氨酸</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1775">
                <a:tc>
                  <a:txBody>
                    <a:bodyPr/>
                    <a:p>
                      <a:pPr indent="0" algn="ctr">
                        <a:buNone/>
                      </a:pPr>
                      <a:r>
                        <a:rPr lang="en-US" sz="900" b="1">
                          <a:solidFill>
                            <a:srgbClr val="000000"/>
                          </a:solidFill>
                          <a:latin typeface="宋体" pitchFamily="2" charset="-122"/>
                        </a:rPr>
                        <a:t>43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国际标准化比率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1775">
                <a:tc>
                  <a:txBody>
                    <a:bodyPr/>
                    <a:p>
                      <a:pPr indent="0" algn="ctr">
                        <a:buNone/>
                      </a:pPr>
                      <a:r>
                        <a:rPr lang="en-US" sz="900" b="1">
                          <a:solidFill>
                            <a:srgbClr val="000000"/>
                          </a:solidFill>
                          <a:latin typeface="宋体" pitchFamily="2" charset="-122"/>
                        </a:rPr>
                        <a:t>44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天门冬氨酸氨基转移酶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31775">
                <a:tc>
                  <a:txBody>
                    <a:bodyPr/>
                    <a:p>
                      <a:pPr indent="0" algn="ctr">
                        <a:buNone/>
                      </a:pPr>
                      <a:r>
                        <a:rPr lang="en-US" sz="900" b="1">
                          <a:solidFill>
                            <a:srgbClr val="000000"/>
                          </a:solidFill>
                          <a:latin typeface="宋体" pitchFamily="2" charset="-122"/>
                        </a:rPr>
                        <a:t>45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尿素</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29" name="表格 28"/>
          <p:cNvGraphicFramePr/>
          <p:nvPr>
            <p:custDataLst>
              <p:tags r:id="rId5"/>
            </p:custDataLst>
          </p:nvPr>
        </p:nvGraphicFramePr>
        <p:xfrm>
          <a:off x="6744970" y="1631315"/>
          <a:ext cx="1637665" cy="3707765"/>
        </p:xfrm>
        <a:graphic>
          <a:graphicData uri="http://schemas.openxmlformats.org/drawingml/2006/table">
            <a:tbl>
              <a:tblPr firstRow="1" bandRow="1">
                <a:tableStyleId>{5C22544A-7EE6-4342-B048-85BDC9FD1C3A}</a:tableStyleId>
              </a:tblPr>
              <a:tblGrid>
                <a:gridCol w="466090"/>
                <a:gridCol w="1171575"/>
              </a:tblGrid>
              <a:tr h="213360">
                <a:tc>
                  <a:txBody>
                    <a:bodyPr/>
                    <a:p>
                      <a:pPr indent="0" algn="ctr">
                        <a:buNone/>
                      </a:pPr>
                      <a:r>
                        <a:rPr lang="en-US" sz="900" b="1">
                          <a:solidFill>
                            <a:srgbClr val="000000"/>
                          </a:solidFill>
                          <a:latin typeface="宋体" pitchFamily="2" charset="-122"/>
                        </a:rPr>
                        <a:t>46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尿酸</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47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总胆固醇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48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总胆红素</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49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3995">
                <a:tc>
                  <a:txBody>
                    <a:bodyPr/>
                    <a:p>
                      <a:pPr indent="0" algn="ctr">
                        <a:buNone/>
                      </a:pPr>
                      <a:r>
                        <a:rPr lang="en-US" sz="900" b="1">
                          <a:solidFill>
                            <a:srgbClr val="000000"/>
                          </a:solidFill>
                          <a:latin typeface="宋体" pitchFamily="2" charset="-122"/>
                        </a:rPr>
                        <a:t>50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总铁结合力</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51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c>
                  <a:txBody>
                    <a:bodyPr/>
                    <a:p>
                      <a:pPr indent="0">
                        <a:buNone/>
                      </a:pPr>
                      <a:r>
                        <a:rPr lang="zh-CN" sz="900" b="1">
                          <a:solidFill>
                            <a:srgbClr val="000000"/>
                          </a:solidFill>
                          <a:latin typeface="Arial" panose="020B0604020202020204" pitchFamily="34" charset="0"/>
                          <a:ea typeface="宋体" pitchFamily="2" charset="-122"/>
                        </a:rPr>
                        <a:t>抗RA33抗体IgG</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39725">
                <a:tc>
                  <a:txBody>
                    <a:bodyPr/>
                    <a:p>
                      <a:pPr indent="0" algn="ctr">
                        <a:buNone/>
                      </a:pPr>
                      <a:r>
                        <a:rPr lang="en-US" sz="900" b="1">
                          <a:solidFill>
                            <a:srgbClr val="000000"/>
                          </a:solidFill>
                          <a:latin typeface="宋体" pitchFamily="2" charset="-122"/>
                        </a:rPr>
                        <a:t>52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抗环瓜氨酸多肽抗体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39725">
                <a:tc>
                  <a:txBody>
                    <a:bodyPr/>
                    <a:p>
                      <a:pPr indent="0" algn="ctr">
                        <a:buNone/>
                      </a:pPr>
                      <a:r>
                        <a:rPr lang="en-US" sz="900" b="1">
                          <a:solidFill>
                            <a:srgbClr val="000000"/>
                          </a:solidFill>
                          <a:latin typeface="宋体" pitchFamily="2" charset="-122"/>
                        </a:rPr>
                        <a:t>53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抗环瓜氨酸肽抗体抗体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39090">
                <a:tc>
                  <a:txBody>
                    <a:bodyPr/>
                    <a:p>
                      <a:pPr indent="0" algn="ctr">
                        <a:buNone/>
                      </a:pPr>
                      <a:r>
                        <a:rPr lang="en-US" sz="900" b="1">
                          <a:solidFill>
                            <a:srgbClr val="000000"/>
                          </a:solidFill>
                          <a:latin typeface="宋体" pitchFamily="2" charset="-122"/>
                        </a:rPr>
                        <a:t>54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抗链球菌溶血素O</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55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无机磷</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56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果糖胺</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57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梅毒螺旋体抗体</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213360">
                <a:tc>
                  <a:txBody>
                    <a:bodyPr/>
                    <a:p>
                      <a:pPr indent="0" algn="ctr">
                        <a:buNone/>
                      </a:pPr>
                      <a:r>
                        <a:rPr lang="en-US" sz="900" b="1">
                          <a:solidFill>
                            <a:srgbClr val="000000"/>
                          </a:solidFill>
                          <a:latin typeface="宋体" pitchFamily="2" charset="-122"/>
                        </a:rPr>
                        <a:t>58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氯</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9725">
                <a:tc>
                  <a:txBody>
                    <a:bodyPr/>
                    <a:p>
                      <a:pPr indent="0" algn="ctr">
                        <a:buNone/>
                      </a:pPr>
                      <a:r>
                        <a:rPr lang="en-US" sz="900" b="1">
                          <a:solidFill>
                            <a:srgbClr val="000000"/>
                          </a:solidFill>
                          <a:latin typeface="宋体" pitchFamily="2" charset="-122"/>
                        </a:rPr>
                        <a:t>59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活化部分凝血活酶时间</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2">
                        <a:lumMod val="75000"/>
                      </a:schemeClr>
                    </a:solidFill>
                  </a:tcPr>
                </a:tc>
              </a:tr>
              <a:tr h="213360">
                <a:tc>
                  <a:txBody>
                    <a:bodyPr/>
                    <a:p>
                      <a:pPr indent="0" algn="ctr">
                        <a:buNone/>
                      </a:pPr>
                      <a:r>
                        <a:rPr lang="en-US" sz="900" b="1">
                          <a:solidFill>
                            <a:srgbClr val="000000"/>
                          </a:solidFill>
                          <a:latin typeface="宋体" pitchFamily="2" charset="-122"/>
                        </a:rPr>
                        <a:t>60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淀粉酶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bl>
          </a:graphicData>
        </a:graphic>
      </p:graphicFrame>
      <p:graphicFrame>
        <p:nvGraphicFramePr>
          <p:cNvPr id="33" name="表格 32"/>
          <p:cNvGraphicFramePr/>
          <p:nvPr>
            <p:custDataLst>
              <p:tags r:id="rId6"/>
            </p:custDataLst>
          </p:nvPr>
        </p:nvGraphicFramePr>
        <p:xfrm>
          <a:off x="8503920" y="1631315"/>
          <a:ext cx="1484630" cy="3709035"/>
        </p:xfrm>
        <a:graphic>
          <a:graphicData uri="http://schemas.openxmlformats.org/drawingml/2006/table">
            <a:tbl>
              <a:tblPr firstRow="1" bandRow="1">
                <a:tableStyleId>{5C22544A-7EE6-4342-B048-85BDC9FD1C3A}</a:tableStyleId>
              </a:tblPr>
              <a:tblGrid>
                <a:gridCol w="422275"/>
                <a:gridCol w="1062355"/>
              </a:tblGrid>
              <a:tr h="213360">
                <a:tc>
                  <a:txBody>
                    <a:bodyPr/>
                    <a:p>
                      <a:pPr indent="0" algn="ctr">
                        <a:buNone/>
                      </a:pPr>
                      <a:r>
                        <a:rPr lang="en-US" sz="900" b="1">
                          <a:solidFill>
                            <a:srgbClr val="000000"/>
                          </a:solidFill>
                          <a:latin typeface="宋体" pitchFamily="2" charset="-122"/>
                        </a:rPr>
                        <a:t>61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球蛋白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3995">
                <a:tc>
                  <a:txBody>
                    <a:bodyPr/>
                    <a:p>
                      <a:pPr indent="0" algn="ctr">
                        <a:buNone/>
                      </a:pPr>
                      <a:r>
                        <a:rPr lang="en-US" sz="900" b="1">
                          <a:solidFill>
                            <a:srgbClr val="000000"/>
                          </a:solidFill>
                          <a:latin typeface="宋体" pitchFamily="2" charset="-122"/>
                        </a:rPr>
                        <a:t>62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甘油三酯</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63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白球比</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64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白蛋白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3360">
                <a:tc>
                  <a:txBody>
                    <a:bodyPr/>
                    <a:p>
                      <a:pPr indent="0" algn="ctr">
                        <a:buNone/>
                      </a:pPr>
                      <a:r>
                        <a:rPr lang="en-US" sz="900" b="1">
                          <a:solidFill>
                            <a:srgbClr val="000000"/>
                          </a:solidFill>
                          <a:latin typeface="宋体" pitchFamily="2" charset="-122"/>
                        </a:rPr>
                        <a:t>65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直接胆红素</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995">
                <a:tc>
                  <a:txBody>
                    <a:bodyPr/>
                    <a:p>
                      <a:pPr indent="0" algn="ctr">
                        <a:buNone/>
                      </a:pPr>
                      <a:r>
                        <a:rPr lang="en-US" sz="900" b="1">
                          <a:solidFill>
                            <a:srgbClr val="000000"/>
                          </a:solidFill>
                          <a:latin typeface="宋体" pitchFamily="2" charset="-122"/>
                        </a:rPr>
                        <a:t>66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碱性磷酸酶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13360">
                <a:tc>
                  <a:txBody>
                    <a:bodyPr/>
                    <a:p>
                      <a:pPr indent="0" algn="ctr">
                        <a:buNone/>
                      </a:pPr>
                      <a:r>
                        <a:rPr lang="en-US" sz="900" b="1">
                          <a:solidFill>
                            <a:srgbClr val="000000"/>
                          </a:solidFill>
                          <a:latin typeface="宋体" pitchFamily="2" charset="-122"/>
                        </a:rPr>
                        <a:t>67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磷</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13995">
                <a:tc>
                  <a:txBody>
                    <a:bodyPr/>
                    <a:p>
                      <a:pPr indent="0" algn="ctr">
                        <a:buNone/>
                      </a:pPr>
                      <a:r>
                        <a:rPr lang="en-US" sz="900" b="1">
                          <a:solidFill>
                            <a:srgbClr val="000000"/>
                          </a:solidFill>
                          <a:latin typeface="宋体" pitchFamily="2" charset="-122"/>
                        </a:rPr>
                        <a:t>68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类风湿因子</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69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糖化血清蛋白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339725">
                <a:tc>
                  <a:txBody>
                    <a:bodyPr/>
                    <a:p>
                      <a:pPr indent="0" algn="ctr">
                        <a:buNone/>
                      </a:pPr>
                      <a:r>
                        <a:rPr lang="en-US" sz="900" b="1">
                          <a:solidFill>
                            <a:srgbClr val="000000"/>
                          </a:solidFill>
                          <a:latin typeface="宋体" pitchFamily="2" charset="-122"/>
                        </a:rPr>
                        <a:t>70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糖类抗原CA242</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60000"/>
                        <a:lumOff val="40000"/>
                      </a:schemeClr>
                    </a:solidFill>
                  </a:tcPr>
                </a:tc>
              </a:tr>
              <a:tr h="339725">
                <a:tc>
                  <a:txBody>
                    <a:bodyPr/>
                    <a:p>
                      <a:pPr indent="0" algn="ctr">
                        <a:buNone/>
                      </a:pPr>
                      <a:r>
                        <a:rPr lang="en-US" sz="900" b="1">
                          <a:solidFill>
                            <a:srgbClr val="000000"/>
                          </a:solidFill>
                          <a:latin typeface="宋体" pitchFamily="2" charset="-122"/>
                        </a:rPr>
                        <a:t>71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纤维蛋白原(Clauss法）</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13995">
                <a:tc>
                  <a:txBody>
                    <a:bodyPr/>
                    <a:p>
                      <a:pPr indent="0" algn="ctr">
                        <a:buNone/>
                      </a:pPr>
                      <a:r>
                        <a:rPr lang="en-US" sz="900" b="1">
                          <a:solidFill>
                            <a:srgbClr val="000000"/>
                          </a:solidFill>
                          <a:latin typeface="宋体" pitchFamily="2" charset="-122"/>
                        </a:rPr>
                        <a:t>72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肌酐</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3360">
                <a:tc>
                  <a:txBody>
                    <a:bodyPr/>
                    <a:p>
                      <a:pPr indent="0" algn="ctr">
                        <a:buNone/>
                      </a:pPr>
                      <a:r>
                        <a:rPr lang="en-US" sz="900" b="1">
                          <a:solidFill>
                            <a:srgbClr val="000000"/>
                          </a:solidFill>
                          <a:latin typeface="宋体" pitchFamily="2" charset="-122"/>
                        </a:rPr>
                        <a:t>73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肌酸激酶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339725">
                <a:tc>
                  <a:txBody>
                    <a:bodyPr/>
                    <a:p>
                      <a:pPr indent="0" algn="ctr">
                        <a:buNone/>
                      </a:pPr>
                      <a:r>
                        <a:rPr lang="en-US" sz="900" b="1">
                          <a:solidFill>
                            <a:srgbClr val="000000"/>
                          </a:solidFill>
                          <a:latin typeface="宋体" pitchFamily="2" charset="-122"/>
                        </a:rPr>
                        <a:t>74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肌酸激酶MB同功酶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339725">
                <a:tc>
                  <a:txBody>
                    <a:bodyPr/>
                    <a:p>
                      <a:pPr indent="0" algn="ctr">
                        <a:buNone/>
                      </a:pPr>
                      <a:r>
                        <a:rPr lang="en-US" sz="900" b="1">
                          <a:solidFill>
                            <a:srgbClr val="000000"/>
                          </a:solidFill>
                          <a:latin typeface="宋体" pitchFamily="2" charset="-122"/>
                        </a:rPr>
                        <a:t>75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肌酸激酶同工酶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bl>
          </a:graphicData>
        </a:graphic>
      </p:graphicFrame>
      <p:graphicFrame>
        <p:nvGraphicFramePr>
          <p:cNvPr id="44" name="表格 43"/>
          <p:cNvGraphicFramePr/>
          <p:nvPr>
            <p:custDataLst>
              <p:tags r:id="rId7"/>
            </p:custDataLst>
          </p:nvPr>
        </p:nvGraphicFramePr>
        <p:xfrm>
          <a:off x="10109835" y="1631315"/>
          <a:ext cx="1612265" cy="3707130"/>
        </p:xfrm>
        <a:graphic>
          <a:graphicData uri="http://schemas.openxmlformats.org/drawingml/2006/table">
            <a:tbl>
              <a:tblPr firstRow="1" bandRow="1">
                <a:tableStyleId>{5C22544A-7EE6-4342-B048-85BDC9FD1C3A}</a:tableStyleId>
              </a:tblPr>
              <a:tblGrid>
                <a:gridCol w="458470"/>
                <a:gridCol w="1153795"/>
              </a:tblGrid>
              <a:tr h="237490">
                <a:tc>
                  <a:txBody>
                    <a:bodyPr/>
                    <a:p>
                      <a:pPr indent="0" algn="ctr">
                        <a:buNone/>
                      </a:pPr>
                      <a:r>
                        <a:rPr lang="en-US" sz="900" b="1">
                          <a:solidFill>
                            <a:srgbClr val="000000"/>
                          </a:solidFill>
                          <a:latin typeface="宋体" pitchFamily="2" charset="-122"/>
                        </a:rPr>
                        <a:t>76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胰淀粉酶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38125">
                <a:tc>
                  <a:txBody>
                    <a:bodyPr/>
                    <a:p>
                      <a:pPr indent="0" algn="ctr">
                        <a:buNone/>
                      </a:pPr>
                      <a:r>
                        <a:rPr lang="en-US" sz="900" b="1">
                          <a:solidFill>
                            <a:srgbClr val="000000"/>
                          </a:solidFill>
                          <a:latin typeface="宋体" pitchFamily="2" charset="-122"/>
                        </a:rPr>
                        <a:t>77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脂肪酶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r>
              <a:tr h="237490">
                <a:tc>
                  <a:txBody>
                    <a:bodyPr/>
                    <a:p>
                      <a:pPr indent="0" algn="ctr">
                        <a:buNone/>
                      </a:pPr>
                      <a:r>
                        <a:rPr lang="en-US" sz="900" b="1">
                          <a:solidFill>
                            <a:srgbClr val="000000"/>
                          </a:solidFill>
                          <a:latin typeface="宋体" pitchFamily="2" charset="-122"/>
                        </a:rPr>
                        <a:t>78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脂蛋白a</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8125">
                <a:tc>
                  <a:txBody>
                    <a:bodyPr/>
                    <a:p>
                      <a:pPr indent="0" algn="ctr">
                        <a:buNone/>
                      </a:pPr>
                      <a:r>
                        <a:rPr lang="en-US" sz="900" b="1">
                          <a:solidFill>
                            <a:srgbClr val="000000"/>
                          </a:solidFill>
                          <a:latin typeface="宋体" pitchFamily="2" charset="-122"/>
                        </a:rPr>
                        <a:t>79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葡萄糖</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7490">
                <a:tc>
                  <a:txBody>
                    <a:bodyPr/>
                    <a:p>
                      <a:pPr indent="0" algn="ctr">
                        <a:buNone/>
                      </a:pPr>
                      <a:r>
                        <a:rPr lang="en-US" sz="900" b="1">
                          <a:solidFill>
                            <a:srgbClr val="000000"/>
                          </a:solidFill>
                          <a:latin typeface="宋体" pitchFamily="2" charset="-122"/>
                        </a:rPr>
                        <a:t>80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血清铁</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8125">
                <a:tc>
                  <a:txBody>
                    <a:bodyPr/>
                    <a:p>
                      <a:pPr indent="0" algn="ctr">
                        <a:buNone/>
                      </a:pPr>
                      <a:r>
                        <a:rPr lang="en-US" sz="900" b="1">
                          <a:solidFill>
                            <a:srgbClr val="000000"/>
                          </a:solidFill>
                          <a:latin typeface="宋体" pitchFamily="2" charset="-122"/>
                        </a:rPr>
                        <a:t>81</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谷胱甘肽还原酶</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7490">
                <a:tc>
                  <a:txBody>
                    <a:bodyPr/>
                    <a:p>
                      <a:pPr indent="0" algn="ctr">
                        <a:buNone/>
                      </a:pPr>
                      <a:r>
                        <a:rPr lang="en-US" sz="900" b="1">
                          <a:solidFill>
                            <a:srgbClr val="000000"/>
                          </a:solidFill>
                          <a:latin typeface="宋体" pitchFamily="2" charset="-122"/>
                        </a:rPr>
                        <a:t>82</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转铁蛋白</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8125">
                <a:tc>
                  <a:txBody>
                    <a:bodyPr/>
                    <a:p>
                      <a:pPr indent="0" algn="ctr">
                        <a:buNone/>
                      </a:pPr>
                      <a:r>
                        <a:rPr lang="en-US" sz="900" b="1">
                          <a:solidFill>
                            <a:srgbClr val="000000"/>
                          </a:solidFill>
                          <a:latin typeface="宋体" pitchFamily="2" charset="-122"/>
                        </a:rPr>
                        <a:t>83</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载脂蛋白A1</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7490">
                <a:tc>
                  <a:txBody>
                    <a:bodyPr/>
                    <a:p>
                      <a:pPr indent="0" algn="ctr">
                        <a:buNone/>
                      </a:pPr>
                      <a:r>
                        <a:rPr lang="en-US" sz="900" b="1">
                          <a:solidFill>
                            <a:srgbClr val="000000"/>
                          </a:solidFill>
                          <a:latin typeface="宋体" pitchFamily="2" charset="-122"/>
                        </a:rPr>
                        <a:t>84</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载脂蛋白B</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4">
                        <a:lumMod val="60000"/>
                        <a:lumOff val="40000"/>
                      </a:schemeClr>
                    </a:solidFill>
                  </a:tcPr>
                </a:tc>
              </a:tr>
              <a:tr h="238125">
                <a:tc>
                  <a:txBody>
                    <a:bodyPr/>
                    <a:p>
                      <a:pPr indent="0" algn="ctr">
                        <a:buNone/>
                      </a:pPr>
                      <a:r>
                        <a:rPr lang="en-US" sz="900" b="1">
                          <a:solidFill>
                            <a:srgbClr val="000000"/>
                          </a:solidFill>
                          <a:latin typeface="宋体" pitchFamily="2" charset="-122"/>
                        </a:rPr>
                        <a:t>85</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钙</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37490">
                <a:tc>
                  <a:txBody>
                    <a:bodyPr/>
                    <a:p>
                      <a:pPr indent="0" algn="ctr">
                        <a:buNone/>
                      </a:pPr>
                      <a:r>
                        <a:rPr lang="en-US" sz="900" b="1">
                          <a:solidFill>
                            <a:srgbClr val="000000"/>
                          </a:solidFill>
                          <a:latin typeface="宋体" pitchFamily="2" charset="-122"/>
                        </a:rPr>
                        <a:t>86</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钠</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38125">
                <a:tc>
                  <a:txBody>
                    <a:bodyPr/>
                    <a:p>
                      <a:pPr indent="0" algn="ctr">
                        <a:buNone/>
                      </a:pPr>
                      <a:r>
                        <a:rPr lang="en-US" sz="900" b="1">
                          <a:solidFill>
                            <a:srgbClr val="000000"/>
                          </a:solidFill>
                          <a:latin typeface="宋体" pitchFamily="2" charset="-122"/>
                        </a:rPr>
                        <a:t>87</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钾</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37490">
                <a:tc>
                  <a:txBody>
                    <a:bodyPr/>
                    <a:p>
                      <a:pPr indent="0" algn="ctr">
                        <a:buNone/>
                      </a:pPr>
                      <a:r>
                        <a:rPr lang="en-US" sz="900" b="1">
                          <a:solidFill>
                            <a:srgbClr val="000000"/>
                          </a:solidFill>
                          <a:latin typeface="宋体" pitchFamily="2" charset="-122"/>
                        </a:rPr>
                        <a:t>88</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铁</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238125">
                <a:tc>
                  <a:txBody>
                    <a:bodyPr/>
                    <a:p>
                      <a:pPr indent="0" algn="ctr">
                        <a:buNone/>
                      </a:pPr>
                      <a:r>
                        <a:rPr lang="en-US" sz="900" b="1">
                          <a:solidFill>
                            <a:srgbClr val="000000"/>
                          </a:solidFill>
                          <a:latin typeface="宋体" pitchFamily="2" charset="-122"/>
                        </a:rPr>
                        <a:t>89</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镁</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75000"/>
                      </a:schemeClr>
                    </a:solidFill>
                  </a:tcPr>
                </a:tc>
              </a:tr>
              <a:tr h="377825">
                <a:tc>
                  <a:txBody>
                    <a:bodyPr/>
                    <a:p>
                      <a:pPr indent="0" algn="ctr">
                        <a:buNone/>
                      </a:pPr>
                      <a:r>
                        <a:rPr lang="en-US" sz="900" b="1">
                          <a:solidFill>
                            <a:srgbClr val="000000"/>
                          </a:solidFill>
                          <a:latin typeface="宋体" pitchFamily="2" charset="-122"/>
                        </a:rPr>
                        <a:t>90</a:t>
                      </a:r>
                      <a:endParaRPr lang="en-US" altLang="en-US" sz="900" b="1">
                        <a:solidFill>
                          <a:srgbClr val="000000"/>
                        </a:solidFill>
                        <a:latin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900" b="1">
                          <a:solidFill>
                            <a:srgbClr val="000000"/>
                          </a:solidFill>
                          <a:latin typeface="Arial" panose="020B0604020202020204" pitchFamily="34" charset="0"/>
                          <a:ea typeface="宋体" pitchFamily="2" charset="-122"/>
                        </a:rPr>
                        <a:t>高密度脂蛋白胆固醇</a:t>
                      </a:r>
                      <a:endParaRPr lang="zh-CN" altLang="en-US" sz="900" b="1">
                        <a:solidFill>
                          <a:srgbClr val="000000"/>
                        </a:solidFill>
                        <a:latin typeface="Arial" panose="020B0604020202020204" pitchFamily="34" charset="0"/>
                        <a:ea typeface="宋体"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48" name="圆角矩形 47"/>
          <p:cNvSpPr/>
          <p:nvPr/>
        </p:nvSpPr>
        <p:spPr>
          <a:xfrm>
            <a:off x="513715" y="2062480"/>
            <a:ext cx="577215" cy="20129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蛋白</a:t>
            </a:r>
            <a:endParaRPr lang="zh-CN" altLang="en-US" sz="1400" b="1">
              <a:solidFill>
                <a:schemeClr val="tx1"/>
              </a:solidFill>
            </a:endParaRPr>
          </a:p>
        </p:txBody>
      </p:sp>
      <p:sp>
        <p:nvSpPr>
          <p:cNvPr id="50" name="圆角矩形 49"/>
          <p:cNvSpPr/>
          <p:nvPr/>
        </p:nvSpPr>
        <p:spPr>
          <a:xfrm>
            <a:off x="530225" y="2562860"/>
            <a:ext cx="577215" cy="201295"/>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酶</a:t>
            </a:r>
            <a:endParaRPr lang="zh-CN" altLang="en-US"/>
          </a:p>
        </p:txBody>
      </p:sp>
      <p:sp>
        <p:nvSpPr>
          <p:cNvPr id="52" name="圆角矩形 51"/>
          <p:cNvSpPr/>
          <p:nvPr/>
        </p:nvSpPr>
        <p:spPr>
          <a:xfrm>
            <a:off x="530225" y="3063240"/>
            <a:ext cx="577215" cy="20129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抗体</a:t>
            </a:r>
            <a:endParaRPr lang="zh-CN" altLang="en-US"/>
          </a:p>
        </p:txBody>
      </p:sp>
      <p:sp>
        <p:nvSpPr>
          <p:cNvPr id="57" name="圆角矩形 56"/>
          <p:cNvSpPr/>
          <p:nvPr/>
        </p:nvSpPr>
        <p:spPr>
          <a:xfrm>
            <a:off x="530225" y="3644900"/>
            <a:ext cx="577215" cy="201295"/>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元素</a:t>
            </a:r>
            <a:endParaRPr lang="zh-CN" altLang="en-US"/>
          </a:p>
        </p:txBody>
      </p:sp>
      <p:sp>
        <p:nvSpPr>
          <p:cNvPr id="58" name="圆角矩形 57"/>
          <p:cNvSpPr/>
          <p:nvPr/>
        </p:nvSpPr>
        <p:spPr>
          <a:xfrm>
            <a:off x="530225" y="4226560"/>
            <a:ext cx="577215" cy="201295"/>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rPr>
              <a:t>凝血</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7178040" cy="626543"/>
            <a:chOff x="284882" y="285115"/>
            <a:chExt cx="7178040" cy="626543"/>
          </a:xfrm>
        </p:grpSpPr>
        <p:sp>
          <p:nvSpPr>
            <p:cNvPr id="21" name="文本框 20"/>
            <p:cNvSpPr txBox="1"/>
            <p:nvPr/>
          </p:nvSpPr>
          <p:spPr>
            <a:xfrm>
              <a:off x="831617" y="285115"/>
              <a:ext cx="6631305"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Refine-</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数据</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探索</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grpSp>
        <p:nvGrpSpPr>
          <p:cNvPr id="50" name="组合 49"/>
          <p:cNvGrpSpPr/>
          <p:nvPr/>
        </p:nvGrpSpPr>
        <p:grpSpPr>
          <a:xfrm>
            <a:off x="772160" y="1357630"/>
            <a:ext cx="10897235" cy="4737100"/>
            <a:chOff x="1303" y="2138"/>
            <a:chExt cx="17161" cy="7460"/>
          </a:xfrm>
        </p:grpSpPr>
        <p:sp>
          <p:nvSpPr>
            <p:cNvPr id="25" name="任意多边形: 形状 24"/>
            <p:cNvSpPr/>
            <p:nvPr/>
          </p:nvSpPr>
          <p:spPr>
            <a:xfrm>
              <a:off x="17840" y="7820"/>
              <a:ext cx="625" cy="1286"/>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3" name="图片 32"/>
            <p:cNvPicPr>
              <a:picLocks noChangeAspect="1"/>
            </p:cNvPicPr>
            <p:nvPr/>
          </p:nvPicPr>
          <p:blipFill>
            <a:blip r:embed="rId2"/>
            <a:stretch>
              <a:fillRect/>
            </a:stretch>
          </p:blipFill>
          <p:spPr>
            <a:xfrm>
              <a:off x="1303" y="2138"/>
              <a:ext cx="8730" cy="7201"/>
            </a:xfrm>
            <a:prstGeom prst="rect">
              <a:avLst/>
            </a:prstGeom>
          </p:spPr>
        </p:pic>
        <p:pic>
          <p:nvPicPr>
            <p:cNvPr id="48" name="图片 47"/>
            <p:cNvPicPr>
              <a:picLocks noChangeAspect="1"/>
            </p:cNvPicPr>
            <p:nvPr/>
          </p:nvPicPr>
          <p:blipFill>
            <a:blip r:embed="rId3"/>
            <a:stretch>
              <a:fillRect/>
            </a:stretch>
          </p:blipFill>
          <p:spPr>
            <a:xfrm>
              <a:off x="9405" y="2138"/>
              <a:ext cx="9021" cy="7461"/>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Refine-</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数据清</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洗</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graphicFrame>
        <p:nvGraphicFramePr>
          <p:cNvPr id="75" name="表格 74"/>
          <p:cNvGraphicFramePr/>
          <p:nvPr>
            <p:custDataLst>
              <p:tags r:id="rId2"/>
            </p:custDataLst>
          </p:nvPr>
        </p:nvGraphicFramePr>
        <p:xfrm>
          <a:off x="5647690" y="1775460"/>
          <a:ext cx="1300480" cy="2108200"/>
        </p:xfrm>
        <a:graphic>
          <a:graphicData uri="http://schemas.openxmlformats.org/drawingml/2006/table">
            <a:tbl>
              <a:tblPr firstRow="1" bandRow="1">
                <a:tableStyleId>{5C22544A-7EE6-4342-B048-85BDC9FD1C3A}</a:tableStyleId>
              </a:tblPr>
              <a:tblGrid>
                <a:gridCol w="650240"/>
                <a:gridCol w="650240"/>
              </a:tblGrid>
              <a:tr h="515620">
                <a:tc>
                  <a:txBody>
                    <a:bodyPr/>
                    <a:p>
                      <a:pPr indent="0" algn="ctr">
                        <a:lnSpc>
                          <a:spcPct val="300000"/>
                        </a:lnSpc>
                        <a:buNone/>
                      </a:pPr>
                      <a:r>
                        <a:rPr lang="en-US" sz="1000" b="0">
                          <a:solidFill>
                            <a:srgbClr val="000000"/>
                          </a:solidFill>
                          <a:latin typeface="宋体" pitchFamily="2" charset="-122"/>
                        </a:rPr>
                        <a:t>&lt;0.10</a:t>
                      </a:r>
                      <a:endParaRPr lang="en-US" altLang="en-US" sz="1000" b="0">
                        <a:solidFill>
                          <a:srgbClr val="000000"/>
                        </a:solidFill>
                        <a:latin typeface="宋体" pitchFamily="2" charset="-122"/>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2"/>
                    </a:solidFill>
                  </a:tcPr>
                </a:tc>
                <a:tc>
                  <a:txBody>
                    <a:bodyPr/>
                    <a:p>
                      <a:pPr indent="0" algn="ctr">
                        <a:lnSpc>
                          <a:spcPct val="300000"/>
                        </a:lnSpc>
                        <a:buNone/>
                      </a:pPr>
                      <a:r>
                        <a:rPr lang="en-US" altLang="en-US" sz="1000" b="0">
                          <a:solidFill>
                            <a:srgbClr val="000000"/>
                          </a:solidFill>
                          <a:latin typeface="宋体" pitchFamily="2" charset="-122"/>
                        </a:rPr>
                        <a:t>0.10</a:t>
                      </a:r>
                      <a:endParaRPr lang="en-US" altLang="en-US" sz="1000" b="0">
                        <a:solidFill>
                          <a:srgbClr val="000000"/>
                        </a:solidFill>
                        <a:latin typeface="宋体" pitchFamily="2" charset="-122"/>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solidFill>
                  </a:tcPr>
                </a:tc>
              </a:tr>
              <a:tr h="0">
                <a:tc>
                  <a:txBody>
                    <a:bodyPr/>
                    <a:p>
                      <a:pPr indent="0" algn="ctr">
                        <a:lnSpc>
                          <a:spcPct val="300000"/>
                        </a:lnSpc>
                        <a:buNone/>
                      </a:pPr>
                      <a:r>
                        <a:rPr lang="en-US" altLang="en-US" sz="1000" b="0">
                          <a:solidFill>
                            <a:srgbClr val="000000"/>
                          </a:solidFill>
                          <a:latin typeface="宋体" pitchFamily="2" charset="-122"/>
                        </a:rPr>
                        <a:t>0.123 阴性</a:t>
                      </a:r>
                      <a:endParaRPr lang="en-US" altLang="en-US" sz="1000" b="0">
                        <a:solidFill>
                          <a:srgbClr val="000000"/>
                        </a:solidFill>
                        <a:latin typeface="宋体" pitchFamily="2" charset="-122"/>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2"/>
                    </a:solidFill>
                  </a:tcPr>
                </a:tc>
                <a:tc>
                  <a:txBody>
                    <a:bodyPr/>
                    <a:p>
                      <a:pPr indent="0" algn="ctr">
                        <a:lnSpc>
                          <a:spcPct val="300000"/>
                        </a:lnSpc>
                        <a:buNone/>
                      </a:pPr>
                      <a:r>
                        <a:rPr lang="en-US" altLang="en-US" sz="1000">
                          <a:solidFill>
                            <a:srgbClr val="000000"/>
                          </a:solidFill>
                          <a:latin typeface="宋体" pitchFamily="2" charset="-122"/>
                          <a:sym typeface="+mn-ea"/>
                        </a:rPr>
                        <a:t>0.123</a:t>
                      </a:r>
                      <a:endParaRPr lang="en-US" altLang="en-US" sz="1000" b="0">
                        <a:solidFill>
                          <a:srgbClr val="000000"/>
                        </a:solidFill>
                        <a:latin typeface="宋体" pitchFamily="2" charset="-122"/>
                        <a:sym typeface="+mn-ea"/>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solidFill>
                  </a:tcPr>
                </a:tc>
              </a:tr>
              <a:tr h="0">
                <a:tc>
                  <a:txBody>
                    <a:bodyPr/>
                    <a:p>
                      <a:pPr indent="0" algn="ctr">
                        <a:lnSpc>
                          <a:spcPct val="300000"/>
                        </a:lnSpc>
                        <a:buNone/>
                      </a:pPr>
                      <a:r>
                        <a:rPr lang="en-US" altLang="en-US" sz="1000" b="0">
                          <a:solidFill>
                            <a:srgbClr val="000000"/>
                          </a:solidFill>
                          <a:latin typeface="宋体" pitchFamily="2" charset="-122"/>
                        </a:rPr>
                        <a:t>65.kg</a:t>
                      </a:r>
                      <a:endParaRPr lang="en-US" altLang="en-US" sz="1000" b="0">
                        <a:solidFill>
                          <a:srgbClr val="000000"/>
                        </a:solidFill>
                        <a:latin typeface="宋体" pitchFamily="2" charset="-122"/>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2"/>
                    </a:solidFill>
                  </a:tcPr>
                </a:tc>
                <a:tc>
                  <a:txBody>
                    <a:bodyPr/>
                    <a:p>
                      <a:pPr indent="0" algn="ctr">
                        <a:lnSpc>
                          <a:spcPct val="300000"/>
                        </a:lnSpc>
                        <a:buNone/>
                      </a:pPr>
                      <a:r>
                        <a:rPr lang="en-US" altLang="en-US" sz="1000">
                          <a:solidFill>
                            <a:srgbClr val="000000"/>
                          </a:solidFill>
                          <a:latin typeface="宋体" pitchFamily="2" charset="-122"/>
                          <a:sym typeface="+mn-ea"/>
                        </a:rPr>
                        <a:t>65.0</a:t>
                      </a:r>
                      <a:endParaRPr lang="en-US" altLang="en-US" sz="1000" b="0">
                        <a:solidFill>
                          <a:srgbClr val="000000"/>
                        </a:solidFill>
                        <a:latin typeface="宋体" pitchFamily="2" charset="-122"/>
                        <a:sym typeface="+mn-ea"/>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solidFill>
                  </a:tcPr>
                </a:tc>
              </a:tr>
              <a:tr h="561340">
                <a:tc>
                  <a:txBody>
                    <a:bodyPr/>
                    <a:p>
                      <a:pPr indent="0" algn="ctr">
                        <a:lnSpc>
                          <a:spcPct val="300000"/>
                        </a:lnSpc>
                        <a:buNone/>
                      </a:pPr>
                      <a:r>
                        <a:rPr lang="en-US" altLang="en-US" sz="1000" b="0">
                          <a:solidFill>
                            <a:srgbClr val="000000"/>
                          </a:solidFill>
                          <a:latin typeface="宋体" pitchFamily="2" charset="-122"/>
                        </a:rPr>
                        <a:t>1032.0 HH</a:t>
                      </a:r>
                      <a:endParaRPr lang="en-US" altLang="en-US" sz="1000" b="0">
                        <a:solidFill>
                          <a:srgbClr val="000000"/>
                        </a:solidFill>
                        <a:latin typeface="宋体" pitchFamily="2" charset="-122"/>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2"/>
                    </a:solidFill>
                  </a:tcPr>
                </a:tc>
                <a:tc>
                  <a:txBody>
                    <a:bodyPr/>
                    <a:p>
                      <a:pPr indent="0" algn="ctr">
                        <a:lnSpc>
                          <a:spcPct val="300000"/>
                        </a:lnSpc>
                        <a:buNone/>
                      </a:pPr>
                      <a:r>
                        <a:rPr lang="en-US" altLang="en-US" sz="1000">
                          <a:solidFill>
                            <a:srgbClr val="000000"/>
                          </a:solidFill>
                          <a:latin typeface="宋体" pitchFamily="2" charset="-122"/>
                          <a:sym typeface="+mn-ea"/>
                        </a:rPr>
                        <a:t>1032.0</a:t>
                      </a:r>
                      <a:endParaRPr lang="en-US" altLang="en-US" sz="1000" b="0">
                        <a:solidFill>
                          <a:srgbClr val="000000"/>
                        </a:solidFill>
                        <a:latin typeface="宋体" pitchFamily="2" charset="-122"/>
                        <a:sym typeface="+mn-ea"/>
                      </a:endParaRPr>
                    </a:p>
                  </a:txBody>
                  <a:tcPr marL="12700" marR="12700" marT="12700" vert="horz" anchor="b"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6"/>
                    </a:solidFill>
                  </a:tcPr>
                </a:tc>
              </a:tr>
            </a:tbl>
          </a:graphicData>
        </a:graphic>
      </p:graphicFrame>
      <p:pic>
        <p:nvPicPr>
          <p:cNvPr id="80" name="图片 79"/>
          <p:cNvPicPr>
            <a:picLocks noChangeAspect="1"/>
          </p:cNvPicPr>
          <p:nvPr>
            <p:custDataLst>
              <p:tags r:id="rId3"/>
            </p:custDataLst>
          </p:nvPr>
        </p:nvPicPr>
        <p:blipFill>
          <a:blip r:embed="rId4"/>
          <a:stretch>
            <a:fillRect/>
          </a:stretch>
        </p:blipFill>
        <p:spPr>
          <a:xfrm>
            <a:off x="7636510" y="1775460"/>
            <a:ext cx="2980055" cy="3575685"/>
          </a:xfrm>
          <a:prstGeom prst="rect">
            <a:avLst/>
          </a:prstGeom>
        </p:spPr>
      </p:pic>
      <p:pic>
        <p:nvPicPr>
          <p:cNvPr id="86" name="图片 85"/>
          <p:cNvPicPr>
            <a:picLocks noChangeAspect="1"/>
          </p:cNvPicPr>
          <p:nvPr/>
        </p:nvPicPr>
        <p:blipFill>
          <a:blip r:embed="rId5"/>
          <a:stretch>
            <a:fillRect/>
          </a:stretch>
        </p:blipFill>
        <p:spPr>
          <a:xfrm>
            <a:off x="991235" y="1170940"/>
            <a:ext cx="4294505" cy="4516120"/>
          </a:xfrm>
          <a:prstGeom prst="rect">
            <a:avLst/>
          </a:prstGeom>
        </p:spPr>
      </p:pic>
      <p:sp>
        <p:nvSpPr>
          <p:cNvPr id="87" name="文本框 86"/>
          <p:cNvSpPr txBox="1"/>
          <p:nvPr/>
        </p:nvSpPr>
        <p:spPr>
          <a:xfrm>
            <a:off x="5749290" y="1170940"/>
            <a:ext cx="1099820" cy="368300"/>
          </a:xfrm>
          <a:prstGeom prst="rect">
            <a:avLst/>
          </a:prstGeom>
          <a:noFill/>
        </p:spPr>
        <p:txBody>
          <a:bodyPr wrap="none" rtlCol="0" anchor="t">
            <a:spAutoFit/>
          </a:bodyPr>
          <a:p>
            <a:r>
              <a:rPr lang="zh-CN" altLang="en-US" b="1">
                <a:latin typeface="汉仪中宋简" panose="02010600000101010101" charset="-122"/>
                <a:ea typeface="汉仪中宋简" panose="02010600000101010101" charset="-122"/>
                <a:cs typeface="汉仪中宋简" panose="02010600000101010101" charset="-122"/>
                <a:sym typeface="+mn-ea"/>
              </a:rPr>
              <a:t>噪音数据</a:t>
            </a:r>
            <a:endParaRPr lang="zh-CN" altLang="en-US" b="1"/>
          </a:p>
        </p:txBody>
      </p:sp>
      <p:sp>
        <p:nvSpPr>
          <p:cNvPr id="88" name="文本框 87"/>
          <p:cNvSpPr txBox="1"/>
          <p:nvPr/>
        </p:nvSpPr>
        <p:spPr>
          <a:xfrm>
            <a:off x="7526020" y="1170940"/>
            <a:ext cx="1099820" cy="368300"/>
          </a:xfrm>
          <a:prstGeom prst="rect">
            <a:avLst/>
          </a:prstGeom>
          <a:noFill/>
        </p:spPr>
        <p:txBody>
          <a:bodyPr wrap="none" rtlCol="0" anchor="t">
            <a:spAutoFit/>
          </a:bodyPr>
          <a:p>
            <a:r>
              <a:rPr lang="zh-CN" b="1">
                <a:latin typeface="汉仪中宋简" panose="02010600000101010101" charset="-122"/>
                <a:ea typeface="汉仪中宋简" panose="02010600000101010101" charset="-122"/>
                <a:sym typeface="+mn-ea"/>
              </a:rPr>
              <a:t>参考范围</a:t>
            </a:r>
            <a:endParaRPr lang="zh-CN" altLang="en-US" b="1"/>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sp>
        <p:nvSpPr>
          <p:cNvPr id="20" name="文本框 19"/>
          <p:cNvSpPr txBox="1"/>
          <p:nvPr/>
        </p:nvSpPr>
        <p:spPr>
          <a:xfrm>
            <a:off x="6001221" y="20633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922613" y="2644594"/>
            <a:ext cx="5644374" cy="2061210"/>
          </a:xfrm>
          <a:prstGeom prst="rect">
            <a:avLst/>
          </a:prstGeom>
          <a:noFill/>
        </p:spPr>
        <p:txBody>
          <a:bodyPr wrap="square" rtlCol="0">
            <a:spAutoFit/>
          </a:bodyPr>
          <a:lstStyle/>
          <a:p>
            <a:pPr algn="dist"/>
            <a:r>
              <a:rPr lang="zh-CN" altLang="en-US" sz="6400" b="1" dirty="0">
                <a:solidFill>
                  <a:schemeClr val="bg1"/>
                </a:solidFill>
                <a:latin typeface="华文楷体" panose="02010600040101010101" charset="-122"/>
                <a:ea typeface="华文楷体" panose="02010600040101010101" charset="-122"/>
                <a:cs typeface="+mn-ea"/>
                <a:sym typeface="+mn-lt"/>
              </a:rPr>
              <a:t>解决方案</a:t>
            </a:r>
            <a:endParaRPr lang="zh-CN" altLang="en-US" sz="6400" b="1" dirty="0">
              <a:solidFill>
                <a:schemeClr val="bg1"/>
              </a:solidFill>
              <a:latin typeface="华文楷体" panose="02010600040101010101" charset="-122"/>
              <a:ea typeface="华文楷体" panose="02010600040101010101" charset="-122"/>
              <a:cs typeface="+mn-ea"/>
              <a:sym typeface="+mn-lt"/>
            </a:endParaRPr>
          </a:p>
          <a:p>
            <a:pPr algn="dist"/>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3"/>
            </p:custDataLst>
          </p:nvPr>
        </p:nvSpPr>
        <p:spPr>
          <a:xfrm>
            <a:off x="6079692" y="3925277"/>
            <a:ext cx="4049919" cy="802848"/>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Click here to enter your text, change the color or size of the text. 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32" name="文本框 31"/>
          <p:cNvSpPr txBox="1"/>
          <p:nvPr/>
        </p:nvSpPr>
        <p:spPr>
          <a:xfrm>
            <a:off x="1513000" y="2247227"/>
            <a:ext cx="3541600" cy="2215991"/>
          </a:xfrm>
          <a:prstGeom prst="rect">
            <a:avLst/>
          </a:prstGeom>
          <a:noFill/>
        </p:spPr>
        <p:txBody>
          <a:bodyPr wrap="square" rtlCol="0">
            <a:spAutoFit/>
          </a:bodyPr>
          <a:lstStyle/>
          <a:p>
            <a:pPr algn="ctr"/>
            <a:r>
              <a:rPr lang="en-US" altLang="zh-CN" sz="1380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rPr>
              <a:t>02.</a:t>
            </a:r>
            <a:endParaRPr lang="zh-CN" altLang="en-US"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endParaRPr>
          </a:p>
        </p:txBody>
      </p:sp>
      <p:sp>
        <p:nvSpPr>
          <p:cNvPr id="37" name="矩形: 圆角 36"/>
          <p:cNvSpPr/>
          <p:nvPr/>
        </p:nvSpPr>
        <p:spPr>
          <a:xfrm flipV="1">
            <a:off x="6063043" y="5162164"/>
            <a:ext cx="1048957" cy="45719"/>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grpSp>
        <p:nvGrpSpPr>
          <p:cNvPr id="13" name="组合 12"/>
          <p:cNvGrpSpPr/>
          <p:nvPr/>
        </p:nvGrpSpPr>
        <p:grpSpPr>
          <a:xfrm>
            <a:off x="4058577" y="4375150"/>
            <a:ext cx="1384300" cy="1384300"/>
            <a:chOff x="4058577" y="4375150"/>
            <a:chExt cx="1384300" cy="1384300"/>
          </a:xfrm>
        </p:grpSpPr>
        <p:sp>
          <p:nvSpPr>
            <p:cNvPr id="9" name="椭圆 8"/>
            <p:cNvSpPr/>
            <p:nvPr/>
          </p:nvSpPr>
          <p:spPr>
            <a:xfrm>
              <a:off x="4058577" y="4375150"/>
              <a:ext cx="1384300" cy="1384300"/>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sp>
        <p:nvSpPr>
          <p:cNvPr id="15" name="文本框 14"/>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15066" y="419227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7108825" cy="626543"/>
            <a:chOff x="284882" y="285115"/>
            <a:chExt cx="7108825" cy="626543"/>
          </a:xfrm>
        </p:grpSpPr>
        <p:sp>
          <p:nvSpPr>
            <p:cNvPr id="21" name="文本框 20"/>
            <p:cNvSpPr txBox="1"/>
            <p:nvPr/>
          </p:nvSpPr>
          <p:spPr>
            <a:xfrm>
              <a:off x="831617" y="285115"/>
              <a:ext cx="656209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算法建模</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基于结构化的预训练</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模型</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文本框 14"/>
          <p:cNvSpPr txBox="1"/>
          <p:nvPr/>
        </p:nvSpPr>
        <p:spPr>
          <a:xfrm>
            <a:off x="1361440" y="1080770"/>
            <a:ext cx="3914140" cy="645160"/>
          </a:xfrm>
          <a:prstGeom prst="rect">
            <a:avLst/>
          </a:prstGeom>
          <a:noFill/>
        </p:spPr>
        <p:txBody>
          <a:bodyPr wrap="square">
            <a:spAutoFit/>
          </a:bodyPr>
          <a:p>
            <a:r>
              <a:rPr lang="en-US" sz="3600" b="1" dirty="0">
                <a:latin typeface="Arial Black" panose="020B0A04020102020204" charset="0"/>
                <a:ea typeface="微软雅黑" pitchFamily="34" charset="-122"/>
                <a:cs typeface="Arial Black" panose="020B0A04020102020204" charset="0"/>
                <a:sym typeface="Arial" panose="020B0604020202020204" pitchFamily="34" charset="0"/>
              </a:rPr>
              <a:t>How?</a:t>
            </a:r>
            <a:endParaRPr lang="en-US" sz="3600" b="1" dirty="0">
              <a:solidFill>
                <a:srgbClr val="FF0000"/>
              </a:solidFill>
              <a:latin typeface="Arial Black" panose="020B0A04020102020204" charset="0"/>
              <a:ea typeface="微软雅黑" pitchFamily="34" charset="-122"/>
              <a:cs typeface="Arial Black" panose="020B0A04020102020204" charset="0"/>
              <a:sym typeface="Arial" panose="020B0604020202020204" pitchFamily="34" charset="0"/>
            </a:endParaRPr>
          </a:p>
        </p:txBody>
      </p:sp>
      <p:pic>
        <p:nvPicPr>
          <p:cNvPr id="16" name="图片 15" descr="未命名文件(7)"/>
          <p:cNvPicPr>
            <a:picLocks noChangeAspect="1"/>
          </p:cNvPicPr>
          <p:nvPr/>
        </p:nvPicPr>
        <p:blipFill>
          <a:blip r:embed="rId2"/>
          <a:stretch>
            <a:fillRect/>
          </a:stretch>
        </p:blipFill>
        <p:spPr>
          <a:xfrm>
            <a:off x="1109345" y="2701290"/>
            <a:ext cx="9762490" cy="3489960"/>
          </a:xfrm>
          <a:prstGeom prst="rect">
            <a:avLst/>
          </a:prstGeom>
        </p:spPr>
      </p:pic>
      <p:sp>
        <p:nvSpPr>
          <p:cNvPr id="17" name="文本框 16"/>
          <p:cNvSpPr txBox="1"/>
          <p:nvPr/>
        </p:nvSpPr>
        <p:spPr>
          <a:xfrm>
            <a:off x="1335405" y="1779270"/>
            <a:ext cx="10126980" cy="922020"/>
          </a:xfrm>
          <a:prstGeom prst="rect">
            <a:avLst/>
          </a:prstGeom>
          <a:noFill/>
        </p:spPr>
        <p:txBody>
          <a:bodyPr wrap="square" rtlCol="0">
            <a:spAutoFit/>
          </a:bodyPr>
          <a:p>
            <a:r>
              <a:rPr lang="zh-CN" altLang="en-US"/>
              <a:t>模型主要思路为根据患者检查数据做结构化表格的特征工程，之后将文本信息通过词袋特征降维和</a:t>
            </a:r>
            <a:r>
              <a:rPr lang="en-US" altLang="zh-CN"/>
              <a:t>Bert</a:t>
            </a:r>
            <a:r>
              <a:rPr lang="zh-CN" altLang="en-US"/>
              <a:t>二分类概率两种方式去学习，然后拼接三部分特征输入到树模型进行学习，最后对</a:t>
            </a:r>
            <a:r>
              <a:rPr lang="en-US" altLang="zh-CN"/>
              <a:t>VTE</a:t>
            </a:r>
            <a:r>
              <a:rPr lang="zh-CN" altLang="en-US"/>
              <a:t>风险进行预测。</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特征工程</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Featuretools</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pic>
        <p:nvPicPr>
          <p:cNvPr id="18" name="图片 17"/>
          <p:cNvPicPr>
            <a:picLocks noChangeAspect="1"/>
          </p:cNvPicPr>
          <p:nvPr/>
        </p:nvPicPr>
        <p:blipFill>
          <a:blip r:embed="rId2"/>
          <a:stretch>
            <a:fillRect/>
          </a:stretch>
        </p:blipFill>
        <p:spPr>
          <a:xfrm>
            <a:off x="1816735" y="1948180"/>
            <a:ext cx="8448040" cy="4022090"/>
          </a:xfrm>
          <a:prstGeom prst="rect">
            <a:avLst/>
          </a:prstGeom>
        </p:spPr>
      </p:pic>
      <p:sp>
        <p:nvSpPr>
          <p:cNvPr id="46" name="文本框 45"/>
          <p:cNvSpPr txBox="1"/>
          <p:nvPr/>
        </p:nvSpPr>
        <p:spPr>
          <a:xfrm>
            <a:off x="1188442" y="1528342"/>
            <a:ext cx="8145780" cy="706755"/>
          </a:xfrm>
          <a:prstGeom prst="rect">
            <a:avLst/>
          </a:prstGeom>
          <a:noFill/>
        </p:spPr>
        <p:txBody>
          <a:bodyPr wrap="none" rtlCol="0">
            <a:spAutoFit/>
          </a:bodyPr>
          <a:p>
            <a:pPr marL="342900" indent="-342900" algn="l">
              <a:buFont typeface="Arial" panose="020B0604020202020204" pitchFamily="34" charset="0"/>
              <a:buChar char="•"/>
            </a:pPr>
            <a:r>
              <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ea"/>
              </a:rPr>
              <a:t>检查项累加特征：按照检查项所属类别进行累加，得出该维度下总和</a:t>
            </a:r>
            <a:endPar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endParaRPr>
          </a:p>
          <a:p>
            <a:endPar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特征工程</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Featuretools</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55" name="文本框 54"/>
          <p:cNvSpPr txBox="1"/>
          <p:nvPr/>
        </p:nvSpPr>
        <p:spPr>
          <a:xfrm>
            <a:off x="732155" y="1229995"/>
            <a:ext cx="10582275" cy="1151255"/>
          </a:xfrm>
          <a:prstGeom prst="rect">
            <a:avLst/>
          </a:prstGeom>
          <a:noFill/>
        </p:spPr>
        <p:txBody>
          <a:bodyPr wrap="square" rtlCol="0">
            <a:noAutofit/>
          </a:bodyPr>
          <a:p>
            <a:pPr marL="342900" indent="-342900">
              <a:buFont typeface="Arial" panose="020B0604020202020204" pitchFamily="34" charset="0"/>
              <a:buChar char="•"/>
            </a:pPr>
            <a:r>
              <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rPr>
              <a:t>检验明细项目的检查结果与参考范围的最大值与最小值的差值。</a:t>
            </a:r>
            <a:endPar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endParaRPr>
          </a:p>
          <a:p>
            <a:pPr marL="342900" indent="-342900">
              <a:buFont typeface="Arial" panose="020B0604020202020204" pitchFamily="34" charset="0"/>
              <a:buChar char="•"/>
            </a:pPr>
            <a:r>
              <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ea"/>
              </a:rPr>
              <a:t>检验项差值对比采用了相减与相除两种计算方式</a:t>
            </a:r>
            <a:endPar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endParaRPr>
          </a:p>
        </p:txBody>
      </p:sp>
      <p:pic>
        <p:nvPicPr>
          <p:cNvPr id="22" name="图片 21"/>
          <p:cNvPicPr>
            <a:picLocks noChangeAspect="1"/>
          </p:cNvPicPr>
          <p:nvPr/>
        </p:nvPicPr>
        <p:blipFill>
          <a:blip r:embed="rId2"/>
          <a:stretch>
            <a:fillRect/>
          </a:stretch>
        </p:blipFill>
        <p:spPr>
          <a:xfrm>
            <a:off x="1649730" y="2010410"/>
            <a:ext cx="8519795" cy="41090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1"/>
          <a:stretch>
            <a:fillRect/>
          </a:stretch>
        </p:blipFill>
        <p:spPr>
          <a:xfrm>
            <a:off x="1723390" y="1189990"/>
            <a:ext cx="8818880" cy="4954905"/>
          </a:xfrm>
          <a:prstGeom prst="rect">
            <a:avLst/>
          </a:prstGeom>
        </p:spPr>
      </p:pic>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273156" y="4689475"/>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特征工程</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Featuretools</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58" name="文本框 57"/>
          <p:cNvSpPr txBox="1"/>
          <p:nvPr/>
        </p:nvSpPr>
        <p:spPr>
          <a:xfrm>
            <a:off x="831850" y="1079500"/>
            <a:ext cx="2846070" cy="583565"/>
          </a:xfrm>
          <a:prstGeom prst="rect">
            <a:avLst/>
          </a:prstGeom>
          <a:noFill/>
        </p:spPr>
        <p:txBody>
          <a:bodyPr wrap="square" rtlCol="0">
            <a:noAutofit/>
          </a:bodyPr>
          <a:p>
            <a:pPr marL="342900" indent="-342900">
              <a:buFont typeface="Arial" panose="020B0604020202020204" pitchFamily="34" charset="0"/>
              <a:buChar char="•"/>
            </a:pPr>
            <a:r>
              <a:rPr lang="zh-CN" altLang="en-US" sz="2000" b="1">
                <a:latin typeface="汉仪中宋简" panose="02010600000101010101" charset="-122"/>
                <a:ea typeface="汉仪中宋简" panose="02010600000101010101" charset="-122"/>
                <a:cs typeface="汉仪中宋简" panose="02010600000101010101" charset="-122"/>
              </a:rPr>
              <a:t>聚合特征</a:t>
            </a:r>
            <a:endParaRPr lang="zh-CN" altLang="en-US" sz="2000" b="1">
              <a:latin typeface="汉仪中宋简" panose="02010600000101010101" charset="-122"/>
              <a:ea typeface="汉仪中宋简" panose="02010600000101010101" charset="-122"/>
              <a:cs typeface="汉仪中宋简" panose="0201060000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5059045"/>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特征筛选</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SHAP</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右箭头 14"/>
          <p:cNvSpPr/>
          <p:nvPr/>
        </p:nvSpPr>
        <p:spPr>
          <a:xfrm>
            <a:off x="5744210" y="4086225"/>
            <a:ext cx="891540" cy="24384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a:p>
        </p:txBody>
      </p:sp>
      <p:pic>
        <p:nvPicPr>
          <p:cNvPr id="16" name="图片 15"/>
          <p:cNvPicPr>
            <a:picLocks noChangeAspect="1"/>
          </p:cNvPicPr>
          <p:nvPr/>
        </p:nvPicPr>
        <p:blipFill>
          <a:blip r:embed="rId2"/>
          <a:stretch>
            <a:fillRect/>
          </a:stretch>
        </p:blipFill>
        <p:spPr>
          <a:xfrm>
            <a:off x="1033145" y="3157855"/>
            <a:ext cx="4028440" cy="2715895"/>
          </a:xfrm>
          <a:prstGeom prst="rect">
            <a:avLst/>
          </a:prstGeom>
        </p:spPr>
      </p:pic>
      <p:pic>
        <p:nvPicPr>
          <p:cNvPr id="17" name="图片 16"/>
          <p:cNvPicPr>
            <a:picLocks noChangeAspect="1"/>
          </p:cNvPicPr>
          <p:nvPr/>
        </p:nvPicPr>
        <p:blipFill>
          <a:blip r:embed="rId3"/>
          <a:stretch>
            <a:fillRect/>
          </a:stretch>
        </p:blipFill>
        <p:spPr>
          <a:xfrm>
            <a:off x="2642235" y="5485130"/>
            <a:ext cx="1920240" cy="407035"/>
          </a:xfrm>
          <a:prstGeom prst="rect">
            <a:avLst/>
          </a:prstGeom>
        </p:spPr>
      </p:pic>
      <p:pic>
        <p:nvPicPr>
          <p:cNvPr id="18" name="图片 17"/>
          <p:cNvPicPr>
            <a:picLocks noChangeAspect="1"/>
          </p:cNvPicPr>
          <p:nvPr/>
        </p:nvPicPr>
        <p:blipFill>
          <a:blip r:embed="rId4"/>
          <a:stretch>
            <a:fillRect/>
          </a:stretch>
        </p:blipFill>
        <p:spPr>
          <a:xfrm>
            <a:off x="7468870" y="3176270"/>
            <a:ext cx="3300095" cy="2826385"/>
          </a:xfrm>
          <a:prstGeom prst="rect">
            <a:avLst/>
          </a:prstGeom>
        </p:spPr>
      </p:pic>
      <p:pic>
        <p:nvPicPr>
          <p:cNvPr id="19" name="图片 18"/>
          <p:cNvPicPr>
            <a:picLocks noChangeAspect="1"/>
          </p:cNvPicPr>
          <p:nvPr/>
        </p:nvPicPr>
        <p:blipFill>
          <a:blip r:embed="rId5"/>
          <a:stretch>
            <a:fillRect/>
          </a:stretch>
        </p:blipFill>
        <p:spPr>
          <a:xfrm>
            <a:off x="9939020" y="5758815"/>
            <a:ext cx="829945" cy="243840"/>
          </a:xfrm>
          <a:prstGeom prst="rect">
            <a:avLst/>
          </a:prstGeom>
        </p:spPr>
      </p:pic>
      <p:sp>
        <p:nvSpPr>
          <p:cNvPr id="20" name="文本框 19"/>
          <p:cNvSpPr txBox="1"/>
          <p:nvPr/>
        </p:nvSpPr>
        <p:spPr>
          <a:xfrm>
            <a:off x="554355" y="1484630"/>
            <a:ext cx="10789285" cy="1476375"/>
          </a:xfrm>
          <a:prstGeom prst="rect">
            <a:avLst/>
          </a:prstGeom>
          <a:noFill/>
        </p:spPr>
        <p:txBody>
          <a:bodyPr wrap="square" rtlCol="0" anchor="t">
            <a:spAutoFit/>
          </a:bodyPr>
          <a:p>
            <a:pPr marL="285750" indent="-285750">
              <a:buFont typeface="Arial" panose="020B0604020202020204" pitchFamily="34" charset="0"/>
              <a:buChar char="•"/>
            </a:pPr>
            <a:r>
              <a:rPr lang="zh-CN" altLang="en-US">
                <a:latin typeface="汉仪中宋简" panose="02010600000101010101" charset="-122"/>
                <a:ea typeface="汉仪中宋简" panose="02010600000101010101" charset="-122"/>
                <a:cs typeface="汉仪中宋简" panose="02010600000101010101" charset="-122"/>
              </a:rPr>
              <a:t>SHAP是</a:t>
            </a:r>
            <a:r>
              <a:rPr lang="zh-CN" altLang="en-US">
                <a:latin typeface="汉仪中宋简" panose="02010600000101010101" charset="-122"/>
                <a:ea typeface="汉仪中宋简" panose="02010600000101010101" charset="-122"/>
                <a:cs typeface="汉仪中宋简" panose="02010600000101010101" charset="-122"/>
              </a:rPr>
              <a:t>谷歌个开发的一个"模型解释"包，可以解释任何机器学习模型的输出。</a:t>
            </a: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Arial" panose="020B0604020202020204" pitchFamily="34" charset="0"/>
              <a:buChar char="•"/>
            </a:pP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Arial" panose="020B0604020202020204" pitchFamily="34" charset="0"/>
              <a:buChar char="•"/>
            </a:pPr>
            <a:r>
              <a:rPr lang="zh-CN" altLang="en-US">
                <a:latin typeface="汉仪中宋简" panose="02010600000101010101" charset="-122"/>
                <a:ea typeface="汉仪中宋简" panose="02010600000101010101" charset="-122"/>
                <a:cs typeface="汉仪中宋简" panose="02010600000101010101" charset="-122"/>
              </a:rPr>
              <a:t>在合作博弈论的启发下SHAP构建一个加性的解释模型，所有的特征都视为“贡献者”。</a:t>
            </a: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Arial" panose="020B0604020202020204" pitchFamily="34" charset="0"/>
              <a:buChar char="•"/>
            </a:pP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Arial" panose="020B0604020202020204" pitchFamily="34" charset="0"/>
              <a:buChar char="•"/>
            </a:pPr>
            <a:r>
              <a:rPr lang="zh-CN" altLang="en-US">
                <a:latin typeface="汉仪中宋简" panose="02010600000101010101" charset="-122"/>
                <a:ea typeface="汉仪中宋简" panose="02010600000101010101" charset="-122"/>
                <a:cs typeface="汉仪中宋简" panose="02010600000101010101" charset="-122"/>
              </a:rPr>
              <a:t>对于每个预测样本，模型都产生一个预测值，SHAP value就是该样本中每个特征所分配到的数值。</a:t>
            </a:r>
            <a:endParaRPr lang="zh-CN" altLang="en-US">
              <a:latin typeface="汉仪中宋简" panose="02010600000101010101" charset="-122"/>
              <a:ea typeface="汉仪中宋简" panose="02010600000101010101" charset="-122"/>
              <a:cs typeface="汉仪中宋简" panose="0201060000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291571" y="445135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算法参数优化</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-Google </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VeLO</a:t>
              </a:r>
              <a:endPar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pic>
        <p:nvPicPr>
          <p:cNvPr id="15" name="图片 14" descr="carbon"/>
          <p:cNvPicPr>
            <a:picLocks noChangeAspect="1"/>
          </p:cNvPicPr>
          <p:nvPr/>
        </p:nvPicPr>
        <p:blipFill>
          <a:blip r:embed="rId2"/>
          <a:stretch>
            <a:fillRect/>
          </a:stretch>
        </p:blipFill>
        <p:spPr>
          <a:xfrm>
            <a:off x="6599555" y="1423670"/>
            <a:ext cx="5137785" cy="4824730"/>
          </a:xfrm>
          <a:prstGeom prst="rect">
            <a:avLst/>
          </a:prstGeom>
        </p:spPr>
      </p:pic>
      <p:pic>
        <p:nvPicPr>
          <p:cNvPr id="109" name="图片 108"/>
          <p:cNvPicPr/>
          <p:nvPr/>
        </p:nvPicPr>
        <p:blipFill>
          <a:blip r:embed="rId3" r:link="rId4"/>
          <a:stretch>
            <a:fillRect/>
          </a:stretch>
        </p:blipFill>
        <p:spPr>
          <a:xfrm>
            <a:off x="6059170" y="2914650"/>
            <a:ext cx="0" cy="0"/>
          </a:xfrm>
          <a:prstGeom prst="rect">
            <a:avLst/>
          </a:prstGeom>
          <a:noFill/>
          <a:ln w="9525">
            <a:noFill/>
          </a:ln>
        </p:spPr>
      </p:pic>
      <p:sp>
        <p:nvSpPr>
          <p:cNvPr id="16" name="文本框 15"/>
          <p:cNvSpPr txBox="1"/>
          <p:nvPr/>
        </p:nvSpPr>
        <p:spPr>
          <a:xfrm>
            <a:off x="741680" y="2086610"/>
            <a:ext cx="5179060" cy="2584450"/>
          </a:xfrm>
          <a:prstGeom prst="rect">
            <a:avLst/>
          </a:prstGeom>
          <a:noFill/>
        </p:spPr>
        <p:txBody>
          <a:bodyPr wrap="square" rtlCol="0" anchor="t">
            <a:spAutoFit/>
          </a:bodyPr>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cs typeface="汉仪中宋简" panose="02010600000101010101" charset="-122"/>
              </a:rPr>
              <a:t>谷歌大脑提出了一个新的优化器VeLO，无需手动调整任何超参数，直接用就完事了。</a:t>
            </a: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Wingdings" panose="05000000000000000000" charset="0"/>
              <a:buChar char="ü"/>
            </a:pP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cs typeface="汉仪中宋简" panose="02010600000101010101" charset="-122"/>
              </a:rPr>
              <a:t>与其他人工设计的如Adam、AdaGrad等算法不同，VeLO完全基于AI构造，能够很好地适应各种不同的任务。当然，效果也更好。</a:t>
            </a: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Wingdings" panose="05000000000000000000" charset="0"/>
              <a:buChar char="ü"/>
            </a:pPr>
            <a:endParaRPr lang="zh-CN" altLang="en-US">
              <a:latin typeface="汉仪中宋简" panose="02010600000101010101" charset="-122"/>
              <a:ea typeface="汉仪中宋简" panose="02010600000101010101" charset="-122"/>
              <a:cs typeface="汉仪中宋简" panose="02010600000101010101" charset="-122"/>
            </a:endParaRPr>
          </a:p>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cs typeface="汉仪中宋简" panose="02010600000101010101" charset="-122"/>
              </a:rPr>
              <a:t>它还可以通过直观的方式动态构建超参数搜索空间。 </a:t>
            </a:r>
            <a:endParaRPr lang="zh-CN" altLang="en-US">
              <a:latin typeface="汉仪中宋简" panose="02010600000101010101" charset="-122"/>
              <a:ea typeface="汉仪中宋简" panose="02010600000101010101" charset="-122"/>
              <a:cs typeface="汉仪中宋简" panose="0201060000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sp>
        <p:nvSpPr>
          <p:cNvPr id="20" name="文本框 19"/>
          <p:cNvSpPr txBox="1"/>
          <p:nvPr/>
        </p:nvSpPr>
        <p:spPr>
          <a:xfrm>
            <a:off x="6001221" y="20633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922613" y="2644594"/>
            <a:ext cx="5644374" cy="2061210"/>
          </a:xfrm>
          <a:prstGeom prst="rect">
            <a:avLst/>
          </a:prstGeom>
          <a:noFill/>
        </p:spPr>
        <p:txBody>
          <a:bodyPr wrap="square" rtlCol="0">
            <a:spAutoFit/>
          </a:bodyPr>
          <a:lstStyle/>
          <a:p>
            <a:pPr algn="dist"/>
            <a:r>
              <a:rPr lang="zh-CN" altLang="en-US" sz="6400" b="1" dirty="0">
                <a:solidFill>
                  <a:schemeClr val="bg1"/>
                </a:solidFill>
                <a:latin typeface="华文楷体" panose="02010600040101010101" charset="-122"/>
                <a:ea typeface="华文楷体" panose="02010600040101010101" charset="-122"/>
                <a:cs typeface="+mn-ea"/>
                <a:sym typeface="+mn-lt"/>
              </a:rPr>
              <a:t>阶段成果</a:t>
            </a:r>
            <a:endParaRPr lang="zh-CN" altLang="en-US" sz="6400" b="1" dirty="0">
              <a:solidFill>
                <a:schemeClr val="bg1"/>
              </a:solidFill>
              <a:latin typeface="华文楷体" panose="02010600040101010101" charset="-122"/>
              <a:ea typeface="华文楷体" panose="02010600040101010101" charset="-122"/>
              <a:cs typeface="+mn-ea"/>
              <a:sym typeface="+mn-lt"/>
            </a:endParaRPr>
          </a:p>
          <a:p>
            <a:pPr algn="dist"/>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3"/>
            </p:custDataLst>
          </p:nvPr>
        </p:nvSpPr>
        <p:spPr>
          <a:xfrm>
            <a:off x="6079692" y="3925277"/>
            <a:ext cx="4049919" cy="802848"/>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Click here to enter your text, change the color or size of the text. 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32" name="文本框 31"/>
          <p:cNvSpPr txBox="1"/>
          <p:nvPr/>
        </p:nvSpPr>
        <p:spPr>
          <a:xfrm>
            <a:off x="1513000" y="2247227"/>
            <a:ext cx="3541600" cy="2215991"/>
          </a:xfrm>
          <a:prstGeom prst="rect">
            <a:avLst/>
          </a:prstGeom>
          <a:noFill/>
        </p:spPr>
        <p:txBody>
          <a:bodyPr wrap="square" rtlCol="0">
            <a:spAutoFit/>
          </a:bodyPr>
          <a:lstStyle/>
          <a:p>
            <a:pPr algn="ctr"/>
            <a:r>
              <a:rPr lang="en-US" altLang="zh-CN" sz="1380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rPr>
              <a:t>03.</a:t>
            </a:r>
            <a:endParaRPr lang="zh-CN" altLang="en-US"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endParaRPr>
          </a:p>
        </p:txBody>
      </p:sp>
      <p:sp>
        <p:nvSpPr>
          <p:cNvPr id="37" name="矩形: 圆角 36"/>
          <p:cNvSpPr/>
          <p:nvPr/>
        </p:nvSpPr>
        <p:spPr>
          <a:xfrm flipV="1">
            <a:off x="6063043" y="5162164"/>
            <a:ext cx="1048957" cy="45719"/>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grpSp>
        <p:nvGrpSpPr>
          <p:cNvPr id="13" name="组合 12"/>
          <p:cNvGrpSpPr/>
          <p:nvPr/>
        </p:nvGrpSpPr>
        <p:grpSpPr>
          <a:xfrm>
            <a:off x="4058577" y="4375150"/>
            <a:ext cx="1384300" cy="1384300"/>
            <a:chOff x="4058577" y="4375150"/>
            <a:chExt cx="1384300" cy="1384300"/>
          </a:xfrm>
        </p:grpSpPr>
        <p:sp>
          <p:nvSpPr>
            <p:cNvPr id="9" name="椭圆 8"/>
            <p:cNvSpPr/>
            <p:nvPr/>
          </p:nvSpPr>
          <p:spPr>
            <a:xfrm>
              <a:off x="4058577" y="4375150"/>
              <a:ext cx="1384300" cy="1384300"/>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sp>
        <p:nvSpPr>
          <p:cNvPr id="10" name="文本框 9"/>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070591" y="4584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0437" y="280308"/>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阶段</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成果</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graphicFrame>
        <p:nvGraphicFramePr>
          <p:cNvPr id="15" name="图表 14"/>
          <p:cNvGraphicFramePr/>
          <p:nvPr/>
        </p:nvGraphicFramePr>
        <p:xfrm>
          <a:off x="5323840" y="2349500"/>
          <a:ext cx="6134735" cy="396430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6" name="表格 15"/>
          <p:cNvGraphicFramePr/>
          <p:nvPr>
            <p:custDataLst>
              <p:tags r:id="rId3"/>
            </p:custDataLst>
          </p:nvPr>
        </p:nvGraphicFramePr>
        <p:xfrm>
          <a:off x="827405" y="1289685"/>
          <a:ext cx="4035425" cy="5097780"/>
        </p:xfrm>
        <a:graphic>
          <a:graphicData uri="http://schemas.openxmlformats.org/drawingml/2006/table">
            <a:tbl>
              <a:tblPr firstRow="1" bandRow="1">
                <a:tableStyleId>{5C22544A-7EE6-4342-B048-85BDC9FD1C3A}</a:tableStyleId>
              </a:tblPr>
              <a:tblGrid>
                <a:gridCol w="4035425"/>
              </a:tblGrid>
              <a:tr h="180340">
                <a:tc>
                  <a:txBody>
                    <a:bodyPr/>
                    <a:p>
                      <a:pPr algn="ctr">
                        <a:buClrTx/>
                        <a:buSzTx/>
                        <a:buFontTx/>
                        <a:buNone/>
                      </a:pPr>
                      <a:r>
                        <a:rPr lang="en-US" sz="800" b="1">
                          <a:solidFill>
                            <a:srgbClr val="0070C0"/>
                          </a:solidFill>
                          <a:latin typeface="宋体" pitchFamily="2" charset="-122"/>
                        </a:rPr>
                        <a:t>诊断_mean_target</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收缩压_舒张压_ratio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住院号_mean_target</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null_count_mean_target</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0">
                <a:tc>
                  <a:txBody>
                    <a:bodyPr/>
                    <a:p>
                      <a:pPr algn="ctr">
                        <a:buClrTx/>
                        <a:buSzTx/>
                        <a:buFontTx/>
                        <a:buNone/>
                      </a:pPr>
                      <a:r>
                        <a:rPr lang="en-US" sz="800" b="1">
                          <a:solidFill>
                            <a:srgbClr val="0070C0"/>
                          </a:solidFill>
                          <a:latin typeface="宋体" pitchFamily="2" charset="-122"/>
                        </a:rPr>
                        <a:t>null_count_住院次数_ratio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谷胱甘肽还原酶_D-二聚体_ratio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白球比_收缩压_ratio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白蛋白_住院次数_ratio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同型半胱氨酸_D-二聚体_ratio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体重_收缩压_ratio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白蛋白_收缩压_ratio</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rgbClr val="0070C0"/>
                          </a:solidFill>
                          <a:latin typeface="宋体" pitchFamily="2" charset="-122"/>
                        </a:rPr>
                        <a:t>收缩压_mean_target</a:t>
                      </a:r>
                      <a:endParaRPr lang="en-US" sz="800" b="1">
                        <a:solidFill>
                          <a:srgbClr val="0070C0"/>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白蛋白_尿素_ratio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肌酐_project_max_diff_住院次数_ratio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同型半胱氨酸_project_max_diff_D-二聚体_ratio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诊断</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白蛋白_project_max_ratio_住院次数_ratio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null_count_收缩压_ratio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谷胱甘肽还原酶_project_max_ratio_D-二聚体_ratio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钙_收缩压_ratio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白球比_project_max_ratio_收缩压_ratio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钾_mean_target</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体重_尿素_ratio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0">
                <a:tc>
                  <a:txBody>
                    <a:bodyPr/>
                    <a:p>
                      <a:pPr algn="ctr">
                        <a:buClrTx/>
                        <a:buSzTx/>
                        <a:buFontTx/>
                        <a:buNone/>
                      </a:pPr>
                      <a:r>
                        <a:rPr lang="en-US" sz="800" b="1">
                          <a:solidFill>
                            <a:schemeClr val="accent2">
                              <a:lumMod val="75000"/>
                            </a:schemeClr>
                          </a:solidFill>
                          <a:latin typeface="宋体" pitchFamily="2" charset="-122"/>
                        </a:rPr>
                        <a:t>直接胆红素_体重_ratio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combine_性别_诊断</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180340">
                <a:tc>
                  <a:txBody>
                    <a:bodyPr/>
                    <a:p>
                      <a:pPr algn="ctr">
                        <a:buClrTx/>
                        <a:buSzTx/>
                        <a:buFontTx/>
                        <a:buNone/>
                      </a:pPr>
                      <a:r>
                        <a:rPr lang="en-US" sz="800" b="1">
                          <a:solidFill>
                            <a:schemeClr val="accent2">
                              <a:lumMod val="75000"/>
                            </a:schemeClr>
                          </a:solidFill>
                          <a:latin typeface="宋体" pitchFamily="2" charset="-122"/>
                        </a:rPr>
                        <a:t>葡萄糖_凝血酶原时间活动度_ratio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r h="226060">
                <a:tc>
                  <a:txBody>
                    <a:bodyPr/>
                    <a:p>
                      <a:pPr algn="ctr">
                        <a:buClrTx/>
                        <a:buSzTx/>
                        <a:buFontTx/>
                        <a:buNone/>
                      </a:pPr>
                      <a:r>
                        <a:rPr lang="en-US" sz="800" b="1">
                          <a:solidFill>
                            <a:schemeClr val="accent2">
                              <a:lumMod val="75000"/>
                            </a:schemeClr>
                          </a:solidFill>
                          <a:latin typeface="宋体" pitchFamily="2" charset="-122"/>
                        </a:rPr>
                        <a:t>白蛋白_project_min_diff_住院次数_ratio</a:t>
                      </a:r>
                      <a:endParaRPr lang="en-US" sz="800" b="1">
                        <a:solidFill>
                          <a:schemeClr val="accent2">
                            <a:lumMod val="75000"/>
                          </a:schemeClr>
                        </a:solidFill>
                        <a:latin typeface="宋体" pitchFamily="2" charset="-122"/>
                      </a:endParaRPr>
                    </a:p>
                  </a:txBody>
                  <a:tcPr marL="12700" marR="12700" marT="12700" vert="horz" anchor="t" anchorCtr="0">
                    <a:lnL>
                      <a:noFill/>
                    </a:lnL>
                    <a:lnR>
                      <a:noFill/>
                    </a:lnR>
                    <a:lnT>
                      <a:noFill/>
                    </a:lnT>
                    <a:lnB>
                      <a:noFill/>
                    </a:lnB>
                    <a:lnTlToBr>
                      <a:noFill/>
                    </a:lnTlToBr>
                    <a:lnBlToTr>
                      <a:noFill/>
                    </a:lnBlToTr>
                    <a:noFill/>
                  </a:tcPr>
                </a:tc>
              </a:tr>
            </a:tbl>
          </a:graphicData>
        </a:graphic>
      </p:graphicFrame>
      <p:sp>
        <p:nvSpPr>
          <p:cNvPr id="17" name="文本框 16"/>
          <p:cNvSpPr txBox="1"/>
          <p:nvPr/>
        </p:nvSpPr>
        <p:spPr>
          <a:xfrm>
            <a:off x="5474970" y="1329690"/>
            <a:ext cx="6331585" cy="922020"/>
          </a:xfrm>
          <a:prstGeom prst="rect">
            <a:avLst/>
          </a:prstGeom>
          <a:noFill/>
        </p:spPr>
        <p:txBody>
          <a:bodyPr wrap="square" rtlCol="0">
            <a:spAutoFit/>
          </a:bodyPr>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rPr>
              <a:t>医生做出的初始诊断比较重要</a:t>
            </a:r>
            <a:endParaRPr lang="zh-CN" altLang="en-US">
              <a:latin typeface="汉仪中宋简" panose="02010600000101010101" charset="-122"/>
              <a:ea typeface="汉仪中宋简" panose="02010600000101010101" charset="-122"/>
            </a:endParaRPr>
          </a:p>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rPr>
              <a:t>收缩压与舒张压比较重要，与现有临床试验结果相符合</a:t>
            </a:r>
            <a:endParaRPr lang="zh-CN" altLang="en-US">
              <a:latin typeface="汉仪中宋简" panose="02010600000101010101" charset="-122"/>
              <a:ea typeface="汉仪中宋简" panose="02010600000101010101" charset="-122"/>
            </a:endParaRPr>
          </a:p>
          <a:p>
            <a:pPr marL="285750" indent="-285750">
              <a:buFont typeface="Wingdings" panose="05000000000000000000" charset="0"/>
              <a:buChar char="ü"/>
            </a:pPr>
            <a:r>
              <a:rPr lang="zh-CN" altLang="en-US">
                <a:latin typeface="汉仪中宋简" panose="02010600000101010101" charset="-122"/>
                <a:ea typeface="汉仪中宋简" panose="02010600000101010101" charset="-122"/>
              </a:rPr>
              <a:t>白蛋白以及白球比与其他特征的衍生特征比较重要</a:t>
            </a:r>
            <a:endParaRPr lang="zh-CN" altLang="en-US">
              <a:latin typeface="汉仪中宋简" panose="02010600000101010101" charset="-122"/>
              <a:ea typeface="汉仪中宋简" panose="0201060000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752590" cy="1076325"/>
            <a:chOff x="284882" y="285115"/>
            <a:chExt cx="6752590" cy="1076325"/>
          </a:xfrm>
        </p:grpSpPr>
        <p:sp>
          <p:nvSpPr>
            <p:cNvPr id="21" name="文本框 20"/>
            <p:cNvSpPr txBox="1"/>
            <p:nvPr/>
          </p:nvSpPr>
          <p:spPr>
            <a:xfrm>
              <a:off x="831617" y="285115"/>
              <a:ext cx="6205855" cy="1076325"/>
            </a:xfrm>
            <a:prstGeom prst="rect">
              <a:avLst/>
            </a:prstGeom>
            <a:noFill/>
          </p:spPr>
          <p:txBody>
            <a:bodyPr wrap="square" rtlCol="0">
              <a:spAutoFit/>
            </a:bodyPr>
            <a:lstStyle/>
            <a:p>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Arial" panose="020B0604020202020204" pitchFamily="34" charset="0"/>
                </a:rPr>
                <a:t>MLFLOW+TensorFlow</a:t>
              </a:r>
              <a:endParaRPr lang="en-US" altLang="zh-CN" sz="3200" b="1" dirty="0">
                <a:solidFill>
                  <a:srgbClr val="1730CA"/>
                </a:solidFill>
                <a:latin typeface="Arial" panose="020B0604020202020204" pitchFamily="34" charset="0"/>
                <a:ea typeface="微软雅黑" pitchFamily="34" charset="-122"/>
                <a:cs typeface="+mn-ea"/>
                <a:sym typeface="Arial" panose="020B0604020202020204" pitchFamily="34" charset="0"/>
              </a:endParaRPr>
            </a:p>
            <a:p>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pic>
        <p:nvPicPr>
          <p:cNvPr id="16" name="图片 15"/>
          <p:cNvPicPr>
            <a:picLocks noChangeAspect="1"/>
          </p:cNvPicPr>
          <p:nvPr>
            <p:custDataLst>
              <p:tags r:id="rId2"/>
            </p:custDataLst>
          </p:nvPr>
        </p:nvPicPr>
        <p:blipFill>
          <a:blip r:embed="rId3"/>
          <a:stretch>
            <a:fillRect/>
          </a:stretch>
        </p:blipFill>
        <p:spPr>
          <a:xfrm>
            <a:off x="493395" y="1855470"/>
            <a:ext cx="10885805" cy="4857115"/>
          </a:xfrm>
          <a:prstGeom prst="rect">
            <a:avLst/>
          </a:prstGeom>
        </p:spPr>
      </p:pic>
      <p:sp>
        <p:nvSpPr>
          <p:cNvPr id="17" name="文本框 16"/>
          <p:cNvSpPr txBox="1"/>
          <p:nvPr>
            <p:custDataLst>
              <p:tags r:id="rId4"/>
            </p:custDataLst>
          </p:nvPr>
        </p:nvSpPr>
        <p:spPr>
          <a:xfrm>
            <a:off x="493395" y="906780"/>
            <a:ext cx="10322560" cy="1032510"/>
          </a:xfrm>
          <a:prstGeom prst="rect">
            <a:avLst/>
          </a:prstGeom>
          <a:noFill/>
        </p:spPr>
        <p:txBody>
          <a:bodyPr wrap="square" rtlCol="0">
            <a:noAutofit/>
          </a:bodyPr>
          <a:p>
            <a:r>
              <a:rPr lang="zh-CN" altLang="en-US" sz="1400">
                <a:latin typeface="汉仪中宋简" panose="02010600000101010101" charset="-122"/>
                <a:ea typeface="汉仪中宋简" panose="02010600000101010101" charset="-122"/>
              </a:rPr>
              <a:t>基于数据分析以及特征构造等过程，构建</a:t>
            </a:r>
            <a:r>
              <a:rPr lang="en-US" altLang="zh-CN" sz="1400">
                <a:latin typeface="汉仪中宋简" panose="02010600000101010101" charset="-122"/>
                <a:ea typeface="汉仪中宋简" panose="02010600000101010101" charset="-122"/>
              </a:rPr>
              <a:t>VTE</a:t>
            </a:r>
            <a:r>
              <a:rPr lang="zh-CN" altLang="en-US" sz="1400">
                <a:latin typeface="汉仪中宋简" panose="02010600000101010101" charset="-122"/>
                <a:ea typeface="汉仪中宋简" panose="02010600000101010101" charset="-122"/>
              </a:rPr>
              <a:t>分类预测模型的输入特征和输出目标，基于</a:t>
            </a:r>
            <a:r>
              <a:rPr lang="en-US" altLang="zh-CN" sz="1400">
                <a:latin typeface="汉仪中宋简" panose="02010600000101010101" charset="-122"/>
                <a:ea typeface="汉仪中宋简" panose="02010600000101010101" charset="-122"/>
              </a:rPr>
              <a:t>MLFLOW</a:t>
            </a:r>
            <a:r>
              <a:rPr lang="zh-CN" altLang="en-US" sz="1400">
                <a:latin typeface="汉仪中宋简" panose="02010600000101010101" charset="-122"/>
                <a:ea typeface="汉仪中宋简" panose="02010600000101010101" charset="-122"/>
              </a:rPr>
              <a:t>和</a:t>
            </a:r>
            <a:r>
              <a:rPr lang="en-US" altLang="zh-CN" sz="1400">
                <a:latin typeface="汉仪中宋简" panose="02010600000101010101" charset="-122"/>
                <a:ea typeface="汉仪中宋简" panose="02010600000101010101" charset="-122"/>
              </a:rPr>
              <a:t>TensorFlow</a:t>
            </a:r>
            <a:r>
              <a:rPr lang="zh-CN" altLang="en-US" sz="1400">
                <a:latin typeface="汉仪中宋简" panose="02010600000101010101" charset="-122"/>
                <a:ea typeface="汉仪中宋简" panose="02010600000101010101" charset="-122"/>
              </a:rPr>
              <a:t>快速构建</a:t>
            </a:r>
            <a:r>
              <a:rPr lang="en-US" altLang="zh-CN" sz="1400">
                <a:latin typeface="汉仪中宋简" panose="02010600000101010101" charset="-122"/>
                <a:ea typeface="汉仪中宋简" panose="02010600000101010101" charset="-122"/>
              </a:rPr>
              <a:t>VTE</a:t>
            </a:r>
            <a:r>
              <a:rPr lang="zh-CN" altLang="en-US" sz="1400">
                <a:latin typeface="汉仪中宋简" panose="02010600000101010101" charset="-122"/>
                <a:ea typeface="汉仪中宋简" panose="02010600000101010101" charset="-122"/>
              </a:rPr>
              <a:t>模型训练日志记录系统，方便开发者针对特征和模型优化分析实验。</a:t>
            </a:r>
            <a:endParaRPr lang="zh-CN" altLang="en-US" sz="1400">
              <a:latin typeface="汉仪中宋简" panose="02010600000101010101" charset="-122"/>
              <a:ea typeface="汉仪中宋简" panose="0201060000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Arial" panose="020B0604020202020204" pitchFamily="34" charset="0"/>
                </a:rPr>
                <a:t>MLFLOW+TensorFlow</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6" name="文本框 15"/>
          <p:cNvSpPr txBox="1"/>
          <p:nvPr>
            <p:custDataLst>
              <p:tags r:id="rId2"/>
            </p:custDataLst>
          </p:nvPr>
        </p:nvSpPr>
        <p:spPr>
          <a:xfrm>
            <a:off x="493395" y="967740"/>
            <a:ext cx="10322560" cy="1032510"/>
          </a:xfrm>
          <a:prstGeom prst="rect">
            <a:avLst/>
          </a:prstGeom>
          <a:noFill/>
        </p:spPr>
        <p:txBody>
          <a:bodyPr wrap="square" rtlCol="0">
            <a:noAutofit/>
          </a:bodyPr>
          <a:p>
            <a:r>
              <a:rPr lang="zh-CN" altLang="en-US" sz="1400">
                <a:latin typeface="汉仪中宋简" panose="02010600000101010101" charset="-122"/>
                <a:ea typeface="汉仪中宋简" panose="02010600000101010101" charset="-122"/>
              </a:rPr>
              <a:t>基于数据分析以及特征构造等过程，构建</a:t>
            </a:r>
            <a:r>
              <a:rPr lang="en-US" altLang="zh-CN" sz="1400">
                <a:latin typeface="汉仪中宋简" panose="02010600000101010101" charset="-122"/>
                <a:ea typeface="汉仪中宋简" panose="02010600000101010101" charset="-122"/>
              </a:rPr>
              <a:t>VTE</a:t>
            </a:r>
            <a:r>
              <a:rPr lang="zh-CN" altLang="en-US" sz="1400">
                <a:latin typeface="汉仪中宋简" panose="02010600000101010101" charset="-122"/>
                <a:ea typeface="汉仪中宋简" panose="02010600000101010101" charset="-122"/>
              </a:rPr>
              <a:t>分类预测模型的输入特征和输出目标，基于</a:t>
            </a:r>
            <a:r>
              <a:rPr lang="en-US" altLang="zh-CN" sz="1400">
                <a:latin typeface="汉仪中宋简" panose="02010600000101010101" charset="-122"/>
                <a:ea typeface="汉仪中宋简" panose="02010600000101010101" charset="-122"/>
              </a:rPr>
              <a:t>MLFLOW</a:t>
            </a:r>
            <a:r>
              <a:rPr lang="zh-CN" altLang="en-US" sz="1400">
                <a:latin typeface="汉仪中宋简" panose="02010600000101010101" charset="-122"/>
                <a:ea typeface="汉仪中宋简" panose="02010600000101010101" charset="-122"/>
              </a:rPr>
              <a:t>和</a:t>
            </a:r>
            <a:r>
              <a:rPr lang="en-US" altLang="zh-CN" sz="1400">
                <a:latin typeface="汉仪中宋简" panose="02010600000101010101" charset="-122"/>
                <a:ea typeface="汉仪中宋简" panose="02010600000101010101" charset="-122"/>
              </a:rPr>
              <a:t>TensorFlow</a:t>
            </a:r>
            <a:r>
              <a:rPr lang="zh-CN" altLang="en-US" sz="1400">
                <a:latin typeface="汉仪中宋简" panose="02010600000101010101" charset="-122"/>
                <a:ea typeface="汉仪中宋简" panose="02010600000101010101" charset="-122"/>
              </a:rPr>
              <a:t>快速构建</a:t>
            </a:r>
            <a:r>
              <a:rPr lang="en-US" altLang="zh-CN" sz="1400">
                <a:latin typeface="汉仪中宋简" panose="02010600000101010101" charset="-122"/>
                <a:ea typeface="汉仪中宋简" panose="02010600000101010101" charset="-122"/>
              </a:rPr>
              <a:t>VTE</a:t>
            </a:r>
            <a:r>
              <a:rPr lang="zh-CN" altLang="en-US" sz="1400">
                <a:latin typeface="汉仪中宋简" panose="02010600000101010101" charset="-122"/>
                <a:ea typeface="汉仪中宋简" panose="02010600000101010101" charset="-122"/>
              </a:rPr>
              <a:t>模型训练日志记录系统，方便开发者针对特征和模型优化分析实验。</a:t>
            </a:r>
            <a:endParaRPr lang="zh-CN" altLang="en-US" sz="1400">
              <a:latin typeface="汉仪中宋简" panose="02010600000101010101" charset="-122"/>
              <a:ea typeface="汉仪中宋简" panose="02010600000101010101" charset="-122"/>
            </a:endParaRPr>
          </a:p>
        </p:txBody>
      </p:sp>
      <p:pic>
        <p:nvPicPr>
          <p:cNvPr id="17" name="图片 16"/>
          <p:cNvPicPr>
            <a:picLocks noChangeAspect="1"/>
          </p:cNvPicPr>
          <p:nvPr>
            <p:custDataLst>
              <p:tags r:id="rId3"/>
            </p:custDataLst>
          </p:nvPr>
        </p:nvPicPr>
        <p:blipFill>
          <a:blip r:embed="rId4"/>
          <a:stretch>
            <a:fillRect/>
          </a:stretch>
        </p:blipFill>
        <p:spPr>
          <a:xfrm>
            <a:off x="1243330" y="1624965"/>
            <a:ext cx="9328785" cy="45650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sp>
        <p:nvSpPr>
          <p:cNvPr id="20" name="文本框 19"/>
          <p:cNvSpPr txBox="1"/>
          <p:nvPr/>
        </p:nvSpPr>
        <p:spPr>
          <a:xfrm>
            <a:off x="6001221" y="20633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5922613" y="2644594"/>
            <a:ext cx="5644374" cy="2061210"/>
          </a:xfrm>
          <a:prstGeom prst="rect">
            <a:avLst/>
          </a:prstGeom>
          <a:noFill/>
        </p:spPr>
        <p:txBody>
          <a:bodyPr wrap="square" rtlCol="0">
            <a:spAutoFit/>
          </a:bodyPr>
          <a:lstStyle/>
          <a:p>
            <a:pPr algn="dist"/>
            <a:r>
              <a:rPr lang="zh-CN" altLang="en-US" sz="6400" b="1" dirty="0">
                <a:solidFill>
                  <a:schemeClr val="bg1"/>
                </a:solidFill>
                <a:latin typeface="华文楷体" panose="02010600040101010101" charset="-122"/>
                <a:ea typeface="华文楷体" panose="02010600040101010101" charset="-122"/>
                <a:cs typeface="+mn-ea"/>
                <a:sym typeface="+mn-lt"/>
              </a:rPr>
              <a:t>未来展望</a:t>
            </a:r>
            <a:endParaRPr lang="zh-CN" altLang="en-US" sz="6400" b="1" dirty="0">
              <a:solidFill>
                <a:schemeClr val="bg1"/>
              </a:solidFill>
              <a:latin typeface="华文楷体" panose="02010600040101010101" charset="-122"/>
              <a:ea typeface="华文楷体" panose="02010600040101010101" charset="-122"/>
              <a:cs typeface="+mn-ea"/>
              <a:sym typeface="+mn-lt"/>
            </a:endParaRPr>
          </a:p>
          <a:p>
            <a:pPr algn="dist"/>
            <a:endParaRPr lang="zh-CN" altLang="en-US"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3"/>
            </p:custDataLst>
          </p:nvPr>
        </p:nvSpPr>
        <p:spPr>
          <a:xfrm>
            <a:off x="6079692" y="3925277"/>
            <a:ext cx="4049919" cy="802848"/>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Click here to enter your text, change the color or size of the text. 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32" name="文本框 31"/>
          <p:cNvSpPr txBox="1"/>
          <p:nvPr/>
        </p:nvSpPr>
        <p:spPr>
          <a:xfrm>
            <a:off x="1513000" y="2247227"/>
            <a:ext cx="3541600" cy="2215991"/>
          </a:xfrm>
          <a:prstGeom prst="rect">
            <a:avLst/>
          </a:prstGeom>
          <a:noFill/>
        </p:spPr>
        <p:txBody>
          <a:bodyPr wrap="square" rtlCol="0">
            <a:spAutoFit/>
          </a:bodyPr>
          <a:lstStyle/>
          <a:p>
            <a:pPr algn="ctr"/>
            <a:r>
              <a:rPr lang="en-US" altLang="zh-CN" sz="1380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rPr>
              <a:t>04.</a:t>
            </a:r>
            <a:endParaRPr lang="zh-CN" altLang="en-US" sz="13800" dirty="0">
              <a:gradFill>
                <a:gsLst>
                  <a:gs pos="38000">
                    <a:srgbClr val="62EFFE"/>
                  </a:gs>
                  <a:gs pos="90000">
                    <a:srgbClr val="02ECFE"/>
                  </a:gs>
                </a:gsLst>
                <a:lin ang="5400000" scaled="1"/>
              </a:gradFill>
              <a:latin typeface="思源黑体 CN Bold" panose="020B0800000000000000" pitchFamily="34" charset="-122"/>
              <a:ea typeface="思源黑体 CN Bold" panose="020B0800000000000000" pitchFamily="34" charset="-122"/>
              <a:cs typeface="+mn-ea"/>
              <a:sym typeface="+mn-lt"/>
            </a:endParaRPr>
          </a:p>
        </p:txBody>
      </p:sp>
      <p:sp>
        <p:nvSpPr>
          <p:cNvPr id="37" name="矩形: 圆角 36"/>
          <p:cNvSpPr/>
          <p:nvPr/>
        </p:nvSpPr>
        <p:spPr>
          <a:xfrm flipV="1">
            <a:off x="6063043" y="5162164"/>
            <a:ext cx="1048957" cy="45719"/>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grpSp>
        <p:nvGrpSpPr>
          <p:cNvPr id="13" name="组合 12"/>
          <p:cNvGrpSpPr/>
          <p:nvPr/>
        </p:nvGrpSpPr>
        <p:grpSpPr>
          <a:xfrm>
            <a:off x="4058577" y="4375150"/>
            <a:ext cx="1384300" cy="1384300"/>
            <a:chOff x="4058577" y="4375150"/>
            <a:chExt cx="1384300" cy="1384300"/>
          </a:xfrm>
        </p:grpSpPr>
        <p:sp>
          <p:nvSpPr>
            <p:cNvPr id="9" name="椭圆 8"/>
            <p:cNvSpPr/>
            <p:nvPr/>
          </p:nvSpPr>
          <p:spPr>
            <a:xfrm>
              <a:off x="4058577" y="4375150"/>
              <a:ext cx="1384300" cy="1384300"/>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sp>
        <p:nvSpPr>
          <p:cNvPr id="10" name="文本框 9"/>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未来</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展望</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文本框 14"/>
          <p:cNvSpPr txBox="1"/>
          <p:nvPr/>
        </p:nvSpPr>
        <p:spPr>
          <a:xfrm>
            <a:off x="981316" y="1994937"/>
            <a:ext cx="9991484" cy="3138170"/>
          </a:xfrm>
          <a:prstGeom prst="rect">
            <a:avLst/>
          </a:prstGeom>
          <a:noFill/>
        </p:spPr>
        <p:txBody>
          <a:bodyPr wrap="square">
            <a:spAutoFit/>
          </a:bodyPr>
          <a:p>
            <a:pPr marL="342900" indent="-342900">
              <a:buFont typeface="Wingdings" panose="05000000000000000000" pitchFamily="2" charset="2"/>
              <a:buChar char="l"/>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总结：</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树模型可解释性强且给出衍生特征构建方向，训练迭代速度快</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患者诊断、基本检查数据项比较重要，比如收缩压、舒张压、蛋白、</a:t>
            </a:r>
            <a:r>
              <a:rPr lang="en-US" altLang="zh-CN" dirty="0">
                <a:solidFill>
                  <a:schemeClr val="tx1"/>
                </a:solidFill>
                <a:latin typeface="汉仪中宋简" panose="02010600000101010101" charset="-122"/>
                <a:ea typeface="汉仪中宋简" panose="02010600000101010101" charset="-122"/>
                <a:cs typeface="汉仪中宋简" panose="02010600000101010101" charset="-122"/>
                <a:sym typeface="+mn-ea"/>
              </a:rPr>
              <a:t>D-</a:t>
            </a: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二聚体等</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用户历史就诊数据具有潜在挖掘价值，文本预训练模型可以对症状描述以及医生诊断进行有效刻画。</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endParaRPr>
          </a:p>
          <a:p>
            <a:pPr marL="1257300" lvl="2" indent="-342900">
              <a:buFont typeface="Wingdings" panose="05000000000000000000" pitchFamily="2" charset="2"/>
              <a:buChar char="Ø"/>
            </a:pPr>
            <a:endParaRPr lang="en-US" altLang="zh-CN" dirty="0">
              <a:solidFill>
                <a:schemeClr val="tx1"/>
              </a:solidFill>
              <a:latin typeface="汉仪中宋简" panose="02010600000101010101" charset="-122"/>
              <a:ea typeface="汉仪中宋简" panose="02010600000101010101" charset="-122"/>
              <a:cs typeface="汉仪中宋简" panose="02010600000101010101" charset="-122"/>
            </a:endParaRPr>
          </a:p>
          <a:p>
            <a:pPr marL="342900" indent="-342900">
              <a:buFont typeface="Wingdings" panose="05000000000000000000" pitchFamily="2" charset="2"/>
              <a:buChar char="l"/>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展望：</a:t>
            </a:r>
            <a:endParaRPr lang="en-US" altLang="zh-CN" dirty="0">
              <a:solidFill>
                <a:schemeClr val="tx1"/>
              </a:solidFill>
              <a:latin typeface="汉仪中宋简" panose="02010600000101010101" charset="-122"/>
              <a:ea typeface="汉仪中宋简" panose="02010600000101010101" charset="-122"/>
              <a:cs typeface="汉仪中宋简" panose="02010600000101010101" charset="-122"/>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通过有监督模型预测无标签数据集，之后进行伪标签学习</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尝试神经网络模型或者图神经网络的实验效果</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endParaRPr>
          </a:p>
          <a:p>
            <a:pPr marL="1257300" lvl="2" indent="-342900">
              <a:buFont typeface="Wingdings" panose="05000000000000000000" pitchFamily="2" charset="2"/>
              <a:buChar char="Ø"/>
            </a:pP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可以结合树模型以及给出的重要特征部署成</a:t>
            </a:r>
            <a:r>
              <a:rPr lang="en-US" altLang="zh-CN" dirty="0">
                <a:solidFill>
                  <a:schemeClr val="tx1"/>
                </a:solidFill>
                <a:latin typeface="汉仪中宋简" panose="02010600000101010101" charset="-122"/>
                <a:ea typeface="汉仪中宋简" panose="02010600000101010101" charset="-122"/>
                <a:cs typeface="汉仪中宋简" panose="02010600000101010101" charset="-122"/>
                <a:sym typeface="+mn-ea"/>
              </a:rPr>
              <a:t>VTE</a:t>
            </a:r>
            <a:r>
              <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rPr>
              <a:t>风险预测微服务，有相关患者就诊记录时可以实时处理进行预测</a:t>
            </a:r>
            <a:endParaRPr lang="zh-CN" altLang="en-US" dirty="0">
              <a:solidFill>
                <a:schemeClr val="tx1"/>
              </a:solidFill>
              <a:latin typeface="汉仪中宋简" panose="02010600000101010101" charset="-122"/>
              <a:ea typeface="汉仪中宋简" panose="02010600000101010101" charset="-122"/>
              <a:cs typeface="汉仪中宋简" panose="0201060000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未来</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展望</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文本框 14"/>
          <p:cNvSpPr txBox="1"/>
          <p:nvPr/>
        </p:nvSpPr>
        <p:spPr>
          <a:xfrm>
            <a:off x="962660" y="1849120"/>
            <a:ext cx="3230880" cy="3415030"/>
          </a:xfrm>
          <a:prstGeom prst="rect">
            <a:avLst/>
          </a:prstGeom>
          <a:noFill/>
        </p:spPr>
        <p:txBody>
          <a:bodyPr wrap="square" rtlCol="0" anchor="t">
            <a:spAutoFit/>
          </a:bodyPr>
          <a:p>
            <a:r>
              <a:rPr lang="en-US" altLang="zh-CN" dirty="0">
                <a:solidFill>
                  <a:srgbClr val="FF0000"/>
                </a:solidFill>
                <a:latin typeface="汉仪中宋简" panose="02010600000101010101" charset="-122"/>
                <a:ea typeface="汉仪中宋简" panose="02010600000101010101" charset="-122"/>
                <a:cs typeface="汉仪中宋简" panose="02010600000101010101" charset="-122"/>
                <a:sym typeface="+mn-ea"/>
              </a:rPr>
              <a:t>VTE</a:t>
            </a:r>
            <a:r>
              <a:rPr lang="zh-CN" altLang="en-US" dirty="0">
                <a:solidFill>
                  <a:srgbClr val="FF0000"/>
                </a:solidFill>
                <a:latin typeface="汉仪中宋简" panose="02010600000101010101" charset="-122"/>
                <a:ea typeface="汉仪中宋简" panose="02010600000101010101" charset="-122"/>
                <a:cs typeface="汉仪中宋简" panose="02010600000101010101" charset="-122"/>
                <a:sym typeface="+mn-ea"/>
              </a:rPr>
              <a:t>风险预测应用原型设计</a:t>
            </a:r>
            <a:endParaRPr lang="zh-CN" altLang="en-US" dirty="0">
              <a:solidFill>
                <a:srgbClr val="FF0000"/>
              </a:solidFill>
              <a:latin typeface="汉仪中宋简" panose="02010600000101010101" charset="-122"/>
              <a:ea typeface="汉仪中宋简" panose="02010600000101010101" charset="-122"/>
              <a:cs typeface="汉仪中宋简" panose="02010600000101010101" charset="-122"/>
              <a:sym typeface="+mn-ea"/>
            </a:endParaRPr>
          </a:p>
          <a:p>
            <a:endParaRPr lang="zh-CN" altLang="en-US">
              <a:latin typeface="汉仪中宋简" panose="02010600000101010101" charset="-122"/>
              <a:ea typeface="汉仪中宋简" panose="02010600000101010101" charset="-122"/>
              <a:cs typeface="汉仪中宋简" panose="02010600000101010101" charset="-122"/>
            </a:endParaRPr>
          </a:p>
          <a:p>
            <a:r>
              <a:rPr lang="zh-CN" altLang="en-US">
                <a:latin typeface="汉仪中宋简" panose="02010600000101010101" charset="-122"/>
                <a:ea typeface="汉仪中宋简" panose="02010600000101010101" charset="-122"/>
                <a:cs typeface="汉仪中宋简" panose="02010600000101010101" charset="-122"/>
              </a:rPr>
              <a:t>通过收集患者历史就诊数据进行数据挖掘与建模，在取得一定效果之后，进行模型部署与微服务上线，为患者提供便捷就诊服务，</a:t>
            </a:r>
            <a:r>
              <a:rPr lang="en-US" altLang="zh-CN">
                <a:latin typeface="汉仪中宋简" panose="02010600000101010101" charset="-122"/>
                <a:ea typeface="汉仪中宋简" panose="02010600000101010101" charset="-122"/>
                <a:cs typeface="汉仪中宋简" panose="02010600000101010101" charset="-122"/>
              </a:rPr>
              <a:t>VTE</a:t>
            </a:r>
            <a:r>
              <a:rPr lang="zh-CN" altLang="en-US">
                <a:latin typeface="汉仪中宋简" panose="02010600000101010101" charset="-122"/>
                <a:ea typeface="汉仪中宋简" panose="02010600000101010101" charset="-122"/>
                <a:cs typeface="汉仪中宋简" panose="02010600000101010101" charset="-122"/>
              </a:rPr>
              <a:t>风险预警，及时将风险指标推送给患者，同时将重要指标特征为医生提供参考建议，为患者提供科学问诊，智能问诊，便捷就诊全方位服务。</a:t>
            </a:r>
            <a:endParaRPr lang="zh-CN" altLang="en-US">
              <a:latin typeface="汉仪中宋简" panose="02010600000101010101" charset="-122"/>
              <a:ea typeface="汉仪中宋简" panose="02010600000101010101" charset="-122"/>
              <a:cs typeface="汉仪中宋简" panose="02010600000101010101" charset="-122"/>
            </a:endParaRPr>
          </a:p>
        </p:txBody>
      </p:sp>
      <p:pic>
        <p:nvPicPr>
          <p:cNvPr id="16" name="图片 15" descr="APP设计"/>
          <p:cNvPicPr>
            <a:picLocks noChangeAspect="1"/>
          </p:cNvPicPr>
          <p:nvPr>
            <p:custDataLst>
              <p:tags r:id="rId2"/>
            </p:custDataLst>
          </p:nvPr>
        </p:nvPicPr>
        <p:blipFill>
          <a:blip r:embed="rId3"/>
          <a:stretch>
            <a:fillRect/>
          </a:stretch>
        </p:blipFill>
        <p:spPr>
          <a:xfrm>
            <a:off x="4761865" y="1422400"/>
            <a:ext cx="6566535" cy="4908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998335" cy="626543"/>
            <a:chOff x="284882" y="285115"/>
            <a:chExt cx="6998335" cy="626543"/>
          </a:xfrm>
        </p:grpSpPr>
        <p:sp>
          <p:nvSpPr>
            <p:cNvPr id="21" name="文本框 20"/>
            <p:cNvSpPr txBox="1"/>
            <p:nvPr/>
          </p:nvSpPr>
          <p:spPr>
            <a:xfrm>
              <a:off x="831617" y="285115"/>
              <a:ext cx="6451600"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参考</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资料</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
        <p:nvSpPr>
          <p:cNvPr id="15" name="文本框 14"/>
          <p:cNvSpPr txBox="1"/>
          <p:nvPr/>
        </p:nvSpPr>
        <p:spPr>
          <a:xfrm>
            <a:off x="750570" y="1771015"/>
            <a:ext cx="10860405" cy="3692525"/>
          </a:xfrm>
          <a:prstGeom prst="rect">
            <a:avLst/>
          </a:prstGeom>
          <a:noFill/>
        </p:spPr>
        <p:txBody>
          <a:bodyPr wrap="square" rtlCol="0" anchor="t">
            <a:spAutoFit/>
          </a:bodyPr>
          <a:p>
            <a:pPr indent="0">
              <a:buFont typeface="Wingdings" panose="05000000000000000000" charset="0"/>
              <a:buNone/>
            </a:pPr>
            <a:r>
              <a:rPr lang="en-US" altLang="zh-CN">
                <a:latin typeface="Times New Roman Regular" panose="02020603050405020304" charset="0"/>
                <a:cs typeface="Times New Roman Regular" panose="02020603050405020304" charset="0"/>
                <a:sym typeface="+mn-ea"/>
              </a:rPr>
              <a:t>[1]</a:t>
            </a:r>
            <a:r>
              <a:rPr lang="zh-CN" altLang="en-US">
                <a:latin typeface="Times New Roman Regular" panose="02020603050405020304" charset="0"/>
                <a:cs typeface="Times New Roman Regular" panose="02020603050405020304" charset="0"/>
                <a:sym typeface="+mn-ea"/>
              </a:rPr>
              <a:t>Zhengye Liu, Jiarui Mi</a:t>
            </a:r>
            <a:r>
              <a:rPr lang="zh-CN" altLang="en-US">
                <a:latin typeface="Times New Roman Regular" panose="02020603050405020304" charset="0"/>
                <a:cs typeface="Times New Roman Regular" panose="02020603050405020304" charset="0"/>
              </a:rPr>
              <a:t>血清白蛋白和循环代谢物与静脉血栓栓塞的风险：两个样本的孟德尔随机化研究</a:t>
            </a: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[2]</a:t>
            </a:r>
            <a:r>
              <a:rPr lang="zh-CN" altLang="en-US">
                <a:latin typeface="Times New Roman Regular" panose="02020603050405020304" charset="0"/>
                <a:cs typeface="Times New Roman Regular" panose="02020603050405020304" charset="0"/>
              </a:rPr>
              <a:t>朱浩杰, 蒋超, 孔祥怡, 等.  高血压病史及血压水平对非瓣膜性心房颤动患者血栓栓塞事件的影响 [J] . 中华心血管病杂志,2020,48 (09)</a:t>
            </a: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[3]</a:t>
            </a:r>
            <a:r>
              <a:rPr lang="zh-CN" altLang="en-US">
                <a:latin typeface="Times New Roman Regular" panose="02020603050405020304" charset="0"/>
                <a:cs typeface="Times New Roman Regular" panose="02020603050405020304" charset="0"/>
              </a:rPr>
              <a:t>《中国血栓性疾病防治指南》专家委员会</a:t>
            </a:r>
            <a:r>
              <a:rPr lang="en-US" altLang="zh-CN">
                <a:latin typeface="Times New Roman Regular" panose="02020603050405020304" charset="0"/>
                <a:cs typeface="Times New Roman Regular" panose="02020603050405020304" charset="0"/>
              </a:rPr>
              <a:t> </a:t>
            </a:r>
            <a:r>
              <a:rPr lang="zh-CN" altLang="en-US">
                <a:latin typeface="Times New Roman Regular" panose="02020603050405020304" charset="0"/>
                <a:cs typeface="Times New Roman Regular" panose="02020603050405020304" charset="0"/>
              </a:rPr>
              <a:t>中国血栓性疾病防治指南</a:t>
            </a: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endParaRPr lang="zh-CN" altLang="en-US">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[4]</a:t>
            </a:r>
            <a:r>
              <a:rPr lang="zh-CN" altLang="en-US">
                <a:latin typeface="Times New Roman Regular" panose="02020603050405020304" charset="0"/>
                <a:cs typeface="Times New Roman Regular" panose="02020603050405020304" charset="0"/>
              </a:rPr>
              <a:t>D-二聚体=深静脉血栓</a:t>
            </a:r>
            <a:r>
              <a:rPr lang="en-US" altLang="zh-CN">
                <a:latin typeface="Times New Roman Regular" panose="02020603050405020304" charset="0"/>
                <a:cs typeface="Times New Roman Regular" panose="02020603050405020304" charset="0"/>
              </a:rPr>
              <a:t>?  http://www.tjmuch.com/system/2017/09/19/011265090.shtml</a:t>
            </a:r>
            <a:endParaRPr lang="en-US" altLang="zh-CN">
              <a:latin typeface="Times New Roman Regular" panose="02020603050405020304" charset="0"/>
              <a:cs typeface="Times New Roman Regular" panose="02020603050405020304" charset="0"/>
            </a:endParaRPr>
          </a:p>
          <a:p>
            <a:pPr indent="0">
              <a:buFont typeface="Wingdings" panose="05000000000000000000" charset="0"/>
              <a:buNone/>
            </a:pPr>
            <a:endParaRPr lang="en-US" altLang="zh-CN">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[5]Chen Q, Zhang Z, Dong H, Miao J, Li H. [Perioperative Venous Thromboembolism (VTE) Prophylaxis in Thoracic Cancer Patients</a:t>
            </a:r>
            <a:endParaRPr lang="en-US" altLang="zh-CN">
              <a:latin typeface="Times New Roman Regular" panose="02020603050405020304" charset="0"/>
              <a:cs typeface="Times New Roman Regular" panose="02020603050405020304" charset="0"/>
            </a:endParaRPr>
          </a:p>
          <a:p>
            <a:pPr indent="0">
              <a:buFont typeface="Wingdings" panose="05000000000000000000" charset="0"/>
              <a:buNone/>
            </a:pPr>
            <a:endParaRPr lang="en-US" altLang="zh-CN">
              <a:latin typeface="Times New Roman Regular" panose="02020603050405020304" charset="0"/>
              <a:cs typeface="Times New Roman Regular" panose="02020603050405020304" charset="0"/>
            </a:endParaRPr>
          </a:p>
          <a:p>
            <a:pPr indent="0">
              <a:buFont typeface="Wingdings" panose="05000000000000000000" charset="0"/>
              <a:buNone/>
            </a:pPr>
            <a:r>
              <a:rPr lang="en-US" altLang="zh-CN">
                <a:latin typeface="Times New Roman Regular" panose="02020603050405020304" charset="0"/>
                <a:cs typeface="Times New Roman Regular" panose="02020603050405020304" charset="0"/>
              </a:rPr>
              <a:t>[6]王艳生,姚宏静 铁调素在经典型阵发性睡眠性血红蛋白尿症中的表达及影响因素分析</a:t>
            </a:r>
            <a:endParaRPr lang="en-US" altLang="zh-CN">
              <a:latin typeface="Times New Roman Regular" panose="02020603050405020304" charset="0"/>
              <a:cs typeface="Times New Roman Regular"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rcRect l="5923" t="413" r="5923" b="41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243" y="1001486"/>
            <a:ext cx="5127172" cy="4942114"/>
          </a:xfrm>
          <a:prstGeom prst="rect">
            <a:avLst/>
          </a:prstGeom>
        </p:spPr>
      </p:pic>
      <p:pic>
        <p:nvPicPr>
          <p:cNvPr id="16" name="图片 15"/>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490069" y="1621454"/>
            <a:ext cx="4683508" cy="3647750"/>
          </a:xfrm>
          <a:prstGeom prst="rect">
            <a:avLst/>
          </a:prstGeom>
        </p:spPr>
      </p:pic>
      <p:sp>
        <p:nvSpPr>
          <p:cNvPr id="18" name="矩形: 圆角 17"/>
          <p:cNvSpPr/>
          <p:nvPr/>
        </p:nvSpPr>
        <p:spPr>
          <a:xfrm>
            <a:off x="8050538" y="5058423"/>
            <a:ext cx="1668318" cy="383142"/>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时间：</a:t>
            </a:r>
            <a:r>
              <a:rPr lang="en-US" altLang="zh-CN"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2023.09.06</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0" name="文本框 19"/>
          <p:cNvSpPr txBox="1"/>
          <p:nvPr/>
        </p:nvSpPr>
        <p:spPr>
          <a:xfrm>
            <a:off x="6140921" y="1949049"/>
            <a:ext cx="5222404" cy="523220"/>
          </a:xfrm>
          <a:prstGeom prst="rect">
            <a:avLst/>
          </a:prstGeom>
          <a:noFill/>
        </p:spPr>
        <p:txBody>
          <a:bodyPr wrap="square" rtlCol="0">
            <a:spAutoFit/>
          </a:bodyPr>
          <a:lstStyle/>
          <a:p>
            <a:r>
              <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rPr>
              <a:t>DATA  ANALYSIS  REPORT </a:t>
            </a:r>
            <a:endParaRPr lang="en-US" altLang="zh-CN" sz="28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1" name="文本框 20"/>
          <p:cNvSpPr txBox="1"/>
          <p:nvPr/>
        </p:nvSpPr>
        <p:spPr>
          <a:xfrm>
            <a:off x="6062313" y="2564727"/>
            <a:ext cx="5644374" cy="1076325"/>
          </a:xfrm>
          <a:prstGeom prst="rect">
            <a:avLst/>
          </a:prstGeom>
          <a:noFill/>
        </p:spPr>
        <p:txBody>
          <a:bodyPr wrap="square" rtlCol="0">
            <a:spAutoFit/>
          </a:bodyPr>
          <a:lstStyle/>
          <a:p>
            <a:pPr algn="dist"/>
            <a:r>
              <a:rPr lang="en-US" altLang="zh-CN" sz="6400" dirty="0">
                <a:solidFill>
                  <a:schemeClr val="bg1"/>
                </a:solidFill>
                <a:latin typeface="三极正智黑简体" panose="00000500000000000000" pitchFamily="2" charset="-122"/>
                <a:ea typeface="三极正智黑简体" panose="00000500000000000000" pitchFamily="2" charset="-122"/>
                <a:cs typeface="+mn-ea"/>
                <a:sym typeface="+mn-lt"/>
              </a:rPr>
              <a:t>THANKS</a:t>
            </a:r>
            <a:endParaRPr lang="en-US" altLang="zh-CN" sz="6400" dirty="0">
              <a:solidFill>
                <a:schemeClr val="bg1"/>
              </a:solidFill>
              <a:latin typeface="三极正智黑简体" panose="00000500000000000000" pitchFamily="2" charset="-122"/>
              <a:ea typeface="三极正智黑简体" panose="00000500000000000000" pitchFamily="2" charset="-122"/>
              <a:cs typeface="+mn-ea"/>
              <a:sym typeface="+mn-lt"/>
            </a:endParaRPr>
          </a:p>
        </p:txBody>
      </p:sp>
      <p:sp>
        <p:nvSpPr>
          <p:cNvPr id="23" name="PA-文本框 88"/>
          <p:cNvSpPr txBox="1"/>
          <p:nvPr>
            <p:custDataLst>
              <p:tags r:id="rId5"/>
            </p:custDataLst>
          </p:nvPr>
        </p:nvSpPr>
        <p:spPr>
          <a:xfrm>
            <a:off x="6219392" y="3845410"/>
            <a:ext cx="4049919" cy="802848"/>
          </a:xfrm>
          <a:prstGeom prst="rect">
            <a:avLst/>
          </a:prstGeom>
          <a:noFill/>
        </p:spPr>
        <p:txBody>
          <a:bodyPr wrap="square" lIns="0" tIns="0" rIns="0" bIns="0" rtlCol="0">
            <a:spAutoFit/>
          </a:bodyPr>
          <a:lstStyle/>
          <a:p>
            <a:pPr hangingPunct="0">
              <a:lnSpc>
                <a:spcPct val="150000"/>
              </a:lnSpc>
            </a:pPr>
            <a:r>
              <a:rPr lang="en-US" altLang="zh-CN" sz="1200" dirty="0">
                <a:solidFill>
                  <a:schemeClr val="bg1">
                    <a:alpha val="80000"/>
                  </a:schemeClr>
                </a:solidFill>
                <a:cs typeface="+mn-ea"/>
                <a:sym typeface="+mn-lt"/>
              </a:rPr>
              <a:t>Click here to enter your text, change the color or size of the text. You can also format the appropriate text and adjust the line spacing of the text. </a:t>
            </a:r>
            <a:endParaRPr lang="en-US" altLang="zh-CN" sz="1200" dirty="0">
              <a:solidFill>
                <a:schemeClr val="bg1">
                  <a:alpha val="80000"/>
                </a:schemeClr>
              </a:solidFill>
              <a:cs typeface="+mn-ea"/>
              <a:sym typeface="+mn-lt"/>
            </a:endParaRPr>
          </a:p>
        </p:txBody>
      </p:sp>
      <p:sp>
        <p:nvSpPr>
          <p:cNvPr id="25" name="任意多边形: 形状 24"/>
          <p:cNvSpPr/>
          <p:nvPr/>
        </p:nvSpPr>
        <p:spPr>
          <a:xfrm>
            <a:off x="11328401" y="50673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25"/>
          <p:cNvSpPr/>
          <p:nvPr/>
        </p:nvSpPr>
        <p:spPr>
          <a:xfrm rot="16200000">
            <a:off x="761999" y="275919"/>
            <a:ext cx="344335" cy="708849"/>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5627534" y="1216230"/>
            <a:ext cx="520700" cy="5207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nvGrpSpPr>
          <p:cNvPr id="38" name="组合 37"/>
          <p:cNvGrpSpPr/>
          <p:nvPr/>
        </p:nvGrpSpPr>
        <p:grpSpPr>
          <a:xfrm>
            <a:off x="688974" y="6040437"/>
            <a:ext cx="434976" cy="63500"/>
            <a:chOff x="688974" y="6040437"/>
            <a:chExt cx="434976" cy="63500"/>
          </a:xfrm>
        </p:grpSpPr>
        <p:sp>
          <p:nvSpPr>
            <p:cNvPr id="31" name="椭圆 30"/>
            <p:cNvSpPr/>
            <p:nvPr/>
          </p:nvSpPr>
          <p:spPr>
            <a:xfrm>
              <a:off x="688974"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3" name="椭圆 32"/>
            <p:cNvSpPr/>
            <p:nvPr/>
          </p:nvSpPr>
          <p:spPr>
            <a:xfrm>
              <a:off x="781843"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4" name="椭圆 33"/>
            <p:cNvSpPr/>
            <p:nvPr/>
          </p:nvSpPr>
          <p:spPr>
            <a:xfrm>
              <a:off x="874712"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5" name="椭圆 34"/>
            <p:cNvSpPr/>
            <p:nvPr/>
          </p:nvSpPr>
          <p:spPr>
            <a:xfrm>
              <a:off x="967581"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sp>
          <p:nvSpPr>
            <p:cNvPr id="36" name="椭圆 35"/>
            <p:cNvSpPr/>
            <p:nvPr/>
          </p:nvSpPr>
          <p:spPr>
            <a:xfrm>
              <a:off x="1060450" y="6040437"/>
              <a:ext cx="63500" cy="63500"/>
            </a:xfrm>
            <a:prstGeom prst="ellipse">
              <a:avLst/>
            </a:prstGeom>
            <a:gradFill flip="none" rotWithShape="1">
              <a:gsLst>
                <a:gs pos="0">
                  <a:srgbClr val="41EEFE"/>
                </a:gs>
                <a:gs pos="70000">
                  <a:srgbClr val="41EEFE">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grpSp>
      <p:sp>
        <p:nvSpPr>
          <p:cNvPr id="9" name="矩形: 圆角 17"/>
          <p:cNvSpPr/>
          <p:nvPr/>
        </p:nvSpPr>
        <p:spPr>
          <a:xfrm>
            <a:off x="6177915" y="5055235"/>
            <a:ext cx="1471295" cy="382905"/>
          </a:xfrm>
          <a:prstGeom prst="roundRect">
            <a:avLst>
              <a:gd name="adj" fmla="val 50000"/>
            </a:avLst>
          </a:prstGeom>
          <a:gradFill flip="none" rotWithShape="1">
            <a:gsLst>
              <a:gs pos="0">
                <a:srgbClr val="41EEFE"/>
              </a:gs>
              <a:gs pos="70000">
                <a:srgbClr val="23EF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队名：怎么</a:t>
            </a:r>
            <a:r>
              <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码</a:t>
            </a:r>
            <a:endParaRPr lang="zh-CN" altLang="en-US" sz="12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10" name="文本框 9"/>
          <p:cNvSpPr txBox="1"/>
          <p:nvPr/>
        </p:nvSpPr>
        <p:spPr>
          <a:xfrm>
            <a:off x="9031605" y="569557"/>
            <a:ext cx="2705562" cy="337185"/>
          </a:xfrm>
          <a:prstGeom prst="rect">
            <a:avLst/>
          </a:prstGeom>
          <a:noFill/>
        </p:spPr>
        <p:txBody>
          <a:bodyPr wrap="square" rtlCol="0">
            <a:spAutoFit/>
          </a:bodyPr>
          <a:lstStyle/>
          <a:p>
            <a:pPr algn="dist"/>
            <a:r>
              <a:rPr lang="en-US" altLang="zh-CN" sz="1600" b="1" dirty="0">
                <a:solidFill>
                  <a:schemeClr val="bg1"/>
                </a:solidFill>
                <a:latin typeface="思源黑体 CN Normal" panose="020B0400000000000000" pitchFamily="34" charset="-122"/>
                <a:ea typeface="思源黑体 CN Normal" panose="020B0400000000000000" pitchFamily="34" charset="-122"/>
                <a:cs typeface="+mn-ea"/>
                <a:sym typeface="+mn-lt"/>
              </a:rPr>
              <a:t>2023Google</a:t>
            </a:r>
            <a:r>
              <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bg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50" advTm="5000">
        <p14:switch dir="r"/>
      </p:transition>
    </mc:Choice>
    <mc:Fallback>
      <p:transition spd="slow" advTm="5000">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3565"/>
            </a:xfrm>
            <a:prstGeom prst="rect">
              <a:avLst/>
            </a:prstGeom>
            <a:noFill/>
          </p:spPr>
          <p:txBody>
            <a:bodyPr wrap="square" rtlCol="0">
              <a:spAutoFit/>
            </a:bodyPr>
            <a:lstStyle/>
            <a:p>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现状分析</a:t>
              </a:r>
              <a:r>
                <a:rPr lang="en-US" altLang="zh-CN" sz="3200" dirty="0">
                  <a:solidFill>
                    <a:schemeClr val="tx1">
                      <a:lumMod val="85000"/>
                      <a:lumOff val="15000"/>
                    </a:schemeClr>
                  </a:solidFill>
                  <a:latin typeface="报隶-简" panose="02010600040101010101" charset="-122"/>
                  <a:ea typeface="报隶-简" panose="02010600040101010101" charset="-122"/>
                  <a:cs typeface="+mn-ea"/>
                  <a:sym typeface="+mn-lt"/>
                </a:rPr>
                <a:t>-</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痛点</a:t>
              </a:r>
              <a:r>
                <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rPr>
                <a:t>分析</a:t>
              </a:r>
              <a:endParaRPr lang="zh-CN" altLang="en-US" sz="3200" dirty="0">
                <a:solidFill>
                  <a:schemeClr val="tx1">
                    <a:lumMod val="85000"/>
                    <a:lumOff val="15000"/>
                  </a:schemeClr>
                </a:solidFill>
                <a:latin typeface="报隶-简" panose="02010600040101010101" charset="-122"/>
                <a:ea typeface="报隶-简" panose="02010600040101010101"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sp>
        <p:nvSpPr>
          <p:cNvPr id="19" name="形状 18"/>
          <p:cNvSpPr/>
          <p:nvPr/>
        </p:nvSpPr>
        <p:spPr>
          <a:xfrm rot="17941610" flipV="1">
            <a:off x="1067609" y="3051813"/>
            <a:ext cx="2626962" cy="1831978"/>
          </a:xfrm>
          <a:prstGeom prst="swooshArrow">
            <a:avLst>
              <a:gd name="adj1" fmla="val 21261"/>
              <a:gd name="adj2" fmla="val 31370"/>
            </a:avLst>
          </a:prstGeom>
          <a:gradFill flip="none" rotWithShape="1">
            <a:gsLst>
              <a:gs pos="0">
                <a:sysClr val="window" lastClr="FFFFFF">
                  <a:lumMod val="85000"/>
                  <a:alpha val="63000"/>
                </a:sysClr>
              </a:gs>
              <a:gs pos="100000">
                <a:sysClr val="window" lastClr="FFFFFF">
                  <a:lumMod val="85000"/>
                  <a:alpha val="0"/>
                </a:sysClr>
              </a:gs>
            </a:gsLst>
            <a:lin ang="10800000" scaled="1"/>
            <a:tileRect/>
          </a:gradFill>
          <a:ln w="12700" cap="flat" cmpd="sng" algn="ctr">
            <a:noFill/>
            <a:prstDash val="solid"/>
            <a:miter lim="800000"/>
          </a:ln>
          <a:effectLst/>
        </p:spPr>
        <p:txBody>
          <a:bodyPr/>
          <a:lstStyle/>
          <a:p>
            <a:endParaRPr lang="zh-CN" altLang="en-US">
              <a:cs typeface="+mn-ea"/>
              <a:sym typeface="+mn-lt"/>
            </a:endParaRPr>
          </a:p>
        </p:txBody>
      </p:sp>
      <p:grpSp>
        <p:nvGrpSpPr>
          <p:cNvPr id="20" name="组合 19"/>
          <p:cNvGrpSpPr/>
          <p:nvPr/>
        </p:nvGrpSpPr>
        <p:grpSpPr>
          <a:xfrm>
            <a:off x="854013" y="1453504"/>
            <a:ext cx="2920736" cy="773068"/>
            <a:chOff x="833313" y="1732904"/>
            <a:chExt cx="2920736" cy="773068"/>
          </a:xfrm>
        </p:grpSpPr>
        <p:sp>
          <p:nvSpPr>
            <p:cNvPr id="22" name="矩形 21"/>
            <p:cNvSpPr/>
            <p:nvPr/>
          </p:nvSpPr>
          <p:spPr>
            <a:xfrm>
              <a:off x="833313" y="1732904"/>
              <a:ext cx="2436886"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lumMod val="75000"/>
                      <a:lumOff val="25000"/>
                    </a:prstClr>
                  </a:solidFill>
                  <a:effectLst/>
                  <a:uLnTx/>
                  <a:uFillTx/>
                  <a:cs typeface="+mn-ea"/>
                  <a:sym typeface="+mn-lt"/>
                </a:rPr>
                <a:t>2019-2022</a:t>
              </a:r>
              <a:r>
                <a:rPr kumimoji="0" lang="zh-CN" altLang="en-US" sz="2000" b="1" i="0" u="none" strike="noStrike" kern="1200" cap="none" spc="0" normalizeH="0" baseline="0" noProof="0" dirty="0">
                  <a:ln>
                    <a:noFill/>
                  </a:ln>
                  <a:solidFill>
                    <a:prstClr val="black">
                      <a:lumMod val="75000"/>
                      <a:lumOff val="25000"/>
                    </a:prstClr>
                  </a:solidFill>
                  <a:effectLst/>
                  <a:uLnTx/>
                  <a:uFillTx/>
                  <a:cs typeface="+mn-ea"/>
                  <a:sym typeface="+mn-lt"/>
                </a:rPr>
                <a:t>数据对比</a:t>
              </a:r>
              <a:endParaRPr kumimoji="0" lang="en-US" altLang="zh-CN" sz="2000" b="1"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23" name="矩形 22"/>
            <p:cNvSpPr/>
            <p:nvPr/>
          </p:nvSpPr>
          <p:spPr>
            <a:xfrm>
              <a:off x="1033100" y="2250639"/>
              <a:ext cx="1018227" cy="24622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300" normalizeH="0" baseline="0" noProof="0" dirty="0">
                  <a:ln>
                    <a:noFill/>
                  </a:ln>
                  <a:solidFill>
                    <a:prstClr val="black">
                      <a:lumMod val="75000"/>
                      <a:lumOff val="25000"/>
                    </a:prstClr>
                  </a:solidFill>
                  <a:effectLst/>
                  <a:uLnTx/>
                  <a:uFillTx/>
                  <a:cs typeface="+mn-ea"/>
                  <a:sym typeface="+mn-lt"/>
                </a:rPr>
                <a:t>单位：亿元</a:t>
              </a:r>
              <a:endParaRPr kumimoji="0" lang="zh-CN" altLang="en-US" sz="1000" b="0" i="0" u="none" strike="noStrike" kern="1200" cap="none" spc="300" normalizeH="0" baseline="0" noProof="0" dirty="0">
                <a:ln>
                  <a:noFill/>
                </a:ln>
                <a:solidFill>
                  <a:prstClr val="black">
                    <a:lumMod val="75000"/>
                    <a:lumOff val="25000"/>
                  </a:prstClr>
                </a:solidFill>
                <a:effectLst/>
                <a:uLnTx/>
                <a:uFillTx/>
                <a:cs typeface="+mn-ea"/>
                <a:sym typeface="+mn-lt"/>
              </a:endParaRPr>
            </a:p>
          </p:txBody>
        </p:sp>
        <p:sp>
          <p:nvSpPr>
            <p:cNvPr id="24" name="矩形: 圆角 23"/>
            <p:cNvSpPr/>
            <p:nvPr/>
          </p:nvSpPr>
          <p:spPr>
            <a:xfrm flipV="1">
              <a:off x="922084" y="2241527"/>
              <a:ext cx="1281113" cy="264445"/>
            </a:xfrm>
            <a:prstGeom prst="roundRect">
              <a:avLst>
                <a:gd name="adj" fmla="val 50000"/>
              </a:avLst>
            </a:prstGeom>
            <a:noFill/>
            <a:ln w="9525" cap="flat" cmpd="sng" algn="ctr">
              <a:solidFill>
                <a:sysClr val="window" lastClr="FFFFFF">
                  <a:lumMod val="75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26" name="矩形: 圆角 25"/>
            <p:cNvSpPr/>
            <p:nvPr/>
          </p:nvSpPr>
          <p:spPr>
            <a:xfrm flipV="1">
              <a:off x="2366700" y="2241526"/>
              <a:ext cx="1387349" cy="264445"/>
            </a:xfrm>
            <a:prstGeom prst="roundRect">
              <a:avLst>
                <a:gd name="adj" fmla="val 50000"/>
              </a:avLst>
            </a:prstGeom>
            <a:noFill/>
            <a:ln w="9525" cap="flat" cmpd="sng" algn="ctr">
              <a:solidFill>
                <a:sysClr val="window" lastClr="FFFFFF">
                  <a:lumMod val="75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30" name="矩形: 圆角 29"/>
            <p:cNvSpPr/>
            <p:nvPr/>
          </p:nvSpPr>
          <p:spPr>
            <a:xfrm>
              <a:off x="2440729" y="2305487"/>
              <a:ext cx="192891" cy="136525"/>
            </a:xfrm>
            <a:prstGeom prst="roundRect">
              <a:avLst>
                <a:gd name="adj" fmla="val 50000"/>
              </a:avLst>
            </a:prstGeom>
            <a:solidFill>
              <a:srgbClr val="13245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sp>
          <p:nvSpPr>
            <p:cNvPr id="31" name="矩形: 圆角 30"/>
            <p:cNvSpPr/>
            <p:nvPr/>
          </p:nvSpPr>
          <p:spPr>
            <a:xfrm>
              <a:off x="3168823" y="2305487"/>
              <a:ext cx="192891" cy="136525"/>
            </a:xfrm>
            <a:prstGeom prst="roundRect">
              <a:avLst>
                <a:gd name="adj" fmla="val 50000"/>
              </a:avLst>
            </a:prstGeom>
            <a:solidFill>
              <a:srgbClr val="62EFFE"/>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32" name="矩形 31"/>
            <p:cNvSpPr/>
            <p:nvPr/>
          </p:nvSpPr>
          <p:spPr>
            <a:xfrm>
              <a:off x="2576550" y="2250639"/>
              <a:ext cx="569387"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lumMod val="75000"/>
                      <a:lumOff val="25000"/>
                    </a:prstClr>
                  </a:solidFill>
                  <a:effectLst/>
                  <a:uLnTx/>
                  <a:uFillTx/>
                  <a:cs typeface="+mn-ea"/>
                  <a:sym typeface="+mn-lt"/>
                </a:rPr>
                <a:t>营业额</a:t>
              </a:r>
              <a:endParaRPr kumimoji="0" lang="zh-CN" altLang="en-US" sz="100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33" name="矩形 32"/>
            <p:cNvSpPr/>
            <p:nvPr/>
          </p:nvSpPr>
          <p:spPr>
            <a:xfrm>
              <a:off x="3292476" y="2250639"/>
              <a:ext cx="441146"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lumMod val="75000"/>
                      <a:lumOff val="25000"/>
                    </a:prstClr>
                  </a:solidFill>
                  <a:effectLst/>
                  <a:uLnTx/>
                  <a:uFillTx/>
                  <a:cs typeface="+mn-ea"/>
                  <a:sym typeface="+mn-lt"/>
                </a:rPr>
                <a:t>毛利</a:t>
              </a:r>
              <a:endParaRPr kumimoji="0" lang="zh-CN" altLang="en-US" sz="1000" b="0" i="0" u="none" strike="noStrike" kern="1200" cap="none" spc="0" normalizeH="0" baseline="0" noProof="0" dirty="0">
                <a:ln>
                  <a:noFill/>
                </a:ln>
                <a:solidFill>
                  <a:prstClr val="black">
                    <a:lumMod val="75000"/>
                    <a:lumOff val="25000"/>
                  </a:prstClr>
                </a:solidFill>
                <a:effectLst/>
                <a:uLnTx/>
                <a:uFillTx/>
                <a:cs typeface="+mn-ea"/>
                <a:sym typeface="+mn-lt"/>
              </a:endParaRPr>
            </a:p>
          </p:txBody>
        </p:sp>
      </p:grpSp>
      <p:grpSp>
        <p:nvGrpSpPr>
          <p:cNvPr id="34" name="组合 33"/>
          <p:cNvGrpSpPr/>
          <p:nvPr/>
        </p:nvGrpSpPr>
        <p:grpSpPr>
          <a:xfrm>
            <a:off x="6664757" y="2769365"/>
            <a:ext cx="2204364" cy="3118749"/>
            <a:chOff x="6637707" y="2820165"/>
            <a:chExt cx="2204364" cy="3118749"/>
          </a:xfrm>
        </p:grpSpPr>
        <p:sp>
          <p:nvSpPr>
            <p:cNvPr id="35" name="椭圆 34"/>
            <p:cNvSpPr/>
            <p:nvPr/>
          </p:nvSpPr>
          <p:spPr>
            <a:xfrm>
              <a:off x="6986166" y="3403834"/>
              <a:ext cx="1507444" cy="1507444"/>
            </a:xfrm>
            <a:prstGeom prst="ellipse">
              <a:avLst/>
            </a:prstGeom>
            <a:solidFill>
              <a:srgbClr val="13245C">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sp>
          <p:nvSpPr>
            <p:cNvPr id="36" name="椭圆 35"/>
            <p:cNvSpPr/>
            <p:nvPr/>
          </p:nvSpPr>
          <p:spPr>
            <a:xfrm>
              <a:off x="6637707" y="3990507"/>
              <a:ext cx="1507444" cy="1507444"/>
            </a:xfrm>
            <a:prstGeom prst="ellipse">
              <a:avLst/>
            </a:prstGeom>
            <a:solidFill>
              <a:srgbClr val="62EFFE">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sp>
          <p:nvSpPr>
            <p:cNvPr id="37" name="椭圆 36"/>
            <p:cNvSpPr/>
            <p:nvPr/>
          </p:nvSpPr>
          <p:spPr>
            <a:xfrm>
              <a:off x="7334627" y="3990507"/>
              <a:ext cx="1507444" cy="1507444"/>
            </a:xfrm>
            <a:prstGeom prst="ellipse">
              <a:avLst/>
            </a:prstGeom>
            <a:solidFill>
              <a:srgbClr val="62EFFE">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sp>
          <p:nvSpPr>
            <p:cNvPr id="38" name="矩形 37"/>
            <p:cNvSpPr/>
            <p:nvPr/>
          </p:nvSpPr>
          <p:spPr>
            <a:xfrm>
              <a:off x="7221395" y="4391855"/>
              <a:ext cx="1024640" cy="3385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ea"/>
                  <a:sym typeface="+mn-lt"/>
                </a:rPr>
                <a:t>添加标题</a:t>
              </a:r>
              <a:endParaRPr kumimoji="0" lang="zh-CN" altLang="en-US" sz="1600" b="1"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sp>
          <p:nvSpPr>
            <p:cNvPr id="39" name="矩形 38"/>
            <p:cNvSpPr/>
            <p:nvPr/>
          </p:nvSpPr>
          <p:spPr>
            <a:xfrm>
              <a:off x="7185889" y="2820165"/>
              <a:ext cx="1107996"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pitchFamily="34" charset="-122"/>
                  <a:ea typeface="思源黑体 CN Regular" panose="020B0500000000000000" pitchFamily="34" charset="-122"/>
                  <a:cs typeface="+mn-ea"/>
                  <a:sym typeface="+mn-lt"/>
                </a:rPr>
                <a:t>点击替换标题</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sp>
          <p:nvSpPr>
            <p:cNvPr id="40" name="矩形 39"/>
            <p:cNvSpPr/>
            <p:nvPr/>
          </p:nvSpPr>
          <p:spPr>
            <a:xfrm>
              <a:off x="6753017" y="5661915"/>
              <a:ext cx="800219" cy="276999"/>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pitchFamily="34" charset="-122"/>
                  <a:ea typeface="思源黑体 CN Regular" panose="020B0500000000000000" pitchFamily="34" charset="-122"/>
                  <a:cs typeface="+mn-ea"/>
                  <a:sym typeface="+mn-lt"/>
                </a:rPr>
                <a:t>添加标题</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sp>
          <p:nvSpPr>
            <p:cNvPr id="41" name="矩形 40"/>
            <p:cNvSpPr/>
            <p:nvPr/>
          </p:nvSpPr>
          <p:spPr>
            <a:xfrm>
              <a:off x="7934378" y="5661915"/>
              <a:ext cx="800219"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pitchFamily="34" charset="-122"/>
                  <a:ea typeface="思源黑体 CN Regular" panose="020B0500000000000000" pitchFamily="34" charset="-122"/>
                  <a:cs typeface="+mn-ea"/>
                  <a:sym typeface="+mn-lt"/>
                </a:rPr>
                <a:t>添加标题</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cxnSp>
          <p:nvCxnSpPr>
            <p:cNvPr id="42" name="直接连接符 41"/>
            <p:cNvCxnSpPr/>
            <p:nvPr/>
          </p:nvCxnSpPr>
          <p:spPr>
            <a:xfrm>
              <a:off x="7739888" y="3112255"/>
              <a:ext cx="0" cy="586301"/>
            </a:xfrm>
            <a:prstGeom prst="line">
              <a:avLst/>
            </a:prstGeom>
            <a:noFill/>
            <a:ln w="9525" cap="flat" cmpd="sng" algn="ctr">
              <a:solidFill>
                <a:srgbClr val="1D78FA"/>
              </a:solidFill>
              <a:prstDash val="solid"/>
              <a:miter lim="800000"/>
            </a:ln>
            <a:effectLst/>
          </p:spPr>
        </p:cxnSp>
        <p:grpSp>
          <p:nvGrpSpPr>
            <p:cNvPr id="43" name="组合 42"/>
            <p:cNvGrpSpPr/>
            <p:nvPr/>
          </p:nvGrpSpPr>
          <p:grpSpPr>
            <a:xfrm>
              <a:off x="7145288" y="5024976"/>
              <a:ext cx="1189200" cy="586301"/>
              <a:chOff x="6728612" y="5207489"/>
              <a:chExt cx="1127760" cy="556010"/>
            </a:xfrm>
          </p:grpSpPr>
          <p:cxnSp>
            <p:nvCxnSpPr>
              <p:cNvPr id="44" name="直接连接符 43"/>
              <p:cNvCxnSpPr/>
              <p:nvPr/>
            </p:nvCxnSpPr>
            <p:spPr>
              <a:xfrm>
                <a:off x="6728612" y="5207489"/>
                <a:ext cx="0" cy="556010"/>
              </a:xfrm>
              <a:prstGeom prst="line">
                <a:avLst/>
              </a:prstGeom>
              <a:noFill/>
              <a:ln w="9525" cap="flat" cmpd="sng" algn="ctr">
                <a:solidFill>
                  <a:srgbClr val="1D78FA"/>
                </a:solidFill>
                <a:prstDash val="solid"/>
                <a:miter lim="800000"/>
              </a:ln>
              <a:effectLst/>
            </p:spPr>
          </p:cxnSp>
          <p:cxnSp>
            <p:nvCxnSpPr>
              <p:cNvPr id="45" name="直接连接符 44"/>
              <p:cNvCxnSpPr/>
              <p:nvPr/>
            </p:nvCxnSpPr>
            <p:spPr>
              <a:xfrm>
                <a:off x="7856372" y="5207489"/>
                <a:ext cx="0" cy="556010"/>
              </a:xfrm>
              <a:prstGeom prst="line">
                <a:avLst/>
              </a:prstGeom>
              <a:noFill/>
              <a:ln w="9525" cap="flat" cmpd="sng" algn="ctr">
                <a:solidFill>
                  <a:srgbClr val="1D78FA"/>
                </a:solidFill>
                <a:prstDash val="solid"/>
                <a:miter lim="800000"/>
              </a:ln>
              <a:effectLst/>
            </p:spPr>
          </p:cxnSp>
        </p:grpSp>
      </p:grpSp>
      <p:grpSp>
        <p:nvGrpSpPr>
          <p:cNvPr id="46" name="组合 45"/>
          <p:cNvGrpSpPr/>
          <p:nvPr/>
        </p:nvGrpSpPr>
        <p:grpSpPr>
          <a:xfrm>
            <a:off x="9133624" y="2769365"/>
            <a:ext cx="2204364" cy="3118749"/>
            <a:chOff x="9112924" y="2820165"/>
            <a:chExt cx="2204364" cy="3118749"/>
          </a:xfrm>
        </p:grpSpPr>
        <p:sp>
          <p:nvSpPr>
            <p:cNvPr id="47" name="椭圆 46"/>
            <p:cNvSpPr/>
            <p:nvPr/>
          </p:nvSpPr>
          <p:spPr>
            <a:xfrm>
              <a:off x="9461383" y="3403834"/>
              <a:ext cx="1507444" cy="1507444"/>
            </a:xfrm>
            <a:prstGeom prst="ellipse">
              <a:avLst/>
            </a:prstGeom>
            <a:solidFill>
              <a:srgbClr val="13245C">
                <a:alpha val="50000"/>
              </a:srgbClr>
            </a:solidFill>
            <a:ln w="12700" cap="flat" cmpd="sng" algn="ctr">
              <a:noFill/>
              <a:prstDash val="solid"/>
              <a:miter lim="800000"/>
            </a:ln>
            <a:effectLst/>
          </p:spPr>
          <p:txBody>
            <a:bodyPr rtlCol="0" anchor="ctr"/>
            <a:lstStyle/>
            <a:p>
              <a:pPr algn="ctr"/>
              <a:endParaRPr lang="zh-CN" altLang="en-US" kern="0">
                <a:solidFill>
                  <a:prstClr val="white"/>
                </a:solidFill>
                <a:latin typeface="思源黑体 CN Regular" panose="020B0500000000000000" pitchFamily="34" charset="-122"/>
                <a:ea typeface="思源黑体 CN Regular" panose="020B0500000000000000" pitchFamily="34" charset="-122"/>
                <a:cs typeface="+mn-ea"/>
                <a:sym typeface="+mn-lt"/>
              </a:endParaRPr>
            </a:p>
          </p:txBody>
        </p:sp>
        <p:sp>
          <p:nvSpPr>
            <p:cNvPr id="48" name="椭圆 47"/>
            <p:cNvSpPr/>
            <p:nvPr/>
          </p:nvSpPr>
          <p:spPr>
            <a:xfrm>
              <a:off x="9112924" y="3990507"/>
              <a:ext cx="1507444" cy="1507444"/>
            </a:xfrm>
            <a:prstGeom prst="ellipse">
              <a:avLst/>
            </a:prstGeom>
            <a:solidFill>
              <a:srgbClr val="62EFFE">
                <a:alpha val="50000"/>
              </a:srgbClr>
            </a:solidFill>
            <a:ln w="12700" cap="flat" cmpd="sng" algn="ctr">
              <a:noFill/>
              <a:prstDash val="solid"/>
              <a:miter lim="800000"/>
            </a:ln>
            <a:effectLst/>
          </p:spPr>
          <p:txBody>
            <a:bodyPr rtlCol="0" anchor="ctr"/>
            <a:lstStyle/>
            <a:p>
              <a:pPr algn="ctr"/>
              <a:endParaRPr lang="zh-CN" altLang="en-US" kern="0">
                <a:solidFill>
                  <a:prstClr val="white"/>
                </a:solidFill>
                <a:latin typeface="思源黑体 CN Regular" panose="020B0500000000000000" pitchFamily="34" charset="-122"/>
                <a:ea typeface="思源黑体 CN Regular" panose="020B0500000000000000" pitchFamily="34" charset="-122"/>
                <a:cs typeface="+mn-ea"/>
                <a:sym typeface="+mn-lt"/>
              </a:endParaRPr>
            </a:p>
          </p:txBody>
        </p:sp>
        <p:sp>
          <p:nvSpPr>
            <p:cNvPr id="49" name="椭圆 48"/>
            <p:cNvSpPr/>
            <p:nvPr/>
          </p:nvSpPr>
          <p:spPr>
            <a:xfrm>
              <a:off x="9809844" y="3990507"/>
              <a:ext cx="1507444" cy="1507444"/>
            </a:xfrm>
            <a:prstGeom prst="ellipse">
              <a:avLst/>
            </a:prstGeom>
            <a:solidFill>
              <a:srgbClr val="62EFFE">
                <a:alpha val="50000"/>
              </a:srgbClr>
            </a:solidFill>
            <a:ln w="12700" cap="flat" cmpd="sng" algn="ctr">
              <a:noFill/>
              <a:prstDash val="solid"/>
              <a:miter lim="800000"/>
            </a:ln>
            <a:effectLst/>
          </p:spPr>
          <p:txBody>
            <a:bodyPr rtlCol="0" anchor="ctr"/>
            <a:lstStyle/>
            <a:p>
              <a:pPr algn="ctr"/>
              <a:endParaRPr lang="zh-CN" altLang="en-US" kern="0">
                <a:solidFill>
                  <a:prstClr val="white"/>
                </a:solidFill>
                <a:latin typeface="思源黑体 CN Regular" panose="020B0500000000000000" pitchFamily="34" charset="-122"/>
                <a:ea typeface="思源黑体 CN Regular" panose="020B0500000000000000" pitchFamily="34" charset="-122"/>
                <a:cs typeface="+mn-ea"/>
                <a:sym typeface="+mn-lt"/>
              </a:endParaRPr>
            </a:p>
          </p:txBody>
        </p:sp>
        <p:sp>
          <p:nvSpPr>
            <p:cNvPr id="50" name="矩形 49"/>
            <p:cNvSpPr/>
            <p:nvPr/>
          </p:nvSpPr>
          <p:spPr>
            <a:xfrm>
              <a:off x="9702790" y="4391855"/>
              <a:ext cx="1024640" cy="3385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ea"/>
                  <a:sym typeface="+mn-lt"/>
                </a:rPr>
                <a:t>添加标题</a:t>
              </a:r>
              <a:endParaRPr kumimoji="0" lang="zh-CN" altLang="en-US" sz="1600" b="1"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sp>
          <p:nvSpPr>
            <p:cNvPr id="51" name="矩形 50"/>
            <p:cNvSpPr/>
            <p:nvPr/>
          </p:nvSpPr>
          <p:spPr>
            <a:xfrm>
              <a:off x="9661107" y="2820165"/>
              <a:ext cx="1107996"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pitchFamily="34" charset="-122"/>
                  <a:ea typeface="思源黑体 CN Regular" panose="020B0500000000000000" pitchFamily="34" charset="-122"/>
                  <a:cs typeface="+mn-ea"/>
                  <a:sym typeface="+mn-lt"/>
                </a:rPr>
                <a:t>点击替换标题</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sp>
          <p:nvSpPr>
            <p:cNvPr id="52" name="矩形 51"/>
            <p:cNvSpPr/>
            <p:nvPr/>
          </p:nvSpPr>
          <p:spPr>
            <a:xfrm>
              <a:off x="9220395" y="5661915"/>
              <a:ext cx="800219"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pitchFamily="34" charset="-122"/>
                  <a:ea typeface="思源黑体 CN Regular" panose="020B0500000000000000" pitchFamily="34" charset="-122"/>
                  <a:cs typeface="+mn-ea"/>
                  <a:sym typeface="+mn-lt"/>
                </a:rPr>
                <a:t>添加标题</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sp>
          <p:nvSpPr>
            <p:cNvPr id="53" name="矩形 52"/>
            <p:cNvSpPr/>
            <p:nvPr/>
          </p:nvSpPr>
          <p:spPr>
            <a:xfrm>
              <a:off x="10409594" y="5661915"/>
              <a:ext cx="800219"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pitchFamily="34" charset="-122"/>
                  <a:ea typeface="思源黑体 CN Regular" panose="020B0500000000000000" pitchFamily="34" charset="-122"/>
                  <a:cs typeface="+mn-ea"/>
                  <a:sym typeface="+mn-lt"/>
                </a:rPr>
                <a:t>添加标题</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cxnSp>
          <p:nvCxnSpPr>
            <p:cNvPr id="54" name="直接连接符 53"/>
            <p:cNvCxnSpPr/>
            <p:nvPr/>
          </p:nvCxnSpPr>
          <p:spPr>
            <a:xfrm>
              <a:off x="10215104" y="3112255"/>
              <a:ext cx="0" cy="586301"/>
            </a:xfrm>
            <a:prstGeom prst="line">
              <a:avLst/>
            </a:prstGeom>
            <a:noFill/>
            <a:ln w="9525" cap="flat" cmpd="sng" algn="ctr">
              <a:solidFill>
                <a:srgbClr val="A5A5A5"/>
              </a:solidFill>
              <a:prstDash val="solid"/>
              <a:miter lim="800000"/>
            </a:ln>
            <a:effectLst/>
          </p:spPr>
        </p:cxnSp>
        <p:grpSp>
          <p:nvGrpSpPr>
            <p:cNvPr id="55" name="组合 54"/>
            <p:cNvGrpSpPr/>
            <p:nvPr/>
          </p:nvGrpSpPr>
          <p:grpSpPr>
            <a:xfrm>
              <a:off x="9620504" y="5024976"/>
              <a:ext cx="1189200" cy="586301"/>
              <a:chOff x="6728612" y="5207489"/>
              <a:chExt cx="1127760" cy="556010"/>
            </a:xfrm>
          </p:grpSpPr>
          <p:cxnSp>
            <p:nvCxnSpPr>
              <p:cNvPr id="56" name="直接连接符 55"/>
              <p:cNvCxnSpPr/>
              <p:nvPr/>
            </p:nvCxnSpPr>
            <p:spPr>
              <a:xfrm>
                <a:off x="6728612" y="5207489"/>
                <a:ext cx="0" cy="556010"/>
              </a:xfrm>
              <a:prstGeom prst="line">
                <a:avLst/>
              </a:prstGeom>
              <a:noFill/>
              <a:ln w="9525" cap="flat" cmpd="sng" algn="ctr">
                <a:solidFill>
                  <a:srgbClr val="A5A5A5"/>
                </a:solidFill>
                <a:prstDash val="solid"/>
                <a:miter lim="800000"/>
              </a:ln>
              <a:effectLst/>
            </p:spPr>
          </p:cxnSp>
          <p:cxnSp>
            <p:nvCxnSpPr>
              <p:cNvPr id="57" name="直接连接符 56"/>
              <p:cNvCxnSpPr/>
              <p:nvPr/>
            </p:nvCxnSpPr>
            <p:spPr>
              <a:xfrm>
                <a:off x="7856372" y="5207489"/>
                <a:ext cx="0" cy="556010"/>
              </a:xfrm>
              <a:prstGeom prst="line">
                <a:avLst/>
              </a:prstGeom>
              <a:noFill/>
              <a:ln w="9525" cap="flat" cmpd="sng" algn="ctr">
                <a:solidFill>
                  <a:srgbClr val="A5A5A5"/>
                </a:solidFill>
                <a:prstDash val="solid"/>
                <a:miter lim="800000"/>
              </a:ln>
              <a:effectLst/>
            </p:spPr>
          </p:cxnSp>
        </p:grpSp>
      </p:grpSp>
      <p:grpSp>
        <p:nvGrpSpPr>
          <p:cNvPr id="58" name="组合 57"/>
          <p:cNvGrpSpPr/>
          <p:nvPr/>
        </p:nvGrpSpPr>
        <p:grpSpPr>
          <a:xfrm>
            <a:off x="6598305" y="1540589"/>
            <a:ext cx="4031873" cy="773066"/>
            <a:chOff x="6577605" y="1732904"/>
            <a:chExt cx="4031873" cy="773066"/>
          </a:xfrm>
        </p:grpSpPr>
        <p:sp>
          <p:nvSpPr>
            <p:cNvPr id="59" name="矩形 58"/>
            <p:cNvSpPr/>
            <p:nvPr/>
          </p:nvSpPr>
          <p:spPr>
            <a:xfrm>
              <a:off x="6577605" y="1732904"/>
              <a:ext cx="4031873"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prstClr val="black">
                      <a:lumMod val="75000"/>
                      <a:lumOff val="25000"/>
                    </a:prstClr>
                  </a:solidFill>
                  <a:cs typeface="+mn-ea"/>
                  <a:sym typeface="+mn-lt"/>
                </a:rPr>
                <a:t>点击输入您的标标题添加文本内容</a:t>
              </a:r>
              <a:endParaRPr lang="zh-CN" altLang="en-US" sz="2000" b="1" dirty="0">
                <a:solidFill>
                  <a:prstClr val="black">
                    <a:lumMod val="75000"/>
                    <a:lumOff val="25000"/>
                  </a:prstClr>
                </a:solidFill>
                <a:cs typeface="+mn-ea"/>
                <a:sym typeface="+mn-lt"/>
              </a:endParaRPr>
            </a:p>
          </p:txBody>
        </p:sp>
        <p:sp>
          <p:nvSpPr>
            <p:cNvPr id="60" name="矩形: 圆角 59"/>
            <p:cNvSpPr/>
            <p:nvPr/>
          </p:nvSpPr>
          <p:spPr>
            <a:xfrm flipV="1">
              <a:off x="6660845" y="2241525"/>
              <a:ext cx="881971" cy="264445"/>
            </a:xfrm>
            <a:prstGeom prst="roundRect">
              <a:avLst>
                <a:gd name="adj" fmla="val 50000"/>
              </a:avLst>
            </a:prstGeom>
            <a:noFill/>
            <a:ln w="9525" cap="flat" cmpd="sng" algn="ctr">
              <a:solidFill>
                <a:sysClr val="window" lastClr="FFFFFF">
                  <a:lumMod val="75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1" name="矩形 60"/>
            <p:cNvSpPr/>
            <p:nvPr/>
          </p:nvSpPr>
          <p:spPr>
            <a:xfrm>
              <a:off x="6753016" y="2250637"/>
              <a:ext cx="697628" cy="24622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lumMod val="75000"/>
                      <a:lumOff val="25000"/>
                    </a:prstClr>
                  </a:solidFill>
                  <a:effectLst/>
                  <a:uLnTx/>
                  <a:uFillTx/>
                  <a:cs typeface="+mn-ea"/>
                  <a:sym typeface="+mn-lt"/>
                </a:rPr>
                <a:t>添加标题</a:t>
              </a:r>
              <a:endParaRPr kumimoji="0" lang="zh-CN" altLang="en-US" sz="1000" b="0" i="0" u="none" strike="noStrike" kern="1200" cap="none" spc="0" normalizeH="0" baseline="0" noProof="0" dirty="0">
                <a:ln>
                  <a:noFill/>
                </a:ln>
                <a:solidFill>
                  <a:prstClr val="black">
                    <a:lumMod val="75000"/>
                    <a:lumOff val="25000"/>
                  </a:prstClr>
                </a:solidFill>
                <a:effectLst/>
                <a:uLnTx/>
                <a:uFillTx/>
                <a:cs typeface="+mn-ea"/>
                <a:sym typeface="+mn-lt"/>
              </a:endParaRPr>
            </a:p>
          </p:txBody>
        </p:sp>
        <p:grpSp>
          <p:nvGrpSpPr>
            <p:cNvPr id="62" name="组合 61"/>
            <p:cNvGrpSpPr/>
            <p:nvPr/>
          </p:nvGrpSpPr>
          <p:grpSpPr>
            <a:xfrm>
              <a:off x="7632210" y="2241525"/>
              <a:ext cx="881971" cy="264445"/>
              <a:chOff x="7047928" y="2504415"/>
              <a:chExt cx="881971" cy="264445"/>
            </a:xfrm>
          </p:grpSpPr>
          <p:sp>
            <p:nvSpPr>
              <p:cNvPr id="66" name="矩形: 圆角 65"/>
              <p:cNvSpPr/>
              <p:nvPr/>
            </p:nvSpPr>
            <p:spPr>
              <a:xfrm flipV="1">
                <a:off x="7047928" y="2504415"/>
                <a:ext cx="881971" cy="264445"/>
              </a:xfrm>
              <a:prstGeom prst="roundRect">
                <a:avLst>
                  <a:gd name="adj" fmla="val 50000"/>
                </a:avLst>
              </a:prstGeom>
              <a:noFill/>
              <a:ln w="9525" cap="flat" cmpd="sng" algn="ctr">
                <a:solidFill>
                  <a:sysClr val="window" lastClr="FFFFFF">
                    <a:lumMod val="75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7" name="矩形 66"/>
              <p:cNvSpPr/>
              <p:nvPr/>
            </p:nvSpPr>
            <p:spPr>
              <a:xfrm>
                <a:off x="7140099" y="2513527"/>
                <a:ext cx="697628" cy="24622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lumMod val="75000"/>
                        <a:lumOff val="25000"/>
                      </a:prstClr>
                    </a:solidFill>
                    <a:effectLst/>
                    <a:uLnTx/>
                    <a:uFillTx/>
                    <a:cs typeface="+mn-ea"/>
                    <a:sym typeface="+mn-lt"/>
                  </a:rPr>
                  <a:t>添加标题</a:t>
                </a:r>
                <a:endParaRPr kumimoji="0" lang="zh-CN" altLang="en-US" sz="1000" b="0" i="0" u="none" strike="noStrike" kern="0" cap="none" spc="0" normalizeH="0" baseline="0" noProof="0" dirty="0">
                  <a:ln>
                    <a:noFill/>
                  </a:ln>
                  <a:solidFill>
                    <a:prstClr val="black">
                      <a:lumMod val="75000"/>
                      <a:lumOff val="25000"/>
                    </a:prstClr>
                  </a:solidFill>
                  <a:effectLst/>
                  <a:uLnTx/>
                  <a:uFillTx/>
                  <a:cs typeface="+mn-ea"/>
                  <a:sym typeface="+mn-lt"/>
                </a:endParaRPr>
              </a:p>
            </p:txBody>
          </p:sp>
        </p:grpSp>
        <p:grpSp>
          <p:nvGrpSpPr>
            <p:cNvPr id="63" name="组合 62"/>
            <p:cNvGrpSpPr/>
            <p:nvPr/>
          </p:nvGrpSpPr>
          <p:grpSpPr>
            <a:xfrm>
              <a:off x="8601827" y="2241525"/>
              <a:ext cx="881971" cy="264445"/>
              <a:chOff x="7047928" y="2504415"/>
              <a:chExt cx="881971" cy="264445"/>
            </a:xfrm>
          </p:grpSpPr>
          <p:sp>
            <p:nvSpPr>
              <p:cNvPr id="64" name="矩形: 圆角 63"/>
              <p:cNvSpPr/>
              <p:nvPr/>
            </p:nvSpPr>
            <p:spPr>
              <a:xfrm flipV="1">
                <a:off x="7047928" y="2504415"/>
                <a:ext cx="881971" cy="264445"/>
              </a:xfrm>
              <a:prstGeom prst="roundRect">
                <a:avLst>
                  <a:gd name="adj" fmla="val 50000"/>
                </a:avLst>
              </a:prstGeom>
              <a:noFill/>
              <a:ln w="9525" cap="flat" cmpd="sng" algn="ctr">
                <a:solidFill>
                  <a:sysClr val="window" lastClr="FFFFFF">
                    <a:lumMod val="75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5" name="矩形 64"/>
              <p:cNvSpPr/>
              <p:nvPr/>
            </p:nvSpPr>
            <p:spPr>
              <a:xfrm>
                <a:off x="7140102" y="2513527"/>
                <a:ext cx="697628" cy="24622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lumMod val="75000"/>
                        <a:lumOff val="25000"/>
                      </a:prstClr>
                    </a:solidFill>
                    <a:effectLst/>
                    <a:uLnTx/>
                    <a:uFillTx/>
                    <a:cs typeface="+mn-ea"/>
                    <a:sym typeface="+mn-lt"/>
                  </a:rPr>
                  <a:t>添加标题</a:t>
                </a:r>
                <a:endParaRPr kumimoji="0" lang="zh-CN" altLang="en-US" sz="1000" b="0" i="0" u="none" strike="noStrike" kern="0" cap="none" spc="0" normalizeH="0" baseline="0" noProof="0" dirty="0">
                  <a:ln>
                    <a:noFill/>
                  </a:ln>
                  <a:solidFill>
                    <a:prstClr val="black">
                      <a:lumMod val="75000"/>
                      <a:lumOff val="25000"/>
                    </a:prstClr>
                  </a:solidFill>
                  <a:effectLst/>
                  <a:uLnTx/>
                  <a:uFillTx/>
                  <a:cs typeface="+mn-ea"/>
                  <a:sym typeface="+mn-lt"/>
                </a:endParaRPr>
              </a:p>
            </p:txBody>
          </p:sp>
        </p:grpSp>
      </p:grpSp>
      <p:sp>
        <p:nvSpPr>
          <p:cNvPr id="12" name="文本框 11"/>
          <p:cNvSpPr txBox="1"/>
          <p:nvPr/>
        </p:nvSpPr>
        <p:spPr>
          <a:xfrm>
            <a:off x="9031605" y="569557"/>
            <a:ext cx="2705562" cy="337185"/>
          </a:xfrm>
          <a:prstGeom prst="rect">
            <a:avLst/>
          </a:prstGeom>
          <a:noFill/>
        </p:spPr>
        <p:txBody>
          <a:bodyPr wrap="square" rtlCol="0">
            <a:spAutoFit/>
          </a:bodyPr>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down)">
                                      <p:cBhvr>
                                        <p:cTn id="12" dur="500"/>
                                        <p:tgtEl>
                                          <p:spTgt spid="19"/>
                                        </p:tgtEl>
                                      </p:cBhvr>
                                    </p:animEffect>
                                  </p:childTnLst>
                                </p:cTn>
                              </p:par>
                              <p:par>
                                <p:cTn id="13" presetID="22" presetClass="entr" presetSubtype="4"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down)">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1000"/>
                                        <p:tgtEl>
                                          <p:spTgt spid="25"/>
                                        </p:tgtEl>
                                      </p:cBhvr>
                                    </p:animEffect>
                                    <p:anim calcmode="lin" valueType="num">
                                      <p:cBhvr>
                                        <p:cTn id="21" dur="1000" fill="hold"/>
                                        <p:tgtEl>
                                          <p:spTgt spid="25"/>
                                        </p:tgtEl>
                                        <p:attrNameLst>
                                          <p:attrName>ppt_x</p:attrName>
                                        </p:attrNameLst>
                                      </p:cBhvr>
                                      <p:tavLst>
                                        <p:tav tm="0">
                                          <p:val>
                                            <p:strVal val="#ppt_x"/>
                                          </p:val>
                                        </p:tav>
                                        <p:tav tm="100000">
                                          <p:val>
                                            <p:strVal val="#ppt_x"/>
                                          </p:val>
                                        </p:tav>
                                      </p:tavLst>
                                    </p:anim>
                                    <p:anim calcmode="lin" valueType="num">
                                      <p:cBhvr>
                                        <p:cTn id="22" dur="1000" fill="hold"/>
                                        <p:tgtEl>
                                          <p:spTgt spid="25"/>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1000"/>
                                        <p:tgtEl>
                                          <p:spTgt spid="34"/>
                                        </p:tgtEl>
                                      </p:cBhvr>
                                    </p:animEffect>
                                    <p:anim calcmode="lin" valueType="num">
                                      <p:cBhvr>
                                        <p:cTn id="26" dur="1000" fill="hold"/>
                                        <p:tgtEl>
                                          <p:spTgt spid="34"/>
                                        </p:tgtEl>
                                        <p:attrNameLst>
                                          <p:attrName>ppt_x</p:attrName>
                                        </p:attrNameLst>
                                      </p:cBhvr>
                                      <p:tavLst>
                                        <p:tav tm="0">
                                          <p:val>
                                            <p:strVal val="#ppt_x"/>
                                          </p:val>
                                        </p:tav>
                                        <p:tav tm="100000">
                                          <p:val>
                                            <p:strVal val="#ppt_x"/>
                                          </p:val>
                                        </p:tav>
                                      </p:tavLst>
                                    </p:anim>
                                    <p:anim calcmode="lin" valueType="num">
                                      <p:cBhvr>
                                        <p:cTn id="27" dur="1000" fill="hold"/>
                                        <p:tgtEl>
                                          <p:spTgt spid="34"/>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1000"/>
                                        <p:tgtEl>
                                          <p:spTgt spid="46"/>
                                        </p:tgtEl>
                                      </p:cBhvr>
                                    </p:animEffect>
                                    <p:anim calcmode="lin" valueType="num">
                                      <p:cBhvr>
                                        <p:cTn id="31" dur="1000" fill="hold"/>
                                        <p:tgtEl>
                                          <p:spTgt spid="46"/>
                                        </p:tgtEl>
                                        <p:attrNameLst>
                                          <p:attrName>ppt_x</p:attrName>
                                        </p:attrNameLst>
                                      </p:cBhvr>
                                      <p:tavLst>
                                        <p:tav tm="0">
                                          <p:val>
                                            <p:strVal val="#ppt_x"/>
                                          </p:val>
                                        </p:tav>
                                        <p:tav tm="100000">
                                          <p:val>
                                            <p:strVal val="#ppt_x"/>
                                          </p:val>
                                        </p:tav>
                                      </p:tavLst>
                                    </p:anim>
                                    <p:anim calcmode="lin" valueType="num">
                                      <p:cBhvr>
                                        <p:cTn id="32" dur="1000" fill="hold"/>
                                        <p:tgtEl>
                                          <p:spTgt spid="46"/>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1000"/>
                                        <p:tgtEl>
                                          <p:spTgt spid="58"/>
                                        </p:tgtEl>
                                      </p:cBhvr>
                                    </p:animEffect>
                                    <p:anim calcmode="lin" valueType="num">
                                      <p:cBhvr>
                                        <p:cTn id="36" dur="1000" fill="hold"/>
                                        <p:tgtEl>
                                          <p:spTgt spid="58"/>
                                        </p:tgtEl>
                                        <p:attrNameLst>
                                          <p:attrName>ppt_x</p:attrName>
                                        </p:attrNameLst>
                                      </p:cBhvr>
                                      <p:tavLst>
                                        <p:tav tm="0">
                                          <p:val>
                                            <p:strVal val="#ppt_x"/>
                                          </p:val>
                                        </p:tav>
                                        <p:tav tm="100000">
                                          <p:val>
                                            <p:strVal val="#ppt_x"/>
                                          </p:val>
                                        </p:tav>
                                      </p:tavLst>
                                    </p:anim>
                                    <p:anim calcmode="lin" valueType="num">
                                      <p:cBhvr>
                                        <p:cTn id="37"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19"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4775"/>
            </a:xfrm>
            <a:prstGeom prst="rect">
              <a:avLst/>
            </a:prstGeom>
            <a:noFill/>
          </p:spPr>
          <p:txBody>
            <a:bodyPr wrap="square" rtlCol="0">
              <a:spAutoFit/>
            </a:bodyPr>
            <a:lstStyle/>
            <a:p>
              <a:r>
                <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rPr>
                <a:t>市场数据报表</a:t>
              </a:r>
              <a:endPar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pSp>
        <p:nvGrpSpPr>
          <p:cNvPr id="18" name="组合 17"/>
          <p:cNvGrpSpPr/>
          <p:nvPr/>
        </p:nvGrpSpPr>
        <p:grpSpPr>
          <a:xfrm>
            <a:off x="1931397" y="1572668"/>
            <a:ext cx="1295547" cy="811993"/>
            <a:chOff x="1702797" y="1598068"/>
            <a:chExt cx="1295547" cy="811993"/>
          </a:xfrm>
        </p:grpSpPr>
        <p:sp>
          <p:nvSpPr>
            <p:cNvPr id="19" name="矩形 18"/>
            <p:cNvSpPr/>
            <p:nvPr/>
          </p:nvSpPr>
          <p:spPr>
            <a:xfrm>
              <a:off x="1702797" y="1886841"/>
              <a:ext cx="1295547" cy="523220"/>
            </a:xfrm>
            <a:prstGeom prst="rect">
              <a:avLst/>
            </a:prstGeom>
          </p:spPr>
          <p:txBody>
            <a:bodyPr wrap="none">
              <a:spAutoFit/>
            </a:bodyPr>
            <a:lstStyle/>
            <a:p>
              <a:pPr>
                <a:defRPr/>
              </a:pPr>
              <a:r>
                <a:rPr lang="en-US" altLang="zh-CN" sz="2800" dirty="0">
                  <a:solidFill>
                    <a:srgbClr val="13245C"/>
                  </a:solidFill>
                  <a:latin typeface="思源黑体 CN Bold" panose="020B0800000000000000" pitchFamily="34" charset="-122"/>
                  <a:ea typeface="思源黑体 CN Bold" panose="020B0800000000000000" pitchFamily="34" charset="-122"/>
                  <a:cs typeface="+mn-ea"/>
                  <a:sym typeface="+mn-lt"/>
                </a:rPr>
                <a:t>4.83</a:t>
              </a:r>
              <a:r>
                <a:rPr lang="zh-CN" altLang="en-US" sz="2800" dirty="0">
                  <a:solidFill>
                    <a:srgbClr val="13245C"/>
                  </a:solidFill>
                  <a:latin typeface="思源黑体 CN Bold" panose="020B0800000000000000" pitchFamily="34" charset="-122"/>
                  <a:ea typeface="思源黑体 CN Bold" panose="020B0800000000000000" pitchFamily="34" charset="-122"/>
                  <a:cs typeface="+mn-ea"/>
                  <a:sym typeface="+mn-lt"/>
                </a:rPr>
                <a:t>亿</a:t>
              </a:r>
              <a:endParaRPr lang="zh-CN" altLang="en-US" sz="2800" dirty="0">
                <a:solidFill>
                  <a:srgbClr val="13245C"/>
                </a:solidFill>
                <a:latin typeface="思源黑体 CN Bold" panose="020B0800000000000000" pitchFamily="34" charset="-122"/>
                <a:ea typeface="思源黑体 CN Bold" panose="020B0800000000000000" pitchFamily="34" charset="-122"/>
                <a:cs typeface="+mn-ea"/>
                <a:sym typeface="+mn-lt"/>
              </a:endParaRPr>
            </a:p>
          </p:txBody>
        </p:sp>
        <p:sp>
          <p:nvSpPr>
            <p:cNvPr id="20" name="矩形 19"/>
            <p:cNvSpPr/>
            <p:nvPr/>
          </p:nvSpPr>
          <p:spPr>
            <a:xfrm>
              <a:off x="1702797" y="1598068"/>
              <a:ext cx="1261884" cy="307777"/>
            </a:xfrm>
            <a:prstGeom prst="rect">
              <a:avLst/>
            </a:prstGeom>
          </p:spPr>
          <p:txBody>
            <a:bodyPr wrap="none">
              <a:spAutoFit/>
            </a:bodyPr>
            <a:lstStyle/>
            <a:p>
              <a:pPr>
                <a:defRPr/>
              </a:pPr>
              <a:r>
                <a:rPr lang="zh-CN" altLang="en-US" sz="1400" dirty="0">
                  <a:solidFill>
                    <a:prstClr val="black">
                      <a:lumMod val="75000"/>
                      <a:lumOff val="25000"/>
                    </a:prstClr>
                  </a:solidFill>
                  <a:latin typeface="思源黑体 CN Normal" panose="020B0400000000000000" pitchFamily="34" charset="-122"/>
                  <a:ea typeface="思源黑体 CN Normal" panose="020B0400000000000000" pitchFamily="34" charset="-122"/>
                  <a:cs typeface="+mn-ea"/>
                  <a:sym typeface="+mn-lt"/>
                </a:rPr>
                <a:t>点击添加标题</a:t>
              </a:r>
              <a:endParaRPr lang="zh-CN" altLang="en-US" sz="1400" dirty="0">
                <a:solidFill>
                  <a:prstClr val="black">
                    <a:lumMod val="75000"/>
                    <a:lumOff val="25000"/>
                  </a:prstClr>
                </a:solidFill>
                <a:latin typeface="思源黑体 CN Normal" panose="020B0400000000000000" pitchFamily="34" charset="-122"/>
                <a:ea typeface="思源黑体 CN Normal" panose="020B0400000000000000" pitchFamily="34" charset="-122"/>
                <a:cs typeface="+mn-ea"/>
                <a:sym typeface="+mn-lt"/>
              </a:endParaRPr>
            </a:p>
          </p:txBody>
        </p:sp>
      </p:grpSp>
      <p:grpSp>
        <p:nvGrpSpPr>
          <p:cNvPr id="22" name="组合 21"/>
          <p:cNvGrpSpPr/>
          <p:nvPr/>
        </p:nvGrpSpPr>
        <p:grpSpPr>
          <a:xfrm>
            <a:off x="3522266" y="1572668"/>
            <a:ext cx="1295547" cy="811993"/>
            <a:chOff x="3261916" y="1598068"/>
            <a:chExt cx="1295547" cy="811993"/>
          </a:xfrm>
        </p:grpSpPr>
        <p:sp>
          <p:nvSpPr>
            <p:cNvPr id="23" name="矩形 22"/>
            <p:cNvSpPr/>
            <p:nvPr/>
          </p:nvSpPr>
          <p:spPr>
            <a:xfrm>
              <a:off x="3261916" y="1886841"/>
              <a:ext cx="1295547" cy="523220"/>
            </a:xfrm>
            <a:prstGeom prst="rect">
              <a:avLst/>
            </a:prstGeom>
          </p:spPr>
          <p:txBody>
            <a:bodyPr wrap="none">
              <a:spAutoFit/>
            </a:bodyPr>
            <a:lstStyle/>
            <a:p>
              <a:pPr>
                <a:defRPr/>
              </a:pPr>
              <a:r>
                <a:rPr lang="en-US" altLang="zh-CN" sz="2800" dirty="0">
                  <a:solidFill>
                    <a:srgbClr val="13245C"/>
                  </a:solidFill>
                  <a:latin typeface="思源黑体 CN Bold" panose="020B0800000000000000" pitchFamily="34" charset="-122"/>
                  <a:ea typeface="思源黑体 CN Bold" panose="020B0800000000000000" pitchFamily="34" charset="-122"/>
                  <a:cs typeface="+mn-ea"/>
                  <a:sym typeface="+mn-lt"/>
                </a:rPr>
                <a:t>5.24</a:t>
              </a:r>
              <a:r>
                <a:rPr lang="zh-CN" altLang="en-US" sz="2800" dirty="0">
                  <a:solidFill>
                    <a:srgbClr val="13245C"/>
                  </a:solidFill>
                  <a:latin typeface="思源黑体 CN Bold" panose="020B0800000000000000" pitchFamily="34" charset="-122"/>
                  <a:ea typeface="思源黑体 CN Bold" panose="020B0800000000000000" pitchFamily="34" charset="-122"/>
                  <a:cs typeface="+mn-ea"/>
                  <a:sym typeface="+mn-lt"/>
                </a:rPr>
                <a:t>亿</a:t>
              </a:r>
              <a:endParaRPr lang="zh-CN" altLang="en-US" sz="2800" dirty="0">
                <a:solidFill>
                  <a:srgbClr val="13245C"/>
                </a:solidFill>
                <a:latin typeface="思源黑体 CN Bold" panose="020B0800000000000000" pitchFamily="34" charset="-122"/>
                <a:ea typeface="思源黑体 CN Bold" panose="020B0800000000000000" pitchFamily="34" charset="-122"/>
                <a:cs typeface="+mn-ea"/>
                <a:sym typeface="+mn-lt"/>
              </a:endParaRPr>
            </a:p>
          </p:txBody>
        </p:sp>
        <p:sp>
          <p:nvSpPr>
            <p:cNvPr id="24" name="矩形 23"/>
            <p:cNvSpPr/>
            <p:nvPr/>
          </p:nvSpPr>
          <p:spPr>
            <a:xfrm>
              <a:off x="3261916" y="1598068"/>
              <a:ext cx="1261884" cy="307777"/>
            </a:xfrm>
            <a:prstGeom prst="rect">
              <a:avLst/>
            </a:prstGeom>
          </p:spPr>
          <p:txBody>
            <a:bodyPr wrap="none">
              <a:spAutoFit/>
            </a:bodyPr>
            <a:lstStyle/>
            <a:p>
              <a:pPr>
                <a:defRPr/>
              </a:pPr>
              <a:r>
                <a:rPr lang="zh-CN" altLang="en-US" sz="1400" dirty="0">
                  <a:solidFill>
                    <a:prstClr val="black">
                      <a:lumMod val="75000"/>
                      <a:lumOff val="25000"/>
                    </a:prstClr>
                  </a:solidFill>
                  <a:latin typeface="思源黑体 CN Normal" panose="020B0400000000000000" pitchFamily="34" charset="-122"/>
                  <a:ea typeface="思源黑体 CN Normal" panose="020B0400000000000000" pitchFamily="34" charset="-122"/>
                  <a:cs typeface="+mn-ea"/>
                  <a:sym typeface="+mn-lt"/>
                </a:rPr>
                <a:t>点击添加标题</a:t>
              </a:r>
              <a:endParaRPr lang="zh-CN" altLang="en-US" sz="1400" dirty="0">
                <a:solidFill>
                  <a:prstClr val="black">
                    <a:lumMod val="75000"/>
                    <a:lumOff val="25000"/>
                  </a:prstClr>
                </a:solidFill>
                <a:latin typeface="思源黑体 CN Normal" panose="020B0400000000000000" pitchFamily="34" charset="-122"/>
                <a:ea typeface="思源黑体 CN Normal" panose="020B0400000000000000" pitchFamily="34" charset="-122"/>
                <a:cs typeface="+mn-ea"/>
                <a:sym typeface="+mn-lt"/>
              </a:endParaRPr>
            </a:p>
          </p:txBody>
        </p:sp>
      </p:grpSp>
      <p:grpSp>
        <p:nvGrpSpPr>
          <p:cNvPr id="26" name="组合 25"/>
          <p:cNvGrpSpPr/>
          <p:nvPr/>
        </p:nvGrpSpPr>
        <p:grpSpPr>
          <a:xfrm>
            <a:off x="7519988" y="1572668"/>
            <a:ext cx="1295547" cy="811993"/>
            <a:chOff x="7519988" y="1598068"/>
            <a:chExt cx="1295547" cy="811993"/>
          </a:xfrm>
        </p:grpSpPr>
        <p:sp>
          <p:nvSpPr>
            <p:cNvPr id="30" name="矩形 29"/>
            <p:cNvSpPr/>
            <p:nvPr/>
          </p:nvSpPr>
          <p:spPr>
            <a:xfrm>
              <a:off x="7519988" y="1886841"/>
              <a:ext cx="1295547" cy="523220"/>
            </a:xfrm>
            <a:prstGeom prst="rect">
              <a:avLst/>
            </a:prstGeom>
          </p:spPr>
          <p:txBody>
            <a:bodyPr wrap="none">
              <a:spAutoFit/>
            </a:bodyPr>
            <a:lstStyle/>
            <a:p>
              <a:pPr>
                <a:defRPr/>
              </a:pPr>
              <a:r>
                <a:rPr lang="en-US" altLang="zh-CN" sz="2800" dirty="0">
                  <a:solidFill>
                    <a:srgbClr val="13245C"/>
                  </a:solidFill>
                  <a:latin typeface="思源黑体 CN Bold" panose="020B0800000000000000" pitchFamily="34" charset="-122"/>
                  <a:ea typeface="思源黑体 CN Bold" panose="020B0800000000000000" pitchFamily="34" charset="-122"/>
                  <a:cs typeface="+mn-ea"/>
                  <a:sym typeface="+mn-lt"/>
                </a:rPr>
                <a:t>2.42</a:t>
              </a:r>
              <a:r>
                <a:rPr lang="zh-CN" altLang="en-US" sz="2800" dirty="0">
                  <a:solidFill>
                    <a:srgbClr val="13245C"/>
                  </a:solidFill>
                  <a:latin typeface="思源黑体 CN Bold" panose="020B0800000000000000" pitchFamily="34" charset="-122"/>
                  <a:ea typeface="思源黑体 CN Bold" panose="020B0800000000000000" pitchFamily="34" charset="-122"/>
                  <a:cs typeface="+mn-ea"/>
                  <a:sym typeface="+mn-lt"/>
                </a:rPr>
                <a:t>亿</a:t>
              </a:r>
              <a:endParaRPr lang="zh-CN" altLang="en-US" sz="2800" dirty="0">
                <a:solidFill>
                  <a:srgbClr val="13245C"/>
                </a:solidFill>
                <a:latin typeface="思源黑体 CN Bold" panose="020B0800000000000000" pitchFamily="34" charset="-122"/>
                <a:ea typeface="思源黑体 CN Bold" panose="020B0800000000000000" pitchFamily="34" charset="-122"/>
                <a:cs typeface="+mn-ea"/>
                <a:sym typeface="+mn-lt"/>
              </a:endParaRPr>
            </a:p>
          </p:txBody>
        </p:sp>
        <p:sp>
          <p:nvSpPr>
            <p:cNvPr id="31" name="矩形 30"/>
            <p:cNvSpPr/>
            <p:nvPr/>
          </p:nvSpPr>
          <p:spPr>
            <a:xfrm>
              <a:off x="7519988" y="1598068"/>
              <a:ext cx="1261884" cy="307777"/>
            </a:xfrm>
            <a:prstGeom prst="rect">
              <a:avLst/>
            </a:prstGeom>
          </p:spPr>
          <p:txBody>
            <a:bodyPr wrap="none">
              <a:spAutoFit/>
            </a:bodyPr>
            <a:lstStyle/>
            <a:p>
              <a:pPr>
                <a:defRPr/>
              </a:pPr>
              <a:r>
                <a:rPr lang="zh-CN" altLang="en-US" sz="1400" dirty="0">
                  <a:solidFill>
                    <a:prstClr val="black">
                      <a:lumMod val="75000"/>
                      <a:lumOff val="25000"/>
                    </a:prstClr>
                  </a:solidFill>
                  <a:latin typeface="思源黑体 CN Normal" panose="020B0400000000000000" pitchFamily="34" charset="-122"/>
                  <a:ea typeface="思源黑体 CN Normal" panose="020B0400000000000000" pitchFamily="34" charset="-122"/>
                  <a:cs typeface="+mn-ea"/>
                  <a:sym typeface="+mn-lt"/>
                </a:rPr>
                <a:t>点击添加标题</a:t>
              </a:r>
              <a:endParaRPr lang="zh-CN" altLang="en-US" sz="1400" dirty="0">
                <a:solidFill>
                  <a:prstClr val="black">
                    <a:lumMod val="75000"/>
                    <a:lumOff val="25000"/>
                  </a:prstClr>
                </a:solidFill>
                <a:latin typeface="思源黑体 CN Normal" panose="020B0400000000000000" pitchFamily="34" charset="-122"/>
                <a:ea typeface="思源黑体 CN Normal" panose="020B0400000000000000" pitchFamily="34" charset="-122"/>
                <a:cs typeface="+mn-ea"/>
                <a:sym typeface="+mn-lt"/>
              </a:endParaRPr>
            </a:p>
          </p:txBody>
        </p:sp>
      </p:grpSp>
      <p:grpSp>
        <p:nvGrpSpPr>
          <p:cNvPr id="32" name="组合 31"/>
          <p:cNvGrpSpPr/>
          <p:nvPr/>
        </p:nvGrpSpPr>
        <p:grpSpPr>
          <a:xfrm>
            <a:off x="9110857" y="1572668"/>
            <a:ext cx="1295547" cy="811993"/>
            <a:chOff x="9079107" y="1598068"/>
            <a:chExt cx="1295547" cy="811993"/>
          </a:xfrm>
        </p:grpSpPr>
        <p:sp>
          <p:nvSpPr>
            <p:cNvPr id="33" name="矩形 32"/>
            <p:cNvSpPr/>
            <p:nvPr/>
          </p:nvSpPr>
          <p:spPr>
            <a:xfrm>
              <a:off x="9079107" y="1886841"/>
              <a:ext cx="1295547" cy="523220"/>
            </a:xfrm>
            <a:prstGeom prst="rect">
              <a:avLst/>
            </a:prstGeom>
          </p:spPr>
          <p:txBody>
            <a:bodyPr wrap="none">
              <a:spAutoFit/>
            </a:bodyPr>
            <a:lstStyle/>
            <a:p>
              <a:pPr>
                <a:defRPr/>
              </a:pPr>
              <a:r>
                <a:rPr lang="en-US" altLang="zh-CN" sz="2800" dirty="0">
                  <a:solidFill>
                    <a:srgbClr val="13245C"/>
                  </a:solidFill>
                  <a:latin typeface="思源黑体 CN Bold" panose="020B0800000000000000" pitchFamily="34" charset="-122"/>
                  <a:ea typeface="思源黑体 CN Bold" panose="020B0800000000000000" pitchFamily="34" charset="-122"/>
                  <a:cs typeface="+mn-ea"/>
                  <a:sym typeface="+mn-lt"/>
                </a:rPr>
                <a:t>6.67</a:t>
              </a:r>
              <a:r>
                <a:rPr lang="zh-CN" altLang="en-US" sz="2800" dirty="0">
                  <a:solidFill>
                    <a:srgbClr val="13245C"/>
                  </a:solidFill>
                  <a:latin typeface="思源黑体 CN Bold" panose="020B0800000000000000" pitchFamily="34" charset="-122"/>
                  <a:ea typeface="思源黑体 CN Bold" panose="020B0800000000000000" pitchFamily="34" charset="-122"/>
                  <a:cs typeface="+mn-ea"/>
                  <a:sym typeface="+mn-lt"/>
                </a:rPr>
                <a:t>亿</a:t>
              </a:r>
              <a:endParaRPr lang="zh-CN" altLang="en-US" sz="2800" dirty="0">
                <a:solidFill>
                  <a:srgbClr val="13245C"/>
                </a:solidFill>
                <a:latin typeface="思源黑体 CN Bold" panose="020B0800000000000000" pitchFamily="34" charset="-122"/>
                <a:ea typeface="思源黑体 CN Bold" panose="020B0800000000000000" pitchFamily="34" charset="-122"/>
                <a:cs typeface="+mn-ea"/>
                <a:sym typeface="+mn-lt"/>
              </a:endParaRPr>
            </a:p>
          </p:txBody>
        </p:sp>
        <p:sp>
          <p:nvSpPr>
            <p:cNvPr id="34" name="矩形 33"/>
            <p:cNvSpPr/>
            <p:nvPr/>
          </p:nvSpPr>
          <p:spPr>
            <a:xfrm>
              <a:off x="9079107" y="1598068"/>
              <a:ext cx="1261884" cy="307777"/>
            </a:xfrm>
            <a:prstGeom prst="rect">
              <a:avLst/>
            </a:prstGeom>
          </p:spPr>
          <p:txBody>
            <a:bodyPr wrap="none">
              <a:spAutoFit/>
            </a:bodyPr>
            <a:lstStyle/>
            <a:p>
              <a:pPr>
                <a:defRPr/>
              </a:pPr>
              <a:r>
                <a:rPr lang="zh-CN" altLang="en-US" sz="1400" dirty="0">
                  <a:solidFill>
                    <a:prstClr val="black">
                      <a:lumMod val="75000"/>
                      <a:lumOff val="25000"/>
                    </a:prstClr>
                  </a:solidFill>
                  <a:latin typeface="思源黑体 CN Normal" panose="020B0400000000000000" pitchFamily="34" charset="-122"/>
                  <a:ea typeface="思源黑体 CN Normal" panose="020B0400000000000000" pitchFamily="34" charset="-122"/>
                  <a:cs typeface="+mn-ea"/>
                  <a:sym typeface="+mn-lt"/>
                </a:rPr>
                <a:t>点击添加标题</a:t>
              </a:r>
              <a:endParaRPr lang="zh-CN" altLang="en-US" sz="1400" dirty="0">
                <a:solidFill>
                  <a:prstClr val="black">
                    <a:lumMod val="75000"/>
                    <a:lumOff val="25000"/>
                  </a:prstClr>
                </a:solidFill>
                <a:latin typeface="思源黑体 CN Normal" panose="020B0400000000000000" pitchFamily="34" charset="-122"/>
                <a:ea typeface="思源黑体 CN Normal" panose="020B0400000000000000" pitchFamily="34" charset="-122"/>
                <a:cs typeface="+mn-ea"/>
                <a:sym typeface="+mn-lt"/>
              </a:endParaRPr>
            </a:p>
          </p:txBody>
        </p:sp>
      </p:grpSp>
      <p:sp>
        <p:nvSpPr>
          <p:cNvPr id="35" name="文本框 34"/>
          <p:cNvSpPr txBox="1"/>
          <p:nvPr/>
        </p:nvSpPr>
        <p:spPr>
          <a:xfrm>
            <a:off x="794747" y="2888793"/>
            <a:ext cx="2284600" cy="338554"/>
          </a:xfrm>
          <a:prstGeom prst="rect">
            <a:avLst/>
          </a:prstGeom>
          <a:noFill/>
        </p:spPr>
        <p:txBody>
          <a:bodyPr wrap="none" rtlCol="0">
            <a:spAutoFit/>
          </a:bodyPr>
          <a:lstStyle/>
          <a:p>
            <a:pPr>
              <a:defRPr/>
            </a:pPr>
            <a:r>
              <a:rPr lang="zh-CN" altLang="en-US" sz="1600" dirty="0">
                <a:solidFill>
                  <a:prstClr val="black">
                    <a:lumMod val="75000"/>
                    <a:lumOff val="25000"/>
                  </a:prstClr>
                </a:solidFill>
                <a:latin typeface="思源黑体 CN Regular" panose="020B0500000000000000" pitchFamily="34" charset="-122"/>
                <a:ea typeface="思源黑体 CN Regular" panose="020B0500000000000000" pitchFamily="34" charset="-122"/>
                <a:cs typeface="+mn-ea"/>
                <a:sym typeface="+mn-lt"/>
              </a:rPr>
              <a:t>点击添加您的数据标题</a:t>
            </a:r>
            <a:endParaRPr lang="zh-CN" altLang="en-US" sz="1600" dirty="0">
              <a:solidFill>
                <a:prstClr val="black">
                  <a:lumMod val="75000"/>
                  <a:lumOff val="25000"/>
                </a:prstClr>
              </a:solidFill>
              <a:latin typeface="思源黑体 CN Regular" panose="020B0500000000000000" pitchFamily="34" charset="-122"/>
              <a:ea typeface="思源黑体 CN Regular" panose="020B0500000000000000" pitchFamily="34" charset="-122"/>
              <a:cs typeface="+mn-ea"/>
              <a:sym typeface="+mn-lt"/>
            </a:endParaRPr>
          </a:p>
        </p:txBody>
      </p:sp>
      <p:sp>
        <p:nvSpPr>
          <p:cNvPr id="36" name="文本框 35"/>
          <p:cNvSpPr txBox="1"/>
          <p:nvPr/>
        </p:nvSpPr>
        <p:spPr>
          <a:xfrm>
            <a:off x="5061913" y="2919571"/>
            <a:ext cx="954107" cy="276999"/>
          </a:xfrm>
          <a:prstGeom prst="rect">
            <a:avLst/>
          </a:prstGeom>
          <a:noFill/>
        </p:spPr>
        <p:txBody>
          <a:bodyPr wrap="none" rtlCol="0">
            <a:spAutoFit/>
          </a:bodyPr>
          <a:lstStyle/>
          <a:p>
            <a:pPr>
              <a:defRPr/>
            </a:pPr>
            <a:r>
              <a:rPr lang="zh-CN" altLang="en-US" sz="1200" dirty="0">
                <a:solidFill>
                  <a:prstClr val="black">
                    <a:lumMod val="50000"/>
                    <a:lumOff val="50000"/>
                  </a:prstClr>
                </a:solidFill>
                <a:latin typeface="思源黑体 CN Regular" panose="020B0500000000000000" pitchFamily="34" charset="-122"/>
                <a:ea typeface="思源黑体 CN Regular" panose="020B0500000000000000" pitchFamily="34" charset="-122"/>
                <a:cs typeface="+mn-ea"/>
                <a:sym typeface="+mn-lt"/>
              </a:rPr>
              <a:t>单位：亿人</a:t>
            </a:r>
            <a:endParaRPr lang="zh-CN" altLang="en-US" sz="1200" dirty="0">
              <a:solidFill>
                <a:prstClr val="black">
                  <a:lumMod val="50000"/>
                  <a:lumOff val="50000"/>
                </a:prstClr>
              </a:solidFill>
              <a:latin typeface="思源黑体 CN Regular" panose="020B0500000000000000" pitchFamily="34" charset="-122"/>
              <a:ea typeface="思源黑体 CN Regular" panose="020B0500000000000000" pitchFamily="34" charset="-122"/>
              <a:cs typeface="+mn-ea"/>
              <a:sym typeface="+mn-lt"/>
            </a:endParaRPr>
          </a:p>
        </p:txBody>
      </p:sp>
      <p:sp>
        <p:nvSpPr>
          <p:cNvPr id="37" name="文本框 36"/>
          <p:cNvSpPr txBox="1"/>
          <p:nvPr/>
        </p:nvSpPr>
        <p:spPr>
          <a:xfrm>
            <a:off x="6381186" y="2888793"/>
            <a:ext cx="2284600" cy="338554"/>
          </a:xfrm>
          <a:prstGeom prst="rect">
            <a:avLst/>
          </a:prstGeom>
          <a:noFill/>
        </p:spPr>
        <p:txBody>
          <a:bodyPr wrap="none" rtlCol="0">
            <a:spAutoFit/>
          </a:bodyPr>
          <a:lstStyle/>
          <a:p>
            <a:pPr>
              <a:defRPr/>
            </a:pPr>
            <a:r>
              <a:rPr lang="zh-CN" altLang="en-US" sz="1600" dirty="0">
                <a:solidFill>
                  <a:prstClr val="black">
                    <a:lumMod val="75000"/>
                    <a:lumOff val="25000"/>
                  </a:prstClr>
                </a:solidFill>
                <a:latin typeface="思源黑体 CN Regular" panose="020B0500000000000000" pitchFamily="34" charset="-122"/>
                <a:ea typeface="思源黑体 CN Regular" panose="020B0500000000000000" pitchFamily="34" charset="-122"/>
                <a:cs typeface="+mn-ea"/>
                <a:sym typeface="+mn-lt"/>
              </a:rPr>
              <a:t>点击添加您的数据标题</a:t>
            </a:r>
            <a:endParaRPr lang="zh-CN" altLang="en-US" sz="1600" dirty="0">
              <a:solidFill>
                <a:prstClr val="black">
                  <a:lumMod val="75000"/>
                  <a:lumOff val="25000"/>
                </a:prstClr>
              </a:solidFill>
              <a:latin typeface="思源黑体 CN Regular" panose="020B0500000000000000" pitchFamily="34" charset="-122"/>
              <a:ea typeface="思源黑体 CN Regular" panose="020B0500000000000000" pitchFamily="34" charset="-122"/>
              <a:cs typeface="+mn-ea"/>
              <a:sym typeface="+mn-lt"/>
            </a:endParaRPr>
          </a:p>
        </p:txBody>
      </p:sp>
      <p:sp>
        <p:nvSpPr>
          <p:cNvPr id="38" name="文本框 37"/>
          <p:cNvSpPr txBox="1"/>
          <p:nvPr/>
        </p:nvSpPr>
        <p:spPr>
          <a:xfrm>
            <a:off x="10642582" y="2919571"/>
            <a:ext cx="954107" cy="276999"/>
          </a:xfrm>
          <a:prstGeom prst="rect">
            <a:avLst/>
          </a:prstGeom>
          <a:noFill/>
        </p:spPr>
        <p:txBody>
          <a:bodyPr wrap="none" rtlCol="0">
            <a:spAutoFit/>
          </a:bodyPr>
          <a:lstStyle/>
          <a:p>
            <a:pPr>
              <a:defRPr/>
            </a:pPr>
            <a:r>
              <a:rPr lang="zh-CN" altLang="en-US" sz="1200" dirty="0">
                <a:solidFill>
                  <a:prstClr val="black">
                    <a:lumMod val="50000"/>
                    <a:lumOff val="50000"/>
                  </a:prstClr>
                </a:solidFill>
                <a:latin typeface="思源黑体 CN Regular" panose="020B0500000000000000" pitchFamily="34" charset="-122"/>
                <a:ea typeface="思源黑体 CN Regular" panose="020B0500000000000000" pitchFamily="34" charset="-122"/>
                <a:cs typeface="+mn-ea"/>
                <a:sym typeface="+mn-lt"/>
              </a:rPr>
              <a:t>单位：亿人</a:t>
            </a:r>
            <a:endParaRPr lang="zh-CN" altLang="en-US" sz="1200" dirty="0">
              <a:solidFill>
                <a:prstClr val="black">
                  <a:lumMod val="50000"/>
                  <a:lumOff val="50000"/>
                </a:prstClr>
              </a:solidFill>
              <a:latin typeface="思源黑体 CN Regular" panose="020B0500000000000000" pitchFamily="34" charset="-122"/>
              <a:ea typeface="思源黑体 CN Regular" panose="020B0500000000000000" pitchFamily="34" charset="-122"/>
              <a:cs typeface="+mn-ea"/>
              <a:sym typeface="+mn-lt"/>
            </a:endParaRPr>
          </a:p>
        </p:txBody>
      </p:sp>
      <p:cxnSp>
        <p:nvCxnSpPr>
          <p:cNvPr id="39" name="直接连接符 38"/>
          <p:cNvCxnSpPr/>
          <p:nvPr/>
        </p:nvCxnSpPr>
        <p:spPr>
          <a:xfrm>
            <a:off x="889066" y="2729628"/>
            <a:ext cx="5024476" cy="0"/>
          </a:xfrm>
          <a:prstGeom prst="line">
            <a:avLst/>
          </a:prstGeom>
          <a:noFill/>
          <a:ln w="19050" cap="flat" cmpd="sng" algn="ctr">
            <a:solidFill>
              <a:schemeClr val="bg1">
                <a:lumMod val="75000"/>
              </a:schemeClr>
            </a:solidFill>
            <a:prstDash val="solid"/>
            <a:miter lim="800000"/>
          </a:ln>
          <a:effectLst/>
        </p:spPr>
      </p:cxnSp>
      <p:graphicFrame>
        <p:nvGraphicFramePr>
          <p:cNvPr id="40" name="图表 39"/>
          <p:cNvGraphicFramePr/>
          <p:nvPr/>
        </p:nvGraphicFramePr>
        <p:xfrm>
          <a:off x="751884" y="3343959"/>
          <a:ext cx="5299666" cy="3088591"/>
        </p:xfrm>
        <a:graphic>
          <a:graphicData uri="http://schemas.openxmlformats.org/drawingml/2006/chart">
            <c:chart xmlns:c="http://schemas.openxmlformats.org/drawingml/2006/chart" xmlns:r="http://schemas.openxmlformats.org/officeDocument/2006/relationships" r:id="rId1"/>
          </a:graphicData>
        </a:graphic>
      </p:graphicFrame>
      <p:cxnSp>
        <p:nvCxnSpPr>
          <p:cNvPr id="41" name="直接连接符 40"/>
          <p:cNvCxnSpPr/>
          <p:nvPr/>
        </p:nvCxnSpPr>
        <p:spPr>
          <a:xfrm>
            <a:off x="6477690" y="2729628"/>
            <a:ext cx="5024476" cy="0"/>
          </a:xfrm>
          <a:prstGeom prst="line">
            <a:avLst/>
          </a:prstGeom>
          <a:noFill/>
          <a:ln w="19050" cap="flat" cmpd="sng" algn="ctr">
            <a:solidFill>
              <a:schemeClr val="bg1">
                <a:lumMod val="75000"/>
              </a:schemeClr>
            </a:solidFill>
            <a:prstDash val="solid"/>
            <a:miter lim="800000"/>
          </a:ln>
          <a:effectLst/>
        </p:spPr>
      </p:cxnSp>
      <p:graphicFrame>
        <p:nvGraphicFramePr>
          <p:cNvPr id="42" name="图表 41"/>
          <p:cNvGraphicFramePr/>
          <p:nvPr/>
        </p:nvGraphicFramePr>
        <p:xfrm>
          <a:off x="6339681" y="3343959"/>
          <a:ext cx="5299666" cy="3088591"/>
        </p:xfrm>
        <a:graphic>
          <a:graphicData uri="http://schemas.openxmlformats.org/drawingml/2006/chart">
            <c:chart xmlns:c="http://schemas.openxmlformats.org/drawingml/2006/chart" xmlns:r="http://schemas.openxmlformats.org/officeDocument/2006/relationships" r:id="rId2"/>
          </a:graphicData>
        </a:graphic>
      </p:graphicFrame>
      <p:sp>
        <p:nvSpPr>
          <p:cNvPr id="45" name="Freeform 56"/>
          <p:cNvSpPr>
            <a:spLocks noChangeArrowheads="1"/>
          </p:cNvSpPr>
          <p:nvPr/>
        </p:nvSpPr>
        <p:spPr bwMode="auto">
          <a:xfrm>
            <a:off x="6479183" y="1644789"/>
            <a:ext cx="762183" cy="796829"/>
          </a:xfrm>
          <a:custGeom>
            <a:avLst/>
            <a:gdLst>
              <a:gd name="T0" fmla="*/ 2147483646 w 580"/>
              <a:gd name="T1" fmla="*/ 2147483646 h 609"/>
              <a:gd name="T2" fmla="*/ 2147483646 w 580"/>
              <a:gd name="T3" fmla="*/ 2147483646 h 609"/>
              <a:gd name="T4" fmla="*/ 2147483646 w 580"/>
              <a:gd name="T5" fmla="*/ 2147483646 h 609"/>
              <a:gd name="T6" fmla="*/ 2147483646 w 580"/>
              <a:gd name="T7" fmla="*/ 2147483646 h 609"/>
              <a:gd name="T8" fmla="*/ 2147483646 w 580"/>
              <a:gd name="T9" fmla="*/ 2147483646 h 609"/>
              <a:gd name="T10" fmla="*/ 2147483646 w 580"/>
              <a:gd name="T11" fmla="*/ 2147483646 h 609"/>
              <a:gd name="T12" fmla="*/ 2147483646 w 580"/>
              <a:gd name="T13" fmla="*/ 2147483646 h 609"/>
              <a:gd name="T14" fmla="*/ 2147483646 w 580"/>
              <a:gd name="T15" fmla="*/ 2147483646 h 609"/>
              <a:gd name="T16" fmla="*/ 0 w 580"/>
              <a:gd name="T17" fmla="*/ 2147483646 h 609"/>
              <a:gd name="T18" fmla="*/ 2147483646 w 580"/>
              <a:gd name="T19" fmla="*/ 2147483646 h 609"/>
              <a:gd name="T20" fmla="*/ 2147483646 w 580"/>
              <a:gd name="T21" fmla="*/ 2147483646 h 609"/>
              <a:gd name="T22" fmla="*/ 2147483646 w 580"/>
              <a:gd name="T23" fmla="*/ 2147483646 h 609"/>
              <a:gd name="T24" fmla="*/ 2147483646 w 580"/>
              <a:gd name="T25" fmla="*/ 2147483646 h 609"/>
              <a:gd name="T26" fmla="*/ 2147483646 w 580"/>
              <a:gd name="T27" fmla="*/ 2147483646 h 609"/>
              <a:gd name="T28" fmla="*/ 2147483646 w 580"/>
              <a:gd name="T29" fmla="*/ 2147483646 h 609"/>
              <a:gd name="T30" fmla="*/ 2147483646 w 580"/>
              <a:gd name="T31" fmla="*/ 2147483646 h 609"/>
              <a:gd name="T32" fmla="*/ 2147483646 w 580"/>
              <a:gd name="T33" fmla="*/ 2147483646 h 609"/>
              <a:gd name="T34" fmla="*/ 2147483646 w 580"/>
              <a:gd name="T35" fmla="*/ 2147483646 h 609"/>
              <a:gd name="T36" fmla="*/ 2147483646 w 580"/>
              <a:gd name="T37" fmla="*/ 2147483646 h 609"/>
              <a:gd name="T38" fmla="*/ 2147483646 w 580"/>
              <a:gd name="T39" fmla="*/ 2147483646 h 609"/>
              <a:gd name="T40" fmla="*/ 2147483646 w 580"/>
              <a:gd name="T41" fmla="*/ 2147483646 h 609"/>
              <a:gd name="T42" fmla="*/ 2147483646 w 580"/>
              <a:gd name="T43" fmla="*/ 2147483646 h 609"/>
              <a:gd name="T44" fmla="*/ 2147483646 w 580"/>
              <a:gd name="T45" fmla="*/ 2147483646 h 609"/>
              <a:gd name="T46" fmla="*/ 2147483646 w 580"/>
              <a:gd name="T47" fmla="*/ 2147483646 h 609"/>
              <a:gd name="T48" fmla="*/ 2147483646 w 580"/>
              <a:gd name="T49" fmla="*/ 2147483646 h 609"/>
              <a:gd name="T50" fmla="*/ 2147483646 w 580"/>
              <a:gd name="T51" fmla="*/ 2147483646 h 609"/>
              <a:gd name="T52" fmla="*/ 2147483646 w 580"/>
              <a:gd name="T53" fmla="*/ 2147483646 h 609"/>
              <a:gd name="T54" fmla="*/ 2147483646 w 580"/>
              <a:gd name="T55" fmla="*/ 2147483646 h 609"/>
              <a:gd name="T56" fmla="*/ 2147483646 w 580"/>
              <a:gd name="T57" fmla="*/ 2147483646 h 609"/>
              <a:gd name="T58" fmla="*/ 2147483646 w 580"/>
              <a:gd name="T59" fmla="*/ 2147483646 h 609"/>
              <a:gd name="T60" fmla="*/ 2147483646 w 580"/>
              <a:gd name="T61" fmla="*/ 2147483646 h 609"/>
              <a:gd name="T62" fmla="*/ 2147483646 w 580"/>
              <a:gd name="T63" fmla="*/ 2147483646 h 609"/>
              <a:gd name="T64" fmla="*/ 2147483646 w 580"/>
              <a:gd name="T65" fmla="*/ 2147483646 h 609"/>
              <a:gd name="T66" fmla="*/ 2147483646 w 580"/>
              <a:gd name="T67" fmla="*/ 2147483646 h 609"/>
              <a:gd name="T68" fmla="*/ 2147483646 w 580"/>
              <a:gd name="T69" fmla="*/ 2147483646 h 609"/>
              <a:gd name="T70" fmla="*/ 2147483646 w 580"/>
              <a:gd name="T71" fmla="*/ 2147483646 h 609"/>
              <a:gd name="T72" fmla="*/ 2147483646 w 580"/>
              <a:gd name="T73" fmla="*/ 2147483646 h 609"/>
              <a:gd name="T74" fmla="*/ 2147483646 w 580"/>
              <a:gd name="T75" fmla="*/ 2147483646 h 609"/>
              <a:gd name="T76" fmla="*/ 2147483646 w 580"/>
              <a:gd name="T77" fmla="*/ 2147483646 h 609"/>
              <a:gd name="T78" fmla="*/ 2147483646 w 580"/>
              <a:gd name="T79" fmla="*/ 2147483646 h 609"/>
              <a:gd name="T80" fmla="*/ 2147483646 w 580"/>
              <a:gd name="T81" fmla="*/ 2147483646 h 609"/>
              <a:gd name="T82" fmla="*/ 2147483646 w 580"/>
              <a:gd name="T83" fmla="*/ 2147483646 h 609"/>
              <a:gd name="T84" fmla="*/ 2147483646 w 580"/>
              <a:gd name="T85" fmla="*/ 2147483646 h 609"/>
              <a:gd name="T86" fmla="*/ 2147483646 w 580"/>
              <a:gd name="T87" fmla="*/ 2147483646 h 609"/>
              <a:gd name="T88" fmla="*/ 2147483646 w 580"/>
              <a:gd name="T89" fmla="*/ 2147483646 h 609"/>
              <a:gd name="T90" fmla="*/ 2147483646 w 580"/>
              <a:gd name="T91" fmla="*/ 2147483646 h 609"/>
              <a:gd name="T92" fmla="*/ 2147483646 w 580"/>
              <a:gd name="T93" fmla="*/ 2147483646 h 60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580" h="609">
                <a:moveTo>
                  <a:pt x="551" y="551"/>
                </a:moveTo>
                <a:lnTo>
                  <a:pt x="551" y="551"/>
                </a:lnTo>
                <a:cubicBezTo>
                  <a:pt x="438" y="551"/>
                  <a:pt x="438" y="551"/>
                  <a:pt x="438" y="551"/>
                </a:cubicBezTo>
                <a:cubicBezTo>
                  <a:pt x="417" y="551"/>
                  <a:pt x="410" y="537"/>
                  <a:pt x="410" y="523"/>
                </a:cubicBezTo>
                <a:cubicBezTo>
                  <a:pt x="410" y="502"/>
                  <a:pt x="417" y="495"/>
                  <a:pt x="438" y="495"/>
                </a:cubicBezTo>
                <a:cubicBezTo>
                  <a:pt x="551" y="495"/>
                  <a:pt x="551" y="495"/>
                  <a:pt x="551" y="495"/>
                </a:cubicBezTo>
                <a:cubicBezTo>
                  <a:pt x="565" y="495"/>
                  <a:pt x="579" y="502"/>
                  <a:pt x="579" y="523"/>
                </a:cubicBezTo>
                <a:cubicBezTo>
                  <a:pt x="579" y="537"/>
                  <a:pt x="565" y="551"/>
                  <a:pt x="551" y="551"/>
                </a:cubicBezTo>
                <a:close/>
                <a:moveTo>
                  <a:pt x="438" y="467"/>
                </a:moveTo>
                <a:lnTo>
                  <a:pt x="438" y="467"/>
                </a:lnTo>
                <a:cubicBezTo>
                  <a:pt x="403" y="467"/>
                  <a:pt x="381" y="488"/>
                  <a:pt x="381" y="523"/>
                </a:cubicBezTo>
                <a:cubicBezTo>
                  <a:pt x="381" y="551"/>
                  <a:pt x="403" y="580"/>
                  <a:pt x="438" y="580"/>
                </a:cubicBezTo>
                <a:cubicBezTo>
                  <a:pt x="445" y="580"/>
                  <a:pt x="445" y="580"/>
                  <a:pt x="445" y="580"/>
                </a:cubicBezTo>
                <a:cubicBezTo>
                  <a:pt x="551" y="580"/>
                  <a:pt x="551" y="580"/>
                  <a:pt x="551" y="580"/>
                </a:cubicBezTo>
                <a:cubicBezTo>
                  <a:pt x="551" y="594"/>
                  <a:pt x="537" y="608"/>
                  <a:pt x="523" y="608"/>
                </a:cubicBezTo>
                <a:cubicBezTo>
                  <a:pt x="28" y="608"/>
                  <a:pt x="28" y="608"/>
                  <a:pt x="28" y="608"/>
                </a:cubicBezTo>
                <a:cubicBezTo>
                  <a:pt x="14" y="608"/>
                  <a:pt x="0" y="594"/>
                  <a:pt x="0" y="580"/>
                </a:cubicBezTo>
                <a:cubicBezTo>
                  <a:pt x="0" y="85"/>
                  <a:pt x="0" y="85"/>
                  <a:pt x="0" y="85"/>
                </a:cubicBezTo>
                <a:cubicBezTo>
                  <a:pt x="0" y="71"/>
                  <a:pt x="14" y="56"/>
                  <a:pt x="28" y="56"/>
                </a:cubicBezTo>
                <a:cubicBezTo>
                  <a:pt x="77" y="56"/>
                  <a:pt x="77" y="56"/>
                  <a:pt x="77" y="56"/>
                </a:cubicBezTo>
                <a:cubicBezTo>
                  <a:pt x="77" y="85"/>
                  <a:pt x="77" y="85"/>
                  <a:pt x="77" y="85"/>
                </a:cubicBezTo>
                <a:cubicBezTo>
                  <a:pt x="77" y="120"/>
                  <a:pt x="106" y="141"/>
                  <a:pt x="134" y="141"/>
                </a:cubicBezTo>
                <a:cubicBezTo>
                  <a:pt x="162" y="141"/>
                  <a:pt x="190" y="120"/>
                  <a:pt x="190" y="85"/>
                </a:cubicBezTo>
                <a:cubicBezTo>
                  <a:pt x="190" y="56"/>
                  <a:pt x="190" y="56"/>
                  <a:pt x="190" y="56"/>
                </a:cubicBezTo>
                <a:cubicBezTo>
                  <a:pt x="219" y="56"/>
                  <a:pt x="219" y="56"/>
                  <a:pt x="219" y="56"/>
                </a:cubicBezTo>
                <a:cubicBezTo>
                  <a:pt x="219" y="85"/>
                  <a:pt x="219" y="85"/>
                  <a:pt x="219" y="85"/>
                </a:cubicBezTo>
                <a:cubicBezTo>
                  <a:pt x="219" y="120"/>
                  <a:pt x="247" y="141"/>
                  <a:pt x="275" y="141"/>
                </a:cubicBezTo>
                <a:cubicBezTo>
                  <a:pt x="304" y="141"/>
                  <a:pt x="332" y="120"/>
                  <a:pt x="332" y="85"/>
                </a:cubicBezTo>
                <a:cubicBezTo>
                  <a:pt x="332" y="56"/>
                  <a:pt x="332" y="56"/>
                  <a:pt x="332" y="56"/>
                </a:cubicBezTo>
                <a:cubicBezTo>
                  <a:pt x="360" y="56"/>
                  <a:pt x="360" y="56"/>
                  <a:pt x="360" y="56"/>
                </a:cubicBezTo>
                <a:cubicBezTo>
                  <a:pt x="360" y="85"/>
                  <a:pt x="360" y="85"/>
                  <a:pt x="360" y="85"/>
                </a:cubicBezTo>
                <a:cubicBezTo>
                  <a:pt x="360" y="120"/>
                  <a:pt x="388" y="141"/>
                  <a:pt x="417" y="141"/>
                </a:cubicBezTo>
                <a:cubicBezTo>
                  <a:pt x="445" y="141"/>
                  <a:pt x="473" y="120"/>
                  <a:pt x="473" y="85"/>
                </a:cubicBezTo>
                <a:cubicBezTo>
                  <a:pt x="473" y="56"/>
                  <a:pt x="473" y="56"/>
                  <a:pt x="473" y="56"/>
                </a:cubicBezTo>
                <a:cubicBezTo>
                  <a:pt x="523" y="56"/>
                  <a:pt x="523" y="56"/>
                  <a:pt x="523" y="56"/>
                </a:cubicBezTo>
                <a:cubicBezTo>
                  <a:pt x="537" y="56"/>
                  <a:pt x="551" y="71"/>
                  <a:pt x="551" y="85"/>
                </a:cubicBezTo>
                <a:cubicBezTo>
                  <a:pt x="551" y="467"/>
                  <a:pt x="551" y="467"/>
                  <a:pt x="551" y="467"/>
                </a:cubicBezTo>
                <a:cubicBezTo>
                  <a:pt x="523" y="467"/>
                  <a:pt x="523" y="467"/>
                  <a:pt x="523" y="467"/>
                </a:cubicBezTo>
                <a:lnTo>
                  <a:pt x="438" y="467"/>
                </a:lnTo>
                <a:close/>
                <a:moveTo>
                  <a:pt x="99" y="509"/>
                </a:moveTo>
                <a:lnTo>
                  <a:pt x="99" y="509"/>
                </a:lnTo>
                <a:cubicBezTo>
                  <a:pt x="282" y="509"/>
                  <a:pt x="282" y="509"/>
                  <a:pt x="282" y="509"/>
                </a:cubicBezTo>
                <a:cubicBezTo>
                  <a:pt x="297" y="509"/>
                  <a:pt x="304" y="502"/>
                  <a:pt x="304" y="488"/>
                </a:cubicBezTo>
                <a:cubicBezTo>
                  <a:pt x="304" y="474"/>
                  <a:pt x="297" y="467"/>
                  <a:pt x="282" y="467"/>
                </a:cubicBezTo>
                <a:cubicBezTo>
                  <a:pt x="99" y="467"/>
                  <a:pt x="99" y="467"/>
                  <a:pt x="99" y="467"/>
                </a:cubicBezTo>
                <a:cubicBezTo>
                  <a:pt x="84" y="467"/>
                  <a:pt x="77" y="474"/>
                  <a:pt x="77" y="488"/>
                </a:cubicBezTo>
                <a:cubicBezTo>
                  <a:pt x="77" y="502"/>
                  <a:pt x="84" y="509"/>
                  <a:pt x="99" y="509"/>
                </a:cubicBezTo>
                <a:close/>
                <a:moveTo>
                  <a:pt x="445" y="219"/>
                </a:moveTo>
                <a:lnTo>
                  <a:pt x="445" y="219"/>
                </a:lnTo>
                <a:cubicBezTo>
                  <a:pt x="106" y="219"/>
                  <a:pt x="106" y="219"/>
                  <a:pt x="106" y="219"/>
                </a:cubicBezTo>
                <a:cubicBezTo>
                  <a:pt x="92" y="219"/>
                  <a:pt x="77" y="233"/>
                  <a:pt x="77" y="247"/>
                </a:cubicBezTo>
                <a:cubicBezTo>
                  <a:pt x="77" y="262"/>
                  <a:pt x="92" y="276"/>
                  <a:pt x="106" y="276"/>
                </a:cubicBezTo>
                <a:cubicBezTo>
                  <a:pt x="445" y="276"/>
                  <a:pt x="445" y="276"/>
                  <a:pt x="445" y="276"/>
                </a:cubicBezTo>
                <a:cubicBezTo>
                  <a:pt x="459" y="276"/>
                  <a:pt x="473" y="262"/>
                  <a:pt x="473" y="247"/>
                </a:cubicBezTo>
                <a:cubicBezTo>
                  <a:pt x="473" y="233"/>
                  <a:pt x="459" y="219"/>
                  <a:pt x="445" y="219"/>
                </a:cubicBezTo>
                <a:close/>
                <a:moveTo>
                  <a:pt x="445" y="339"/>
                </a:moveTo>
                <a:lnTo>
                  <a:pt x="445" y="339"/>
                </a:lnTo>
                <a:cubicBezTo>
                  <a:pt x="275" y="339"/>
                  <a:pt x="275" y="339"/>
                  <a:pt x="275" y="339"/>
                </a:cubicBezTo>
                <a:cubicBezTo>
                  <a:pt x="226" y="339"/>
                  <a:pt x="226" y="339"/>
                  <a:pt x="226" y="339"/>
                </a:cubicBezTo>
                <a:cubicBezTo>
                  <a:pt x="219" y="339"/>
                  <a:pt x="219" y="339"/>
                  <a:pt x="219" y="339"/>
                </a:cubicBezTo>
                <a:cubicBezTo>
                  <a:pt x="106" y="339"/>
                  <a:pt x="106" y="339"/>
                  <a:pt x="106" y="339"/>
                </a:cubicBezTo>
                <a:cubicBezTo>
                  <a:pt x="92" y="339"/>
                  <a:pt x="77" y="353"/>
                  <a:pt x="77" y="367"/>
                </a:cubicBezTo>
                <a:cubicBezTo>
                  <a:pt x="77" y="389"/>
                  <a:pt x="92" y="396"/>
                  <a:pt x="106" y="396"/>
                </a:cubicBezTo>
                <a:cubicBezTo>
                  <a:pt x="219" y="396"/>
                  <a:pt x="219" y="396"/>
                  <a:pt x="219" y="396"/>
                </a:cubicBezTo>
                <a:cubicBezTo>
                  <a:pt x="226" y="396"/>
                  <a:pt x="226" y="396"/>
                  <a:pt x="226" y="396"/>
                </a:cubicBezTo>
                <a:cubicBezTo>
                  <a:pt x="275" y="396"/>
                  <a:pt x="275" y="396"/>
                  <a:pt x="275" y="396"/>
                </a:cubicBezTo>
                <a:cubicBezTo>
                  <a:pt x="445" y="396"/>
                  <a:pt x="445" y="396"/>
                  <a:pt x="445" y="396"/>
                </a:cubicBezTo>
                <a:cubicBezTo>
                  <a:pt x="459" y="396"/>
                  <a:pt x="473" y="389"/>
                  <a:pt x="473" y="367"/>
                </a:cubicBezTo>
                <a:cubicBezTo>
                  <a:pt x="473" y="353"/>
                  <a:pt x="459" y="339"/>
                  <a:pt x="445" y="339"/>
                </a:cubicBezTo>
                <a:close/>
                <a:moveTo>
                  <a:pt x="417" y="113"/>
                </a:moveTo>
                <a:lnTo>
                  <a:pt x="417" y="113"/>
                </a:lnTo>
                <a:cubicBezTo>
                  <a:pt x="403" y="113"/>
                  <a:pt x="388" y="106"/>
                  <a:pt x="388" y="85"/>
                </a:cubicBezTo>
                <a:cubicBezTo>
                  <a:pt x="388" y="28"/>
                  <a:pt x="388" y="28"/>
                  <a:pt x="388" y="28"/>
                </a:cubicBezTo>
                <a:cubicBezTo>
                  <a:pt x="388" y="14"/>
                  <a:pt x="403" y="0"/>
                  <a:pt x="417" y="0"/>
                </a:cubicBezTo>
                <a:cubicBezTo>
                  <a:pt x="431" y="0"/>
                  <a:pt x="445" y="14"/>
                  <a:pt x="445" y="28"/>
                </a:cubicBezTo>
                <a:cubicBezTo>
                  <a:pt x="445" y="85"/>
                  <a:pt x="445" y="85"/>
                  <a:pt x="445" y="85"/>
                </a:cubicBezTo>
                <a:cubicBezTo>
                  <a:pt x="445" y="106"/>
                  <a:pt x="431" y="113"/>
                  <a:pt x="417" y="113"/>
                </a:cubicBezTo>
                <a:close/>
                <a:moveTo>
                  <a:pt x="275" y="113"/>
                </a:moveTo>
                <a:lnTo>
                  <a:pt x="275" y="113"/>
                </a:lnTo>
                <a:cubicBezTo>
                  <a:pt x="261" y="113"/>
                  <a:pt x="247" y="106"/>
                  <a:pt x="247" y="85"/>
                </a:cubicBezTo>
                <a:cubicBezTo>
                  <a:pt x="247" y="28"/>
                  <a:pt x="247" y="28"/>
                  <a:pt x="247" y="28"/>
                </a:cubicBezTo>
                <a:cubicBezTo>
                  <a:pt x="247" y="14"/>
                  <a:pt x="261" y="0"/>
                  <a:pt x="275" y="0"/>
                </a:cubicBezTo>
                <a:cubicBezTo>
                  <a:pt x="289" y="0"/>
                  <a:pt x="304" y="14"/>
                  <a:pt x="304" y="28"/>
                </a:cubicBezTo>
                <a:cubicBezTo>
                  <a:pt x="304" y="85"/>
                  <a:pt x="304" y="85"/>
                  <a:pt x="304" y="85"/>
                </a:cubicBezTo>
                <a:cubicBezTo>
                  <a:pt x="304" y="106"/>
                  <a:pt x="289" y="113"/>
                  <a:pt x="275" y="113"/>
                </a:cubicBezTo>
                <a:close/>
                <a:moveTo>
                  <a:pt x="134" y="113"/>
                </a:moveTo>
                <a:lnTo>
                  <a:pt x="134" y="113"/>
                </a:lnTo>
                <a:cubicBezTo>
                  <a:pt x="120" y="113"/>
                  <a:pt x="106" y="106"/>
                  <a:pt x="106" y="85"/>
                </a:cubicBezTo>
                <a:cubicBezTo>
                  <a:pt x="106" y="28"/>
                  <a:pt x="106" y="28"/>
                  <a:pt x="106" y="28"/>
                </a:cubicBezTo>
                <a:cubicBezTo>
                  <a:pt x="106" y="14"/>
                  <a:pt x="120" y="0"/>
                  <a:pt x="134" y="0"/>
                </a:cubicBezTo>
                <a:cubicBezTo>
                  <a:pt x="148" y="0"/>
                  <a:pt x="162" y="14"/>
                  <a:pt x="162" y="28"/>
                </a:cubicBezTo>
                <a:cubicBezTo>
                  <a:pt x="162" y="85"/>
                  <a:pt x="162" y="85"/>
                  <a:pt x="162" y="85"/>
                </a:cubicBezTo>
                <a:cubicBezTo>
                  <a:pt x="162" y="106"/>
                  <a:pt x="148" y="113"/>
                  <a:pt x="134" y="113"/>
                </a:cubicBezTo>
                <a:close/>
              </a:path>
            </a:pathLst>
          </a:custGeom>
          <a:solidFill>
            <a:srgbClr val="13245C"/>
          </a:solidFill>
        </p:spPr>
        <p:txBody>
          <a:bodyPr wrap="none" anchor="ctr"/>
          <a:lstStyle/>
          <a:p>
            <a:endParaRPr lang="zh-CN" altLang="en-US" sz="2400">
              <a:cs typeface="+mn-ea"/>
              <a:sym typeface="+mn-lt"/>
            </a:endParaRPr>
          </a:p>
        </p:txBody>
      </p:sp>
      <p:sp>
        <p:nvSpPr>
          <p:cNvPr id="46" name="Freeform 57"/>
          <p:cNvSpPr>
            <a:spLocks noChangeArrowheads="1"/>
          </p:cNvSpPr>
          <p:nvPr/>
        </p:nvSpPr>
        <p:spPr bwMode="auto">
          <a:xfrm>
            <a:off x="1040065" y="1644789"/>
            <a:ext cx="750635" cy="796828"/>
          </a:xfrm>
          <a:custGeom>
            <a:avLst/>
            <a:gdLst>
              <a:gd name="T0" fmla="*/ 2147483646 w 573"/>
              <a:gd name="T1" fmla="*/ 2147483646 h 609"/>
              <a:gd name="T2" fmla="*/ 2147483646 w 573"/>
              <a:gd name="T3" fmla="*/ 2147483646 h 609"/>
              <a:gd name="T4" fmla="*/ 2147483646 w 573"/>
              <a:gd name="T5" fmla="*/ 2147483646 h 609"/>
              <a:gd name="T6" fmla="*/ 2147483646 w 573"/>
              <a:gd name="T7" fmla="*/ 2147483646 h 609"/>
              <a:gd name="T8" fmla="*/ 2147483646 w 573"/>
              <a:gd name="T9" fmla="*/ 2147483646 h 609"/>
              <a:gd name="T10" fmla="*/ 2147483646 w 573"/>
              <a:gd name="T11" fmla="*/ 2147483646 h 609"/>
              <a:gd name="T12" fmla="*/ 2147483646 w 573"/>
              <a:gd name="T13" fmla="*/ 2147483646 h 609"/>
              <a:gd name="T14" fmla="*/ 2147483646 w 573"/>
              <a:gd name="T15" fmla="*/ 2147483646 h 609"/>
              <a:gd name="T16" fmla="*/ 2147483646 w 573"/>
              <a:gd name="T17" fmla="*/ 2147483646 h 609"/>
              <a:gd name="T18" fmla="*/ 2147483646 w 573"/>
              <a:gd name="T19" fmla="*/ 2147483646 h 609"/>
              <a:gd name="T20" fmla="*/ 2147483646 w 573"/>
              <a:gd name="T21" fmla="*/ 2147483646 h 609"/>
              <a:gd name="T22" fmla="*/ 2147483646 w 573"/>
              <a:gd name="T23" fmla="*/ 2147483646 h 609"/>
              <a:gd name="T24" fmla="*/ 0 w 573"/>
              <a:gd name="T25" fmla="*/ 2147483646 h 609"/>
              <a:gd name="T26" fmla="*/ 2147483646 w 573"/>
              <a:gd name="T27" fmla="*/ 2147483646 h 609"/>
              <a:gd name="T28" fmla="*/ 2147483646 w 573"/>
              <a:gd name="T29" fmla="*/ 2147483646 h 609"/>
              <a:gd name="T30" fmla="*/ 2147483646 w 573"/>
              <a:gd name="T31" fmla="*/ 2147483646 h 609"/>
              <a:gd name="T32" fmla="*/ 2147483646 w 573"/>
              <a:gd name="T33" fmla="*/ 2147483646 h 609"/>
              <a:gd name="T34" fmla="*/ 2147483646 w 573"/>
              <a:gd name="T35" fmla="*/ 2147483646 h 609"/>
              <a:gd name="T36" fmla="*/ 2147483646 w 573"/>
              <a:gd name="T37" fmla="*/ 2147483646 h 609"/>
              <a:gd name="T38" fmla="*/ 2147483646 w 573"/>
              <a:gd name="T39" fmla="*/ 2147483646 h 609"/>
              <a:gd name="T40" fmla="*/ 2147483646 w 573"/>
              <a:gd name="T41" fmla="*/ 2147483646 h 609"/>
              <a:gd name="T42" fmla="*/ 2147483646 w 573"/>
              <a:gd name="T43" fmla="*/ 2147483646 h 609"/>
              <a:gd name="T44" fmla="*/ 2147483646 w 573"/>
              <a:gd name="T45" fmla="*/ 2147483646 h 609"/>
              <a:gd name="T46" fmla="*/ 2147483646 w 573"/>
              <a:gd name="T47" fmla="*/ 2147483646 h 609"/>
              <a:gd name="T48" fmla="*/ 2147483646 w 573"/>
              <a:gd name="T49" fmla="*/ 2147483646 h 609"/>
              <a:gd name="T50" fmla="*/ 2147483646 w 573"/>
              <a:gd name="T51" fmla="*/ 2147483646 h 609"/>
              <a:gd name="T52" fmla="*/ 2147483646 w 573"/>
              <a:gd name="T53" fmla="*/ 2147483646 h 609"/>
              <a:gd name="T54" fmla="*/ 2147483646 w 573"/>
              <a:gd name="T55" fmla="*/ 2147483646 h 609"/>
              <a:gd name="T56" fmla="*/ 2147483646 w 573"/>
              <a:gd name="T57" fmla="*/ 2147483646 h 609"/>
              <a:gd name="T58" fmla="*/ 2147483646 w 573"/>
              <a:gd name="T59" fmla="*/ 2147483646 h 609"/>
              <a:gd name="T60" fmla="*/ 2147483646 w 573"/>
              <a:gd name="T61" fmla="*/ 2147483646 h 609"/>
              <a:gd name="T62" fmla="*/ 2147483646 w 573"/>
              <a:gd name="T63" fmla="*/ 2147483646 h 609"/>
              <a:gd name="T64" fmla="*/ 2147483646 w 573"/>
              <a:gd name="T65" fmla="*/ 2147483646 h 609"/>
              <a:gd name="T66" fmla="*/ 2147483646 w 573"/>
              <a:gd name="T67" fmla="*/ 2147483646 h 609"/>
              <a:gd name="T68" fmla="*/ 2147483646 w 573"/>
              <a:gd name="T69" fmla="*/ 2147483646 h 609"/>
              <a:gd name="T70" fmla="*/ 2147483646 w 573"/>
              <a:gd name="T71" fmla="*/ 2147483646 h 609"/>
              <a:gd name="T72" fmla="*/ 2147483646 w 573"/>
              <a:gd name="T73" fmla="*/ 2147483646 h 609"/>
              <a:gd name="T74" fmla="*/ 2147483646 w 573"/>
              <a:gd name="T75" fmla="*/ 2147483646 h 609"/>
              <a:gd name="T76" fmla="*/ 2147483646 w 573"/>
              <a:gd name="T77" fmla="*/ 2147483646 h 609"/>
              <a:gd name="T78" fmla="*/ 2147483646 w 573"/>
              <a:gd name="T79" fmla="*/ 2147483646 h 609"/>
              <a:gd name="T80" fmla="*/ 2147483646 w 573"/>
              <a:gd name="T81" fmla="*/ 2147483646 h 609"/>
              <a:gd name="T82" fmla="*/ 2147483646 w 573"/>
              <a:gd name="T83" fmla="*/ 2147483646 h 609"/>
              <a:gd name="T84" fmla="*/ 2147483646 w 573"/>
              <a:gd name="T85" fmla="*/ 2147483646 h 609"/>
              <a:gd name="T86" fmla="*/ 2147483646 w 573"/>
              <a:gd name="T87" fmla="*/ 0 h 609"/>
              <a:gd name="T88" fmla="*/ 2147483646 w 573"/>
              <a:gd name="T89" fmla="*/ 2147483646 h 609"/>
              <a:gd name="T90" fmla="*/ 2147483646 w 573"/>
              <a:gd name="T91" fmla="*/ 2147483646 h 609"/>
              <a:gd name="T92" fmla="*/ 2147483646 w 573"/>
              <a:gd name="T93" fmla="*/ 2147483646 h 609"/>
              <a:gd name="T94" fmla="*/ 2147483646 w 573"/>
              <a:gd name="T95" fmla="*/ 0 h 609"/>
              <a:gd name="T96" fmla="*/ 2147483646 w 573"/>
              <a:gd name="T97" fmla="*/ 2147483646 h 609"/>
              <a:gd name="T98" fmla="*/ 2147483646 w 573"/>
              <a:gd name="T99" fmla="*/ 2147483646 h 609"/>
              <a:gd name="T100" fmla="*/ 2147483646 w 573"/>
              <a:gd name="T101" fmla="*/ 2147483646 h 609"/>
              <a:gd name="T102" fmla="*/ 2147483646 w 573"/>
              <a:gd name="T103" fmla="*/ 0 h 609"/>
              <a:gd name="T104" fmla="*/ 2147483646 w 573"/>
              <a:gd name="T105" fmla="*/ 2147483646 h 60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73" h="609">
                <a:moveTo>
                  <a:pt x="544" y="551"/>
                </a:moveTo>
                <a:lnTo>
                  <a:pt x="544" y="551"/>
                </a:lnTo>
                <a:cubicBezTo>
                  <a:pt x="515" y="551"/>
                  <a:pt x="515" y="551"/>
                  <a:pt x="515" y="551"/>
                </a:cubicBezTo>
                <a:cubicBezTo>
                  <a:pt x="515" y="580"/>
                  <a:pt x="515" y="580"/>
                  <a:pt x="515" y="580"/>
                </a:cubicBezTo>
                <a:cubicBezTo>
                  <a:pt x="515" y="594"/>
                  <a:pt x="508" y="608"/>
                  <a:pt x="487" y="608"/>
                </a:cubicBezTo>
                <a:cubicBezTo>
                  <a:pt x="473" y="608"/>
                  <a:pt x="459" y="594"/>
                  <a:pt x="459" y="580"/>
                </a:cubicBezTo>
                <a:cubicBezTo>
                  <a:pt x="459" y="551"/>
                  <a:pt x="459" y="551"/>
                  <a:pt x="459" y="551"/>
                </a:cubicBezTo>
                <a:cubicBezTo>
                  <a:pt x="431" y="551"/>
                  <a:pt x="431" y="551"/>
                  <a:pt x="431" y="551"/>
                </a:cubicBezTo>
                <a:cubicBezTo>
                  <a:pt x="417" y="551"/>
                  <a:pt x="402" y="537"/>
                  <a:pt x="402" y="523"/>
                </a:cubicBezTo>
                <a:cubicBezTo>
                  <a:pt x="402" y="502"/>
                  <a:pt x="417" y="495"/>
                  <a:pt x="431" y="495"/>
                </a:cubicBezTo>
                <a:cubicBezTo>
                  <a:pt x="459" y="495"/>
                  <a:pt x="459" y="495"/>
                  <a:pt x="459" y="495"/>
                </a:cubicBezTo>
                <a:cubicBezTo>
                  <a:pt x="459" y="467"/>
                  <a:pt x="459" y="467"/>
                  <a:pt x="459" y="467"/>
                </a:cubicBezTo>
                <a:cubicBezTo>
                  <a:pt x="459" y="445"/>
                  <a:pt x="473" y="438"/>
                  <a:pt x="487" y="438"/>
                </a:cubicBezTo>
                <a:cubicBezTo>
                  <a:pt x="508" y="438"/>
                  <a:pt x="515" y="445"/>
                  <a:pt x="515" y="467"/>
                </a:cubicBezTo>
                <a:cubicBezTo>
                  <a:pt x="515" y="495"/>
                  <a:pt x="515" y="495"/>
                  <a:pt x="515" y="495"/>
                </a:cubicBezTo>
                <a:cubicBezTo>
                  <a:pt x="544" y="495"/>
                  <a:pt x="544" y="495"/>
                  <a:pt x="544" y="495"/>
                </a:cubicBezTo>
                <a:cubicBezTo>
                  <a:pt x="565" y="495"/>
                  <a:pt x="572" y="502"/>
                  <a:pt x="572" y="523"/>
                </a:cubicBezTo>
                <a:cubicBezTo>
                  <a:pt x="572" y="537"/>
                  <a:pt x="565" y="551"/>
                  <a:pt x="544" y="551"/>
                </a:cubicBezTo>
                <a:close/>
                <a:moveTo>
                  <a:pt x="487" y="410"/>
                </a:moveTo>
                <a:lnTo>
                  <a:pt x="487" y="410"/>
                </a:lnTo>
                <a:cubicBezTo>
                  <a:pt x="459" y="410"/>
                  <a:pt x="431" y="431"/>
                  <a:pt x="431" y="467"/>
                </a:cubicBezTo>
                <a:cubicBezTo>
                  <a:pt x="402" y="467"/>
                  <a:pt x="374" y="488"/>
                  <a:pt x="374" y="523"/>
                </a:cubicBezTo>
                <a:cubicBezTo>
                  <a:pt x="374" y="551"/>
                  <a:pt x="402" y="580"/>
                  <a:pt x="431" y="580"/>
                </a:cubicBezTo>
                <a:cubicBezTo>
                  <a:pt x="431" y="608"/>
                  <a:pt x="431" y="608"/>
                  <a:pt x="431" y="608"/>
                </a:cubicBezTo>
                <a:cubicBezTo>
                  <a:pt x="28" y="608"/>
                  <a:pt x="28" y="608"/>
                  <a:pt x="28" y="608"/>
                </a:cubicBezTo>
                <a:cubicBezTo>
                  <a:pt x="14" y="608"/>
                  <a:pt x="0" y="594"/>
                  <a:pt x="0" y="580"/>
                </a:cubicBezTo>
                <a:cubicBezTo>
                  <a:pt x="0" y="85"/>
                  <a:pt x="0" y="85"/>
                  <a:pt x="0" y="85"/>
                </a:cubicBezTo>
                <a:cubicBezTo>
                  <a:pt x="0" y="71"/>
                  <a:pt x="14" y="56"/>
                  <a:pt x="28" y="56"/>
                </a:cubicBezTo>
                <a:cubicBezTo>
                  <a:pt x="77" y="56"/>
                  <a:pt x="77" y="56"/>
                  <a:pt x="77" y="56"/>
                </a:cubicBezTo>
                <a:cubicBezTo>
                  <a:pt x="77" y="85"/>
                  <a:pt x="77" y="85"/>
                  <a:pt x="77" y="85"/>
                </a:cubicBezTo>
                <a:cubicBezTo>
                  <a:pt x="77" y="120"/>
                  <a:pt x="99" y="141"/>
                  <a:pt x="134" y="141"/>
                </a:cubicBezTo>
                <a:cubicBezTo>
                  <a:pt x="162" y="141"/>
                  <a:pt x="190" y="120"/>
                  <a:pt x="190" y="85"/>
                </a:cubicBezTo>
                <a:cubicBezTo>
                  <a:pt x="190" y="56"/>
                  <a:pt x="190" y="56"/>
                  <a:pt x="190" y="56"/>
                </a:cubicBezTo>
                <a:cubicBezTo>
                  <a:pt x="219" y="56"/>
                  <a:pt x="219" y="56"/>
                  <a:pt x="219" y="56"/>
                </a:cubicBezTo>
                <a:cubicBezTo>
                  <a:pt x="219" y="85"/>
                  <a:pt x="219" y="85"/>
                  <a:pt x="219" y="85"/>
                </a:cubicBezTo>
                <a:cubicBezTo>
                  <a:pt x="219" y="120"/>
                  <a:pt x="240" y="141"/>
                  <a:pt x="275" y="141"/>
                </a:cubicBezTo>
                <a:cubicBezTo>
                  <a:pt x="304" y="141"/>
                  <a:pt x="332" y="120"/>
                  <a:pt x="332" y="85"/>
                </a:cubicBezTo>
                <a:cubicBezTo>
                  <a:pt x="332" y="56"/>
                  <a:pt x="332" y="56"/>
                  <a:pt x="332" y="56"/>
                </a:cubicBezTo>
                <a:cubicBezTo>
                  <a:pt x="360" y="56"/>
                  <a:pt x="360" y="56"/>
                  <a:pt x="360" y="56"/>
                </a:cubicBezTo>
                <a:cubicBezTo>
                  <a:pt x="360" y="85"/>
                  <a:pt x="360" y="85"/>
                  <a:pt x="360" y="85"/>
                </a:cubicBezTo>
                <a:cubicBezTo>
                  <a:pt x="360" y="120"/>
                  <a:pt x="381" y="141"/>
                  <a:pt x="417" y="141"/>
                </a:cubicBezTo>
                <a:cubicBezTo>
                  <a:pt x="445" y="141"/>
                  <a:pt x="473" y="120"/>
                  <a:pt x="473" y="85"/>
                </a:cubicBezTo>
                <a:cubicBezTo>
                  <a:pt x="473" y="56"/>
                  <a:pt x="473" y="56"/>
                  <a:pt x="473" y="56"/>
                </a:cubicBezTo>
                <a:cubicBezTo>
                  <a:pt x="515" y="56"/>
                  <a:pt x="515" y="56"/>
                  <a:pt x="515" y="56"/>
                </a:cubicBezTo>
                <a:cubicBezTo>
                  <a:pt x="537" y="56"/>
                  <a:pt x="544" y="71"/>
                  <a:pt x="544" y="85"/>
                </a:cubicBezTo>
                <a:cubicBezTo>
                  <a:pt x="544" y="467"/>
                  <a:pt x="544" y="467"/>
                  <a:pt x="544" y="467"/>
                </a:cubicBezTo>
                <a:cubicBezTo>
                  <a:pt x="544" y="431"/>
                  <a:pt x="523" y="410"/>
                  <a:pt x="487" y="410"/>
                </a:cubicBezTo>
                <a:close/>
                <a:moveTo>
                  <a:pt x="77" y="488"/>
                </a:moveTo>
                <a:lnTo>
                  <a:pt x="77" y="488"/>
                </a:lnTo>
                <a:cubicBezTo>
                  <a:pt x="77" y="502"/>
                  <a:pt x="84" y="509"/>
                  <a:pt x="99" y="509"/>
                </a:cubicBezTo>
                <a:cubicBezTo>
                  <a:pt x="275" y="509"/>
                  <a:pt x="275" y="509"/>
                  <a:pt x="275" y="509"/>
                </a:cubicBezTo>
                <a:cubicBezTo>
                  <a:pt x="289" y="509"/>
                  <a:pt x="304" y="502"/>
                  <a:pt x="304" y="488"/>
                </a:cubicBezTo>
                <a:cubicBezTo>
                  <a:pt x="304" y="474"/>
                  <a:pt x="289" y="467"/>
                  <a:pt x="275" y="467"/>
                </a:cubicBezTo>
                <a:cubicBezTo>
                  <a:pt x="99" y="467"/>
                  <a:pt x="99" y="467"/>
                  <a:pt x="99" y="467"/>
                </a:cubicBezTo>
                <a:cubicBezTo>
                  <a:pt x="84" y="467"/>
                  <a:pt x="77" y="474"/>
                  <a:pt x="77" y="488"/>
                </a:cubicBezTo>
                <a:close/>
                <a:moveTo>
                  <a:pt x="106" y="396"/>
                </a:moveTo>
                <a:lnTo>
                  <a:pt x="106" y="396"/>
                </a:lnTo>
                <a:cubicBezTo>
                  <a:pt x="226" y="396"/>
                  <a:pt x="226" y="396"/>
                  <a:pt x="226" y="396"/>
                </a:cubicBezTo>
                <a:cubicBezTo>
                  <a:pt x="275" y="396"/>
                  <a:pt x="275" y="396"/>
                  <a:pt x="275" y="396"/>
                </a:cubicBezTo>
                <a:cubicBezTo>
                  <a:pt x="282" y="396"/>
                  <a:pt x="282" y="396"/>
                  <a:pt x="282" y="396"/>
                </a:cubicBezTo>
                <a:cubicBezTo>
                  <a:pt x="318" y="396"/>
                  <a:pt x="318" y="396"/>
                  <a:pt x="318" y="396"/>
                </a:cubicBezTo>
                <a:cubicBezTo>
                  <a:pt x="346" y="396"/>
                  <a:pt x="346" y="396"/>
                  <a:pt x="346" y="396"/>
                </a:cubicBezTo>
                <a:cubicBezTo>
                  <a:pt x="367" y="396"/>
                  <a:pt x="374" y="389"/>
                  <a:pt x="374" y="367"/>
                </a:cubicBezTo>
                <a:cubicBezTo>
                  <a:pt x="374" y="353"/>
                  <a:pt x="367" y="339"/>
                  <a:pt x="346" y="339"/>
                </a:cubicBezTo>
                <a:cubicBezTo>
                  <a:pt x="282" y="339"/>
                  <a:pt x="282" y="339"/>
                  <a:pt x="282" y="339"/>
                </a:cubicBezTo>
                <a:cubicBezTo>
                  <a:pt x="275" y="339"/>
                  <a:pt x="275" y="339"/>
                  <a:pt x="275" y="339"/>
                </a:cubicBezTo>
                <a:cubicBezTo>
                  <a:pt x="226" y="339"/>
                  <a:pt x="226" y="339"/>
                  <a:pt x="226" y="339"/>
                </a:cubicBezTo>
                <a:cubicBezTo>
                  <a:pt x="106" y="339"/>
                  <a:pt x="106" y="339"/>
                  <a:pt x="106" y="339"/>
                </a:cubicBezTo>
                <a:cubicBezTo>
                  <a:pt x="84" y="339"/>
                  <a:pt x="77" y="353"/>
                  <a:pt x="77" y="367"/>
                </a:cubicBezTo>
                <a:cubicBezTo>
                  <a:pt x="77" y="389"/>
                  <a:pt x="84" y="396"/>
                  <a:pt x="106" y="396"/>
                </a:cubicBezTo>
                <a:close/>
                <a:moveTo>
                  <a:pt x="445" y="219"/>
                </a:moveTo>
                <a:lnTo>
                  <a:pt x="445" y="219"/>
                </a:lnTo>
                <a:cubicBezTo>
                  <a:pt x="106" y="219"/>
                  <a:pt x="106" y="219"/>
                  <a:pt x="106" y="219"/>
                </a:cubicBezTo>
                <a:cubicBezTo>
                  <a:pt x="84" y="219"/>
                  <a:pt x="77" y="233"/>
                  <a:pt x="77" y="247"/>
                </a:cubicBezTo>
                <a:cubicBezTo>
                  <a:pt x="77" y="262"/>
                  <a:pt x="84" y="276"/>
                  <a:pt x="106" y="276"/>
                </a:cubicBezTo>
                <a:cubicBezTo>
                  <a:pt x="445" y="276"/>
                  <a:pt x="445" y="276"/>
                  <a:pt x="445" y="276"/>
                </a:cubicBezTo>
                <a:cubicBezTo>
                  <a:pt x="459" y="276"/>
                  <a:pt x="473" y="262"/>
                  <a:pt x="473" y="247"/>
                </a:cubicBezTo>
                <a:cubicBezTo>
                  <a:pt x="473" y="233"/>
                  <a:pt x="459" y="219"/>
                  <a:pt x="445" y="219"/>
                </a:cubicBezTo>
                <a:close/>
                <a:moveTo>
                  <a:pt x="417" y="113"/>
                </a:moveTo>
                <a:lnTo>
                  <a:pt x="417" y="113"/>
                </a:lnTo>
                <a:cubicBezTo>
                  <a:pt x="395" y="113"/>
                  <a:pt x="388" y="106"/>
                  <a:pt x="388" y="85"/>
                </a:cubicBezTo>
                <a:cubicBezTo>
                  <a:pt x="388" y="28"/>
                  <a:pt x="388" y="28"/>
                  <a:pt x="388" y="28"/>
                </a:cubicBezTo>
                <a:cubicBezTo>
                  <a:pt x="388" y="14"/>
                  <a:pt x="395" y="0"/>
                  <a:pt x="417" y="0"/>
                </a:cubicBezTo>
                <a:cubicBezTo>
                  <a:pt x="431" y="0"/>
                  <a:pt x="445" y="14"/>
                  <a:pt x="445" y="28"/>
                </a:cubicBezTo>
                <a:cubicBezTo>
                  <a:pt x="445" y="85"/>
                  <a:pt x="445" y="85"/>
                  <a:pt x="445" y="85"/>
                </a:cubicBezTo>
                <a:cubicBezTo>
                  <a:pt x="445" y="106"/>
                  <a:pt x="431" y="113"/>
                  <a:pt x="417" y="113"/>
                </a:cubicBezTo>
                <a:close/>
                <a:moveTo>
                  <a:pt x="275" y="113"/>
                </a:moveTo>
                <a:lnTo>
                  <a:pt x="275" y="113"/>
                </a:lnTo>
                <a:cubicBezTo>
                  <a:pt x="254" y="113"/>
                  <a:pt x="247" y="106"/>
                  <a:pt x="247" y="85"/>
                </a:cubicBezTo>
                <a:cubicBezTo>
                  <a:pt x="247" y="28"/>
                  <a:pt x="247" y="28"/>
                  <a:pt x="247" y="28"/>
                </a:cubicBezTo>
                <a:cubicBezTo>
                  <a:pt x="247" y="14"/>
                  <a:pt x="254" y="0"/>
                  <a:pt x="275" y="0"/>
                </a:cubicBezTo>
                <a:cubicBezTo>
                  <a:pt x="289" y="0"/>
                  <a:pt x="304" y="14"/>
                  <a:pt x="304" y="28"/>
                </a:cubicBezTo>
                <a:cubicBezTo>
                  <a:pt x="304" y="85"/>
                  <a:pt x="304" y="85"/>
                  <a:pt x="304" y="85"/>
                </a:cubicBezTo>
                <a:cubicBezTo>
                  <a:pt x="304" y="106"/>
                  <a:pt x="289" y="113"/>
                  <a:pt x="275" y="113"/>
                </a:cubicBezTo>
                <a:close/>
                <a:moveTo>
                  <a:pt x="134" y="113"/>
                </a:moveTo>
                <a:lnTo>
                  <a:pt x="134" y="113"/>
                </a:lnTo>
                <a:cubicBezTo>
                  <a:pt x="113" y="113"/>
                  <a:pt x="106" y="106"/>
                  <a:pt x="106" y="85"/>
                </a:cubicBezTo>
                <a:cubicBezTo>
                  <a:pt x="106" y="28"/>
                  <a:pt x="106" y="28"/>
                  <a:pt x="106" y="28"/>
                </a:cubicBezTo>
                <a:cubicBezTo>
                  <a:pt x="106" y="14"/>
                  <a:pt x="113" y="0"/>
                  <a:pt x="134" y="0"/>
                </a:cubicBezTo>
                <a:cubicBezTo>
                  <a:pt x="148" y="0"/>
                  <a:pt x="162" y="14"/>
                  <a:pt x="162" y="28"/>
                </a:cubicBezTo>
                <a:cubicBezTo>
                  <a:pt x="162" y="85"/>
                  <a:pt x="162" y="85"/>
                  <a:pt x="162" y="85"/>
                </a:cubicBezTo>
                <a:cubicBezTo>
                  <a:pt x="162" y="106"/>
                  <a:pt x="148" y="113"/>
                  <a:pt x="134" y="113"/>
                </a:cubicBezTo>
                <a:close/>
              </a:path>
            </a:pathLst>
          </a:custGeom>
          <a:solidFill>
            <a:srgbClr val="13245C"/>
          </a:solidFill>
        </p:spPr>
        <p:txBody>
          <a:bodyPr wrap="none" anchor="ctr"/>
          <a:lstStyle/>
          <a:p>
            <a:endParaRPr lang="zh-CN" altLang="en-US" sz="2400">
              <a:cs typeface="+mn-ea"/>
              <a:sym typeface="+mn-lt"/>
            </a:endParaRPr>
          </a:p>
        </p:txBody>
      </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22" presetClass="entr" presetSubtype="4"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down)">
                                      <p:cBhvr>
                                        <p:cTn id="10" dur="500"/>
                                        <p:tgtEl>
                                          <p:spTgt spid="18"/>
                                        </p:tgtEl>
                                      </p:cBhvr>
                                    </p:animEffect>
                                  </p:childTnLst>
                                </p:cTn>
                              </p:par>
                              <p:par>
                                <p:cTn id="11" presetID="22" presetClass="entr" presetSubtype="4"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down)">
                                      <p:cBhvr>
                                        <p:cTn id="13" dur="500"/>
                                        <p:tgtEl>
                                          <p:spTgt spid="22"/>
                                        </p:tgtEl>
                                      </p:cBhvr>
                                    </p:animEffect>
                                  </p:childTnLst>
                                </p:cTn>
                              </p:par>
                              <p:par>
                                <p:cTn id="14" presetID="22" presetClass="entr" presetSubtype="4"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down)">
                                      <p:cBhvr>
                                        <p:cTn id="16" dur="500"/>
                                        <p:tgtEl>
                                          <p:spTgt spid="26"/>
                                        </p:tgtEl>
                                      </p:cBhvr>
                                    </p:animEffect>
                                  </p:childTnLst>
                                </p:cTn>
                              </p:par>
                              <p:par>
                                <p:cTn id="17" presetID="22" presetClass="entr" presetSubtype="4"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down)">
                                      <p:cBhvr>
                                        <p:cTn id="22" dur="500"/>
                                        <p:tgtEl>
                                          <p:spTgt spid="3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wipe(down)">
                                      <p:cBhvr>
                                        <p:cTn id="25" dur="500"/>
                                        <p:tgtEl>
                                          <p:spTgt spid="3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wipe(down)">
                                      <p:cBhvr>
                                        <p:cTn id="28" dur="500"/>
                                        <p:tgtEl>
                                          <p:spTgt spid="3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down)">
                                      <p:cBhvr>
                                        <p:cTn id="31" dur="500"/>
                                        <p:tgtEl>
                                          <p:spTgt spid="38"/>
                                        </p:tgtEl>
                                      </p:cBhvr>
                                    </p:animEffect>
                                  </p:childTnLst>
                                </p:cTn>
                              </p:par>
                              <p:par>
                                <p:cTn id="32" presetID="22" presetClass="entr" presetSubtype="4" fill="hold"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wipe(down)">
                                      <p:cBhvr>
                                        <p:cTn id="34" dur="500"/>
                                        <p:tgtEl>
                                          <p:spTgt spid="39"/>
                                        </p:tgtEl>
                                      </p:cBhvr>
                                    </p:animEffect>
                                  </p:childTnLst>
                                </p:cTn>
                              </p:par>
                              <p:par>
                                <p:cTn id="35" presetID="22" presetClass="entr" presetSubtype="4"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wipe(down)">
                                      <p:cBhvr>
                                        <p:cTn id="37" dur="500"/>
                                        <p:tgtEl>
                                          <p:spTgt spid="41"/>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wipe(down)">
                                      <p:cBhvr>
                                        <p:cTn id="40" dur="500"/>
                                        <p:tgtEl>
                                          <p:spTgt spid="45"/>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wipe(down)">
                                      <p:cBhvr>
                                        <p:cTn id="4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Graphic spid="40" grpId="0">
        <p:bldAsOne/>
      </p:bldGraphic>
      <p:bldGraphic spid="42" grpId="0">
        <p:bldAsOne/>
      </p:bldGraphic>
      <p:bldP spid="45" grpId="0" bldLvl="0" animBg="1"/>
      <p:bldP spid="46"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39115"/>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4775"/>
            </a:xfrm>
            <a:prstGeom prst="rect">
              <a:avLst/>
            </a:prstGeom>
            <a:noFill/>
          </p:spPr>
          <p:txBody>
            <a:bodyPr wrap="square" rtlCol="0">
              <a:spAutoFit/>
            </a:bodyPr>
            <a:lstStyle/>
            <a:p>
              <a:r>
                <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rPr>
                <a:t>市场情况分析</a:t>
              </a:r>
              <a:endPar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aphicFrame>
        <p:nvGraphicFramePr>
          <p:cNvPr id="18" name="图表 17"/>
          <p:cNvGraphicFramePr/>
          <p:nvPr/>
        </p:nvGraphicFramePr>
        <p:xfrm>
          <a:off x="2073594" y="1327200"/>
          <a:ext cx="3184893" cy="2123262"/>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9" name="图表 18"/>
          <p:cNvGraphicFramePr/>
          <p:nvPr/>
        </p:nvGraphicFramePr>
        <p:xfrm>
          <a:off x="2073593" y="3756836"/>
          <a:ext cx="3184893" cy="2123262"/>
        </p:xfrm>
        <a:graphic>
          <a:graphicData uri="http://schemas.openxmlformats.org/drawingml/2006/chart">
            <c:chart xmlns:c="http://schemas.openxmlformats.org/drawingml/2006/chart" xmlns:r="http://schemas.openxmlformats.org/officeDocument/2006/relationships" r:id="rId2"/>
          </a:graphicData>
        </a:graphic>
      </p:graphicFrame>
      <p:cxnSp>
        <p:nvCxnSpPr>
          <p:cNvPr id="20" name="直接连接符 19"/>
          <p:cNvCxnSpPr/>
          <p:nvPr/>
        </p:nvCxnSpPr>
        <p:spPr>
          <a:xfrm>
            <a:off x="5822950" y="1545590"/>
            <a:ext cx="0" cy="176022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822950" y="4052570"/>
            <a:ext cx="0" cy="176022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矩形 3"/>
          <p:cNvSpPr>
            <a:spLocks noChangeArrowheads="1"/>
          </p:cNvSpPr>
          <p:nvPr/>
        </p:nvSpPr>
        <p:spPr bwMode="auto">
          <a:xfrm>
            <a:off x="6231279" y="1721004"/>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24" name="文本框 23"/>
          <p:cNvSpPr txBox="1"/>
          <p:nvPr/>
        </p:nvSpPr>
        <p:spPr>
          <a:xfrm>
            <a:off x="6458155" y="2399528"/>
            <a:ext cx="3981245" cy="1073435"/>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请在此处添加具体内容，文字尽量言简意赅，简单说明即可，不必过于繁琐，注意版面美观度。</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26" name="矩形 3"/>
          <p:cNvSpPr>
            <a:spLocks noChangeArrowheads="1"/>
          </p:cNvSpPr>
          <p:nvPr/>
        </p:nvSpPr>
        <p:spPr bwMode="auto">
          <a:xfrm>
            <a:off x="6231279" y="4022424"/>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30" name="文本框 29"/>
          <p:cNvSpPr txBox="1"/>
          <p:nvPr/>
        </p:nvSpPr>
        <p:spPr>
          <a:xfrm>
            <a:off x="6458155" y="4700948"/>
            <a:ext cx="3981245" cy="1073435"/>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请在此处添加具体内容，文字尽量言简意赅，简单说明即可，不必过于繁琐，注意版面美观度。</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12" name="椭圆 11"/>
          <p:cNvSpPr/>
          <p:nvPr/>
        </p:nvSpPr>
        <p:spPr>
          <a:xfrm>
            <a:off x="1041400" y="1981200"/>
            <a:ext cx="685800" cy="685800"/>
          </a:xfrm>
          <a:prstGeom prst="ellipse">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r>
              <a:rPr lang="en-US" altLang="zh-CN" sz="2000" dirty="0">
                <a:solidFill>
                  <a:srgbClr val="13245C"/>
                </a:solidFill>
                <a:latin typeface="思源黑体 CN Bold" panose="020B0800000000000000" pitchFamily="34" charset="-122"/>
                <a:ea typeface="思源黑体 CN Bold" panose="020B0800000000000000" pitchFamily="34" charset="-122"/>
                <a:cs typeface="+mn-ea"/>
              </a:rPr>
              <a:t>01</a:t>
            </a:r>
            <a:endParaRPr lang="zh-CN" altLang="en-US" sz="2000" dirty="0">
              <a:solidFill>
                <a:srgbClr val="13245C"/>
              </a:solidFill>
              <a:latin typeface="思源黑体 CN Bold" panose="020B0800000000000000" pitchFamily="34" charset="-122"/>
              <a:ea typeface="思源黑体 CN Bold" panose="020B0800000000000000" pitchFamily="34" charset="-122"/>
              <a:cs typeface="+mn-ea"/>
            </a:endParaRPr>
          </a:p>
        </p:txBody>
      </p:sp>
      <p:sp>
        <p:nvSpPr>
          <p:cNvPr id="31" name="椭圆 30"/>
          <p:cNvSpPr/>
          <p:nvPr/>
        </p:nvSpPr>
        <p:spPr>
          <a:xfrm>
            <a:off x="1041400" y="4584700"/>
            <a:ext cx="685800" cy="685800"/>
          </a:xfrm>
          <a:prstGeom prst="ellipse">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r>
              <a:rPr lang="en-US" altLang="zh-CN" sz="2000" dirty="0">
                <a:solidFill>
                  <a:schemeClr val="bg1"/>
                </a:solidFill>
                <a:latin typeface="思源黑体 CN Bold" panose="020B0800000000000000" pitchFamily="34" charset="-122"/>
                <a:ea typeface="思源黑体 CN Bold" panose="020B0800000000000000" pitchFamily="34" charset="-122"/>
                <a:cs typeface="+mn-ea"/>
              </a:rPr>
              <a:t>02</a:t>
            </a:r>
            <a:endParaRPr lang="zh-CN" altLang="en-US" sz="2000" dirty="0">
              <a:solidFill>
                <a:schemeClr val="bg1"/>
              </a:solidFill>
              <a:latin typeface="思源黑体 CN Bold" panose="020B0800000000000000" pitchFamily="34" charset="-122"/>
              <a:ea typeface="思源黑体 CN Bold" panose="020B0800000000000000" pitchFamily="34" charset="-122"/>
              <a:cs typeface="+mn-ea"/>
            </a:endParaRPr>
          </a:p>
        </p:txBody>
      </p:sp>
      <p:sp>
        <p:nvSpPr>
          <p:cNvPr id="15" name="文本框 14"/>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 calcmode="lin" valueType="num">
                                      <p:cBhvr>
                                        <p:cTn id="10" dur="500" fill="hold"/>
                                        <p:tgtEl>
                                          <p:spTgt spid="18"/>
                                        </p:tgtEl>
                                        <p:attrNameLst>
                                          <p:attrName>ppt_w</p:attrName>
                                        </p:attrNameLst>
                                      </p:cBhvr>
                                      <p:tavLst>
                                        <p:tav tm="0">
                                          <p:val>
                                            <p:fltVal val="0"/>
                                          </p:val>
                                        </p:tav>
                                        <p:tav tm="100000">
                                          <p:val>
                                            <p:strVal val="#ppt_w"/>
                                          </p:val>
                                        </p:tav>
                                      </p:tavLst>
                                    </p:anim>
                                    <p:anim calcmode="lin" valueType="num">
                                      <p:cBhvr>
                                        <p:cTn id="11" dur="500" fill="hold"/>
                                        <p:tgtEl>
                                          <p:spTgt spid="18"/>
                                        </p:tgtEl>
                                        <p:attrNameLst>
                                          <p:attrName>ppt_h</p:attrName>
                                        </p:attrNameLst>
                                      </p:cBhvr>
                                      <p:tavLst>
                                        <p:tav tm="0">
                                          <p:val>
                                            <p:fltVal val="0"/>
                                          </p:val>
                                        </p:tav>
                                        <p:tav tm="100000">
                                          <p:val>
                                            <p:strVal val="#ppt_h"/>
                                          </p:val>
                                        </p:tav>
                                      </p:tavLst>
                                    </p:anim>
                                    <p:animEffect transition="in" filter="fade">
                                      <p:cBhvr>
                                        <p:cTn id="12" dur="500"/>
                                        <p:tgtEl>
                                          <p:spTgt spid="18"/>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p:cTn id="15" dur="500" fill="hold"/>
                                        <p:tgtEl>
                                          <p:spTgt spid="19"/>
                                        </p:tgtEl>
                                        <p:attrNameLst>
                                          <p:attrName>ppt_w</p:attrName>
                                        </p:attrNameLst>
                                      </p:cBhvr>
                                      <p:tavLst>
                                        <p:tav tm="0">
                                          <p:val>
                                            <p:fltVal val="0"/>
                                          </p:val>
                                        </p:tav>
                                        <p:tav tm="100000">
                                          <p:val>
                                            <p:strVal val="#ppt_w"/>
                                          </p:val>
                                        </p:tav>
                                      </p:tavLst>
                                    </p:anim>
                                    <p:anim calcmode="lin" valueType="num">
                                      <p:cBhvr>
                                        <p:cTn id="16" dur="500" fill="hold"/>
                                        <p:tgtEl>
                                          <p:spTgt spid="19"/>
                                        </p:tgtEl>
                                        <p:attrNameLst>
                                          <p:attrName>ppt_h</p:attrName>
                                        </p:attrNameLst>
                                      </p:cBhvr>
                                      <p:tavLst>
                                        <p:tav tm="0">
                                          <p:val>
                                            <p:fltVal val="0"/>
                                          </p:val>
                                        </p:tav>
                                        <p:tav tm="100000">
                                          <p:val>
                                            <p:strVal val="#ppt_h"/>
                                          </p:val>
                                        </p:tav>
                                      </p:tavLst>
                                    </p:anim>
                                    <p:animEffect transition="in" filter="fade">
                                      <p:cBhvr>
                                        <p:cTn id="17" dur="500"/>
                                        <p:tgtEl>
                                          <p:spTgt spid="19"/>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ppt_w</p:attrName>
                                        </p:attrNameLst>
                                      </p:cBhvr>
                                      <p:tavLst>
                                        <p:tav tm="0">
                                          <p:val>
                                            <p:fltVal val="0"/>
                                          </p:val>
                                        </p:tav>
                                        <p:tav tm="100000">
                                          <p:val>
                                            <p:strVal val="#ppt_w"/>
                                          </p:val>
                                        </p:tav>
                                      </p:tavLst>
                                    </p:anim>
                                    <p:anim calcmode="lin" valueType="num">
                                      <p:cBhvr>
                                        <p:cTn id="21" dur="500" fill="hold"/>
                                        <p:tgtEl>
                                          <p:spTgt spid="12"/>
                                        </p:tgtEl>
                                        <p:attrNameLst>
                                          <p:attrName>ppt_h</p:attrName>
                                        </p:attrNameLst>
                                      </p:cBhvr>
                                      <p:tavLst>
                                        <p:tav tm="0">
                                          <p:val>
                                            <p:fltVal val="0"/>
                                          </p:val>
                                        </p:tav>
                                        <p:tav tm="100000">
                                          <p:val>
                                            <p:strVal val="#ppt_h"/>
                                          </p:val>
                                        </p:tav>
                                      </p:tavLst>
                                    </p:anim>
                                    <p:animEffect transition="in" filter="fade">
                                      <p:cBhvr>
                                        <p:cTn id="22" dur="500"/>
                                        <p:tgtEl>
                                          <p:spTgt spid="12"/>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p:cTn id="25" dur="500" fill="hold"/>
                                        <p:tgtEl>
                                          <p:spTgt spid="31"/>
                                        </p:tgtEl>
                                        <p:attrNameLst>
                                          <p:attrName>ppt_w</p:attrName>
                                        </p:attrNameLst>
                                      </p:cBhvr>
                                      <p:tavLst>
                                        <p:tav tm="0">
                                          <p:val>
                                            <p:fltVal val="0"/>
                                          </p:val>
                                        </p:tav>
                                        <p:tav tm="100000">
                                          <p:val>
                                            <p:strVal val="#ppt_w"/>
                                          </p:val>
                                        </p:tav>
                                      </p:tavLst>
                                    </p:anim>
                                    <p:anim calcmode="lin" valueType="num">
                                      <p:cBhvr>
                                        <p:cTn id="26" dur="500" fill="hold"/>
                                        <p:tgtEl>
                                          <p:spTgt spid="31"/>
                                        </p:tgtEl>
                                        <p:attrNameLst>
                                          <p:attrName>ppt_h</p:attrName>
                                        </p:attrNameLst>
                                      </p:cBhvr>
                                      <p:tavLst>
                                        <p:tav tm="0">
                                          <p:val>
                                            <p:fltVal val="0"/>
                                          </p:val>
                                        </p:tav>
                                        <p:tav tm="100000">
                                          <p:val>
                                            <p:strVal val="#ppt_h"/>
                                          </p:val>
                                        </p:tav>
                                      </p:tavLst>
                                    </p:anim>
                                    <p:animEffect transition="in" filter="fade">
                                      <p:cBhvr>
                                        <p:cTn id="27" dur="500"/>
                                        <p:tgtEl>
                                          <p:spTgt spid="31"/>
                                        </p:tgtEl>
                                      </p:cBhvr>
                                    </p:animEffec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down)">
                                      <p:cBhvr>
                                        <p:cTn id="31" dur="500"/>
                                        <p:tgtEl>
                                          <p:spTgt spid="25"/>
                                        </p:tgtEl>
                                      </p:cBhvr>
                                    </p:animEffect>
                                  </p:childTnLst>
                                </p:cTn>
                              </p:par>
                            </p:childTnLst>
                          </p:cTn>
                        </p:par>
                        <p:par>
                          <p:cTn id="32" fill="hold">
                            <p:stCondLst>
                              <p:cond delay="1000"/>
                            </p:stCondLst>
                            <p:childTnLst>
                              <p:par>
                                <p:cTn id="33" presetID="22" presetClass="entr" presetSubtype="4"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down)">
                                      <p:cBhvr>
                                        <p:cTn id="35" dur="500"/>
                                        <p:tgtEl>
                                          <p:spTgt spid="20"/>
                                        </p:tgtEl>
                                      </p:cBhvr>
                                    </p:animEffect>
                                  </p:childTnLst>
                                </p:cTn>
                              </p:par>
                            </p:childTnLst>
                          </p:cTn>
                        </p:par>
                        <p:par>
                          <p:cTn id="36" fill="hold">
                            <p:stCondLst>
                              <p:cond delay="1500"/>
                            </p:stCondLst>
                            <p:childTnLst>
                              <p:par>
                                <p:cTn id="37" presetID="22" presetClass="entr" presetSubtype="4" fill="hold" nodeType="after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wipe(down)">
                                      <p:cBhvr>
                                        <p:cTn id="39" dur="500"/>
                                        <p:tgtEl>
                                          <p:spTgt spid="22"/>
                                        </p:tgtEl>
                                      </p:cBhvr>
                                    </p:animEffect>
                                  </p:childTnLst>
                                </p:cTn>
                              </p:par>
                            </p:childTnLst>
                          </p:cTn>
                        </p:par>
                        <p:par>
                          <p:cTn id="40" fill="hold">
                            <p:stCondLst>
                              <p:cond delay="2000"/>
                            </p:stCondLst>
                            <p:childTnLst>
                              <p:par>
                                <p:cTn id="41" presetID="22" presetClass="entr" presetSubtype="4" fill="hold" grpId="0"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down)">
                                      <p:cBhvr>
                                        <p:cTn id="43" dur="500"/>
                                        <p:tgtEl>
                                          <p:spTgt spid="23"/>
                                        </p:tgtEl>
                                      </p:cBhvr>
                                    </p:animEffect>
                                  </p:childTnLst>
                                </p:cTn>
                              </p:par>
                            </p:childTnLst>
                          </p:cTn>
                        </p:par>
                        <p:par>
                          <p:cTn id="44" fill="hold">
                            <p:stCondLst>
                              <p:cond delay="2500"/>
                            </p:stCondLst>
                            <p:childTnLst>
                              <p:par>
                                <p:cTn id="45" presetID="22" presetClass="entr" presetSubtype="4" fill="hold" grpId="0"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down)">
                                      <p:cBhvr>
                                        <p:cTn id="47" dur="500"/>
                                        <p:tgtEl>
                                          <p:spTgt spid="24"/>
                                        </p:tgtEl>
                                      </p:cBhvr>
                                    </p:animEffect>
                                  </p:childTnLst>
                                </p:cTn>
                              </p:par>
                            </p:childTnLst>
                          </p:cTn>
                        </p:par>
                        <p:par>
                          <p:cTn id="48" fill="hold">
                            <p:stCondLst>
                              <p:cond delay="3000"/>
                            </p:stCondLst>
                            <p:childTnLst>
                              <p:par>
                                <p:cTn id="49" presetID="22" presetClass="entr" presetSubtype="4" fill="hold" grpId="0" nodeType="after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ipe(down)">
                                      <p:cBhvr>
                                        <p:cTn id="51" dur="500"/>
                                        <p:tgtEl>
                                          <p:spTgt spid="26"/>
                                        </p:tgtEl>
                                      </p:cBhvr>
                                    </p:animEffect>
                                  </p:childTnLst>
                                </p:cTn>
                              </p:par>
                            </p:childTnLst>
                          </p:cTn>
                        </p:par>
                        <p:par>
                          <p:cTn id="52" fill="hold">
                            <p:stCondLst>
                              <p:cond delay="3500"/>
                            </p:stCondLst>
                            <p:childTnLst>
                              <p:par>
                                <p:cTn id="53" presetID="22" presetClass="entr" presetSubtype="4" fill="hold" grpId="0" nodeType="after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wipe(down)">
                                      <p:cBhvr>
                                        <p:cTn id="5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Graphic spid="18" grpId="0">
        <p:bldAsOne/>
      </p:bldGraphic>
      <p:bldGraphic spid="19" grpId="0">
        <p:bldAsOne/>
      </p:bldGraphic>
      <p:bldP spid="23" grpId="0"/>
      <p:bldP spid="24" grpId="0"/>
      <p:bldP spid="26" grpId="0"/>
      <p:bldP spid="30" grpId="0"/>
      <p:bldP spid="12" grpId="0" animBg="1"/>
      <p:bldP spid="3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4775"/>
            </a:xfrm>
            <a:prstGeom prst="rect">
              <a:avLst/>
            </a:prstGeom>
            <a:noFill/>
          </p:spPr>
          <p:txBody>
            <a:bodyPr wrap="square" rtlCol="0">
              <a:spAutoFit/>
            </a:bodyPr>
            <a:lstStyle/>
            <a:p>
              <a:r>
                <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rPr>
                <a:t>市场情况分析</a:t>
              </a:r>
              <a:endPar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pSp>
        <p:nvGrpSpPr>
          <p:cNvPr id="12" name="组合 11"/>
          <p:cNvGrpSpPr/>
          <p:nvPr/>
        </p:nvGrpSpPr>
        <p:grpSpPr>
          <a:xfrm>
            <a:off x="1784350" y="1682941"/>
            <a:ext cx="8623302" cy="2850960"/>
            <a:chOff x="692831" y="1606393"/>
            <a:chExt cx="10806339" cy="3572696"/>
          </a:xfrm>
        </p:grpSpPr>
        <p:cxnSp>
          <p:nvCxnSpPr>
            <p:cNvPr id="19" name="直接连接符 3"/>
            <p:cNvCxnSpPr>
              <a:stCxn id="22" idx="6"/>
              <a:endCxn id="23" idx="2"/>
            </p:cNvCxnSpPr>
            <p:nvPr/>
          </p:nvCxnSpPr>
          <p:spPr>
            <a:xfrm>
              <a:off x="1765301" y="2669369"/>
              <a:ext cx="8661399" cy="0"/>
            </a:xfrm>
            <a:prstGeom prst="line">
              <a:avLst/>
            </a:prstGeom>
            <a:noFill/>
            <a:ln w="19050" cap="flat" cmpd="sng" algn="ctr">
              <a:solidFill>
                <a:sysClr val="window" lastClr="FFFFFF">
                  <a:lumMod val="65000"/>
                </a:sysClr>
              </a:solidFill>
              <a:prstDash val="dash"/>
              <a:miter lim="800000"/>
              <a:headEnd type="oval"/>
              <a:tailEnd type="oval"/>
            </a:ln>
            <a:effectLst/>
          </p:spPr>
        </p:cxnSp>
        <p:sp>
          <p:nvSpPr>
            <p:cNvPr id="20" name="îṧḻídê"/>
            <p:cNvSpPr/>
            <p:nvPr/>
          </p:nvSpPr>
          <p:spPr>
            <a:xfrm>
              <a:off x="5061423" y="1606393"/>
              <a:ext cx="2132718" cy="2132708"/>
            </a:xfrm>
            <a:prstGeom prst="ellipse">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r>
                <a:rPr lang="zh-CN" altLang="en-US" sz="2400">
                  <a:solidFill>
                    <a:schemeClr val="bg1"/>
                  </a:solidFill>
                  <a:latin typeface="思源黑体 CN Bold" panose="020B0800000000000000" pitchFamily="34" charset="-122"/>
                  <a:ea typeface="思源黑体 CN Bold" panose="020B0800000000000000" pitchFamily="34" charset="-122"/>
                  <a:cs typeface="+mn-ea"/>
                  <a:sym typeface="+mn-lt"/>
                </a:rPr>
                <a:t>输入</a:t>
              </a:r>
              <a:endParaRPr lang="en-US" altLang="zh-CN" sz="2400" dirty="0">
                <a:solidFill>
                  <a:schemeClr val="bg1"/>
                </a:solidFill>
                <a:latin typeface="思源黑体 CN Bold" panose="020B0800000000000000" pitchFamily="34" charset="-122"/>
                <a:ea typeface="思源黑体 CN Bold" panose="020B0800000000000000" pitchFamily="34" charset="-122"/>
                <a:cs typeface="+mn-ea"/>
                <a:sym typeface="+mn-lt"/>
              </a:endParaRPr>
            </a:p>
            <a:p>
              <a:pPr algn="ctr" defTabSz="913765"/>
              <a:r>
                <a:rPr lang="zh-CN" altLang="en-US" sz="2400" dirty="0">
                  <a:solidFill>
                    <a:schemeClr val="bg1"/>
                  </a:solidFill>
                  <a:latin typeface="思源黑体 CN Bold" panose="020B0800000000000000" pitchFamily="34" charset="-122"/>
                  <a:ea typeface="思源黑体 CN Bold" panose="020B0800000000000000" pitchFamily="34" charset="-122"/>
                  <a:cs typeface="+mn-ea"/>
                  <a:sym typeface="+mn-lt"/>
                </a:rPr>
                <a:t>关键字</a:t>
              </a:r>
              <a:endParaRPr lang="zh-CN" altLang="en-US" sz="2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2" name="iṧḻïḍe"/>
            <p:cNvSpPr/>
            <p:nvPr/>
          </p:nvSpPr>
          <p:spPr>
            <a:xfrm>
              <a:off x="692831" y="2133135"/>
              <a:ext cx="1072470" cy="1072468"/>
            </a:xfrm>
            <a:prstGeom prst="ellipse">
              <a:avLst/>
            </a:prstGeom>
            <a:solidFill>
              <a:sysClr val="window" lastClr="FFFFFF"/>
            </a:solidFill>
            <a:ln w="25400" cap="flat" cmpd="sng" algn="ctr">
              <a:solidFill>
                <a:schemeClr val="bg1">
                  <a:lumMod val="75000"/>
                </a:schemeClr>
              </a:solidFill>
              <a:prstDash val="solid"/>
              <a:miter lim="800000"/>
            </a:ln>
            <a:effectLst/>
          </p:spPr>
          <p:txBody>
            <a:bodyPr wrap="square" lIns="91440" tIns="45720" rIns="91440" bIns="4572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23" name="îṥļíḋê"/>
            <p:cNvSpPr/>
            <p:nvPr/>
          </p:nvSpPr>
          <p:spPr>
            <a:xfrm>
              <a:off x="10426700" y="2133135"/>
              <a:ext cx="1072470" cy="1072468"/>
            </a:xfrm>
            <a:prstGeom prst="ellipse">
              <a:avLst/>
            </a:prstGeom>
            <a:solidFill>
              <a:sysClr val="window" lastClr="FFFFFF"/>
            </a:solidFill>
            <a:ln w="25400" cap="flat" cmpd="sng" algn="ctr">
              <a:solidFill>
                <a:schemeClr val="bg1">
                  <a:lumMod val="75000"/>
                </a:schemeClr>
              </a:solidFill>
              <a:prstDash val="solid"/>
              <a:miter lim="800000"/>
            </a:ln>
            <a:effectLst/>
          </p:spPr>
          <p:txBody>
            <a:bodyPr wrap="square" lIns="91440" tIns="45720" rIns="91440" bIns="4572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24" name="íś1íḍè"/>
            <p:cNvSpPr/>
            <p:nvPr/>
          </p:nvSpPr>
          <p:spPr>
            <a:xfrm>
              <a:off x="1828862" y="2242046"/>
              <a:ext cx="2277030" cy="332654"/>
            </a:xfrm>
            <a:prstGeom prst="rect">
              <a:avLst/>
            </a:prstGeom>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tx1">
                      <a:lumMod val="85000"/>
                      <a:lumOff val="15000"/>
                    </a:schemeClr>
                  </a:solidFill>
                  <a:effectLst/>
                  <a:uLnTx/>
                  <a:uFillTx/>
                  <a:latin typeface="思源黑体 CN Bold" panose="020B0800000000000000" pitchFamily="34" charset="-122"/>
                  <a:ea typeface="思源黑体 CN Bold" panose="020B0800000000000000" pitchFamily="34" charset="-122"/>
                  <a:cs typeface="+mn-ea"/>
                  <a:sym typeface="+mn-lt"/>
                </a:rPr>
                <a:t>点击添加标题</a:t>
              </a:r>
              <a:endParaRPr kumimoji="0" lang="zh-CN" altLang="en-US" sz="2000" i="0" u="none" strike="noStrike" kern="1200" cap="none" spc="0" normalizeH="0" baseline="0" noProof="0" dirty="0">
                <a:ln>
                  <a:noFill/>
                </a:ln>
                <a:solidFill>
                  <a:schemeClr val="tx1">
                    <a:lumMod val="85000"/>
                    <a:lumOff val="1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26" name="íś1íḍè"/>
            <p:cNvSpPr/>
            <p:nvPr/>
          </p:nvSpPr>
          <p:spPr>
            <a:xfrm>
              <a:off x="7981574" y="2242046"/>
              <a:ext cx="2277030" cy="332654"/>
            </a:xfrm>
            <a:prstGeom prst="rect">
              <a:avLst/>
            </a:prstGeom>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tx1">
                      <a:lumMod val="85000"/>
                      <a:lumOff val="15000"/>
                    </a:schemeClr>
                  </a:solidFill>
                  <a:effectLst/>
                  <a:uLnTx/>
                  <a:uFillTx/>
                  <a:latin typeface="思源黑体 CN Bold" panose="020B0800000000000000" pitchFamily="34" charset="-122"/>
                  <a:ea typeface="思源黑体 CN Bold" panose="020B0800000000000000" pitchFamily="34" charset="-122"/>
                  <a:cs typeface="+mn-ea"/>
                  <a:sym typeface="+mn-lt"/>
                </a:rPr>
                <a:t>点击添加标题</a:t>
              </a:r>
              <a:endParaRPr kumimoji="0" lang="zh-CN" altLang="en-US" sz="2000" i="0" u="none" strike="noStrike" kern="1200" cap="none" spc="0" normalizeH="0" baseline="0" noProof="0" dirty="0">
                <a:ln>
                  <a:noFill/>
                </a:ln>
                <a:solidFill>
                  <a:schemeClr val="tx1">
                    <a:lumMod val="85000"/>
                    <a:lumOff val="1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30" name="iṧḻiďe"/>
            <p:cNvSpPr/>
            <p:nvPr/>
          </p:nvSpPr>
          <p:spPr>
            <a:xfrm>
              <a:off x="1211499" y="3706825"/>
              <a:ext cx="38814" cy="519567"/>
            </a:xfrm>
            <a:prstGeom prst="rect">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31" name="ïṧ1iḋê"/>
            <p:cNvSpPr/>
            <p:nvPr/>
          </p:nvSpPr>
          <p:spPr>
            <a:xfrm>
              <a:off x="1211499" y="4659522"/>
              <a:ext cx="38814" cy="519567"/>
            </a:xfrm>
            <a:prstGeom prst="rect">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32" name="iṧḻiďe"/>
            <p:cNvSpPr/>
            <p:nvPr/>
          </p:nvSpPr>
          <p:spPr>
            <a:xfrm>
              <a:off x="11015904" y="3685559"/>
              <a:ext cx="38814" cy="519567"/>
            </a:xfrm>
            <a:prstGeom prst="rect">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33" name="ïṧ1iḋê"/>
            <p:cNvSpPr/>
            <p:nvPr/>
          </p:nvSpPr>
          <p:spPr>
            <a:xfrm>
              <a:off x="11015904" y="4638256"/>
              <a:ext cx="38814" cy="519567"/>
            </a:xfrm>
            <a:prstGeom prst="rect">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grpSp>
          <p:nvGrpSpPr>
            <p:cNvPr id="34" name="组合 33"/>
            <p:cNvGrpSpPr/>
            <p:nvPr/>
          </p:nvGrpSpPr>
          <p:grpSpPr>
            <a:xfrm>
              <a:off x="10691047" y="2468987"/>
              <a:ext cx="543777" cy="400765"/>
              <a:chOff x="6015499" y="673620"/>
              <a:chExt cx="543777" cy="400765"/>
            </a:xfrm>
            <a:solidFill>
              <a:schemeClr val="bg1">
                <a:lumMod val="75000"/>
              </a:schemeClr>
            </a:solidFill>
          </p:grpSpPr>
          <p:sp>
            <p:nvSpPr>
              <p:cNvPr id="44" name="Rectangle 59"/>
              <p:cNvSpPr>
                <a:spLocks noChangeArrowheads="1"/>
              </p:cNvSpPr>
              <p:nvPr/>
            </p:nvSpPr>
            <p:spPr bwMode="auto">
              <a:xfrm>
                <a:off x="6193431" y="1027822"/>
                <a:ext cx="128046" cy="28270"/>
              </a:xfrm>
              <a:prstGeom prst="rect">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en-US"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45" name="Freeform 60"/>
              <p:cNvSpPr/>
              <p:nvPr/>
            </p:nvSpPr>
            <p:spPr bwMode="auto">
              <a:xfrm>
                <a:off x="6153521" y="1062744"/>
                <a:ext cx="206203" cy="9978"/>
              </a:xfrm>
              <a:custGeom>
                <a:avLst/>
                <a:gdLst>
                  <a:gd name="T0" fmla="*/ 95 w 99"/>
                  <a:gd name="T1" fmla="*/ 0 h 5"/>
                  <a:gd name="T2" fmla="*/ 4 w 99"/>
                  <a:gd name="T3" fmla="*/ 0 h 5"/>
                  <a:gd name="T4" fmla="*/ 0 w 99"/>
                  <a:gd name="T5" fmla="*/ 4 h 5"/>
                  <a:gd name="T6" fmla="*/ 0 w 99"/>
                  <a:gd name="T7" fmla="*/ 5 h 5"/>
                  <a:gd name="T8" fmla="*/ 99 w 99"/>
                  <a:gd name="T9" fmla="*/ 5 h 5"/>
                  <a:gd name="T10" fmla="*/ 99 w 99"/>
                  <a:gd name="T11" fmla="*/ 4 h 5"/>
                  <a:gd name="T12" fmla="*/ 95 w 9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99" h="5">
                    <a:moveTo>
                      <a:pt x="95" y="0"/>
                    </a:moveTo>
                    <a:cubicBezTo>
                      <a:pt x="4" y="0"/>
                      <a:pt x="4" y="0"/>
                      <a:pt x="4" y="0"/>
                    </a:cubicBezTo>
                    <a:cubicBezTo>
                      <a:pt x="2" y="0"/>
                      <a:pt x="0" y="2"/>
                      <a:pt x="0" y="4"/>
                    </a:cubicBezTo>
                    <a:cubicBezTo>
                      <a:pt x="0" y="5"/>
                      <a:pt x="0" y="5"/>
                      <a:pt x="0" y="5"/>
                    </a:cubicBezTo>
                    <a:cubicBezTo>
                      <a:pt x="99" y="5"/>
                      <a:pt x="99" y="5"/>
                      <a:pt x="99" y="5"/>
                    </a:cubicBezTo>
                    <a:cubicBezTo>
                      <a:pt x="99" y="4"/>
                      <a:pt x="99" y="4"/>
                      <a:pt x="99" y="4"/>
                    </a:cubicBezTo>
                    <a:cubicBezTo>
                      <a:pt x="99" y="2"/>
                      <a:pt x="97" y="0"/>
                      <a:pt x="95" y="0"/>
                    </a:cubicBezTo>
                    <a:close/>
                  </a:path>
                </a:pathLst>
              </a:cu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en-US"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46" name="Freeform 61"/>
              <p:cNvSpPr/>
              <p:nvPr/>
            </p:nvSpPr>
            <p:spPr bwMode="auto">
              <a:xfrm>
                <a:off x="6015499" y="673620"/>
                <a:ext cx="482248" cy="349214"/>
              </a:xfrm>
              <a:custGeom>
                <a:avLst/>
                <a:gdLst>
                  <a:gd name="T0" fmla="*/ 176 w 231"/>
                  <a:gd name="T1" fmla="*/ 130 h 167"/>
                  <a:gd name="T2" fmla="*/ 15 w 231"/>
                  <a:gd name="T3" fmla="*/ 130 h 167"/>
                  <a:gd name="T4" fmla="*/ 15 w 231"/>
                  <a:gd name="T5" fmla="*/ 13 h 167"/>
                  <a:gd name="T6" fmla="*/ 217 w 231"/>
                  <a:gd name="T7" fmla="*/ 13 h 167"/>
                  <a:gd name="T8" fmla="*/ 217 w 231"/>
                  <a:gd name="T9" fmla="*/ 34 h 167"/>
                  <a:gd name="T10" fmla="*/ 231 w 231"/>
                  <a:gd name="T11" fmla="*/ 34 h 167"/>
                  <a:gd name="T12" fmla="*/ 231 w 231"/>
                  <a:gd name="T13" fmla="*/ 5 h 167"/>
                  <a:gd name="T14" fmla="*/ 225 w 231"/>
                  <a:gd name="T15" fmla="*/ 0 h 167"/>
                  <a:gd name="T16" fmla="*/ 6 w 231"/>
                  <a:gd name="T17" fmla="*/ 0 h 167"/>
                  <a:gd name="T18" fmla="*/ 0 w 231"/>
                  <a:gd name="T19" fmla="*/ 5 h 167"/>
                  <a:gd name="T20" fmla="*/ 0 w 231"/>
                  <a:gd name="T21" fmla="*/ 161 h 167"/>
                  <a:gd name="T22" fmla="*/ 6 w 231"/>
                  <a:gd name="T23" fmla="*/ 167 h 167"/>
                  <a:gd name="T24" fmla="*/ 176 w 231"/>
                  <a:gd name="T25" fmla="*/ 167 h 167"/>
                  <a:gd name="T26" fmla="*/ 176 w 231"/>
                  <a:gd name="T27" fmla="*/ 13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1" h="167">
                    <a:moveTo>
                      <a:pt x="176" y="130"/>
                    </a:moveTo>
                    <a:cubicBezTo>
                      <a:pt x="15" y="130"/>
                      <a:pt x="15" y="130"/>
                      <a:pt x="15" y="130"/>
                    </a:cubicBezTo>
                    <a:cubicBezTo>
                      <a:pt x="15" y="13"/>
                      <a:pt x="15" y="13"/>
                      <a:pt x="15" y="13"/>
                    </a:cubicBezTo>
                    <a:cubicBezTo>
                      <a:pt x="217" y="13"/>
                      <a:pt x="217" y="13"/>
                      <a:pt x="217" y="13"/>
                    </a:cubicBezTo>
                    <a:cubicBezTo>
                      <a:pt x="217" y="34"/>
                      <a:pt x="217" y="34"/>
                      <a:pt x="217" y="34"/>
                    </a:cubicBezTo>
                    <a:cubicBezTo>
                      <a:pt x="231" y="34"/>
                      <a:pt x="231" y="34"/>
                      <a:pt x="231" y="34"/>
                    </a:cubicBezTo>
                    <a:cubicBezTo>
                      <a:pt x="231" y="5"/>
                      <a:pt x="231" y="5"/>
                      <a:pt x="231" y="5"/>
                    </a:cubicBezTo>
                    <a:cubicBezTo>
                      <a:pt x="231" y="2"/>
                      <a:pt x="228" y="0"/>
                      <a:pt x="225" y="0"/>
                    </a:cubicBezTo>
                    <a:cubicBezTo>
                      <a:pt x="6" y="0"/>
                      <a:pt x="6" y="0"/>
                      <a:pt x="6" y="0"/>
                    </a:cubicBezTo>
                    <a:cubicBezTo>
                      <a:pt x="3" y="0"/>
                      <a:pt x="0" y="2"/>
                      <a:pt x="0" y="5"/>
                    </a:cubicBezTo>
                    <a:cubicBezTo>
                      <a:pt x="0" y="161"/>
                      <a:pt x="0" y="161"/>
                      <a:pt x="0" y="161"/>
                    </a:cubicBezTo>
                    <a:cubicBezTo>
                      <a:pt x="0" y="164"/>
                      <a:pt x="3" y="167"/>
                      <a:pt x="6" y="167"/>
                    </a:cubicBezTo>
                    <a:cubicBezTo>
                      <a:pt x="176" y="167"/>
                      <a:pt x="176" y="167"/>
                      <a:pt x="176" y="167"/>
                    </a:cubicBezTo>
                    <a:lnTo>
                      <a:pt x="176" y="130"/>
                    </a:lnTo>
                    <a:close/>
                  </a:path>
                </a:pathLst>
              </a:cu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en-US" sz="20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47" name="Freeform 62"/>
              <p:cNvSpPr>
                <a:spLocks noEditPoints="1"/>
              </p:cNvSpPr>
              <p:nvPr/>
            </p:nvSpPr>
            <p:spPr bwMode="auto">
              <a:xfrm>
                <a:off x="6397972" y="756766"/>
                <a:ext cx="161304" cy="317619"/>
              </a:xfrm>
              <a:custGeom>
                <a:avLst/>
                <a:gdLst>
                  <a:gd name="T0" fmla="*/ 65 w 77"/>
                  <a:gd name="T1" fmla="*/ 0 h 152"/>
                  <a:gd name="T2" fmla="*/ 12 w 77"/>
                  <a:gd name="T3" fmla="*/ 0 h 152"/>
                  <a:gd name="T4" fmla="*/ 0 w 77"/>
                  <a:gd name="T5" fmla="*/ 12 h 152"/>
                  <a:gd name="T6" fmla="*/ 0 w 77"/>
                  <a:gd name="T7" fmla="*/ 140 h 152"/>
                  <a:gd name="T8" fmla="*/ 12 w 77"/>
                  <a:gd name="T9" fmla="*/ 152 h 152"/>
                  <a:gd name="T10" fmla="*/ 65 w 77"/>
                  <a:gd name="T11" fmla="*/ 152 h 152"/>
                  <a:gd name="T12" fmla="*/ 77 w 77"/>
                  <a:gd name="T13" fmla="*/ 140 h 152"/>
                  <a:gd name="T14" fmla="*/ 77 w 77"/>
                  <a:gd name="T15" fmla="*/ 12 h 152"/>
                  <a:gd name="T16" fmla="*/ 65 w 77"/>
                  <a:gd name="T17" fmla="*/ 0 h 152"/>
                  <a:gd name="T18" fmla="*/ 28 w 77"/>
                  <a:gd name="T19" fmla="*/ 9 h 152"/>
                  <a:gd name="T20" fmla="*/ 48 w 77"/>
                  <a:gd name="T21" fmla="*/ 9 h 152"/>
                  <a:gd name="T22" fmla="*/ 49 w 77"/>
                  <a:gd name="T23" fmla="*/ 10 h 152"/>
                  <a:gd name="T24" fmla="*/ 48 w 77"/>
                  <a:gd name="T25" fmla="*/ 12 h 152"/>
                  <a:gd name="T26" fmla="*/ 28 w 77"/>
                  <a:gd name="T27" fmla="*/ 12 h 152"/>
                  <a:gd name="T28" fmla="*/ 27 w 77"/>
                  <a:gd name="T29" fmla="*/ 10 h 152"/>
                  <a:gd name="T30" fmla="*/ 28 w 77"/>
                  <a:gd name="T31" fmla="*/ 9 h 152"/>
                  <a:gd name="T32" fmla="*/ 38 w 77"/>
                  <a:gd name="T33" fmla="*/ 143 h 152"/>
                  <a:gd name="T34" fmla="*/ 32 w 77"/>
                  <a:gd name="T35" fmla="*/ 136 h 152"/>
                  <a:gd name="T36" fmla="*/ 38 w 77"/>
                  <a:gd name="T37" fmla="*/ 129 h 152"/>
                  <a:gd name="T38" fmla="*/ 45 w 77"/>
                  <a:gd name="T39" fmla="*/ 136 h 152"/>
                  <a:gd name="T40" fmla="*/ 38 w 77"/>
                  <a:gd name="T41" fmla="*/ 143 h 152"/>
                  <a:gd name="T42" fmla="*/ 72 w 77"/>
                  <a:gd name="T43" fmla="*/ 122 h 152"/>
                  <a:gd name="T44" fmla="*/ 5 w 77"/>
                  <a:gd name="T45" fmla="*/ 122 h 152"/>
                  <a:gd name="T46" fmla="*/ 5 w 77"/>
                  <a:gd name="T47" fmla="*/ 23 h 152"/>
                  <a:gd name="T48" fmla="*/ 72 w 77"/>
                  <a:gd name="T49" fmla="*/ 23 h 152"/>
                  <a:gd name="T50" fmla="*/ 72 w 77"/>
                  <a:gd name="T51" fmla="*/ 12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7" h="152">
                    <a:moveTo>
                      <a:pt x="65" y="0"/>
                    </a:moveTo>
                    <a:cubicBezTo>
                      <a:pt x="12" y="0"/>
                      <a:pt x="12" y="0"/>
                      <a:pt x="12" y="0"/>
                    </a:cubicBezTo>
                    <a:cubicBezTo>
                      <a:pt x="5" y="0"/>
                      <a:pt x="0" y="6"/>
                      <a:pt x="0" y="12"/>
                    </a:cubicBezTo>
                    <a:cubicBezTo>
                      <a:pt x="0" y="140"/>
                      <a:pt x="0" y="140"/>
                      <a:pt x="0" y="140"/>
                    </a:cubicBezTo>
                    <a:cubicBezTo>
                      <a:pt x="0" y="146"/>
                      <a:pt x="5" y="152"/>
                      <a:pt x="12" y="152"/>
                    </a:cubicBezTo>
                    <a:cubicBezTo>
                      <a:pt x="65" y="152"/>
                      <a:pt x="65" y="152"/>
                      <a:pt x="65" y="152"/>
                    </a:cubicBezTo>
                    <a:cubicBezTo>
                      <a:pt x="71" y="152"/>
                      <a:pt x="77" y="146"/>
                      <a:pt x="77" y="140"/>
                    </a:cubicBezTo>
                    <a:cubicBezTo>
                      <a:pt x="77" y="12"/>
                      <a:pt x="77" y="12"/>
                      <a:pt x="77" y="12"/>
                    </a:cubicBezTo>
                    <a:cubicBezTo>
                      <a:pt x="77" y="6"/>
                      <a:pt x="71" y="0"/>
                      <a:pt x="65" y="0"/>
                    </a:cubicBezTo>
                    <a:close/>
                    <a:moveTo>
                      <a:pt x="28" y="9"/>
                    </a:moveTo>
                    <a:cubicBezTo>
                      <a:pt x="48" y="9"/>
                      <a:pt x="48" y="9"/>
                      <a:pt x="48" y="9"/>
                    </a:cubicBezTo>
                    <a:cubicBezTo>
                      <a:pt x="49" y="9"/>
                      <a:pt x="49" y="10"/>
                      <a:pt x="49" y="10"/>
                    </a:cubicBezTo>
                    <a:cubicBezTo>
                      <a:pt x="49" y="11"/>
                      <a:pt x="49" y="12"/>
                      <a:pt x="48" y="12"/>
                    </a:cubicBezTo>
                    <a:cubicBezTo>
                      <a:pt x="28" y="12"/>
                      <a:pt x="28" y="12"/>
                      <a:pt x="28" y="12"/>
                    </a:cubicBezTo>
                    <a:cubicBezTo>
                      <a:pt x="28" y="12"/>
                      <a:pt x="27" y="11"/>
                      <a:pt x="27" y="10"/>
                    </a:cubicBezTo>
                    <a:cubicBezTo>
                      <a:pt x="27" y="10"/>
                      <a:pt x="28" y="9"/>
                      <a:pt x="28" y="9"/>
                    </a:cubicBezTo>
                    <a:close/>
                    <a:moveTo>
                      <a:pt x="38" y="143"/>
                    </a:moveTo>
                    <a:cubicBezTo>
                      <a:pt x="35" y="143"/>
                      <a:pt x="32" y="140"/>
                      <a:pt x="32" y="136"/>
                    </a:cubicBezTo>
                    <a:cubicBezTo>
                      <a:pt x="32" y="132"/>
                      <a:pt x="35" y="129"/>
                      <a:pt x="38" y="129"/>
                    </a:cubicBezTo>
                    <a:cubicBezTo>
                      <a:pt x="42" y="129"/>
                      <a:pt x="45" y="132"/>
                      <a:pt x="45" y="136"/>
                    </a:cubicBezTo>
                    <a:cubicBezTo>
                      <a:pt x="45" y="140"/>
                      <a:pt x="42" y="143"/>
                      <a:pt x="38" y="143"/>
                    </a:cubicBezTo>
                    <a:close/>
                    <a:moveTo>
                      <a:pt x="72" y="122"/>
                    </a:moveTo>
                    <a:cubicBezTo>
                      <a:pt x="5" y="122"/>
                      <a:pt x="5" y="122"/>
                      <a:pt x="5" y="122"/>
                    </a:cubicBezTo>
                    <a:cubicBezTo>
                      <a:pt x="5" y="23"/>
                      <a:pt x="5" y="23"/>
                      <a:pt x="5" y="23"/>
                    </a:cubicBezTo>
                    <a:cubicBezTo>
                      <a:pt x="72" y="23"/>
                      <a:pt x="72" y="23"/>
                      <a:pt x="72" y="23"/>
                    </a:cubicBezTo>
                    <a:lnTo>
                      <a:pt x="72" y="122"/>
                    </a:lnTo>
                    <a:close/>
                  </a:path>
                </a:pathLst>
              </a:cu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en-US"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35" name="组合 34"/>
            <p:cNvGrpSpPr/>
            <p:nvPr/>
          </p:nvGrpSpPr>
          <p:grpSpPr>
            <a:xfrm>
              <a:off x="944706" y="2463998"/>
              <a:ext cx="568721" cy="410743"/>
              <a:chOff x="4893025" y="3231197"/>
              <a:chExt cx="568721" cy="410743"/>
            </a:xfrm>
            <a:solidFill>
              <a:schemeClr val="bg1">
                <a:lumMod val="75000"/>
              </a:schemeClr>
            </a:solidFill>
          </p:grpSpPr>
          <p:sp>
            <p:nvSpPr>
              <p:cNvPr id="36" name="Freeform 226"/>
              <p:cNvSpPr>
                <a:spLocks noEditPoints="1"/>
              </p:cNvSpPr>
              <p:nvPr/>
            </p:nvSpPr>
            <p:spPr bwMode="auto">
              <a:xfrm>
                <a:off x="4893025" y="3231197"/>
                <a:ext cx="462293" cy="410743"/>
              </a:xfrm>
              <a:custGeom>
                <a:avLst/>
                <a:gdLst>
                  <a:gd name="T0" fmla="*/ 215 w 222"/>
                  <a:gd name="T1" fmla="*/ 0 h 197"/>
                  <a:gd name="T2" fmla="*/ 7 w 222"/>
                  <a:gd name="T3" fmla="*/ 0 h 197"/>
                  <a:gd name="T4" fmla="*/ 0 w 222"/>
                  <a:gd name="T5" fmla="*/ 7 h 197"/>
                  <a:gd name="T6" fmla="*/ 0 w 222"/>
                  <a:gd name="T7" fmla="*/ 190 h 197"/>
                  <a:gd name="T8" fmla="*/ 7 w 222"/>
                  <a:gd name="T9" fmla="*/ 197 h 197"/>
                  <a:gd name="T10" fmla="*/ 215 w 222"/>
                  <a:gd name="T11" fmla="*/ 197 h 197"/>
                  <a:gd name="T12" fmla="*/ 222 w 222"/>
                  <a:gd name="T13" fmla="*/ 190 h 197"/>
                  <a:gd name="T14" fmla="*/ 222 w 222"/>
                  <a:gd name="T15" fmla="*/ 7 h 197"/>
                  <a:gd name="T16" fmla="*/ 215 w 222"/>
                  <a:gd name="T17" fmla="*/ 0 h 197"/>
                  <a:gd name="T18" fmla="*/ 171 w 222"/>
                  <a:gd name="T19" fmla="*/ 15 h 197"/>
                  <a:gd name="T20" fmla="*/ 180 w 222"/>
                  <a:gd name="T21" fmla="*/ 24 h 197"/>
                  <a:gd name="T22" fmla="*/ 171 w 222"/>
                  <a:gd name="T23" fmla="*/ 34 h 197"/>
                  <a:gd name="T24" fmla="*/ 162 w 222"/>
                  <a:gd name="T25" fmla="*/ 24 h 197"/>
                  <a:gd name="T26" fmla="*/ 171 w 222"/>
                  <a:gd name="T27" fmla="*/ 15 h 197"/>
                  <a:gd name="T28" fmla="*/ 143 w 222"/>
                  <a:gd name="T29" fmla="*/ 15 h 197"/>
                  <a:gd name="T30" fmla="*/ 153 w 222"/>
                  <a:gd name="T31" fmla="*/ 24 h 197"/>
                  <a:gd name="T32" fmla="*/ 143 w 222"/>
                  <a:gd name="T33" fmla="*/ 34 h 197"/>
                  <a:gd name="T34" fmla="*/ 134 w 222"/>
                  <a:gd name="T35" fmla="*/ 24 h 197"/>
                  <a:gd name="T36" fmla="*/ 143 w 222"/>
                  <a:gd name="T37" fmla="*/ 15 h 197"/>
                  <a:gd name="T38" fmla="*/ 208 w 222"/>
                  <a:gd name="T39" fmla="*/ 183 h 197"/>
                  <a:gd name="T40" fmla="*/ 14 w 222"/>
                  <a:gd name="T41" fmla="*/ 183 h 197"/>
                  <a:gd name="T42" fmla="*/ 14 w 222"/>
                  <a:gd name="T43" fmla="*/ 49 h 197"/>
                  <a:gd name="T44" fmla="*/ 208 w 222"/>
                  <a:gd name="T45" fmla="*/ 49 h 197"/>
                  <a:gd name="T46" fmla="*/ 208 w 222"/>
                  <a:gd name="T47" fmla="*/ 183 h 197"/>
                  <a:gd name="T48" fmla="*/ 199 w 222"/>
                  <a:gd name="T49" fmla="*/ 34 h 197"/>
                  <a:gd name="T50" fmla="*/ 189 w 222"/>
                  <a:gd name="T51" fmla="*/ 24 h 197"/>
                  <a:gd name="T52" fmla="*/ 199 w 222"/>
                  <a:gd name="T53" fmla="*/ 15 h 197"/>
                  <a:gd name="T54" fmla="*/ 208 w 222"/>
                  <a:gd name="T55" fmla="*/ 24 h 197"/>
                  <a:gd name="T56" fmla="*/ 199 w 222"/>
                  <a:gd name="T57" fmla="*/ 3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2" h="197">
                    <a:moveTo>
                      <a:pt x="215" y="0"/>
                    </a:moveTo>
                    <a:cubicBezTo>
                      <a:pt x="7" y="0"/>
                      <a:pt x="7" y="0"/>
                      <a:pt x="7" y="0"/>
                    </a:cubicBezTo>
                    <a:cubicBezTo>
                      <a:pt x="4" y="0"/>
                      <a:pt x="0" y="3"/>
                      <a:pt x="0" y="7"/>
                    </a:cubicBezTo>
                    <a:cubicBezTo>
                      <a:pt x="0" y="190"/>
                      <a:pt x="0" y="190"/>
                      <a:pt x="0" y="190"/>
                    </a:cubicBezTo>
                    <a:cubicBezTo>
                      <a:pt x="0" y="193"/>
                      <a:pt x="4" y="197"/>
                      <a:pt x="7" y="197"/>
                    </a:cubicBezTo>
                    <a:cubicBezTo>
                      <a:pt x="215" y="197"/>
                      <a:pt x="215" y="197"/>
                      <a:pt x="215" y="197"/>
                    </a:cubicBezTo>
                    <a:cubicBezTo>
                      <a:pt x="219" y="197"/>
                      <a:pt x="222" y="193"/>
                      <a:pt x="222" y="190"/>
                    </a:cubicBezTo>
                    <a:cubicBezTo>
                      <a:pt x="222" y="7"/>
                      <a:pt x="222" y="7"/>
                      <a:pt x="222" y="7"/>
                    </a:cubicBezTo>
                    <a:cubicBezTo>
                      <a:pt x="222" y="3"/>
                      <a:pt x="219" y="0"/>
                      <a:pt x="215" y="0"/>
                    </a:cubicBezTo>
                    <a:close/>
                    <a:moveTo>
                      <a:pt x="171" y="15"/>
                    </a:moveTo>
                    <a:cubicBezTo>
                      <a:pt x="176" y="15"/>
                      <a:pt x="180" y="19"/>
                      <a:pt x="180" y="24"/>
                    </a:cubicBezTo>
                    <a:cubicBezTo>
                      <a:pt x="180" y="29"/>
                      <a:pt x="176" y="34"/>
                      <a:pt x="171" y="34"/>
                    </a:cubicBezTo>
                    <a:cubicBezTo>
                      <a:pt x="166" y="34"/>
                      <a:pt x="162" y="29"/>
                      <a:pt x="162" y="24"/>
                    </a:cubicBezTo>
                    <a:cubicBezTo>
                      <a:pt x="162" y="19"/>
                      <a:pt x="166" y="15"/>
                      <a:pt x="171" y="15"/>
                    </a:cubicBezTo>
                    <a:close/>
                    <a:moveTo>
                      <a:pt x="143" y="15"/>
                    </a:moveTo>
                    <a:cubicBezTo>
                      <a:pt x="149" y="15"/>
                      <a:pt x="153" y="19"/>
                      <a:pt x="153" y="24"/>
                    </a:cubicBezTo>
                    <a:cubicBezTo>
                      <a:pt x="153" y="29"/>
                      <a:pt x="149" y="34"/>
                      <a:pt x="143" y="34"/>
                    </a:cubicBezTo>
                    <a:cubicBezTo>
                      <a:pt x="138" y="34"/>
                      <a:pt x="134" y="29"/>
                      <a:pt x="134" y="24"/>
                    </a:cubicBezTo>
                    <a:cubicBezTo>
                      <a:pt x="134" y="19"/>
                      <a:pt x="138" y="15"/>
                      <a:pt x="143" y="15"/>
                    </a:cubicBezTo>
                    <a:close/>
                    <a:moveTo>
                      <a:pt x="208" y="183"/>
                    </a:moveTo>
                    <a:cubicBezTo>
                      <a:pt x="14" y="183"/>
                      <a:pt x="14" y="183"/>
                      <a:pt x="14" y="183"/>
                    </a:cubicBezTo>
                    <a:cubicBezTo>
                      <a:pt x="14" y="49"/>
                      <a:pt x="14" y="49"/>
                      <a:pt x="14" y="49"/>
                    </a:cubicBezTo>
                    <a:cubicBezTo>
                      <a:pt x="208" y="49"/>
                      <a:pt x="208" y="49"/>
                      <a:pt x="208" y="49"/>
                    </a:cubicBezTo>
                    <a:lnTo>
                      <a:pt x="208" y="183"/>
                    </a:lnTo>
                    <a:close/>
                    <a:moveTo>
                      <a:pt x="199" y="34"/>
                    </a:moveTo>
                    <a:cubicBezTo>
                      <a:pt x="193" y="34"/>
                      <a:pt x="189" y="29"/>
                      <a:pt x="189" y="24"/>
                    </a:cubicBezTo>
                    <a:cubicBezTo>
                      <a:pt x="189" y="19"/>
                      <a:pt x="193" y="15"/>
                      <a:pt x="199" y="15"/>
                    </a:cubicBezTo>
                    <a:cubicBezTo>
                      <a:pt x="204" y="15"/>
                      <a:pt x="208" y="19"/>
                      <a:pt x="208" y="24"/>
                    </a:cubicBezTo>
                    <a:cubicBezTo>
                      <a:pt x="208" y="29"/>
                      <a:pt x="204" y="34"/>
                      <a:pt x="199" y="34"/>
                    </a:cubicBezTo>
                    <a:close/>
                  </a:path>
                </a:pathLst>
              </a:cu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en-US"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37" name="Freeform 227"/>
              <p:cNvSpPr/>
              <p:nvPr/>
            </p:nvSpPr>
            <p:spPr bwMode="auto">
              <a:xfrm>
                <a:off x="5207318" y="3507243"/>
                <a:ext cx="43236" cy="44899"/>
              </a:xfrm>
              <a:custGeom>
                <a:avLst/>
                <a:gdLst>
                  <a:gd name="T0" fmla="*/ 7 w 26"/>
                  <a:gd name="T1" fmla="*/ 0 h 27"/>
                  <a:gd name="T2" fmla="*/ 7 w 26"/>
                  <a:gd name="T3" fmla="*/ 2 h 27"/>
                  <a:gd name="T4" fmla="*/ 0 w 26"/>
                  <a:gd name="T5" fmla="*/ 27 h 27"/>
                  <a:gd name="T6" fmla="*/ 24 w 26"/>
                  <a:gd name="T7" fmla="*/ 19 h 27"/>
                  <a:gd name="T8" fmla="*/ 26 w 26"/>
                  <a:gd name="T9" fmla="*/ 19 h 27"/>
                  <a:gd name="T10" fmla="*/ 7 w 26"/>
                  <a:gd name="T11" fmla="*/ 0 h 27"/>
                </a:gdLst>
                <a:ahLst/>
                <a:cxnLst>
                  <a:cxn ang="0">
                    <a:pos x="T0" y="T1"/>
                  </a:cxn>
                  <a:cxn ang="0">
                    <a:pos x="T2" y="T3"/>
                  </a:cxn>
                  <a:cxn ang="0">
                    <a:pos x="T4" y="T5"/>
                  </a:cxn>
                  <a:cxn ang="0">
                    <a:pos x="T6" y="T7"/>
                  </a:cxn>
                  <a:cxn ang="0">
                    <a:pos x="T8" y="T9"/>
                  </a:cxn>
                  <a:cxn ang="0">
                    <a:pos x="T10" y="T11"/>
                  </a:cxn>
                </a:cxnLst>
                <a:rect l="0" t="0" r="r" b="b"/>
                <a:pathLst>
                  <a:path w="26" h="27">
                    <a:moveTo>
                      <a:pt x="7" y="0"/>
                    </a:moveTo>
                    <a:lnTo>
                      <a:pt x="7" y="2"/>
                    </a:lnTo>
                    <a:lnTo>
                      <a:pt x="0" y="27"/>
                    </a:lnTo>
                    <a:lnTo>
                      <a:pt x="24" y="19"/>
                    </a:lnTo>
                    <a:lnTo>
                      <a:pt x="26" y="19"/>
                    </a:lnTo>
                    <a:lnTo>
                      <a:pt x="7" y="0"/>
                    </a:lnTo>
                    <a:close/>
                  </a:path>
                </a:pathLst>
              </a:cu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en-US"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38" name="Freeform 228"/>
              <p:cNvSpPr/>
              <p:nvPr/>
            </p:nvSpPr>
            <p:spPr bwMode="auto">
              <a:xfrm>
                <a:off x="5380262" y="3294388"/>
                <a:ext cx="81484" cy="84810"/>
              </a:xfrm>
              <a:custGeom>
                <a:avLst/>
                <a:gdLst>
                  <a:gd name="T0" fmla="*/ 29 w 39"/>
                  <a:gd name="T1" fmla="*/ 40 h 40"/>
                  <a:gd name="T2" fmla="*/ 37 w 39"/>
                  <a:gd name="T3" fmla="*/ 32 h 40"/>
                  <a:gd name="T4" fmla="*/ 37 w 39"/>
                  <a:gd name="T5" fmla="*/ 23 h 40"/>
                  <a:gd name="T6" fmla="*/ 17 w 39"/>
                  <a:gd name="T7" fmla="*/ 3 h 40"/>
                  <a:gd name="T8" fmla="*/ 7 w 39"/>
                  <a:gd name="T9" fmla="*/ 3 h 40"/>
                  <a:gd name="T10" fmla="*/ 0 w 39"/>
                  <a:gd name="T11" fmla="*/ 11 h 40"/>
                  <a:gd name="T12" fmla="*/ 29 w 3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39" h="40">
                    <a:moveTo>
                      <a:pt x="29" y="40"/>
                    </a:moveTo>
                    <a:cubicBezTo>
                      <a:pt x="37" y="32"/>
                      <a:pt x="37" y="32"/>
                      <a:pt x="37" y="32"/>
                    </a:cubicBezTo>
                    <a:cubicBezTo>
                      <a:pt x="39" y="30"/>
                      <a:pt x="39" y="25"/>
                      <a:pt x="37" y="23"/>
                    </a:cubicBezTo>
                    <a:cubicBezTo>
                      <a:pt x="17" y="3"/>
                      <a:pt x="17" y="3"/>
                      <a:pt x="17" y="3"/>
                    </a:cubicBezTo>
                    <a:cubicBezTo>
                      <a:pt x="14" y="0"/>
                      <a:pt x="10" y="0"/>
                      <a:pt x="7" y="3"/>
                    </a:cubicBezTo>
                    <a:cubicBezTo>
                      <a:pt x="0" y="11"/>
                      <a:pt x="0" y="11"/>
                      <a:pt x="0" y="11"/>
                    </a:cubicBezTo>
                    <a:lnTo>
                      <a:pt x="29" y="40"/>
                    </a:lnTo>
                    <a:close/>
                  </a:path>
                </a:pathLst>
              </a:cu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en-US"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39" name="Freeform 229"/>
              <p:cNvSpPr/>
              <p:nvPr/>
            </p:nvSpPr>
            <p:spPr bwMode="auto">
              <a:xfrm>
                <a:off x="5240576" y="3324321"/>
                <a:ext cx="194563" cy="194563"/>
              </a:xfrm>
              <a:custGeom>
                <a:avLst/>
                <a:gdLst>
                  <a:gd name="T0" fmla="*/ 64 w 93"/>
                  <a:gd name="T1" fmla="*/ 0 h 93"/>
                  <a:gd name="T2" fmla="*/ 63 w 93"/>
                  <a:gd name="T3" fmla="*/ 0 h 93"/>
                  <a:gd name="T4" fmla="*/ 3 w 93"/>
                  <a:gd name="T5" fmla="*/ 61 h 93"/>
                  <a:gd name="T6" fmla="*/ 3 w 93"/>
                  <a:gd name="T7" fmla="*/ 71 h 93"/>
                  <a:gd name="T8" fmla="*/ 3 w 93"/>
                  <a:gd name="T9" fmla="*/ 71 h 93"/>
                  <a:gd name="T10" fmla="*/ 10 w 93"/>
                  <a:gd name="T11" fmla="*/ 73 h 93"/>
                  <a:gd name="T12" fmla="*/ 12 w 93"/>
                  <a:gd name="T13" fmla="*/ 80 h 93"/>
                  <a:gd name="T14" fmla="*/ 13 w 93"/>
                  <a:gd name="T15" fmla="*/ 81 h 93"/>
                  <a:gd name="T16" fmla="*/ 20 w 93"/>
                  <a:gd name="T17" fmla="*/ 82 h 93"/>
                  <a:gd name="T18" fmla="*/ 21 w 93"/>
                  <a:gd name="T19" fmla="*/ 89 h 93"/>
                  <a:gd name="T20" fmla="*/ 22 w 93"/>
                  <a:gd name="T21" fmla="*/ 90 h 93"/>
                  <a:gd name="T22" fmla="*/ 32 w 93"/>
                  <a:gd name="T23" fmla="*/ 90 h 93"/>
                  <a:gd name="T24" fmla="*/ 92 w 93"/>
                  <a:gd name="T25" fmla="*/ 30 h 93"/>
                  <a:gd name="T26" fmla="*/ 93 w 93"/>
                  <a:gd name="T27" fmla="*/ 29 h 93"/>
                  <a:gd name="T28" fmla="*/ 64 w 93"/>
                  <a:gd name="T29"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93">
                    <a:moveTo>
                      <a:pt x="64" y="0"/>
                    </a:moveTo>
                    <a:cubicBezTo>
                      <a:pt x="64" y="0"/>
                      <a:pt x="63" y="0"/>
                      <a:pt x="63" y="0"/>
                    </a:cubicBezTo>
                    <a:cubicBezTo>
                      <a:pt x="3" y="61"/>
                      <a:pt x="3" y="61"/>
                      <a:pt x="3" y="61"/>
                    </a:cubicBezTo>
                    <a:cubicBezTo>
                      <a:pt x="0" y="63"/>
                      <a:pt x="0" y="68"/>
                      <a:pt x="3" y="71"/>
                    </a:cubicBezTo>
                    <a:cubicBezTo>
                      <a:pt x="3" y="71"/>
                      <a:pt x="3" y="71"/>
                      <a:pt x="3" y="71"/>
                    </a:cubicBezTo>
                    <a:cubicBezTo>
                      <a:pt x="5" y="73"/>
                      <a:pt x="8" y="74"/>
                      <a:pt x="10" y="73"/>
                    </a:cubicBezTo>
                    <a:cubicBezTo>
                      <a:pt x="10" y="75"/>
                      <a:pt x="10" y="78"/>
                      <a:pt x="12" y="80"/>
                    </a:cubicBezTo>
                    <a:cubicBezTo>
                      <a:pt x="13" y="81"/>
                      <a:pt x="13" y="81"/>
                      <a:pt x="13" y="81"/>
                    </a:cubicBezTo>
                    <a:cubicBezTo>
                      <a:pt x="15" y="83"/>
                      <a:pt x="17" y="83"/>
                      <a:pt x="20" y="82"/>
                    </a:cubicBezTo>
                    <a:cubicBezTo>
                      <a:pt x="19" y="85"/>
                      <a:pt x="19" y="87"/>
                      <a:pt x="21" y="89"/>
                    </a:cubicBezTo>
                    <a:cubicBezTo>
                      <a:pt x="22" y="90"/>
                      <a:pt x="22" y="90"/>
                      <a:pt x="22" y="90"/>
                    </a:cubicBezTo>
                    <a:cubicBezTo>
                      <a:pt x="25" y="93"/>
                      <a:pt x="29" y="93"/>
                      <a:pt x="32" y="90"/>
                    </a:cubicBezTo>
                    <a:cubicBezTo>
                      <a:pt x="92" y="30"/>
                      <a:pt x="92" y="30"/>
                      <a:pt x="92" y="30"/>
                    </a:cubicBezTo>
                    <a:cubicBezTo>
                      <a:pt x="93" y="29"/>
                      <a:pt x="93" y="29"/>
                      <a:pt x="93" y="29"/>
                    </a:cubicBezTo>
                    <a:lnTo>
                      <a:pt x="64" y="0"/>
                    </a:lnTo>
                    <a:close/>
                  </a:path>
                </a:pathLst>
              </a:cu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en-US"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40" name="Rectangle 230"/>
              <p:cNvSpPr>
                <a:spLocks noChangeArrowheads="1"/>
              </p:cNvSpPr>
              <p:nvPr/>
            </p:nvSpPr>
            <p:spPr bwMode="auto">
              <a:xfrm>
                <a:off x="4954553" y="3389175"/>
                <a:ext cx="151327" cy="14967"/>
              </a:xfrm>
              <a:prstGeom prst="rect">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en-US"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41" name="Rectangle 231"/>
              <p:cNvSpPr>
                <a:spLocks noChangeArrowheads="1"/>
              </p:cNvSpPr>
              <p:nvPr/>
            </p:nvSpPr>
            <p:spPr bwMode="auto">
              <a:xfrm>
                <a:off x="4954553" y="3437400"/>
                <a:ext cx="237799" cy="14967"/>
              </a:xfrm>
              <a:prstGeom prst="rect">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en-US"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42" name="Rectangle 232"/>
              <p:cNvSpPr>
                <a:spLocks noChangeArrowheads="1"/>
              </p:cNvSpPr>
              <p:nvPr/>
            </p:nvSpPr>
            <p:spPr bwMode="auto">
              <a:xfrm>
                <a:off x="4954553" y="3487288"/>
                <a:ext cx="237799" cy="14967"/>
              </a:xfrm>
              <a:prstGeom prst="rect">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en-US"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43" name="Rectangle 233"/>
              <p:cNvSpPr>
                <a:spLocks noChangeArrowheads="1"/>
              </p:cNvSpPr>
              <p:nvPr/>
            </p:nvSpPr>
            <p:spPr bwMode="auto">
              <a:xfrm>
                <a:off x="4954553" y="3535512"/>
                <a:ext cx="237799" cy="13303"/>
              </a:xfrm>
              <a:prstGeom prst="rect">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en-US"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grpSp>
      </p:grpSp>
      <p:sp>
        <p:nvSpPr>
          <p:cNvPr id="49" name="文本框 48"/>
          <p:cNvSpPr txBox="1"/>
          <p:nvPr/>
        </p:nvSpPr>
        <p:spPr>
          <a:xfrm>
            <a:off x="2682978" y="3440928"/>
            <a:ext cx="2342945" cy="1442767"/>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请在此处添加具体内容，文字尽量言简意赅，简单说明即可，不必过于繁琐，注意版面美观度。</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50" name="文本框 49"/>
          <p:cNvSpPr txBox="1"/>
          <p:nvPr/>
        </p:nvSpPr>
        <p:spPr>
          <a:xfrm>
            <a:off x="7166078" y="3440928"/>
            <a:ext cx="2342945" cy="1442767"/>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请在此处添加具体内容，文字尽量言简意赅，简单说明即可，不必过于繁琐，注意版面美观度。</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51" name="文本框 50"/>
          <p:cNvSpPr txBox="1"/>
          <p:nvPr/>
        </p:nvSpPr>
        <p:spPr>
          <a:xfrm>
            <a:off x="2514602" y="5206228"/>
            <a:ext cx="7162798" cy="704104"/>
          </a:xfrm>
          <a:prstGeom prst="rect">
            <a:avLst/>
          </a:prstGeom>
          <a:noFill/>
        </p:spPr>
        <p:txBody>
          <a:bodyPr wrap="square" lIns="0" tIns="0" rIns="0" bIns="0">
            <a:spAutoFit/>
          </a:bodyPr>
          <a:lstStyle/>
          <a:p>
            <a:pPr algn="ctr"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请在此处添加具体内容，文字尽量言简意赅，简单说明即可，不必过于繁琐，注意版面美观度。</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52" name="矩形 3"/>
          <p:cNvSpPr>
            <a:spLocks noChangeArrowheads="1"/>
          </p:cNvSpPr>
          <p:nvPr/>
        </p:nvSpPr>
        <p:spPr bwMode="auto">
          <a:xfrm>
            <a:off x="975690" y="3613304"/>
            <a:ext cx="80452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a:t>
            </a:r>
            <a:endParaRPr lang="en-US" altLang="zh-CN"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53" name="矩形 3"/>
          <p:cNvSpPr>
            <a:spLocks noChangeArrowheads="1"/>
          </p:cNvSpPr>
          <p:nvPr/>
        </p:nvSpPr>
        <p:spPr bwMode="auto">
          <a:xfrm>
            <a:off x="10411790" y="3613304"/>
            <a:ext cx="80452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a:t>
            </a:r>
            <a:endParaRPr lang="en-US" altLang="zh-CN"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grpSp>
        <p:nvGrpSpPr>
          <p:cNvPr id="56" name="组合 55"/>
          <p:cNvGrpSpPr/>
          <p:nvPr/>
        </p:nvGrpSpPr>
        <p:grpSpPr>
          <a:xfrm>
            <a:off x="5943600" y="3873500"/>
            <a:ext cx="304800" cy="732468"/>
            <a:chOff x="5842000" y="3924300"/>
            <a:chExt cx="304800" cy="732468"/>
          </a:xfrm>
        </p:grpSpPr>
        <p:sp>
          <p:nvSpPr>
            <p:cNvPr id="54" name="箭头: V 形 53"/>
            <p:cNvSpPr/>
            <p:nvPr/>
          </p:nvSpPr>
          <p:spPr>
            <a:xfrm>
              <a:off x="5842000" y="3924300"/>
              <a:ext cx="304800" cy="304800"/>
            </a:xfrm>
            <a:prstGeom prst="chevron">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zh-CN" altLang="en-US" sz="2000">
                <a:solidFill>
                  <a:schemeClr val="bg1"/>
                </a:solidFill>
                <a:cs typeface="+mn-ea"/>
              </a:endParaRPr>
            </a:p>
          </p:txBody>
        </p:sp>
        <p:sp>
          <p:nvSpPr>
            <p:cNvPr id="55" name="箭头: V 形 54"/>
            <p:cNvSpPr/>
            <p:nvPr/>
          </p:nvSpPr>
          <p:spPr>
            <a:xfrm>
              <a:off x="5842000" y="4351968"/>
              <a:ext cx="304800" cy="304800"/>
            </a:xfrm>
            <a:prstGeom prst="chevron">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zh-CN" altLang="en-US" sz="2000">
                <a:solidFill>
                  <a:schemeClr val="bg1"/>
                </a:solidFill>
                <a:cs typeface="+mn-ea"/>
              </a:endParaRPr>
            </a:p>
          </p:txBody>
        </p:sp>
      </p:grpSp>
      <p:sp>
        <p:nvSpPr>
          <p:cNvPr id="14" name="文本框 13"/>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arn(inVertic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6" presetClass="entr" presetSubtype="21"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inVertical)">
                                      <p:cBhvr>
                                        <p:cTn id="15" dur="500"/>
                                        <p:tgtEl>
                                          <p:spTgt spid="12"/>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barn(inVertical)">
                                      <p:cBhvr>
                                        <p:cTn id="18" dur="500"/>
                                        <p:tgtEl>
                                          <p:spTgt spid="52"/>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animEffect transition="in" filter="barn(inVertical)">
                                      <p:cBhvr>
                                        <p:cTn id="21" dur="500"/>
                                        <p:tgtEl>
                                          <p:spTgt spid="53"/>
                                        </p:tgtEl>
                                      </p:cBhvr>
                                    </p:animEffect>
                                  </p:childTnLst>
                                </p:cTn>
                              </p:par>
                              <p:par>
                                <p:cTn id="22" presetID="16" presetClass="entr" presetSubtype="21" fill="hold" nodeType="withEffect">
                                  <p:stCondLst>
                                    <p:cond delay="0"/>
                                  </p:stCondLst>
                                  <p:childTnLst>
                                    <p:set>
                                      <p:cBhvr>
                                        <p:cTn id="23" dur="1" fill="hold">
                                          <p:stCondLst>
                                            <p:cond delay="0"/>
                                          </p:stCondLst>
                                        </p:cTn>
                                        <p:tgtEl>
                                          <p:spTgt spid="56"/>
                                        </p:tgtEl>
                                        <p:attrNameLst>
                                          <p:attrName>style.visibility</p:attrName>
                                        </p:attrNameLst>
                                      </p:cBhvr>
                                      <p:to>
                                        <p:strVal val="visible"/>
                                      </p:to>
                                    </p:set>
                                    <p:animEffect transition="in" filter="barn(inVertical)">
                                      <p:cBhvr>
                                        <p:cTn id="24" dur="500"/>
                                        <p:tgtEl>
                                          <p:spTgt spid="56"/>
                                        </p:tgtEl>
                                      </p:cBhvr>
                                    </p:animEffect>
                                  </p:childTnLst>
                                </p:cTn>
                              </p:par>
                            </p:childTnLst>
                          </p:cTn>
                        </p:par>
                        <p:par>
                          <p:cTn id="25" fill="hold">
                            <p:stCondLst>
                              <p:cond delay="500"/>
                            </p:stCondLst>
                            <p:childTnLst>
                              <p:par>
                                <p:cTn id="26" presetID="22" presetClass="entr" presetSubtype="4" fill="hold" grpId="0" nodeType="after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wipe(down)">
                                      <p:cBhvr>
                                        <p:cTn id="28" dur="500"/>
                                        <p:tgtEl>
                                          <p:spTgt spid="49"/>
                                        </p:tgtEl>
                                      </p:cBhvr>
                                    </p:animEffect>
                                  </p:childTnLst>
                                </p:cTn>
                              </p:par>
                            </p:childTnLst>
                          </p:cTn>
                        </p:par>
                        <p:par>
                          <p:cTn id="29" fill="hold">
                            <p:stCondLst>
                              <p:cond delay="1000"/>
                            </p:stCondLst>
                            <p:childTnLst>
                              <p:par>
                                <p:cTn id="30" presetID="22" presetClass="entr" presetSubtype="4" fill="hold" grpId="0" nodeType="afterEffect">
                                  <p:stCondLst>
                                    <p:cond delay="0"/>
                                  </p:stCondLst>
                                  <p:childTnLst>
                                    <p:set>
                                      <p:cBhvr>
                                        <p:cTn id="31" dur="1" fill="hold">
                                          <p:stCondLst>
                                            <p:cond delay="0"/>
                                          </p:stCondLst>
                                        </p:cTn>
                                        <p:tgtEl>
                                          <p:spTgt spid="50"/>
                                        </p:tgtEl>
                                        <p:attrNameLst>
                                          <p:attrName>style.visibility</p:attrName>
                                        </p:attrNameLst>
                                      </p:cBhvr>
                                      <p:to>
                                        <p:strVal val="visible"/>
                                      </p:to>
                                    </p:set>
                                    <p:animEffect transition="in" filter="wipe(down)">
                                      <p:cBhvr>
                                        <p:cTn id="32" dur="500"/>
                                        <p:tgtEl>
                                          <p:spTgt spid="50"/>
                                        </p:tgtEl>
                                      </p:cBhvr>
                                    </p:animEffect>
                                  </p:childTnLst>
                                </p:cTn>
                              </p:par>
                            </p:childTnLst>
                          </p:cTn>
                        </p:par>
                        <p:par>
                          <p:cTn id="33" fill="hold">
                            <p:stCondLst>
                              <p:cond delay="1500"/>
                            </p:stCondLst>
                            <p:childTnLst>
                              <p:par>
                                <p:cTn id="34" presetID="22" presetClass="entr" presetSubtype="4" fill="hold" grpId="0" nodeType="afterEffect">
                                  <p:stCondLst>
                                    <p:cond delay="0"/>
                                  </p:stCondLst>
                                  <p:childTnLst>
                                    <p:set>
                                      <p:cBhvr>
                                        <p:cTn id="35" dur="1" fill="hold">
                                          <p:stCondLst>
                                            <p:cond delay="0"/>
                                          </p:stCondLst>
                                        </p:cTn>
                                        <p:tgtEl>
                                          <p:spTgt spid="51"/>
                                        </p:tgtEl>
                                        <p:attrNameLst>
                                          <p:attrName>style.visibility</p:attrName>
                                        </p:attrNameLst>
                                      </p:cBhvr>
                                      <p:to>
                                        <p:strVal val="visible"/>
                                      </p:to>
                                    </p:set>
                                    <p:animEffect transition="in" filter="wipe(down)">
                                      <p:cBhvr>
                                        <p:cTn id="3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49" grpId="0"/>
      <p:bldP spid="50" grpId="0"/>
      <p:bldP spid="51" grpId="0"/>
      <p:bldP spid="52" grpId="0"/>
      <p:bldP spid="5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4775"/>
            </a:xfrm>
            <a:prstGeom prst="rect">
              <a:avLst/>
            </a:prstGeom>
            <a:noFill/>
          </p:spPr>
          <p:txBody>
            <a:bodyPr wrap="square" rtlCol="0">
              <a:spAutoFit/>
            </a:bodyPr>
            <a:lstStyle/>
            <a:p>
              <a:r>
                <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rPr>
                <a:t>市场情况分析</a:t>
              </a:r>
              <a:endPar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pSp>
        <p:nvGrpSpPr>
          <p:cNvPr id="18" name="组合 17"/>
          <p:cNvGrpSpPr/>
          <p:nvPr/>
        </p:nvGrpSpPr>
        <p:grpSpPr>
          <a:xfrm>
            <a:off x="6910485" y="1830352"/>
            <a:ext cx="4120386" cy="3856518"/>
            <a:chOff x="6708760" y="2072974"/>
            <a:chExt cx="3401854" cy="3184000"/>
          </a:xfrm>
        </p:grpSpPr>
        <p:sp>
          <p:nvSpPr>
            <p:cNvPr id="19" name="椭圆 18"/>
            <p:cNvSpPr/>
            <p:nvPr/>
          </p:nvSpPr>
          <p:spPr>
            <a:xfrm>
              <a:off x="7495700" y="2072974"/>
              <a:ext cx="1827974" cy="1827974"/>
            </a:xfrm>
            <a:prstGeom prst="ellipse">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zh-CN" altLang="en-US" sz="2000">
                <a:solidFill>
                  <a:schemeClr val="bg1"/>
                </a:solidFill>
                <a:cs typeface="+mn-ea"/>
                <a:sym typeface="+mn-lt"/>
              </a:endParaRPr>
            </a:p>
          </p:txBody>
        </p:sp>
        <p:sp>
          <p:nvSpPr>
            <p:cNvPr id="20" name="椭圆 19"/>
            <p:cNvSpPr/>
            <p:nvPr/>
          </p:nvSpPr>
          <p:spPr>
            <a:xfrm>
              <a:off x="6708760" y="3429000"/>
              <a:ext cx="1827974" cy="1827974"/>
            </a:xfrm>
            <a:prstGeom prst="ellipse">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zh-CN" altLang="en-US" sz="2000">
                <a:solidFill>
                  <a:srgbClr val="13245C"/>
                </a:solidFill>
                <a:latin typeface="思源黑体 CN Bold" panose="020B0800000000000000" pitchFamily="34" charset="-122"/>
                <a:ea typeface="思源黑体 CN Bold" panose="020B0800000000000000" pitchFamily="34" charset="-122"/>
                <a:cs typeface="+mn-ea"/>
                <a:sym typeface="+mn-lt"/>
              </a:endParaRPr>
            </a:p>
          </p:txBody>
        </p:sp>
        <p:sp>
          <p:nvSpPr>
            <p:cNvPr id="22" name="椭圆 21"/>
            <p:cNvSpPr/>
            <p:nvPr/>
          </p:nvSpPr>
          <p:spPr>
            <a:xfrm>
              <a:off x="8282640" y="3429000"/>
              <a:ext cx="1827974" cy="1827974"/>
            </a:xfrm>
            <a:prstGeom prst="ellipse">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zh-CN" altLang="en-US" sz="2000">
                <a:solidFill>
                  <a:schemeClr val="bg1"/>
                </a:solidFill>
                <a:cs typeface="+mn-ea"/>
                <a:sym typeface="+mn-lt"/>
              </a:endParaRPr>
            </a:p>
          </p:txBody>
        </p:sp>
        <p:sp>
          <p:nvSpPr>
            <p:cNvPr id="23" name="文本框 22"/>
            <p:cNvSpPr txBox="1"/>
            <p:nvPr/>
          </p:nvSpPr>
          <p:spPr>
            <a:xfrm>
              <a:off x="8016791" y="2903902"/>
              <a:ext cx="725524" cy="330337"/>
            </a:xfrm>
            <a:prstGeom prst="rect">
              <a:avLst/>
            </a:prstGeom>
            <a:noFill/>
          </p:spPr>
          <p:txBody>
            <a:bodyPr wrap="none" rtlCol="0">
              <a:spAutoFit/>
            </a:bodyPr>
            <a:lstStyle/>
            <a:p>
              <a:r>
                <a:rPr lang="zh-CN" altLang="en-US" sz="2000" dirty="0">
                  <a:solidFill>
                    <a:schemeClr val="bg1"/>
                  </a:solidFill>
                  <a:cs typeface="+mn-ea"/>
                  <a:sym typeface="+mn-lt"/>
                </a:rPr>
                <a:t>产品</a:t>
              </a:r>
              <a:r>
                <a:rPr lang="en-US" altLang="zh-CN" sz="2000" dirty="0">
                  <a:solidFill>
                    <a:schemeClr val="bg1"/>
                  </a:solidFill>
                  <a:cs typeface="+mn-ea"/>
                  <a:sym typeface="+mn-lt"/>
                </a:rPr>
                <a:t>A</a:t>
              </a:r>
              <a:endParaRPr lang="zh-CN" altLang="en-US" sz="2000" dirty="0">
                <a:solidFill>
                  <a:schemeClr val="bg1"/>
                </a:solidFill>
                <a:cs typeface="+mn-ea"/>
                <a:sym typeface="+mn-lt"/>
              </a:endParaRPr>
            </a:p>
          </p:txBody>
        </p:sp>
        <p:sp>
          <p:nvSpPr>
            <p:cNvPr id="24" name="文本框 23"/>
            <p:cNvSpPr txBox="1"/>
            <p:nvPr/>
          </p:nvSpPr>
          <p:spPr>
            <a:xfrm>
              <a:off x="7984731" y="2533400"/>
              <a:ext cx="746699" cy="431978"/>
            </a:xfrm>
            <a:prstGeom prst="rect">
              <a:avLst/>
            </a:prstGeom>
            <a:noFill/>
          </p:spPr>
          <p:txBody>
            <a:bodyPr wrap="none" rtlCol="0">
              <a:spAutoFit/>
            </a:bodyPr>
            <a:lstStyle/>
            <a:p>
              <a:r>
                <a:rPr lang="en-US" altLang="zh-CN" sz="2800" b="1" dirty="0">
                  <a:solidFill>
                    <a:schemeClr val="bg1"/>
                  </a:solidFill>
                  <a:cs typeface="+mn-ea"/>
                  <a:sym typeface="+mn-lt"/>
                </a:rPr>
                <a:t>67%</a:t>
              </a:r>
              <a:endParaRPr lang="zh-CN" altLang="en-US" sz="2800" b="1" dirty="0">
                <a:solidFill>
                  <a:schemeClr val="bg1"/>
                </a:solidFill>
                <a:cs typeface="+mn-ea"/>
                <a:sym typeface="+mn-lt"/>
              </a:endParaRPr>
            </a:p>
          </p:txBody>
        </p:sp>
        <p:sp>
          <p:nvSpPr>
            <p:cNvPr id="26" name="文本框 25"/>
            <p:cNvSpPr txBox="1"/>
            <p:nvPr/>
          </p:nvSpPr>
          <p:spPr>
            <a:xfrm>
              <a:off x="7206772" y="4334883"/>
              <a:ext cx="713612" cy="330337"/>
            </a:xfrm>
            <a:prstGeom prst="rect">
              <a:avLst/>
            </a:prstGeom>
            <a:noFill/>
          </p:spPr>
          <p:txBody>
            <a:bodyPr wrap="none" rtlCol="0">
              <a:spAutoFit/>
            </a:bodyPr>
            <a:lstStyle/>
            <a:p>
              <a:r>
                <a:rPr lang="zh-CN" altLang="en-US" sz="2000" dirty="0">
                  <a:solidFill>
                    <a:schemeClr val="bg1"/>
                  </a:solidFill>
                  <a:cs typeface="+mn-ea"/>
                  <a:sym typeface="+mn-lt"/>
                </a:rPr>
                <a:t>产品</a:t>
              </a:r>
              <a:r>
                <a:rPr lang="en-US" altLang="zh-CN" sz="2000" dirty="0">
                  <a:solidFill>
                    <a:schemeClr val="bg1"/>
                  </a:solidFill>
                  <a:cs typeface="+mn-ea"/>
                  <a:sym typeface="+mn-lt"/>
                </a:rPr>
                <a:t>B</a:t>
              </a:r>
              <a:endParaRPr lang="zh-CN" altLang="en-US" sz="2000" dirty="0">
                <a:solidFill>
                  <a:schemeClr val="bg1"/>
                </a:solidFill>
                <a:cs typeface="+mn-ea"/>
                <a:sym typeface="+mn-lt"/>
              </a:endParaRPr>
            </a:p>
          </p:txBody>
        </p:sp>
        <p:sp>
          <p:nvSpPr>
            <p:cNvPr id="30" name="文本框 29"/>
            <p:cNvSpPr txBox="1"/>
            <p:nvPr/>
          </p:nvSpPr>
          <p:spPr>
            <a:xfrm>
              <a:off x="7174712" y="3964381"/>
              <a:ext cx="746699" cy="431978"/>
            </a:xfrm>
            <a:prstGeom prst="rect">
              <a:avLst/>
            </a:prstGeom>
            <a:noFill/>
          </p:spPr>
          <p:txBody>
            <a:bodyPr wrap="none" rtlCol="0">
              <a:spAutoFit/>
            </a:bodyPr>
            <a:lstStyle/>
            <a:p>
              <a:r>
                <a:rPr lang="en-US" altLang="zh-CN" sz="2800" b="1" dirty="0">
                  <a:solidFill>
                    <a:schemeClr val="bg1"/>
                  </a:solidFill>
                  <a:cs typeface="+mn-ea"/>
                  <a:sym typeface="+mn-lt"/>
                </a:rPr>
                <a:t>61%</a:t>
              </a:r>
              <a:endParaRPr lang="zh-CN" altLang="en-US" sz="2800" b="1" dirty="0">
                <a:solidFill>
                  <a:schemeClr val="bg1"/>
                </a:solidFill>
                <a:cs typeface="+mn-ea"/>
                <a:sym typeface="+mn-lt"/>
              </a:endParaRPr>
            </a:p>
          </p:txBody>
        </p:sp>
        <p:sp>
          <p:nvSpPr>
            <p:cNvPr id="31" name="文本框 30"/>
            <p:cNvSpPr txBox="1"/>
            <p:nvPr/>
          </p:nvSpPr>
          <p:spPr>
            <a:xfrm>
              <a:off x="8858869" y="4334883"/>
              <a:ext cx="729493" cy="330337"/>
            </a:xfrm>
            <a:prstGeom prst="rect">
              <a:avLst/>
            </a:prstGeom>
            <a:noFill/>
          </p:spPr>
          <p:txBody>
            <a:bodyPr wrap="none" rtlCol="0">
              <a:spAutoFit/>
            </a:bodyPr>
            <a:lstStyle/>
            <a:p>
              <a:r>
                <a:rPr lang="zh-CN" altLang="en-US" sz="2000" dirty="0">
                  <a:solidFill>
                    <a:schemeClr val="bg1"/>
                  </a:solidFill>
                  <a:cs typeface="+mn-ea"/>
                  <a:sym typeface="+mn-lt"/>
                </a:rPr>
                <a:t>产品</a:t>
              </a:r>
              <a:r>
                <a:rPr lang="en-US" altLang="zh-CN" sz="2000" dirty="0">
                  <a:solidFill>
                    <a:schemeClr val="bg1"/>
                  </a:solidFill>
                  <a:cs typeface="+mn-ea"/>
                  <a:sym typeface="+mn-lt"/>
                </a:rPr>
                <a:t>C</a:t>
              </a:r>
              <a:endParaRPr lang="zh-CN" altLang="en-US" sz="2000" dirty="0">
                <a:solidFill>
                  <a:schemeClr val="bg1"/>
                </a:solidFill>
                <a:cs typeface="+mn-ea"/>
                <a:sym typeface="+mn-lt"/>
              </a:endParaRPr>
            </a:p>
          </p:txBody>
        </p:sp>
        <p:sp>
          <p:nvSpPr>
            <p:cNvPr id="32" name="文本框 31"/>
            <p:cNvSpPr txBox="1"/>
            <p:nvPr/>
          </p:nvSpPr>
          <p:spPr>
            <a:xfrm>
              <a:off x="8826809" y="3964381"/>
              <a:ext cx="746699" cy="431978"/>
            </a:xfrm>
            <a:prstGeom prst="rect">
              <a:avLst/>
            </a:prstGeom>
            <a:noFill/>
          </p:spPr>
          <p:txBody>
            <a:bodyPr wrap="none" rtlCol="0">
              <a:spAutoFit/>
            </a:bodyPr>
            <a:lstStyle/>
            <a:p>
              <a:r>
                <a:rPr lang="en-US" altLang="zh-CN" sz="2800" b="1" dirty="0">
                  <a:solidFill>
                    <a:schemeClr val="bg1"/>
                  </a:solidFill>
                  <a:cs typeface="+mn-ea"/>
                  <a:sym typeface="+mn-lt"/>
                </a:rPr>
                <a:t>59%</a:t>
              </a:r>
              <a:endParaRPr lang="zh-CN" altLang="en-US" sz="2800" b="1" dirty="0">
                <a:solidFill>
                  <a:schemeClr val="bg1"/>
                </a:solidFill>
                <a:cs typeface="+mn-ea"/>
                <a:sym typeface="+mn-lt"/>
              </a:endParaRPr>
            </a:p>
          </p:txBody>
        </p:sp>
      </p:grpSp>
      <p:graphicFrame>
        <p:nvGraphicFramePr>
          <p:cNvPr id="33" name="图表 32"/>
          <p:cNvGraphicFramePr/>
          <p:nvPr/>
        </p:nvGraphicFramePr>
        <p:xfrm>
          <a:off x="911225" y="3113076"/>
          <a:ext cx="5592151" cy="2793260"/>
        </p:xfrm>
        <a:graphic>
          <a:graphicData uri="http://schemas.openxmlformats.org/drawingml/2006/chart">
            <c:chart xmlns:c="http://schemas.openxmlformats.org/drawingml/2006/chart" xmlns:r="http://schemas.openxmlformats.org/officeDocument/2006/relationships" r:id="rId1"/>
          </a:graphicData>
        </a:graphic>
      </p:graphicFrame>
      <p:sp>
        <p:nvSpPr>
          <p:cNvPr id="34" name="矩形 3"/>
          <p:cNvSpPr>
            <a:spLocks noChangeArrowheads="1"/>
          </p:cNvSpPr>
          <p:nvPr/>
        </p:nvSpPr>
        <p:spPr bwMode="auto">
          <a:xfrm>
            <a:off x="1316379" y="1632104"/>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35" name="文本框 34"/>
          <p:cNvSpPr txBox="1"/>
          <p:nvPr/>
        </p:nvSpPr>
        <p:spPr>
          <a:xfrm>
            <a:off x="1543255" y="2272528"/>
            <a:ext cx="5644374" cy="704104"/>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请在此处添加具体内容，文字尽量言简意赅，简单说明即可，不必过于繁琐，注意版面美观度。</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inVertical)">
                                      <p:cBhvr>
                                        <p:cTn id="17" dur="500"/>
                                        <p:tgtEl>
                                          <p:spTgt spid="18"/>
                                        </p:tgtEl>
                                      </p:cBhvr>
                                    </p:animEffect>
                                  </p:childTnLst>
                                </p:cTn>
                              </p:par>
                            </p:childTnLst>
                          </p:cTn>
                        </p:par>
                        <p:par>
                          <p:cTn id="18" fill="hold">
                            <p:stCondLst>
                              <p:cond delay="500"/>
                            </p:stCondLst>
                            <p:childTnLst>
                              <p:par>
                                <p:cTn id="19" presetID="42" presetClass="entr" presetSubtype="0" fill="hold" grpId="0" nodeType="after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1000"/>
                                        <p:tgtEl>
                                          <p:spTgt spid="33"/>
                                        </p:tgtEl>
                                      </p:cBhvr>
                                    </p:animEffect>
                                    <p:anim calcmode="lin" valueType="num">
                                      <p:cBhvr>
                                        <p:cTn id="22" dur="1000" fill="hold"/>
                                        <p:tgtEl>
                                          <p:spTgt spid="33"/>
                                        </p:tgtEl>
                                        <p:attrNameLst>
                                          <p:attrName>ppt_x</p:attrName>
                                        </p:attrNameLst>
                                      </p:cBhvr>
                                      <p:tavLst>
                                        <p:tav tm="0">
                                          <p:val>
                                            <p:strVal val="#ppt_x"/>
                                          </p:val>
                                        </p:tav>
                                        <p:tav tm="100000">
                                          <p:val>
                                            <p:strVal val="#ppt_x"/>
                                          </p:val>
                                        </p:tav>
                                      </p:tavLst>
                                    </p:anim>
                                    <p:anim calcmode="lin" valueType="num">
                                      <p:cBhvr>
                                        <p:cTn id="23" dur="1000" fill="hold"/>
                                        <p:tgtEl>
                                          <p:spTgt spid="33"/>
                                        </p:tgtEl>
                                        <p:attrNameLst>
                                          <p:attrName>ppt_y</p:attrName>
                                        </p:attrNameLst>
                                      </p:cBhvr>
                                      <p:tavLst>
                                        <p:tav tm="0">
                                          <p:val>
                                            <p:strVal val="#ppt_y+.1"/>
                                          </p:val>
                                        </p:tav>
                                        <p:tav tm="100000">
                                          <p:val>
                                            <p:strVal val="#ppt_y"/>
                                          </p:val>
                                        </p:tav>
                                      </p:tavLst>
                                    </p:anim>
                                  </p:childTnLst>
                                </p:cTn>
                              </p:par>
                            </p:childTnLst>
                          </p:cTn>
                        </p:par>
                        <p:par>
                          <p:cTn id="24" fill="hold">
                            <p:stCondLst>
                              <p:cond delay="1500"/>
                            </p:stCondLst>
                            <p:childTnLst>
                              <p:par>
                                <p:cTn id="25" presetID="42" presetClass="entr" presetSubtype="0"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1000"/>
                                        <p:tgtEl>
                                          <p:spTgt spid="34"/>
                                        </p:tgtEl>
                                      </p:cBhvr>
                                    </p:animEffect>
                                    <p:anim calcmode="lin" valueType="num">
                                      <p:cBhvr>
                                        <p:cTn id="28" dur="1000" fill="hold"/>
                                        <p:tgtEl>
                                          <p:spTgt spid="34"/>
                                        </p:tgtEl>
                                        <p:attrNameLst>
                                          <p:attrName>ppt_x</p:attrName>
                                        </p:attrNameLst>
                                      </p:cBhvr>
                                      <p:tavLst>
                                        <p:tav tm="0">
                                          <p:val>
                                            <p:strVal val="#ppt_x"/>
                                          </p:val>
                                        </p:tav>
                                        <p:tav tm="100000">
                                          <p:val>
                                            <p:strVal val="#ppt_x"/>
                                          </p:val>
                                        </p:tav>
                                      </p:tavLst>
                                    </p:anim>
                                    <p:anim calcmode="lin" valueType="num">
                                      <p:cBhvr>
                                        <p:cTn id="29" dur="1000" fill="hold"/>
                                        <p:tgtEl>
                                          <p:spTgt spid="34"/>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1000"/>
                                        <p:tgtEl>
                                          <p:spTgt spid="35"/>
                                        </p:tgtEl>
                                      </p:cBhvr>
                                    </p:animEffect>
                                    <p:anim calcmode="lin" valueType="num">
                                      <p:cBhvr>
                                        <p:cTn id="34" dur="1000" fill="hold"/>
                                        <p:tgtEl>
                                          <p:spTgt spid="35"/>
                                        </p:tgtEl>
                                        <p:attrNameLst>
                                          <p:attrName>ppt_x</p:attrName>
                                        </p:attrNameLst>
                                      </p:cBhvr>
                                      <p:tavLst>
                                        <p:tav tm="0">
                                          <p:val>
                                            <p:strVal val="#ppt_x"/>
                                          </p:val>
                                        </p:tav>
                                        <p:tav tm="100000">
                                          <p:val>
                                            <p:strVal val="#ppt_x"/>
                                          </p:val>
                                        </p:tav>
                                      </p:tavLst>
                                    </p:anim>
                                    <p:anim calcmode="lin" valueType="num">
                                      <p:cBhvr>
                                        <p:cTn id="35"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Graphic spid="33" grpId="0">
        <p:bldAsOne/>
      </p:bldGraphic>
      <p:bldP spid="34" grpId="0"/>
      <p:bldP spid="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4775"/>
            </a:xfrm>
            <a:prstGeom prst="rect">
              <a:avLst/>
            </a:prstGeom>
            <a:noFill/>
          </p:spPr>
          <p:txBody>
            <a:bodyPr wrap="square" rtlCol="0">
              <a:spAutoFit/>
            </a:bodyPr>
            <a:lstStyle/>
            <a:p>
              <a:r>
                <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rPr>
                <a:t>盈利情况汇报</a:t>
              </a:r>
              <a:endPar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pSp>
        <p:nvGrpSpPr>
          <p:cNvPr id="12" name="组合 11"/>
          <p:cNvGrpSpPr/>
          <p:nvPr/>
        </p:nvGrpSpPr>
        <p:grpSpPr>
          <a:xfrm>
            <a:off x="5009492" y="1843897"/>
            <a:ext cx="5957571" cy="3888795"/>
            <a:chOff x="1027135" y="1911025"/>
            <a:chExt cx="5957571" cy="3888795"/>
          </a:xfrm>
        </p:grpSpPr>
        <p:graphicFrame>
          <p:nvGraphicFramePr>
            <p:cNvPr id="18" name="图表 17"/>
            <p:cNvGraphicFramePr/>
            <p:nvPr/>
          </p:nvGraphicFramePr>
          <p:xfrm>
            <a:off x="1027135" y="2336894"/>
            <a:ext cx="5957571" cy="3462926"/>
          </p:xfrm>
          <a:graphic>
            <a:graphicData uri="http://schemas.openxmlformats.org/drawingml/2006/chart">
              <c:chart xmlns:c="http://schemas.openxmlformats.org/drawingml/2006/chart" xmlns:r="http://schemas.openxmlformats.org/officeDocument/2006/relationships" r:id="rId1"/>
            </a:graphicData>
          </a:graphic>
        </p:graphicFrame>
        <p:sp>
          <p:nvSpPr>
            <p:cNvPr id="19" name="文本框 18"/>
            <p:cNvSpPr txBox="1"/>
            <p:nvPr/>
          </p:nvSpPr>
          <p:spPr>
            <a:xfrm>
              <a:off x="2990257" y="1911025"/>
              <a:ext cx="2031325" cy="369332"/>
            </a:xfrm>
            <a:prstGeom prst="rect">
              <a:avLst/>
            </a:prstGeom>
            <a:noFill/>
          </p:spPr>
          <p:txBody>
            <a:bodyPr wrap="none" rtlCol="0">
              <a:spAutoFit/>
            </a:bodyPr>
            <a:lstStyle/>
            <a:p>
              <a:r>
                <a:rPr lang="zh-CN" altLang="en-US" dirty="0">
                  <a:solidFill>
                    <a:schemeClr val="tx1">
                      <a:lumMod val="85000"/>
                      <a:lumOff val="15000"/>
                    </a:schemeClr>
                  </a:solidFill>
                  <a:cs typeface="+mn-ea"/>
                  <a:sym typeface="+mn-lt"/>
                </a:rPr>
                <a:t>点击添加图表标题</a:t>
              </a:r>
              <a:endParaRPr lang="zh-CN" altLang="en-US" dirty="0">
                <a:solidFill>
                  <a:schemeClr val="tx1">
                    <a:lumMod val="85000"/>
                    <a:lumOff val="15000"/>
                  </a:schemeClr>
                </a:solidFill>
                <a:cs typeface="+mn-ea"/>
                <a:sym typeface="+mn-lt"/>
              </a:endParaRPr>
            </a:p>
          </p:txBody>
        </p:sp>
      </p:grpSp>
      <p:sp>
        <p:nvSpPr>
          <p:cNvPr id="22" name="矩形 3"/>
          <p:cNvSpPr>
            <a:spLocks noChangeArrowheads="1"/>
          </p:cNvSpPr>
          <p:nvPr/>
        </p:nvSpPr>
        <p:spPr bwMode="auto">
          <a:xfrm>
            <a:off x="1552236" y="1844375"/>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23" name="文本框 22"/>
          <p:cNvSpPr txBox="1"/>
          <p:nvPr/>
        </p:nvSpPr>
        <p:spPr>
          <a:xfrm>
            <a:off x="1779112" y="2554970"/>
            <a:ext cx="2431845" cy="1442767"/>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请在此处添加具体内容，文字尽量言简意赅，简单说明即可，不必过于繁琐，注意版面美观度。</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24" name="文本框 23"/>
          <p:cNvSpPr txBox="1"/>
          <p:nvPr/>
        </p:nvSpPr>
        <p:spPr>
          <a:xfrm>
            <a:off x="1779112" y="4338999"/>
            <a:ext cx="2431845" cy="1442767"/>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请在此处添加具体内容，文字尽量言简意赅，简单说明即可，不必过于繁琐，注意版面美观度。</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14" name="矩形: 圆角 13"/>
          <p:cNvSpPr/>
          <p:nvPr/>
        </p:nvSpPr>
        <p:spPr>
          <a:xfrm flipH="1">
            <a:off x="1219087" y="1872342"/>
            <a:ext cx="45719" cy="4107544"/>
          </a:xfrm>
          <a:prstGeom prst="roundRect">
            <a:avLst>
              <a:gd name="adj" fmla="val 50000"/>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endParaRPr>
          </a:p>
        </p:txBody>
      </p:sp>
      <p:sp>
        <p:nvSpPr>
          <p:cNvPr id="15" name="文本框 14"/>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down)">
                                      <p:cBhvr>
                                        <p:cTn id="20" dur="500"/>
                                        <p:tgtEl>
                                          <p:spTgt spid="14"/>
                                        </p:tgtEl>
                                      </p:cBhvr>
                                    </p:animEffect>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down)">
                                      <p:cBhvr>
                                        <p:cTn id="24" dur="500"/>
                                        <p:tgtEl>
                                          <p:spTgt spid="22"/>
                                        </p:tgtEl>
                                      </p:cBhvr>
                                    </p:animEffec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down)">
                                      <p:cBhvr>
                                        <p:cTn id="28" dur="500"/>
                                        <p:tgtEl>
                                          <p:spTgt spid="23"/>
                                        </p:tgtEl>
                                      </p:cBhvr>
                                    </p:animEffect>
                                  </p:childTnLst>
                                </p:cTn>
                              </p:par>
                            </p:childTnLst>
                          </p:cTn>
                        </p:par>
                        <p:par>
                          <p:cTn id="29" fill="hold">
                            <p:stCondLst>
                              <p:cond delay="1500"/>
                            </p:stCondLst>
                            <p:childTnLst>
                              <p:par>
                                <p:cTn id="30" presetID="22" presetClass="entr" presetSubtype="4" fill="hold" grpId="0" nodeType="after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down)">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2" grpId="0"/>
      <p:bldP spid="23" grpId="0"/>
      <p:bldP spid="24" grpId="0"/>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4775"/>
            </a:xfrm>
            <a:prstGeom prst="rect">
              <a:avLst/>
            </a:prstGeom>
            <a:noFill/>
          </p:spPr>
          <p:txBody>
            <a:bodyPr wrap="square" rtlCol="0">
              <a:spAutoFit/>
            </a:bodyPr>
            <a:lstStyle/>
            <a:p>
              <a:r>
                <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rPr>
                <a:t>盈利情况汇报</a:t>
              </a:r>
              <a:endPar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pSp>
        <p:nvGrpSpPr>
          <p:cNvPr id="18" name="组合 17"/>
          <p:cNvGrpSpPr/>
          <p:nvPr/>
        </p:nvGrpSpPr>
        <p:grpSpPr>
          <a:xfrm>
            <a:off x="1541317" y="1303222"/>
            <a:ext cx="4083039" cy="3834250"/>
            <a:chOff x="5023732" y="2907558"/>
            <a:chExt cx="3239743" cy="3042337"/>
          </a:xfrm>
        </p:grpSpPr>
        <p:sp>
          <p:nvSpPr>
            <p:cNvPr id="19" name="矩形: 圆角 18"/>
            <p:cNvSpPr/>
            <p:nvPr/>
          </p:nvSpPr>
          <p:spPr>
            <a:xfrm>
              <a:off x="5740062" y="2907558"/>
              <a:ext cx="1793229" cy="360267"/>
            </a:xfrm>
            <a:prstGeom prst="roundRect">
              <a:avLst>
                <a:gd name="adj" fmla="val 50000"/>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 name="文本框 19"/>
            <p:cNvSpPr txBox="1"/>
            <p:nvPr/>
          </p:nvSpPr>
          <p:spPr>
            <a:xfrm>
              <a:off x="5964338" y="2958040"/>
              <a:ext cx="1344679" cy="317473"/>
            </a:xfrm>
            <a:prstGeom prst="rect">
              <a:avLst/>
            </a:prstGeom>
            <a:noFill/>
          </p:spPr>
          <p:txBody>
            <a:bodyPr wrap="none">
              <a:spAutoFit/>
            </a:bodyPr>
            <a:lstStyle/>
            <a:p>
              <a:pPr marR="0" lvl="0" indent="0" algn="ctr" defTabSz="457200" fontAlgn="auto">
                <a:lnSpc>
                  <a:spcPct val="100000"/>
                </a:lnSpc>
                <a:spcBef>
                  <a:spcPct val="0"/>
                </a:spcBef>
                <a:spcAft>
                  <a:spcPts val="0"/>
                </a:spcAft>
                <a:buClrTx/>
                <a:buSzTx/>
                <a:buFontTx/>
                <a:buNone/>
                <a:defRPr/>
              </a:pPr>
              <a:r>
                <a:rPr lang="zh-CN" altLang="en-US" sz="20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点击添加标题</a:t>
              </a:r>
              <a:endParaRPr lang="zh-CN" altLang="en-US" sz="20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graphicFrame>
          <p:nvGraphicFramePr>
            <p:cNvPr id="22" name="图表 21"/>
            <p:cNvGraphicFramePr/>
            <p:nvPr/>
          </p:nvGraphicFramePr>
          <p:xfrm>
            <a:off x="5023732" y="3377158"/>
            <a:ext cx="3239743" cy="2500481"/>
          </p:xfrm>
          <a:graphic>
            <a:graphicData uri="http://schemas.openxmlformats.org/drawingml/2006/chart">
              <c:chart xmlns:c="http://schemas.openxmlformats.org/drawingml/2006/chart" xmlns:r="http://schemas.openxmlformats.org/officeDocument/2006/relationships" r:id="rId1"/>
            </a:graphicData>
          </a:graphic>
        </p:graphicFrame>
        <p:sp>
          <p:nvSpPr>
            <p:cNvPr id="23" name="文本框 22"/>
            <p:cNvSpPr txBox="1"/>
            <p:nvPr/>
          </p:nvSpPr>
          <p:spPr>
            <a:xfrm>
              <a:off x="5639526" y="5754528"/>
              <a:ext cx="325868" cy="1953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lumMod val="50000"/>
                      <a:lumOff val="50000"/>
                    </a:prstClr>
                  </a:solidFill>
                  <a:effectLst/>
                  <a:uLnTx/>
                  <a:uFillTx/>
                  <a:cs typeface="+mn-ea"/>
                  <a:sym typeface="+mn-lt"/>
                </a:rPr>
                <a:t>100</a:t>
              </a:r>
              <a:endParaRPr kumimoji="0" lang="zh-CN" altLang="en-US" sz="1000" b="0" i="0" u="none" strike="noStrike" kern="1200" cap="none" spc="0" normalizeH="0" baseline="0" noProof="0" dirty="0">
                <a:ln>
                  <a:noFill/>
                </a:ln>
                <a:solidFill>
                  <a:prstClr val="black">
                    <a:lumMod val="50000"/>
                    <a:lumOff val="50000"/>
                  </a:prstClr>
                </a:solidFill>
                <a:effectLst/>
                <a:uLnTx/>
                <a:uFillTx/>
                <a:cs typeface="+mn-ea"/>
                <a:sym typeface="+mn-lt"/>
              </a:endParaRPr>
            </a:p>
          </p:txBody>
        </p:sp>
        <p:sp>
          <p:nvSpPr>
            <p:cNvPr id="24" name="文本框 23"/>
            <p:cNvSpPr txBox="1"/>
            <p:nvPr/>
          </p:nvSpPr>
          <p:spPr>
            <a:xfrm>
              <a:off x="6581529" y="5754528"/>
              <a:ext cx="325868" cy="1953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dirty="0">
                  <a:solidFill>
                    <a:prstClr val="black">
                      <a:lumMod val="50000"/>
                      <a:lumOff val="50000"/>
                    </a:prstClr>
                  </a:solidFill>
                  <a:cs typeface="+mn-ea"/>
                  <a:sym typeface="+mn-lt"/>
                </a:rPr>
                <a:t>200</a:t>
              </a:r>
              <a:endParaRPr kumimoji="0" lang="zh-CN" altLang="en-US" sz="1000" b="0" i="0" u="none" strike="noStrike" kern="1200" cap="none" spc="0" normalizeH="0" baseline="0" noProof="0" dirty="0">
                <a:ln>
                  <a:noFill/>
                </a:ln>
                <a:solidFill>
                  <a:prstClr val="black">
                    <a:lumMod val="50000"/>
                    <a:lumOff val="50000"/>
                  </a:prstClr>
                </a:solidFill>
                <a:effectLst/>
                <a:uLnTx/>
                <a:uFillTx/>
                <a:cs typeface="+mn-ea"/>
                <a:sym typeface="+mn-lt"/>
              </a:endParaRPr>
            </a:p>
          </p:txBody>
        </p:sp>
        <p:sp>
          <p:nvSpPr>
            <p:cNvPr id="26" name="文本框 25"/>
            <p:cNvSpPr txBox="1"/>
            <p:nvPr/>
          </p:nvSpPr>
          <p:spPr>
            <a:xfrm>
              <a:off x="7527568" y="5754528"/>
              <a:ext cx="325868" cy="1953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lumMod val="50000"/>
                      <a:lumOff val="50000"/>
                    </a:prstClr>
                  </a:solidFill>
                  <a:effectLst/>
                  <a:uLnTx/>
                  <a:uFillTx/>
                  <a:cs typeface="+mn-ea"/>
                  <a:sym typeface="+mn-lt"/>
                </a:rPr>
                <a:t>300</a:t>
              </a:r>
              <a:endParaRPr kumimoji="0" lang="zh-CN" altLang="en-US" sz="1000" b="0" i="0" u="none" strike="noStrike" kern="1200" cap="none" spc="0" normalizeH="0" baseline="0" noProof="0" dirty="0">
                <a:ln>
                  <a:noFill/>
                </a:ln>
                <a:solidFill>
                  <a:prstClr val="black">
                    <a:lumMod val="50000"/>
                    <a:lumOff val="50000"/>
                  </a:prstClr>
                </a:solidFill>
                <a:effectLst/>
                <a:uLnTx/>
                <a:uFillTx/>
                <a:cs typeface="+mn-ea"/>
                <a:sym typeface="+mn-lt"/>
              </a:endParaRPr>
            </a:p>
          </p:txBody>
        </p:sp>
      </p:grpSp>
      <p:grpSp>
        <p:nvGrpSpPr>
          <p:cNvPr id="30" name="组合 29"/>
          <p:cNvGrpSpPr/>
          <p:nvPr/>
        </p:nvGrpSpPr>
        <p:grpSpPr>
          <a:xfrm>
            <a:off x="6657073" y="1298334"/>
            <a:ext cx="4083039" cy="3839137"/>
            <a:chOff x="8530810" y="2903680"/>
            <a:chExt cx="3239743" cy="3046215"/>
          </a:xfrm>
        </p:grpSpPr>
        <p:graphicFrame>
          <p:nvGraphicFramePr>
            <p:cNvPr id="31" name="图表 30"/>
            <p:cNvGraphicFramePr/>
            <p:nvPr/>
          </p:nvGraphicFramePr>
          <p:xfrm>
            <a:off x="8530810" y="3377158"/>
            <a:ext cx="3239743" cy="2500481"/>
          </p:xfrm>
          <a:graphic>
            <a:graphicData uri="http://schemas.openxmlformats.org/drawingml/2006/chart">
              <c:chart xmlns:c="http://schemas.openxmlformats.org/drawingml/2006/chart" xmlns:r="http://schemas.openxmlformats.org/officeDocument/2006/relationships" r:id="rId2"/>
            </a:graphicData>
          </a:graphic>
        </p:graphicFrame>
        <p:sp>
          <p:nvSpPr>
            <p:cNvPr id="32" name="文本框 31"/>
            <p:cNvSpPr txBox="1"/>
            <p:nvPr/>
          </p:nvSpPr>
          <p:spPr>
            <a:xfrm>
              <a:off x="9152984" y="5754528"/>
              <a:ext cx="325868" cy="1953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lumMod val="50000"/>
                      <a:lumOff val="50000"/>
                    </a:prstClr>
                  </a:solidFill>
                  <a:effectLst/>
                  <a:uLnTx/>
                  <a:uFillTx/>
                  <a:cs typeface="+mn-ea"/>
                  <a:sym typeface="+mn-lt"/>
                </a:rPr>
                <a:t>100</a:t>
              </a:r>
              <a:endParaRPr kumimoji="0" lang="zh-CN" altLang="en-US" sz="1000" b="0" i="0" u="none" strike="noStrike" kern="1200" cap="none" spc="0" normalizeH="0" baseline="0" noProof="0" dirty="0">
                <a:ln>
                  <a:noFill/>
                </a:ln>
                <a:solidFill>
                  <a:prstClr val="black">
                    <a:lumMod val="50000"/>
                    <a:lumOff val="50000"/>
                  </a:prstClr>
                </a:solidFill>
                <a:effectLst/>
                <a:uLnTx/>
                <a:uFillTx/>
                <a:cs typeface="+mn-ea"/>
                <a:sym typeface="+mn-lt"/>
              </a:endParaRPr>
            </a:p>
          </p:txBody>
        </p:sp>
        <p:sp>
          <p:nvSpPr>
            <p:cNvPr id="33" name="文本框 32"/>
            <p:cNvSpPr txBox="1"/>
            <p:nvPr/>
          </p:nvSpPr>
          <p:spPr>
            <a:xfrm>
              <a:off x="10085919" y="5754528"/>
              <a:ext cx="325868" cy="1953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lumMod val="50000"/>
                      <a:lumOff val="50000"/>
                    </a:prstClr>
                  </a:solidFill>
                  <a:effectLst/>
                  <a:uLnTx/>
                  <a:uFillTx/>
                  <a:cs typeface="+mn-ea"/>
                  <a:sym typeface="+mn-lt"/>
                </a:rPr>
                <a:t>200</a:t>
              </a:r>
              <a:endParaRPr kumimoji="0" lang="zh-CN" altLang="en-US" sz="1000" b="0" i="0" u="none" strike="noStrike" kern="1200" cap="none" spc="0" normalizeH="0" baseline="0" noProof="0" dirty="0">
                <a:ln>
                  <a:noFill/>
                </a:ln>
                <a:solidFill>
                  <a:prstClr val="black">
                    <a:lumMod val="50000"/>
                    <a:lumOff val="50000"/>
                  </a:prstClr>
                </a:solidFill>
                <a:effectLst/>
                <a:uLnTx/>
                <a:uFillTx/>
                <a:cs typeface="+mn-ea"/>
                <a:sym typeface="+mn-lt"/>
              </a:endParaRPr>
            </a:p>
          </p:txBody>
        </p:sp>
        <p:sp>
          <p:nvSpPr>
            <p:cNvPr id="34" name="文本框 33"/>
            <p:cNvSpPr txBox="1"/>
            <p:nvPr/>
          </p:nvSpPr>
          <p:spPr>
            <a:xfrm>
              <a:off x="11031949" y="5754528"/>
              <a:ext cx="325868" cy="19536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lumMod val="50000"/>
                      <a:lumOff val="50000"/>
                    </a:prstClr>
                  </a:solidFill>
                  <a:effectLst/>
                  <a:uLnTx/>
                  <a:uFillTx/>
                  <a:cs typeface="+mn-ea"/>
                  <a:sym typeface="+mn-lt"/>
                </a:rPr>
                <a:t>300</a:t>
              </a:r>
              <a:endParaRPr kumimoji="0" lang="zh-CN" altLang="en-US" sz="1000" b="0" i="0" u="none" strike="noStrike" kern="1200" cap="none" spc="0" normalizeH="0" baseline="0" noProof="0" dirty="0">
                <a:ln>
                  <a:noFill/>
                </a:ln>
                <a:solidFill>
                  <a:prstClr val="black">
                    <a:lumMod val="50000"/>
                    <a:lumOff val="50000"/>
                  </a:prstClr>
                </a:solidFill>
                <a:effectLst/>
                <a:uLnTx/>
                <a:uFillTx/>
                <a:cs typeface="+mn-ea"/>
                <a:sym typeface="+mn-lt"/>
              </a:endParaRPr>
            </a:p>
          </p:txBody>
        </p:sp>
        <p:sp>
          <p:nvSpPr>
            <p:cNvPr id="35" name="矩形: 圆角 34"/>
            <p:cNvSpPr/>
            <p:nvPr/>
          </p:nvSpPr>
          <p:spPr>
            <a:xfrm>
              <a:off x="9259135" y="2903680"/>
              <a:ext cx="1812531" cy="364146"/>
            </a:xfrm>
            <a:prstGeom prst="roundRect">
              <a:avLst>
                <a:gd name="adj" fmla="val 50000"/>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6" name="文本框 35"/>
            <p:cNvSpPr txBox="1"/>
            <p:nvPr/>
          </p:nvSpPr>
          <p:spPr>
            <a:xfrm>
              <a:off x="9493062" y="2956102"/>
              <a:ext cx="1344679" cy="317473"/>
            </a:xfrm>
            <a:prstGeom prst="rect">
              <a:avLst/>
            </a:prstGeom>
            <a:noFill/>
          </p:spPr>
          <p:txBody>
            <a:bodyPr wrap="none">
              <a:spAutoFit/>
            </a:bodyPr>
            <a:lstStyle/>
            <a:p>
              <a:pPr marR="0" lvl="0" indent="0" algn="ctr" defTabSz="457200" fontAlgn="auto">
                <a:lnSpc>
                  <a:spcPct val="100000"/>
                </a:lnSpc>
                <a:spcBef>
                  <a:spcPct val="0"/>
                </a:spcBef>
                <a:spcAft>
                  <a:spcPts val="0"/>
                </a:spcAft>
                <a:buClrTx/>
                <a:buSzTx/>
                <a:buFontTx/>
                <a:buNone/>
                <a:defRPr/>
              </a:pPr>
              <a:r>
                <a:rPr lang="zh-CN" altLang="en-US" sz="20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点击添加标题</a:t>
              </a:r>
              <a:endParaRPr lang="zh-CN" altLang="en-US" sz="20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grpSp>
      <p:sp>
        <p:nvSpPr>
          <p:cNvPr id="37" name="文本框 36"/>
          <p:cNvSpPr txBox="1"/>
          <p:nvPr/>
        </p:nvSpPr>
        <p:spPr>
          <a:xfrm>
            <a:off x="1733756" y="5327785"/>
            <a:ext cx="3625644" cy="616131"/>
          </a:xfrm>
          <a:prstGeom prst="rect">
            <a:avLst/>
          </a:prstGeom>
          <a:noFill/>
        </p:spPr>
        <p:txBody>
          <a:bodyPr wrap="square" lIns="0" tIns="0" rIns="0" bIns="0">
            <a:spAutoFit/>
          </a:bodyPr>
          <a:lstStyle/>
          <a:p>
            <a:pPr algn="ctr" defTabSz="987425" fontAlgn="base">
              <a:lnSpc>
                <a:spcPct val="150000"/>
              </a:lnSpc>
              <a:spcBef>
                <a:spcPct val="0"/>
              </a:spcBef>
              <a:spcAft>
                <a:spcPct val="0"/>
              </a:spcAft>
              <a:defRPr/>
            </a:pPr>
            <a:r>
              <a:rPr lang="zh-CN" altLang="en-US" sz="14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文字尽量言简意赅，简单说明即可，不必过于繁琐，注意版面美观度。</a:t>
            </a:r>
            <a:endParaRPr lang="zh-CN" altLang="en-US" sz="14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38" name="文本框 37"/>
          <p:cNvSpPr txBox="1"/>
          <p:nvPr/>
        </p:nvSpPr>
        <p:spPr>
          <a:xfrm>
            <a:off x="6864556" y="5327785"/>
            <a:ext cx="3625644" cy="616131"/>
          </a:xfrm>
          <a:prstGeom prst="rect">
            <a:avLst/>
          </a:prstGeom>
          <a:noFill/>
        </p:spPr>
        <p:txBody>
          <a:bodyPr wrap="square" lIns="0" tIns="0" rIns="0" bIns="0">
            <a:spAutoFit/>
          </a:bodyPr>
          <a:lstStyle/>
          <a:p>
            <a:pPr algn="ctr" defTabSz="987425" fontAlgn="base">
              <a:lnSpc>
                <a:spcPct val="150000"/>
              </a:lnSpc>
              <a:spcBef>
                <a:spcPct val="0"/>
              </a:spcBef>
              <a:spcAft>
                <a:spcPct val="0"/>
              </a:spcAft>
              <a:defRPr/>
            </a:pPr>
            <a:r>
              <a:rPr lang="zh-CN" altLang="en-US" sz="14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文字尽量言简意赅，简单说明即可，不必过于繁琐，注意版面美观度。</a:t>
            </a:r>
            <a:endParaRPr lang="zh-CN" altLang="en-US" sz="14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down)">
                                      <p:cBhvr>
                                        <p:cTn id="17" dur="500"/>
                                        <p:tgtEl>
                                          <p:spTgt spid="30"/>
                                        </p:tgtEl>
                                      </p:cBhvr>
                                    </p:animEffect>
                                  </p:childTnLst>
                                </p:cTn>
                              </p:par>
                              <p:par>
                                <p:cTn id="18" presetID="22" presetClass="entr" presetSubtype="4" fill="hold"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down)">
                                      <p:cBhvr>
                                        <p:cTn id="20" dur="500"/>
                                        <p:tgtEl>
                                          <p:spTgt spid="18"/>
                                        </p:tgtEl>
                                      </p:cBhvr>
                                    </p:animEffect>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down)">
                                      <p:cBhvr>
                                        <p:cTn id="24" dur="500"/>
                                        <p:tgtEl>
                                          <p:spTgt spid="37"/>
                                        </p:tgtEl>
                                      </p:cBhvr>
                                    </p:animEffec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wipe(down)">
                                      <p:cBhvr>
                                        <p:cTn id="28"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7" grpId="0"/>
      <p:bldP spid="3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4775"/>
            </a:xfrm>
            <a:prstGeom prst="rect">
              <a:avLst/>
            </a:prstGeom>
            <a:noFill/>
          </p:spPr>
          <p:txBody>
            <a:bodyPr wrap="square" rtlCol="0">
              <a:spAutoFit/>
            </a:bodyPr>
            <a:lstStyle/>
            <a:p>
              <a:r>
                <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rPr>
                <a:t>问题分析总结</a:t>
              </a:r>
              <a:endPar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pSp>
        <p:nvGrpSpPr>
          <p:cNvPr id="14" name="组合 13"/>
          <p:cNvGrpSpPr/>
          <p:nvPr/>
        </p:nvGrpSpPr>
        <p:grpSpPr>
          <a:xfrm>
            <a:off x="687107" y="2147867"/>
            <a:ext cx="6752952" cy="3173433"/>
            <a:chOff x="687106" y="2147867"/>
            <a:chExt cx="6964021" cy="3272621"/>
          </a:xfrm>
        </p:grpSpPr>
        <p:sp>
          <p:nvSpPr>
            <p:cNvPr id="18" name="îŝľiḑé"/>
            <p:cNvSpPr/>
            <p:nvPr/>
          </p:nvSpPr>
          <p:spPr bwMode="auto">
            <a:xfrm>
              <a:off x="687106" y="3520105"/>
              <a:ext cx="1744662" cy="728662"/>
            </a:xfrm>
            <a:prstGeom prst="homePlate">
              <a:avLst>
                <a:gd name="adj" fmla="val 43468"/>
              </a:avLst>
            </a:prstGeom>
            <a:solidFill>
              <a:srgbClr val="13245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sz="2000" dirty="0">
                  <a:solidFill>
                    <a:schemeClr val="bg1"/>
                  </a:solidFill>
                  <a:cs typeface="+mn-ea"/>
                  <a:sym typeface="+mn-lt"/>
                </a:rPr>
                <a:t>输入文本</a:t>
              </a:r>
              <a:endParaRPr lang="zh-CN" altLang="en-US" sz="2000" dirty="0">
                <a:solidFill>
                  <a:schemeClr val="bg1"/>
                </a:solidFill>
                <a:cs typeface="+mn-ea"/>
                <a:sym typeface="+mn-lt"/>
              </a:endParaRPr>
            </a:p>
          </p:txBody>
        </p:sp>
        <p:sp>
          <p:nvSpPr>
            <p:cNvPr id="19" name="îṣľíḓê"/>
            <p:cNvSpPr/>
            <p:nvPr/>
          </p:nvSpPr>
          <p:spPr bwMode="auto">
            <a:xfrm>
              <a:off x="4265331" y="2336177"/>
              <a:ext cx="1549400" cy="490537"/>
            </a:xfrm>
            <a:prstGeom prst="homePlate">
              <a:avLst/>
            </a:prstGeom>
            <a:solidFill>
              <a:srgbClr val="62EFFE"/>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关键词</a:t>
              </a:r>
              <a:endPar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2" name="iş1îďe"/>
            <p:cNvSpPr/>
            <p:nvPr/>
          </p:nvSpPr>
          <p:spPr bwMode="auto">
            <a:xfrm>
              <a:off x="6992314" y="2147867"/>
              <a:ext cx="658813" cy="658813"/>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23" name="ïŝľidê"/>
            <p:cNvSpPr/>
            <p:nvPr/>
          </p:nvSpPr>
          <p:spPr bwMode="auto">
            <a:xfrm>
              <a:off x="7179316" y="2346873"/>
              <a:ext cx="284810" cy="260802"/>
            </a:xfrm>
            <a:custGeom>
              <a:avLst/>
              <a:gdLst>
                <a:gd name="connsiteX0" fmla="*/ 192176 w 607614"/>
                <a:gd name="connsiteY0" fmla="*/ 71398 h 556807"/>
                <a:gd name="connsiteX1" fmla="*/ 239270 w 607614"/>
                <a:gd name="connsiteY1" fmla="*/ 78224 h 556807"/>
                <a:gd name="connsiteX2" fmla="*/ 237751 w 607614"/>
                <a:gd name="connsiteY2" fmla="*/ 102495 h 556807"/>
                <a:gd name="connsiteX3" fmla="*/ 237751 w 607614"/>
                <a:gd name="connsiteY3" fmla="*/ 150277 h 556807"/>
                <a:gd name="connsiteX4" fmla="*/ 227877 w 607614"/>
                <a:gd name="connsiteY4" fmla="*/ 182132 h 556807"/>
                <a:gd name="connsiteX5" fmla="*/ 227877 w 607614"/>
                <a:gd name="connsiteY5" fmla="*/ 223088 h 556807"/>
                <a:gd name="connsiteX6" fmla="*/ 244588 w 607614"/>
                <a:gd name="connsiteY6" fmla="*/ 262528 h 556807"/>
                <a:gd name="connsiteX7" fmla="*/ 278769 w 607614"/>
                <a:gd name="connsiteY7" fmla="*/ 332305 h 556807"/>
                <a:gd name="connsiteX8" fmla="*/ 278769 w 607614"/>
                <a:gd name="connsiteY8" fmla="*/ 361127 h 556807"/>
                <a:gd name="connsiteX9" fmla="*/ 272692 w 607614"/>
                <a:gd name="connsiteY9" fmla="*/ 370986 h 556807"/>
                <a:gd name="connsiteX10" fmla="*/ 182301 w 607614"/>
                <a:gd name="connsiteY10" fmla="*/ 420286 h 556807"/>
                <a:gd name="connsiteX11" fmla="*/ 126851 w 607614"/>
                <a:gd name="connsiteY11" fmla="*/ 513575 h 556807"/>
                <a:gd name="connsiteX12" fmla="*/ 126851 w 607614"/>
                <a:gd name="connsiteY12" fmla="*/ 556807 h 556807"/>
                <a:gd name="connsiteX13" fmla="*/ 0 w 607614"/>
                <a:gd name="connsiteY13" fmla="*/ 556807 h 556807"/>
                <a:gd name="connsiteX14" fmla="*/ 0 w 607614"/>
                <a:gd name="connsiteY14" fmla="*/ 518126 h 556807"/>
                <a:gd name="connsiteX15" fmla="*/ 41777 w 607614"/>
                <a:gd name="connsiteY15" fmla="*/ 447590 h 556807"/>
                <a:gd name="connsiteX16" fmla="*/ 109381 w 607614"/>
                <a:gd name="connsiteY16" fmla="*/ 405875 h 556807"/>
                <a:gd name="connsiteX17" fmla="*/ 120775 w 607614"/>
                <a:gd name="connsiteY17" fmla="*/ 386155 h 556807"/>
                <a:gd name="connsiteX18" fmla="*/ 120775 w 607614"/>
                <a:gd name="connsiteY18" fmla="*/ 358851 h 556807"/>
                <a:gd name="connsiteX19" fmla="*/ 84314 w 607614"/>
                <a:gd name="connsiteY19" fmla="*/ 295141 h 556807"/>
                <a:gd name="connsiteX20" fmla="*/ 70642 w 607614"/>
                <a:gd name="connsiteY20" fmla="*/ 267079 h 556807"/>
                <a:gd name="connsiteX21" fmla="*/ 70642 w 607614"/>
                <a:gd name="connsiteY21" fmla="*/ 232190 h 556807"/>
                <a:gd name="connsiteX22" fmla="*/ 81276 w 607614"/>
                <a:gd name="connsiteY22" fmla="*/ 208678 h 556807"/>
                <a:gd name="connsiteX23" fmla="*/ 81276 w 607614"/>
                <a:gd name="connsiteY23" fmla="*/ 162412 h 556807"/>
                <a:gd name="connsiteX24" fmla="*/ 192176 w 607614"/>
                <a:gd name="connsiteY24" fmla="*/ 71398 h 556807"/>
                <a:gd name="connsiteX25" fmla="*/ 374460 w 607614"/>
                <a:gd name="connsiteY25" fmla="*/ 0 h 556807"/>
                <a:gd name="connsiteX26" fmla="*/ 474708 w 607614"/>
                <a:gd name="connsiteY26" fmla="*/ 35654 h 556807"/>
                <a:gd name="connsiteX27" fmla="*/ 495973 w 607614"/>
                <a:gd name="connsiteY27" fmla="*/ 101651 h 556807"/>
                <a:gd name="connsiteX28" fmla="*/ 495973 w 607614"/>
                <a:gd name="connsiteY28" fmla="*/ 155511 h 556807"/>
                <a:gd name="connsiteX29" fmla="*/ 506606 w 607614"/>
                <a:gd name="connsiteY29" fmla="*/ 182062 h 556807"/>
                <a:gd name="connsiteX30" fmla="*/ 506606 w 607614"/>
                <a:gd name="connsiteY30" fmla="*/ 223026 h 556807"/>
                <a:gd name="connsiteX31" fmla="*/ 483063 w 607614"/>
                <a:gd name="connsiteY31" fmla="*/ 259439 h 556807"/>
                <a:gd name="connsiteX32" fmla="*/ 452684 w 607614"/>
                <a:gd name="connsiteY32" fmla="*/ 317850 h 556807"/>
                <a:gd name="connsiteX33" fmla="*/ 445849 w 607614"/>
                <a:gd name="connsiteY33" fmla="*/ 327712 h 556807"/>
                <a:gd name="connsiteX34" fmla="*/ 445849 w 607614"/>
                <a:gd name="connsiteY34" fmla="*/ 361849 h 556807"/>
                <a:gd name="connsiteX35" fmla="*/ 460279 w 607614"/>
                <a:gd name="connsiteY35" fmla="*/ 386124 h 556807"/>
                <a:gd name="connsiteX36" fmla="*/ 557490 w 607614"/>
                <a:gd name="connsiteY36" fmla="*/ 433915 h 556807"/>
                <a:gd name="connsiteX37" fmla="*/ 607614 w 607614"/>
                <a:gd name="connsiteY37" fmla="*/ 515843 h 556807"/>
                <a:gd name="connsiteX38" fmla="*/ 607614 w 607614"/>
                <a:gd name="connsiteY38" fmla="*/ 556807 h 556807"/>
                <a:gd name="connsiteX39" fmla="*/ 142065 w 607614"/>
                <a:gd name="connsiteY39" fmla="*/ 556807 h 556807"/>
                <a:gd name="connsiteX40" fmla="*/ 142065 w 607614"/>
                <a:gd name="connsiteY40" fmla="*/ 513567 h 556807"/>
                <a:gd name="connsiteX41" fmla="*/ 189152 w 607614"/>
                <a:gd name="connsiteY41" fmla="*/ 433915 h 556807"/>
                <a:gd name="connsiteX42" fmla="*/ 279527 w 607614"/>
                <a:gd name="connsiteY42" fmla="*/ 384606 h 556807"/>
                <a:gd name="connsiteX43" fmla="*/ 293957 w 607614"/>
                <a:gd name="connsiteY43" fmla="*/ 361090 h 556807"/>
                <a:gd name="connsiteX44" fmla="*/ 293957 w 607614"/>
                <a:gd name="connsiteY44" fmla="*/ 327712 h 556807"/>
                <a:gd name="connsiteX45" fmla="*/ 258262 w 607614"/>
                <a:gd name="connsiteY45" fmla="*/ 254129 h 556807"/>
                <a:gd name="connsiteX46" fmla="*/ 243073 w 607614"/>
                <a:gd name="connsiteY46" fmla="*/ 223026 h 556807"/>
                <a:gd name="connsiteX47" fmla="*/ 243073 w 607614"/>
                <a:gd name="connsiteY47" fmla="*/ 182062 h 556807"/>
                <a:gd name="connsiteX48" fmla="*/ 252946 w 607614"/>
                <a:gd name="connsiteY48" fmla="*/ 155511 h 556807"/>
                <a:gd name="connsiteX49" fmla="*/ 252946 w 607614"/>
                <a:gd name="connsiteY49" fmla="*/ 101651 h 556807"/>
                <a:gd name="connsiteX50" fmla="*/ 274211 w 607614"/>
                <a:gd name="connsiteY50" fmla="*/ 35654 h 556807"/>
                <a:gd name="connsiteX51" fmla="*/ 374460 w 607614"/>
                <a:gd name="connsiteY51" fmla="*/ 0 h 556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14" h="556807">
                  <a:moveTo>
                    <a:pt x="192176" y="71398"/>
                  </a:moveTo>
                  <a:cubicBezTo>
                    <a:pt x="209646" y="71398"/>
                    <a:pt x="224838" y="73673"/>
                    <a:pt x="239270" y="78224"/>
                  </a:cubicBezTo>
                  <a:cubicBezTo>
                    <a:pt x="236992" y="89601"/>
                    <a:pt x="237751" y="98702"/>
                    <a:pt x="237751" y="102495"/>
                  </a:cubicBezTo>
                  <a:lnTo>
                    <a:pt x="237751" y="150277"/>
                  </a:lnTo>
                  <a:cubicBezTo>
                    <a:pt x="231675" y="160137"/>
                    <a:pt x="227877" y="170755"/>
                    <a:pt x="227877" y="182132"/>
                  </a:cubicBezTo>
                  <a:lnTo>
                    <a:pt x="227877" y="223088"/>
                  </a:lnTo>
                  <a:cubicBezTo>
                    <a:pt x="227877" y="238257"/>
                    <a:pt x="233953" y="251909"/>
                    <a:pt x="244588" y="262528"/>
                  </a:cubicBezTo>
                  <a:cubicBezTo>
                    <a:pt x="253703" y="295141"/>
                    <a:pt x="269654" y="320170"/>
                    <a:pt x="278769" y="332305"/>
                  </a:cubicBezTo>
                  <a:lnTo>
                    <a:pt x="278769" y="361127"/>
                  </a:lnTo>
                  <a:cubicBezTo>
                    <a:pt x="278769" y="364919"/>
                    <a:pt x="276490" y="368711"/>
                    <a:pt x="272692" y="370986"/>
                  </a:cubicBezTo>
                  <a:lnTo>
                    <a:pt x="182301" y="420286"/>
                  </a:lnTo>
                  <a:cubicBezTo>
                    <a:pt x="148120" y="439247"/>
                    <a:pt x="126851" y="474894"/>
                    <a:pt x="126851" y="513575"/>
                  </a:cubicBezTo>
                  <a:lnTo>
                    <a:pt x="126851" y="556807"/>
                  </a:lnTo>
                  <a:lnTo>
                    <a:pt x="0" y="556807"/>
                  </a:lnTo>
                  <a:lnTo>
                    <a:pt x="0" y="518126"/>
                  </a:lnTo>
                  <a:cubicBezTo>
                    <a:pt x="0" y="488546"/>
                    <a:pt x="15951" y="462001"/>
                    <a:pt x="41777" y="447590"/>
                  </a:cubicBezTo>
                  <a:lnTo>
                    <a:pt x="109381" y="405875"/>
                  </a:lnTo>
                  <a:cubicBezTo>
                    <a:pt x="116977" y="401324"/>
                    <a:pt x="120775" y="394498"/>
                    <a:pt x="120775" y="386155"/>
                  </a:cubicBezTo>
                  <a:lnTo>
                    <a:pt x="120775" y="358851"/>
                  </a:lnTo>
                  <a:cubicBezTo>
                    <a:pt x="113179" y="350508"/>
                    <a:pt x="92670" y="326238"/>
                    <a:pt x="84314" y="295141"/>
                  </a:cubicBezTo>
                  <a:cubicBezTo>
                    <a:pt x="75959" y="288315"/>
                    <a:pt x="70642" y="277697"/>
                    <a:pt x="70642" y="267079"/>
                  </a:cubicBezTo>
                  <a:lnTo>
                    <a:pt x="70642" y="232190"/>
                  </a:lnTo>
                  <a:cubicBezTo>
                    <a:pt x="70642" y="223847"/>
                    <a:pt x="74440" y="215504"/>
                    <a:pt x="81276" y="208678"/>
                  </a:cubicBezTo>
                  <a:lnTo>
                    <a:pt x="81276" y="162412"/>
                  </a:lnTo>
                  <a:cubicBezTo>
                    <a:pt x="81276" y="160895"/>
                    <a:pt x="87353" y="71398"/>
                    <a:pt x="192176" y="71398"/>
                  </a:cubicBezTo>
                  <a:close/>
                  <a:moveTo>
                    <a:pt x="374460" y="0"/>
                  </a:moveTo>
                  <a:cubicBezTo>
                    <a:pt x="420787" y="0"/>
                    <a:pt x="454203" y="12137"/>
                    <a:pt x="474708" y="35654"/>
                  </a:cubicBezTo>
                  <a:cubicBezTo>
                    <a:pt x="499011" y="62963"/>
                    <a:pt x="496733" y="96341"/>
                    <a:pt x="495973" y="101651"/>
                  </a:cubicBezTo>
                  <a:lnTo>
                    <a:pt x="495973" y="155511"/>
                  </a:lnTo>
                  <a:cubicBezTo>
                    <a:pt x="502808" y="163097"/>
                    <a:pt x="506606" y="172201"/>
                    <a:pt x="506606" y="182062"/>
                  </a:cubicBezTo>
                  <a:lnTo>
                    <a:pt x="506606" y="223026"/>
                  </a:lnTo>
                  <a:cubicBezTo>
                    <a:pt x="506606" y="238957"/>
                    <a:pt x="496733" y="252611"/>
                    <a:pt x="483063" y="259439"/>
                  </a:cubicBezTo>
                  <a:cubicBezTo>
                    <a:pt x="475468" y="280679"/>
                    <a:pt x="465595" y="300403"/>
                    <a:pt x="452684" y="317850"/>
                  </a:cubicBezTo>
                  <a:cubicBezTo>
                    <a:pt x="450406" y="321643"/>
                    <a:pt x="448127" y="324678"/>
                    <a:pt x="445849" y="327712"/>
                  </a:cubicBezTo>
                  <a:lnTo>
                    <a:pt x="445849" y="361849"/>
                  </a:lnTo>
                  <a:cubicBezTo>
                    <a:pt x="445849" y="371710"/>
                    <a:pt x="451165" y="380813"/>
                    <a:pt x="460279" y="386124"/>
                  </a:cubicBezTo>
                  <a:lnTo>
                    <a:pt x="557490" y="433915"/>
                  </a:lnTo>
                  <a:cubicBezTo>
                    <a:pt x="588628" y="449845"/>
                    <a:pt x="607614" y="480948"/>
                    <a:pt x="607614" y="515843"/>
                  </a:cubicBezTo>
                  <a:lnTo>
                    <a:pt x="607614" y="556807"/>
                  </a:lnTo>
                  <a:lnTo>
                    <a:pt x="142065" y="556807"/>
                  </a:lnTo>
                  <a:lnTo>
                    <a:pt x="142065" y="513567"/>
                  </a:lnTo>
                  <a:cubicBezTo>
                    <a:pt x="142065" y="480189"/>
                    <a:pt x="160292" y="449845"/>
                    <a:pt x="189152" y="433915"/>
                  </a:cubicBezTo>
                  <a:lnTo>
                    <a:pt x="279527" y="384606"/>
                  </a:lnTo>
                  <a:cubicBezTo>
                    <a:pt x="288641" y="379296"/>
                    <a:pt x="293957" y="370952"/>
                    <a:pt x="293957" y="361090"/>
                  </a:cubicBezTo>
                  <a:lnTo>
                    <a:pt x="293957" y="327712"/>
                  </a:lnTo>
                  <a:cubicBezTo>
                    <a:pt x="287122" y="318609"/>
                    <a:pt x="267376" y="290541"/>
                    <a:pt x="258262" y="254129"/>
                  </a:cubicBezTo>
                  <a:cubicBezTo>
                    <a:pt x="248389" y="246543"/>
                    <a:pt x="243073" y="235164"/>
                    <a:pt x="243073" y="223026"/>
                  </a:cubicBezTo>
                  <a:lnTo>
                    <a:pt x="243073" y="182062"/>
                  </a:lnTo>
                  <a:cubicBezTo>
                    <a:pt x="243073" y="172201"/>
                    <a:pt x="246870" y="163097"/>
                    <a:pt x="252946" y="155511"/>
                  </a:cubicBezTo>
                  <a:lnTo>
                    <a:pt x="252946" y="101651"/>
                  </a:lnTo>
                  <a:cubicBezTo>
                    <a:pt x="252946" y="96341"/>
                    <a:pt x="250668" y="62963"/>
                    <a:pt x="274211" y="35654"/>
                  </a:cubicBezTo>
                  <a:cubicBezTo>
                    <a:pt x="295476" y="12137"/>
                    <a:pt x="328892" y="0"/>
                    <a:pt x="374460" y="0"/>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grpSp>
          <p:nvGrpSpPr>
            <p:cNvPr id="24" name="组合 23"/>
            <p:cNvGrpSpPr/>
            <p:nvPr/>
          </p:nvGrpSpPr>
          <p:grpSpPr>
            <a:xfrm>
              <a:off x="5814731" y="2580652"/>
              <a:ext cx="1027112" cy="2317569"/>
              <a:chOff x="5725831" y="2529852"/>
              <a:chExt cx="1027112" cy="2317569"/>
            </a:xfrm>
          </p:grpSpPr>
          <p:cxnSp>
            <p:nvCxnSpPr>
              <p:cNvPr id="26" name="直接箭头连接符 25"/>
              <p:cNvCxnSpPr>
                <a:stCxn id="19" idx="3"/>
              </p:cNvCxnSpPr>
              <p:nvPr/>
            </p:nvCxnSpPr>
            <p:spPr bwMode="auto">
              <a:xfrm>
                <a:off x="5725831" y="2529852"/>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bwMode="auto">
              <a:xfrm>
                <a:off x="5725831" y="3140859"/>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bwMode="auto">
              <a:xfrm>
                <a:off x="5725831" y="3993346"/>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bwMode="auto">
              <a:xfrm>
                <a:off x="5725831" y="4847421"/>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34" name="肘形连接符 50"/>
            <p:cNvCxnSpPr>
              <a:stCxn id="18" idx="3"/>
            </p:cNvCxnSpPr>
            <p:nvPr/>
          </p:nvCxnSpPr>
          <p:spPr bwMode="auto">
            <a:xfrm flipV="1">
              <a:off x="2431768" y="2615377"/>
              <a:ext cx="1833563" cy="1269059"/>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5" name="肘形连接符 52"/>
            <p:cNvCxnSpPr>
              <a:stCxn id="18" idx="3"/>
            </p:cNvCxnSpPr>
            <p:nvPr/>
          </p:nvCxnSpPr>
          <p:spPr bwMode="auto">
            <a:xfrm flipV="1">
              <a:off x="2431768" y="3469451"/>
              <a:ext cx="1833563" cy="414985"/>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6" name="肘形连接符 54"/>
            <p:cNvCxnSpPr>
              <a:stCxn id="18" idx="3"/>
            </p:cNvCxnSpPr>
            <p:nvPr/>
          </p:nvCxnSpPr>
          <p:spPr bwMode="auto">
            <a:xfrm>
              <a:off x="2431768" y="3884436"/>
              <a:ext cx="1833563" cy="437502"/>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7" name="肘形连接符 55"/>
            <p:cNvCxnSpPr>
              <a:stCxn id="18" idx="3"/>
            </p:cNvCxnSpPr>
            <p:nvPr/>
          </p:nvCxnSpPr>
          <p:spPr bwMode="auto">
            <a:xfrm>
              <a:off x="2431768" y="3884436"/>
              <a:ext cx="1833563" cy="1291577"/>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3306054" y="2564087"/>
              <a:ext cx="80228" cy="2640699"/>
              <a:chOff x="3217154" y="2513287"/>
              <a:chExt cx="80228" cy="2640699"/>
            </a:xfrm>
            <a:solidFill>
              <a:srgbClr val="13245C"/>
            </a:solidFill>
          </p:grpSpPr>
          <p:sp>
            <p:nvSpPr>
              <p:cNvPr id="39" name="íş1ídè"/>
              <p:cNvSpPr/>
              <p:nvPr/>
            </p:nvSpPr>
            <p:spPr bwMode="auto">
              <a:xfrm>
                <a:off x="3217154" y="2513287"/>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0" name="íṥļíde"/>
              <p:cNvSpPr/>
              <p:nvPr/>
            </p:nvSpPr>
            <p:spPr bwMode="auto">
              <a:xfrm>
                <a:off x="3217154" y="3361012"/>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1" name="ïSḷîḋê"/>
              <p:cNvSpPr/>
              <p:nvPr/>
            </p:nvSpPr>
            <p:spPr bwMode="auto">
              <a:xfrm>
                <a:off x="3217154" y="4216675"/>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2" name="î$ļíḑè"/>
              <p:cNvSpPr/>
              <p:nvPr/>
            </p:nvSpPr>
            <p:spPr bwMode="auto">
              <a:xfrm>
                <a:off x="3217154" y="5072504"/>
                <a:ext cx="80228" cy="81482"/>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grpSp>
        <p:sp>
          <p:nvSpPr>
            <p:cNvPr id="43" name="îṣľíḓê"/>
            <p:cNvSpPr/>
            <p:nvPr/>
          </p:nvSpPr>
          <p:spPr bwMode="auto">
            <a:xfrm>
              <a:off x="4265331" y="3200768"/>
              <a:ext cx="1549400" cy="490538"/>
            </a:xfrm>
            <a:prstGeom prst="homePlate">
              <a:avLst/>
            </a:pr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关键词</a:t>
              </a:r>
              <a:endPar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45" name="iş1îďe"/>
            <p:cNvSpPr/>
            <p:nvPr/>
          </p:nvSpPr>
          <p:spPr bwMode="auto">
            <a:xfrm>
              <a:off x="6992314" y="3000355"/>
              <a:ext cx="658813" cy="658812"/>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46" name="ïŝľidê"/>
            <p:cNvSpPr/>
            <p:nvPr/>
          </p:nvSpPr>
          <p:spPr bwMode="auto">
            <a:xfrm>
              <a:off x="7179317" y="3189539"/>
              <a:ext cx="284808" cy="280444"/>
            </a:xfrm>
            <a:custGeom>
              <a:avLst/>
              <a:gdLst>
                <a:gd name="connsiteX0" fmla="*/ 210237 w 587192"/>
                <a:gd name="connsiteY0" fmla="*/ 487697 h 579060"/>
                <a:gd name="connsiteX1" fmla="*/ 199202 w 587192"/>
                <a:gd name="connsiteY1" fmla="*/ 498628 h 579060"/>
                <a:gd name="connsiteX2" fmla="*/ 199202 w 587192"/>
                <a:gd name="connsiteY2" fmla="*/ 521647 h 579060"/>
                <a:gd name="connsiteX3" fmla="*/ 210237 w 587192"/>
                <a:gd name="connsiteY3" fmla="*/ 532667 h 579060"/>
                <a:gd name="connsiteX4" fmla="*/ 295575 w 587192"/>
                <a:gd name="connsiteY4" fmla="*/ 532667 h 579060"/>
                <a:gd name="connsiteX5" fmla="*/ 306521 w 587192"/>
                <a:gd name="connsiteY5" fmla="*/ 521647 h 579060"/>
                <a:gd name="connsiteX6" fmla="*/ 306521 w 587192"/>
                <a:gd name="connsiteY6" fmla="*/ 498628 h 579060"/>
                <a:gd name="connsiteX7" fmla="*/ 295575 w 587192"/>
                <a:gd name="connsiteY7" fmla="*/ 487697 h 579060"/>
                <a:gd name="connsiteX8" fmla="*/ 210237 w 587192"/>
                <a:gd name="connsiteY8" fmla="*/ 390112 h 579060"/>
                <a:gd name="connsiteX9" fmla="*/ 199202 w 587192"/>
                <a:gd name="connsiteY9" fmla="*/ 401133 h 579060"/>
                <a:gd name="connsiteX10" fmla="*/ 199202 w 587192"/>
                <a:gd name="connsiteY10" fmla="*/ 424062 h 579060"/>
                <a:gd name="connsiteX11" fmla="*/ 210237 w 587192"/>
                <a:gd name="connsiteY11" fmla="*/ 435083 h 579060"/>
                <a:gd name="connsiteX12" fmla="*/ 295575 w 587192"/>
                <a:gd name="connsiteY12" fmla="*/ 435083 h 579060"/>
                <a:gd name="connsiteX13" fmla="*/ 306521 w 587192"/>
                <a:gd name="connsiteY13" fmla="*/ 424062 h 579060"/>
                <a:gd name="connsiteX14" fmla="*/ 306521 w 587192"/>
                <a:gd name="connsiteY14" fmla="*/ 401133 h 579060"/>
                <a:gd name="connsiteX15" fmla="*/ 295575 w 587192"/>
                <a:gd name="connsiteY15" fmla="*/ 390112 h 579060"/>
                <a:gd name="connsiteX16" fmla="*/ 210237 w 587192"/>
                <a:gd name="connsiteY16" fmla="*/ 292527 h 579060"/>
                <a:gd name="connsiteX17" fmla="*/ 199202 w 587192"/>
                <a:gd name="connsiteY17" fmla="*/ 303459 h 579060"/>
                <a:gd name="connsiteX18" fmla="*/ 199202 w 587192"/>
                <a:gd name="connsiteY18" fmla="*/ 326478 h 579060"/>
                <a:gd name="connsiteX19" fmla="*/ 210237 w 587192"/>
                <a:gd name="connsiteY19" fmla="*/ 337498 h 579060"/>
                <a:gd name="connsiteX20" fmla="*/ 295575 w 587192"/>
                <a:gd name="connsiteY20" fmla="*/ 337498 h 579060"/>
                <a:gd name="connsiteX21" fmla="*/ 306521 w 587192"/>
                <a:gd name="connsiteY21" fmla="*/ 326478 h 579060"/>
                <a:gd name="connsiteX22" fmla="*/ 306521 w 587192"/>
                <a:gd name="connsiteY22" fmla="*/ 303459 h 579060"/>
                <a:gd name="connsiteX23" fmla="*/ 295575 w 587192"/>
                <a:gd name="connsiteY23" fmla="*/ 292527 h 579060"/>
                <a:gd name="connsiteX24" fmla="*/ 412250 w 587192"/>
                <a:gd name="connsiteY24" fmla="*/ 268713 h 579060"/>
                <a:gd name="connsiteX25" fmla="*/ 485772 w 587192"/>
                <a:gd name="connsiteY25" fmla="*/ 342022 h 579060"/>
                <a:gd name="connsiteX26" fmla="*/ 412250 w 587192"/>
                <a:gd name="connsiteY26" fmla="*/ 415419 h 579060"/>
                <a:gd name="connsiteX27" fmla="*/ 401658 w 587192"/>
                <a:gd name="connsiteY27" fmla="*/ 414353 h 579060"/>
                <a:gd name="connsiteX28" fmla="*/ 401658 w 587192"/>
                <a:gd name="connsiteY28" fmla="*/ 395692 h 579060"/>
                <a:gd name="connsiteX29" fmla="*/ 401658 w 587192"/>
                <a:gd name="connsiteY29" fmla="*/ 288440 h 579060"/>
                <a:gd name="connsiteX30" fmla="*/ 401658 w 587192"/>
                <a:gd name="connsiteY30" fmla="*/ 269691 h 579060"/>
                <a:gd name="connsiteX31" fmla="*/ 412250 w 587192"/>
                <a:gd name="connsiteY31" fmla="*/ 268713 h 579060"/>
                <a:gd name="connsiteX32" fmla="*/ 170993 w 587192"/>
                <a:gd name="connsiteY32" fmla="*/ 231737 h 579060"/>
                <a:gd name="connsiteX33" fmla="*/ 334819 w 587192"/>
                <a:gd name="connsiteY33" fmla="*/ 231737 h 579060"/>
                <a:gd name="connsiteX34" fmla="*/ 362494 w 587192"/>
                <a:gd name="connsiteY34" fmla="*/ 259377 h 579060"/>
                <a:gd name="connsiteX35" fmla="*/ 362494 w 587192"/>
                <a:gd name="connsiteY35" fmla="*/ 579060 h 579060"/>
                <a:gd name="connsiteX36" fmla="*/ 143318 w 587192"/>
                <a:gd name="connsiteY36" fmla="*/ 579060 h 579060"/>
                <a:gd name="connsiteX37" fmla="*/ 143318 w 587192"/>
                <a:gd name="connsiteY37" fmla="*/ 259377 h 579060"/>
                <a:gd name="connsiteX38" fmla="*/ 170993 w 587192"/>
                <a:gd name="connsiteY38" fmla="*/ 231737 h 579060"/>
                <a:gd name="connsiteX39" fmla="*/ 385391 w 587192"/>
                <a:gd name="connsiteY39" fmla="*/ 159196 h 579060"/>
                <a:gd name="connsiteX40" fmla="*/ 439244 w 587192"/>
                <a:gd name="connsiteY40" fmla="*/ 159196 h 579060"/>
                <a:gd name="connsiteX41" fmla="*/ 460518 w 587192"/>
                <a:gd name="connsiteY41" fmla="*/ 180435 h 579060"/>
                <a:gd name="connsiteX42" fmla="*/ 460518 w 587192"/>
                <a:gd name="connsiteY42" fmla="*/ 206918 h 579060"/>
                <a:gd name="connsiteX43" fmla="*/ 505469 w 587192"/>
                <a:gd name="connsiteY43" fmla="*/ 232778 h 579060"/>
                <a:gd name="connsiteX44" fmla="*/ 528345 w 587192"/>
                <a:gd name="connsiteY44" fmla="*/ 219626 h 579060"/>
                <a:gd name="connsiteX45" fmla="*/ 557363 w 587192"/>
                <a:gd name="connsiteY45" fmla="*/ 227357 h 579060"/>
                <a:gd name="connsiteX46" fmla="*/ 584334 w 587192"/>
                <a:gd name="connsiteY46" fmla="*/ 273924 h 579060"/>
                <a:gd name="connsiteX47" fmla="*/ 576590 w 587192"/>
                <a:gd name="connsiteY47" fmla="*/ 302894 h 579060"/>
                <a:gd name="connsiteX48" fmla="*/ 553625 w 587192"/>
                <a:gd name="connsiteY48" fmla="*/ 316136 h 579060"/>
                <a:gd name="connsiteX49" fmla="*/ 556028 w 587192"/>
                <a:gd name="connsiteY49" fmla="*/ 341996 h 579060"/>
                <a:gd name="connsiteX50" fmla="*/ 553625 w 587192"/>
                <a:gd name="connsiteY50" fmla="*/ 367945 h 579060"/>
                <a:gd name="connsiteX51" fmla="*/ 576590 w 587192"/>
                <a:gd name="connsiteY51" fmla="*/ 381187 h 579060"/>
                <a:gd name="connsiteX52" fmla="*/ 584334 w 587192"/>
                <a:gd name="connsiteY52" fmla="*/ 410157 h 579060"/>
                <a:gd name="connsiteX53" fmla="*/ 557363 w 587192"/>
                <a:gd name="connsiteY53" fmla="*/ 456724 h 579060"/>
                <a:gd name="connsiteX54" fmla="*/ 544546 w 587192"/>
                <a:gd name="connsiteY54" fmla="*/ 466588 h 579060"/>
                <a:gd name="connsiteX55" fmla="*/ 528345 w 587192"/>
                <a:gd name="connsiteY55" fmla="*/ 464455 h 579060"/>
                <a:gd name="connsiteX56" fmla="*/ 505469 w 587192"/>
                <a:gd name="connsiteY56" fmla="*/ 451214 h 579060"/>
                <a:gd name="connsiteX57" fmla="*/ 460518 w 587192"/>
                <a:gd name="connsiteY57" fmla="*/ 477074 h 579060"/>
                <a:gd name="connsiteX58" fmla="*/ 460518 w 587192"/>
                <a:gd name="connsiteY58" fmla="*/ 503557 h 579060"/>
                <a:gd name="connsiteX59" fmla="*/ 439244 w 587192"/>
                <a:gd name="connsiteY59" fmla="*/ 524796 h 579060"/>
                <a:gd name="connsiteX60" fmla="*/ 401680 w 587192"/>
                <a:gd name="connsiteY60" fmla="*/ 524796 h 579060"/>
                <a:gd name="connsiteX61" fmla="*/ 401680 w 587192"/>
                <a:gd name="connsiteY61" fmla="*/ 476363 h 579060"/>
                <a:gd name="connsiteX62" fmla="*/ 401680 w 587192"/>
                <a:gd name="connsiteY62" fmla="*/ 434151 h 579060"/>
                <a:gd name="connsiteX63" fmla="*/ 412273 w 587192"/>
                <a:gd name="connsiteY63" fmla="*/ 434951 h 579060"/>
                <a:gd name="connsiteX64" fmla="*/ 505380 w 587192"/>
                <a:gd name="connsiteY64" fmla="*/ 341996 h 579060"/>
                <a:gd name="connsiteX65" fmla="*/ 412273 w 587192"/>
                <a:gd name="connsiteY65" fmla="*/ 249130 h 579060"/>
                <a:gd name="connsiteX66" fmla="*/ 400701 w 587192"/>
                <a:gd name="connsiteY66" fmla="*/ 249930 h 579060"/>
                <a:gd name="connsiteX67" fmla="*/ 364117 w 587192"/>
                <a:gd name="connsiteY67" fmla="*/ 199719 h 579060"/>
                <a:gd name="connsiteX68" fmla="*/ 364117 w 587192"/>
                <a:gd name="connsiteY68" fmla="*/ 180435 h 579060"/>
                <a:gd name="connsiteX69" fmla="*/ 385391 w 587192"/>
                <a:gd name="connsiteY69" fmla="*/ 159196 h 579060"/>
                <a:gd name="connsiteX70" fmla="*/ 189325 w 587192"/>
                <a:gd name="connsiteY70" fmla="*/ 75016 h 579060"/>
                <a:gd name="connsiteX71" fmla="*/ 178288 w 587192"/>
                <a:gd name="connsiteY71" fmla="*/ 86037 h 579060"/>
                <a:gd name="connsiteX72" fmla="*/ 178288 w 587192"/>
                <a:gd name="connsiteY72" fmla="*/ 129677 h 579060"/>
                <a:gd name="connsiteX73" fmla="*/ 189325 w 587192"/>
                <a:gd name="connsiteY73" fmla="*/ 140699 h 579060"/>
                <a:gd name="connsiteX74" fmla="*/ 233029 w 587192"/>
                <a:gd name="connsiteY74" fmla="*/ 140699 h 579060"/>
                <a:gd name="connsiteX75" fmla="*/ 244067 w 587192"/>
                <a:gd name="connsiteY75" fmla="*/ 129677 h 579060"/>
                <a:gd name="connsiteX76" fmla="*/ 244067 w 587192"/>
                <a:gd name="connsiteY76" fmla="*/ 86037 h 579060"/>
                <a:gd name="connsiteX77" fmla="*/ 233029 w 587192"/>
                <a:gd name="connsiteY77" fmla="*/ 75016 h 579060"/>
                <a:gd name="connsiteX78" fmla="*/ 55988 w 587192"/>
                <a:gd name="connsiteY78" fmla="*/ 75016 h 579060"/>
                <a:gd name="connsiteX79" fmla="*/ 44950 w 587192"/>
                <a:gd name="connsiteY79" fmla="*/ 86037 h 579060"/>
                <a:gd name="connsiteX80" fmla="*/ 44950 w 587192"/>
                <a:gd name="connsiteY80" fmla="*/ 129677 h 579060"/>
                <a:gd name="connsiteX81" fmla="*/ 55988 w 587192"/>
                <a:gd name="connsiteY81" fmla="*/ 140699 h 579060"/>
                <a:gd name="connsiteX82" fmla="*/ 99692 w 587192"/>
                <a:gd name="connsiteY82" fmla="*/ 140699 h 579060"/>
                <a:gd name="connsiteX83" fmla="*/ 110729 w 587192"/>
                <a:gd name="connsiteY83" fmla="*/ 129677 h 579060"/>
                <a:gd name="connsiteX84" fmla="*/ 110729 w 587192"/>
                <a:gd name="connsiteY84" fmla="*/ 86037 h 579060"/>
                <a:gd name="connsiteX85" fmla="*/ 99692 w 587192"/>
                <a:gd name="connsiteY85" fmla="*/ 75016 h 579060"/>
                <a:gd name="connsiteX86" fmla="*/ 27682 w 587192"/>
                <a:gd name="connsiteY86" fmla="*/ 0 h 579060"/>
                <a:gd name="connsiteX87" fmla="*/ 261424 w 587192"/>
                <a:gd name="connsiteY87" fmla="*/ 0 h 579060"/>
                <a:gd name="connsiteX88" fmla="*/ 289106 w 587192"/>
                <a:gd name="connsiteY88" fmla="*/ 27642 h 579060"/>
                <a:gd name="connsiteX89" fmla="*/ 289106 w 587192"/>
                <a:gd name="connsiteY89" fmla="*/ 192605 h 579060"/>
                <a:gd name="connsiteX90" fmla="*/ 170989 w 587192"/>
                <a:gd name="connsiteY90" fmla="*/ 192605 h 579060"/>
                <a:gd name="connsiteX91" fmla="*/ 110729 w 587192"/>
                <a:gd name="connsiteY91" fmla="*/ 230913 h 579060"/>
                <a:gd name="connsiteX92" fmla="*/ 110729 w 587192"/>
                <a:gd name="connsiteY92" fmla="*/ 222825 h 579060"/>
                <a:gd name="connsiteX93" fmla="*/ 99692 w 587192"/>
                <a:gd name="connsiteY93" fmla="*/ 211803 h 579060"/>
                <a:gd name="connsiteX94" fmla="*/ 55988 w 587192"/>
                <a:gd name="connsiteY94" fmla="*/ 211803 h 579060"/>
                <a:gd name="connsiteX95" fmla="*/ 44950 w 587192"/>
                <a:gd name="connsiteY95" fmla="*/ 222825 h 579060"/>
                <a:gd name="connsiteX96" fmla="*/ 44950 w 587192"/>
                <a:gd name="connsiteY96" fmla="*/ 266554 h 579060"/>
                <a:gd name="connsiteX97" fmla="*/ 55988 w 587192"/>
                <a:gd name="connsiteY97" fmla="*/ 277487 h 579060"/>
                <a:gd name="connsiteX98" fmla="*/ 99692 w 587192"/>
                <a:gd name="connsiteY98" fmla="*/ 277487 h 579060"/>
                <a:gd name="connsiteX99" fmla="*/ 104142 w 587192"/>
                <a:gd name="connsiteY99" fmla="*/ 276598 h 579060"/>
                <a:gd name="connsiteX100" fmla="*/ 104142 w 587192"/>
                <a:gd name="connsiteY100" fmla="*/ 349569 h 579060"/>
                <a:gd name="connsiteX101" fmla="*/ 99692 w 587192"/>
                <a:gd name="connsiteY101" fmla="*/ 348680 h 579060"/>
                <a:gd name="connsiteX102" fmla="*/ 55988 w 587192"/>
                <a:gd name="connsiteY102" fmla="*/ 348680 h 579060"/>
                <a:gd name="connsiteX103" fmla="*/ 44950 w 587192"/>
                <a:gd name="connsiteY103" fmla="*/ 359613 h 579060"/>
                <a:gd name="connsiteX104" fmla="*/ 44950 w 587192"/>
                <a:gd name="connsiteY104" fmla="*/ 403342 h 579060"/>
                <a:gd name="connsiteX105" fmla="*/ 55988 w 587192"/>
                <a:gd name="connsiteY105" fmla="*/ 414364 h 579060"/>
                <a:gd name="connsiteX106" fmla="*/ 99692 w 587192"/>
                <a:gd name="connsiteY106" fmla="*/ 414364 h 579060"/>
                <a:gd name="connsiteX107" fmla="*/ 104142 w 587192"/>
                <a:gd name="connsiteY107" fmla="*/ 413386 h 579060"/>
                <a:gd name="connsiteX108" fmla="*/ 104142 w 587192"/>
                <a:gd name="connsiteY108" fmla="*/ 579060 h 579060"/>
                <a:gd name="connsiteX109" fmla="*/ 27682 w 587192"/>
                <a:gd name="connsiteY109" fmla="*/ 579060 h 579060"/>
                <a:gd name="connsiteX110" fmla="*/ 0 w 587192"/>
                <a:gd name="connsiteY110" fmla="*/ 551329 h 579060"/>
                <a:gd name="connsiteX111" fmla="*/ 0 w 587192"/>
                <a:gd name="connsiteY111" fmla="*/ 27642 h 579060"/>
                <a:gd name="connsiteX112" fmla="*/ 27682 w 587192"/>
                <a:gd name="connsiteY112" fmla="*/ 0 h 57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587192" h="579060">
                  <a:moveTo>
                    <a:pt x="210237" y="487697"/>
                  </a:moveTo>
                  <a:cubicBezTo>
                    <a:pt x="204096" y="487697"/>
                    <a:pt x="199202" y="492585"/>
                    <a:pt x="199202" y="498628"/>
                  </a:cubicBezTo>
                  <a:lnTo>
                    <a:pt x="199202" y="521647"/>
                  </a:lnTo>
                  <a:cubicBezTo>
                    <a:pt x="199202" y="527690"/>
                    <a:pt x="204096" y="532667"/>
                    <a:pt x="210237" y="532667"/>
                  </a:cubicBezTo>
                  <a:lnTo>
                    <a:pt x="295575" y="532667"/>
                  </a:lnTo>
                  <a:cubicBezTo>
                    <a:pt x="301627" y="532667"/>
                    <a:pt x="306521" y="527690"/>
                    <a:pt x="306521" y="521647"/>
                  </a:cubicBezTo>
                  <a:lnTo>
                    <a:pt x="306521" y="498628"/>
                  </a:lnTo>
                  <a:cubicBezTo>
                    <a:pt x="306521" y="492585"/>
                    <a:pt x="301627" y="487697"/>
                    <a:pt x="295575" y="487697"/>
                  </a:cubicBezTo>
                  <a:close/>
                  <a:moveTo>
                    <a:pt x="210237" y="390112"/>
                  </a:moveTo>
                  <a:cubicBezTo>
                    <a:pt x="204096" y="390112"/>
                    <a:pt x="199202" y="395000"/>
                    <a:pt x="199202" y="401133"/>
                  </a:cubicBezTo>
                  <a:lnTo>
                    <a:pt x="199202" y="424062"/>
                  </a:lnTo>
                  <a:cubicBezTo>
                    <a:pt x="199202" y="430106"/>
                    <a:pt x="204096" y="435083"/>
                    <a:pt x="210237" y="435083"/>
                  </a:cubicBezTo>
                  <a:lnTo>
                    <a:pt x="295575" y="435083"/>
                  </a:lnTo>
                  <a:cubicBezTo>
                    <a:pt x="301627" y="435083"/>
                    <a:pt x="306521" y="430106"/>
                    <a:pt x="306521" y="424062"/>
                  </a:cubicBezTo>
                  <a:lnTo>
                    <a:pt x="306521" y="401133"/>
                  </a:lnTo>
                  <a:cubicBezTo>
                    <a:pt x="306521" y="395000"/>
                    <a:pt x="301627" y="390112"/>
                    <a:pt x="295575" y="390112"/>
                  </a:cubicBezTo>
                  <a:close/>
                  <a:moveTo>
                    <a:pt x="210237" y="292527"/>
                  </a:moveTo>
                  <a:cubicBezTo>
                    <a:pt x="204096" y="292527"/>
                    <a:pt x="199202" y="297416"/>
                    <a:pt x="199202" y="303459"/>
                  </a:cubicBezTo>
                  <a:lnTo>
                    <a:pt x="199202" y="326478"/>
                  </a:lnTo>
                  <a:cubicBezTo>
                    <a:pt x="199202" y="332521"/>
                    <a:pt x="204096" y="337498"/>
                    <a:pt x="210237" y="337498"/>
                  </a:cubicBezTo>
                  <a:lnTo>
                    <a:pt x="295575" y="337498"/>
                  </a:lnTo>
                  <a:cubicBezTo>
                    <a:pt x="301627" y="337498"/>
                    <a:pt x="306521" y="332521"/>
                    <a:pt x="306521" y="326478"/>
                  </a:cubicBezTo>
                  <a:lnTo>
                    <a:pt x="306521" y="303459"/>
                  </a:lnTo>
                  <a:cubicBezTo>
                    <a:pt x="306521" y="297416"/>
                    <a:pt x="301627" y="292527"/>
                    <a:pt x="295575" y="292527"/>
                  </a:cubicBezTo>
                  <a:close/>
                  <a:moveTo>
                    <a:pt x="412250" y="268713"/>
                  </a:moveTo>
                  <a:cubicBezTo>
                    <a:pt x="452838" y="268713"/>
                    <a:pt x="485772" y="301591"/>
                    <a:pt x="485772" y="342022"/>
                  </a:cubicBezTo>
                  <a:cubicBezTo>
                    <a:pt x="485772" y="382541"/>
                    <a:pt x="452838" y="415419"/>
                    <a:pt x="412250" y="415419"/>
                  </a:cubicBezTo>
                  <a:cubicBezTo>
                    <a:pt x="408690" y="415419"/>
                    <a:pt x="405129" y="414886"/>
                    <a:pt x="401658" y="414353"/>
                  </a:cubicBezTo>
                  <a:lnTo>
                    <a:pt x="401658" y="395692"/>
                  </a:lnTo>
                  <a:lnTo>
                    <a:pt x="401658" y="288440"/>
                  </a:lnTo>
                  <a:lnTo>
                    <a:pt x="401658" y="269691"/>
                  </a:lnTo>
                  <a:cubicBezTo>
                    <a:pt x="405129" y="269157"/>
                    <a:pt x="408690" y="268713"/>
                    <a:pt x="412250" y="268713"/>
                  </a:cubicBezTo>
                  <a:close/>
                  <a:moveTo>
                    <a:pt x="170993" y="231737"/>
                  </a:moveTo>
                  <a:lnTo>
                    <a:pt x="334819" y="231737"/>
                  </a:lnTo>
                  <a:cubicBezTo>
                    <a:pt x="350125" y="231737"/>
                    <a:pt x="362494" y="244091"/>
                    <a:pt x="362494" y="259377"/>
                  </a:cubicBezTo>
                  <a:lnTo>
                    <a:pt x="362494" y="579060"/>
                  </a:lnTo>
                  <a:lnTo>
                    <a:pt x="143318" y="579060"/>
                  </a:lnTo>
                  <a:lnTo>
                    <a:pt x="143318" y="259377"/>
                  </a:lnTo>
                  <a:cubicBezTo>
                    <a:pt x="143318" y="244091"/>
                    <a:pt x="155687" y="231737"/>
                    <a:pt x="170993" y="231737"/>
                  </a:cubicBezTo>
                  <a:close/>
                  <a:moveTo>
                    <a:pt x="385391" y="159196"/>
                  </a:moveTo>
                  <a:lnTo>
                    <a:pt x="439244" y="159196"/>
                  </a:lnTo>
                  <a:cubicBezTo>
                    <a:pt x="450993" y="159196"/>
                    <a:pt x="460518" y="168705"/>
                    <a:pt x="460518" y="180435"/>
                  </a:cubicBezTo>
                  <a:lnTo>
                    <a:pt x="460518" y="206918"/>
                  </a:lnTo>
                  <a:cubicBezTo>
                    <a:pt x="477074" y="212872"/>
                    <a:pt x="492295" y="221581"/>
                    <a:pt x="505469" y="232778"/>
                  </a:cubicBezTo>
                  <a:lnTo>
                    <a:pt x="528345" y="219626"/>
                  </a:lnTo>
                  <a:cubicBezTo>
                    <a:pt x="538582" y="213760"/>
                    <a:pt x="551578" y="217226"/>
                    <a:pt x="557363" y="227357"/>
                  </a:cubicBezTo>
                  <a:lnTo>
                    <a:pt x="584334" y="273924"/>
                  </a:lnTo>
                  <a:cubicBezTo>
                    <a:pt x="590209" y="284055"/>
                    <a:pt x="586738" y="297029"/>
                    <a:pt x="576590" y="302894"/>
                  </a:cubicBezTo>
                  <a:lnTo>
                    <a:pt x="553625" y="316136"/>
                  </a:lnTo>
                  <a:cubicBezTo>
                    <a:pt x="555138" y="324578"/>
                    <a:pt x="556028" y="333198"/>
                    <a:pt x="556028" y="341996"/>
                  </a:cubicBezTo>
                  <a:cubicBezTo>
                    <a:pt x="556028" y="350883"/>
                    <a:pt x="555138" y="359503"/>
                    <a:pt x="553625" y="367945"/>
                  </a:cubicBezTo>
                  <a:lnTo>
                    <a:pt x="576590" y="381187"/>
                  </a:lnTo>
                  <a:cubicBezTo>
                    <a:pt x="586738" y="387052"/>
                    <a:pt x="590209" y="400026"/>
                    <a:pt x="584334" y="410157"/>
                  </a:cubicBezTo>
                  <a:lnTo>
                    <a:pt x="557363" y="456724"/>
                  </a:lnTo>
                  <a:cubicBezTo>
                    <a:pt x="554604" y="461611"/>
                    <a:pt x="549975" y="465166"/>
                    <a:pt x="544546" y="466588"/>
                  </a:cubicBezTo>
                  <a:cubicBezTo>
                    <a:pt x="539027" y="468010"/>
                    <a:pt x="533241" y="467299"/>
                    <a:pt x="528345" y="464455"/>
                  </a:cubicBezTo>
                  <a:lnTo>
                    <a:pt x="505469" y="451214"/>
                  </a:lnTo>
                  <a:cubicBezTo>
                    <a:pt x="492295" y="462411"/>
                    <a:pt x="477074" y="471209"/>
                    <a:pt x="460518" y="477074"/>
                  </a:cubicBezTo>
                  <a:lnTo>
                    <a:pt x="460518" y="503557"/>
                  </a:lnTo>
                  <a:cubicBezTo>
                    <a:pt x="460518" y="515287"/>
                    <a:pt x="450993" y="524796"/>
                    <a:pt x="439244" y="524796"/>
                  </a:cubicBezTo>
                  <a:lnTo>
                    <a:pt x="401680" y="524796"/>
                  </a:lnTo>
                  <a:lnTo>
                    <a:pt x="401680" y="476363"/>
                  </a:lnTo>
                  <a:lnTo>
                    <a:pt x="401680" y="434151"/>
                  </a:lnTo>
                  <a:cubicBezTo>
                    <a:pt x="405152" y="434596"/>
                    <a:pt x="408712" y="434951"/>
                    <a:pt x="412273" y="434951"/>
                  </a:cubicBezTo>
                  <a:cubicBezTo>
                    <a:pt x="463633" y="434951"/>
                    <a:pt x="505380" y="393272"/>
                    <a:pt x="505380" y="341996"/>
                  </a:cubicBezTo>
                  <a:cubicBezTo>
                    <a:pt x="505380" y="290809"/>
                    <a:pt x="463633" y="249130"/>
                    <a:pt x="412273" y="249130"/>
                  </a:cubicBezTo>
                  <a:cubicBezTo>
                    <a:pt x="408356" y="249130"/>
                    <a:pt x="404529" y="249485"/>
                    <a:pt x="400701" y="249930"/>
                  </a:cubicBezTo>
                  <a:cubicBezTo>
                    <a:pt x="397497" y="227801"/>
                    <a:pt x="383522" y="209228"/>
                    <a:pt x="364117" y="199719"/>
                  </a:cubicBezTo>
                  <a:lnTo>
                    <a:pt x="364117" y="180435"/>
                  </a:lnTo>
                  <a:cubicBezTo>
                    <a:pt x="364117" y="168705"/>
                    <a:pt x="373641" y="159196"/>
                    <a:pt x="385391" y="159196"/>
                  </a:cubicBezTo>
                  <a:close/>
                  <a:moveTo>
                    <a:pt x="189325" y="75016"/>
                  </a:moveTo>
                  <a:cubicBezTo>
                    <a:pt x="183273" y="75016"/>
                    <a:pt x="178288" y="79904"/>
                    <a:pt x="178288" y="86037"/>
                  </a:cubicBezTo>
                  <a:lnTo>
                    <a:pt x="178288" y="129677"/>
                  </a:lnTo>
                  <a:cubicBezTo>
                    <a:pt x="178288" y="135810"/>
                    <a:pt x="183273" y="140699"/>
                    <a:pt x="189325" y="140699"/>
                  </a:cubicBezTo>
                  <a:lnTo>
                    <a:pt x="233029" y="140699"/>
                  </a:lnTo>
                  <a:cubicBezTo>
                    <a:pt x="239171" y="140699"/>
                    <a:pt x="244067" y="135810"/>
                    <a:pt x="244067" y="129677"/>
                  </a:cubicBezTo>
                  <a:lnTo>
                    <a:pt x="244067" y="86037"/>
                  </a:lnTo>
                  <a:cubicBezTo>
                    <a:pt x="244067" y="79904"/>
                    <a:pt x="239171" y="75016"/>
                    <a:pt x="233029" y="75016"/>
                  </a:cubicBezTo>
                  <a:close/>
                  <a:moveTo>
                    <a:pt x="55988" y="75016"/>
                  </a:moveTo>
                  <a:cubicBezTo>
                    <a:pt x="49846" y="75016"/>
                    <a:pt x="44950" y="79904"/>
                    <a:pt x="44950" y="86037"/>
                  </a:cubicBezTo>
                  <a:lnTo>
                    <a:pt x="44950" y="129677"/>
                  </a:lnTo>
                  <a:cubicBezTo>
                    <a:pt x="44950" y="135810"/>
                    <a:pt x="49846" y="140699"/>
                    <a:pt x="55988" y="140699"/>
                  </a:cubicBezTo>
                  <a:lnTo>
                    <a:pt x="99692" y="140699"/>
                  </a:lnTo>
                  <a:cubicBezTo>
                    <a:pt x="105833" y="140699"/>
                    <a:pt x="110729" y="135810"/>
                    <a:pt x="110729" y="129677"/>
                  </a:cubicBezTo>
                  <a:lnTo>
                    <a:pt x="110729" y="86037"/>
                  </a:lnTo>
                  <a:cubicBezTo>
                    <a:pt x="110729" y="79904"/>
                    <a:pt x="105833" y="75016"/>
                    <a:pt x="99692" y="75016"/>
                  </a:cubicBezTo>
                  <a:close/>
                  <a:moveTo>
                    <a:pt x="27682" y="0"/>
                  </a:moveTo>
                  <a:lnTo>
                    <a:pt x="261424" y="0"/>
                  </a:lnTo>
                  <a:cubicBezTo>
                    <a:pt x="276645" y="0"/>
                    <a:pt x="289106" y="12354"/>
                    <a:pt x="289106" y="27642"/>
                  </a:cubicBezTo>
                  <a:lnTo>
                    <a:pt x="289106" y="192605"/>
                  </a:lnTo>
                  <a:lnTo>
                    <a:pt x="170989" y="192605"/>
                  </a:lnTo>
                  <a:cubicBezTo>
                    <a:pt x="144375" y="192605"/>
                    <a:pt x="121499" y="208337"/>
                    <a:pt x="110729" y="230913"/>
                  </a:cubicBezTo>
                  <a:lnTo>
                    <a:pt x="110729" y="222825"/>
                  </a:lnTo>
                  <a:cubicBezTo>
                    <a:pt x="110729" y="216781"/>
                    <a:pt x="105833" y="211803"/>
                    <a:pt x="99692" y="211803"/>
                  </a:cubicBezTo>
                  <a:lnTo>
                    <a:pt x="55988" y="211803"/>
                  </a:lnTo>
                  <a:cubicBezTo>
                    <a:pt x="49846" y="211803"/>
                    <a:pt x="44950" y="216781"/>
                    <a:pt x="44950" y="222825"/>
                  </a:cubicBezTo>
                  <a:lnTo>
                    <a:pt x="44950" y="266554"/>
                  </a:lnTo>
                  <a:cubicBezTo>
                    <a:pt x="44950" y="272598"/>
                    <a:pt x="49846" y="277487"/>
                    <a:pt x="55988" y="277487"/>
                  </a:cubicBezTo>
                  <a:lnTo>
                    <a:pt x="99692" y="277487"/>
                  </a:lnTo>
                  <a:cubicBezTo>
                    <a:pt x="101294" y="277487"/>
                    <a:pt x="102807" y="277131"/>
                    <a:pt x="104142" y="276598"/>
                  </a:cubicBezTo>
                  <a:lnTo>
                    <a:pt x="104142" y="349569"/>
                  </a:lnTo>
                  <a:cubicBezTo>
                    <a:pt x="102807" y="349036"/>
                    <a:pt x="101294" y="348680"/>
                    <a:pt x="99692" y="348680"/>
                  </a:cubicBezTo>
                  <a:lnTo>
                    <a:pt x="55988" y="348680"/>
                  </a:lnTo>
                  <a:cubicBezTo>
                    <a:pt x="49846" y="348680"/>
                    <a:pt x="44950" y="353569"/>
                    <a:pt x="44950" y="359613"/>
                  </a:cubicBezTo>
                  <a:lnTo>
                    <a:pt x="44950" y="403342"/>
                  </a:lnTo>
                  <a:cubicBezTo>
                    <a:pt x="44950" y="409475"/>
                    <a:pt x="49846" y="414364"/>
                    <a:pt x="55988" y="414364"/>
                  </a:cubicBezTo>
                  <a:lnTo>
                    <a:pt x="99692" y="414364"/>
                  </a:lnTo>
                  <a:cubicBezTo>
                    <a:pt x="101294" y="414364"/>
                    <a:pt x="102807" y="414008"/>
                    <a:pt x="104142" y="413386"/>
                  </a:cubicBezTo>
                  <a:lnTo>
                    <a:pt x="104142" y="579060"/>
                  </a:lnTo>
                  <a:lnTo>
                    <a:pt x="27682" y="579060"/>
                  </a:lnTo>
                  <a:cubicBezTo>
                    <a:pt x="12372" y="579060"/>
                    <a:pt x="0" y="566617"/>
                    <a:pt x="0" y="551329"/>
                  </a:cubicBezTo>
                  <a:lnTo>
                    <a:pt x="0" y="27642"/>
                  </a:lnTo>
                  <a:cubicBezTo>
                    <a:pt x="0" y="12354"/>
                    <a:pt x="12372" y="0"/>
                    <a:pt x="27682" y="0"/>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sp>
          <p:nvSpPr>
            <p:cNvPr id="47" name="îṣľíḓê"/>
            <p:cNvSpPr/>
            <p:nvPr/>
          </p:nvSpPr>
          <p:spPr bwMode="auto">
            <a:xfrm>
              <a:off x="4265331" y="4065360"/>
              <a:ext cx="1549400" cy="490538"/>
            </a:xfrm>
            <a:prstGeom prst="homePlate">
              <a:avLst/>
            </a:prstGeom>
            <a:solidFill>
              <a:srgbClr val="62EFFE"/>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关键词</a:t>
              </a:r>
              <a:endPar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49" name="iş1îďe"/>
            <p:cNvSpPr/>
            <p:nvPr/>
          </p:nvSpPr>
          <p:spPr bwMode="auto">
            <a:xfrm>
              <a:off x="6992314" y="3854430"/>
              <a:ext cx="658813" cy="658812"/>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50" name="ïŝľidê"/>
            <p:cNvSpPr/>
            <p:nvPr/>
          </p:nvSpPr>
          <p:spPr bwMode="auto">
            <a:xfrm>
              <a:off x="7179316" y="4060825"/>
              <a:ext cx="284810" cy="244434"/>
            </a:xfrm>
            <a:custGeom>
              <a:avLst/>
              <a:gdLst>
                <a:gd name="connsiteX0" fmla="*/ 231569 w 609272"/>
                <a:gd name="connsiteY0" fmla="*/ 280751 h 523426"/>
                <a:gd name="connsiteX1" fmla="*/ 251519 w 609272"/>
                <a:gd name="connsiteY1" fmla="*/ 311575 h 523426"/>
                <a:gd name="connsiteX2" fmla="*/ 278714 w 609272"/>
                <a:gd name="connsiteY2" fmla="*/ 349634 h 523426"/>
                <a:gd name="connsiteX3" fmla="*/ 37927 w 609272"/>
                <a:gd name="connsiteY3" fmla="*/ 467972 h 523426"/>
                <a:gd name="connsiteX4" fmla="*/ 37927 w 609272"/>
                <a:gd name="connsiteY4" fmla="*/ 389476 h 523426"/>
                <a:gd name="connsiteX5" fmla="*/ 186806 w 609272"/>
                <a:gd name="connsiteY5" fmla="*/ 339029 h 523426"/>
                <a:gd name="connsiteX6" fmla="*/ 231569 w 609272"/>
                <a:gd name="connsiteY6" fmla="*/ 280751 h 523426"/>
                <a:gd name="connsiteX7" fmla="*/ 54586 w 609272"/>
                <a:gd name="connsiteY7" fmla="*/ 54942 h 523426"/>
                <a:gd name="connsiteX8" fmla="*/ 291446 w 609272"/>
                <a:gd name="connsiteY8" fmla="*/ 191046 h 523426"/>
                <a:gd name="connsiteX9" fmla="*/ 299090 w 609272"/>
                <a:gd name="connsiteY9" fmla="*/ 202050 h 523426"/>
                <a:gd name="connsiteX10" fmla="*/ 337607 w 609272"/>
                <a:gd name="connsiteY10" fmla="*/ 261725 h 523426"/>
                <a:gd name="connsiteX11" fmla="*/ 382874 w 609272"/>
                <a:gd name="connsiteY11" fmla="*/ 319121 h 523426"/>
                <a:gd name="connsiteX12" fmla="*/ 485123 w 609272"/>
                <a:gd name="connsiteY12" fmla="*/ 366604 h 523426"/>
                <a:gd name="connsiteX13" fmla="*/ 477975 w 609272"/>
                <a:gd name="connsiteY13" fmla="*/ 357980 h 523426"/>
                <a:gd name="connsiteX14" fmla="*/ 477975 w 609272"/>
                <a:gd name="connsiteY14" fmla="*/ 302468 h 523426"/>
                <a:gd name="connsiteX15" fmla="*/ 507062 w 609272"/>
                <a:gd name="connsiteY15" fmla="*/ 290969 h 523426"/>
                <a:gd name="connsiteX16" fmla="*/ 533567 w 609272"/>
                <a:gd name="connsiteY16" fmla="*/ 302468 h 523426"/>
                <a:gd name="connsiteX17" fmla="*/ 596505 w 609272"/>
                <a:gd name="connsiteY17" fmla="*/ 378995 h 523426"/>
                <a:gd name="connsiteX18" fmla="*/ 598490 w 609272"/>
                <a:gd name="connsiteY18" fmla="*/ 434507 h 523426"/>
                <a:gd name="connsiteX19" fmla="*/ 527710 w 609272"/>
                <a:gd name="connsiteY19" fmla="*/ 511035 h 523426"/>
                <a:gd name="connsiteX20" fmla="*/ 501602 w 609272"/>
                <a:gd name="connsiteY20" fmla="*/ 523426 h 523426"/>
                <a:gd name="connsiteX21" fmla="*/ 472118 w 609272"/>
                <a:gd name="connsiteY21" fmla="*/ 455523 h 523426"/>
                <a:gd name="connsiteX22" fmla="*/ 481251 w 609272"/>
                <a:gd name="connsiteY22" fmla="*/ 445610 h 523426"/>
                <a:gd name="connsiteX23" fmla="*/ 371160 w 609272"/>
                <a:gd name="connsiteY23" fmla="*/ 410816 h 523426"/>
                <a:gd name="connsiteX24" fmla="*/ 291446 w 609272"/>
                <a:gd name="connsiteY24" fmla="*/ 332405 h 523426"/>
                <a:gd name="connsiteX25" fmla="*/ 268713 w 609272"/>
                <a:gd name="connsiteY25" fmla="*/ 300088 h 523426"/>
                <a:gd name="connsiteX26" fmla="*/ 243895 w 609272"/>
                <a:gd name="connsiteY26" fmla="*/ 261725 h 523426"/>
                <a:gd name="connsiteX27" fmla="*/ 186814 w 609272"/>
                <a:gd name="connsiteY27" fmla="*/ 184405 h 523426"/>
                <a:gd name="connsiteX28" fmla="*/ 54188 w 609272"/>
                <a:gd name="connsiteY28" fmla="*/ 133452 h 523426"/>
                <a:gd name="connsiteX29" fmla="*/ 37908 w 609272"/>
                <a:gd name="connsiteY29" fmla="*/ 133849 h 523426"/>
                <a:gd name="connsiteX30" fmla="*/ 35526 w 609272"/>
                <a:gd name="connsiteY30" fmla="*/ 133948 h 523426"/>
                <a:gd name="connsiteX31" fmla="*/ 37908 w 609272"/>
                <a:gd name="connsiteY31" fmla="*/ 55339 h 523426"/>
                <a:gd name="connsiteX32" fmla="*/ 54586 w 609272"/>
                <a:gd name="connsiteY32" fmla="*/ 54942 h 523426"/>
                <a:gd name="connsiteX33" fmla="*/ 499664 w 609272"/>
                <a:gd name="connsiteY33" fmla="*/ 55 h 523426"/>
                <a:gd name="connsiteX34" fmla="*/ 527712 w 609272"/>
                <a:gd name="connsiteY34" fmla="*/ 12333 h 523426"/>
                <a:gd name="connsiteX35" fmla="*/ 598490 w 609272"/>
                <a:gd name="connsiteY35" fmla="*/ 88858 h 523426"/>
                <a:gd name="connsiteX36" fmla="*/ 596505 w 609272"/>
                <a:gd name="connsiteY36" fmla="*/ 144467 h 523426"/>
                <a:gd name="connsiteX37" fmla="*/ 533568 w 609272"/>
                <a:gd name="connsiteY37" fmla="*/ 220992 h 523426"/>
                <a:gd name="connsiteX38" fmla="*/ 477978 w 609272"/>
                <a:gd name="connsiteY38" fmla="*/ 220992 h 523426"/>
                <a:gd name="connsiteX39" fmla="*/ 477978 w 609272"/>
                <a:gd name="connsiteY39" fmla="*/ 165383 h 523426"/>
                <a:gd name="connsiteX40" fmla="*/ 485125 w 609272"/>
                <a:gd name="connsiteY40" fmla="*/ 156759 h 523426"/>
                <a:gd name="connsiteX41" fmla="*/ 382878 w 609272"/>
                <a:gd name="connsiteY41" fmla="*/ 204240 h 523426"/>
                <a:gd name="connsiteX42" fmla="*/ 350318 w 609272"/>
                <a:gd name="connsiteY42" fmla="*/ 243493 h 523426"/>
                <a:gd name="connsiteX43" fmla="*/ 334037 w 609272"/>
                <a:gd name="connsiteY43" fmla="*/ 218315 h 523426"/>
                <a:gd name="connsiteX44" fmla="*/ 316268 w 609272"/>
                <a:gd name="connsiteY44" fmla="*/ 190759 h 523426"/>
                <a:gd name="connsiteX45" fmla="*/ 304753 w 609272"/>
                <a:gd name="connsiteY45" fmla="*/ 174106 h 523426"/>
                <a:gd name="connsiteX46" fmla="*/ 371164 w 609272"/>
                <a:gd name="connsiteY46" fmla="*/ 112648 h 523426"/>
                <a:gd name="connsiteX47" fmla="*/ 481254 w 609272"/>
                <a:gd name="connsiteY47" fmla="*/ 77756 h 523426"/>
                <a:gd name="connsiteX48" fmla="*/ 472121 w 609272"/>
                <a:gd name="connsiteY48" fmla="*/ 67843 h 523426"/>
                <a:gd name="connsiteX49" fmla="*/ 499664 w 609272"/>
                <a:gd name="connsiteY49" fmla="*/ 55 h 523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09272" h="523426">
                  <a:moveTo>
                    <a:pt x="231569" y="280751"/>
                  </a:moveTo>
                  <a:cubicBezTo>
                    <a:pt x="238020" y="290960"/>
                    <a:pt x="244670" y="301366"/>
                    <a:pt x="251519" y="311575"/>
                  </a:cubicBezTo>
                  <a:cubicBezTo>
                    <a:pt x="259757" y="323964"/>
                    <a:pt x="268888" y="336848"/>
                    <a:pt x="278714" y="349634"/>
                  </a:cubicBezTo>
                  <a:cubicBezTo>
                    <a:pt x="219063" y="427535"/>
                    <a:pt x="144028" y="473324"/>
                    <a:pt x="37927" y="467972"/>
                  </a:cubicBezTo>
                  <a:cubicBezTo>
                    <a:pt x="-12493" y="465395"/>
                    <a:pt x="-12791" y="386899"/>
                    <a:pt x="37927" y="389476"/>
                  </a:cubicBezTo>
                  <a:cubicBezTo>
                    <a:pt x="94402" y="392350"/>
                    <a:pt x="146708" y="381151"/>
                    <a:pt x="186806" y="339029"/>
                  </a:cubicBezTo>
                  <a:cubicBezTo>
                    <a:pt x="203878" y="321089"/>
                    <a:pt x="218170" y="301267"/>
                    <a:pt x="231569" y="280751"/>
                  </a:cubicBezTo>
                  <a:close/>
                  <a:moveTo>
                    <a:pt x="54586" y="54942"/>
                  </a:moveTo>
                  <a:cubicBezTo>
                    <a:pt x="159416" y="54942"/>
                    <a:pt x="232777" y="106985"/>
                    <a:pt x="291446" y="191046"/>
                  </a:cubicBezTo>
                  <a:cubicBezTo>
                    <a:pt x="294027" y="194714"/>
                    <a:pt x="296508" y="198283"/>
                    <a:pt x="299090" y="202050"/>
                  </a:cubicBezTo>
                  <a:cubicBezTo>
                    <a:pt x="312094" y="221876"/>
                    <a:pt x="324503" y="242098"/>
                    <a:pt x="337607" y="261725"/>
                  </a:cubicBezTo>
                  <a:cubicBezTo>
                    <a:pt x="351207" y="281948"/>
                    <a:pt x="365700" y="301476"/>
                    <a:pt x="382874" y="319121"/>
                  </a:cubicBezTo>
                  <a:cubicBezTo>
                    <a:pt x="413052" y="350248"/>
                    <a:pt x="447400" y="363035"/>
                    <a:pt x="485123" y="366604"/>
                  </a:cubicBezTo>
                  <a:cubicBezTo>
                    <a:pt x="482740" y="363729"/>
                    <a:pt x="480457" y="360855"/>
                    <a:pt x="477975" y="357980"/>
                  </a:cubicBezTo>
                  <a:cubicBezTo>
                    <a:pt x="464177" y="341624"/>
                    <a:pt x="461894" y="318526"/>
                    <a:pt x="477975" y="302468"/>
                  </a:cubicBezTo>
                  <a:cubicBezTo>
                    <a:pt x="485321" y="295132"/>
                    <a:pt x="496341" y="290969"/>
                    <a:pt x="507062" y="290969"/>
                  </a:cubicBezTo>
                  <a:cubicBezTo>
                    <a:pt x="517088" y="290969"/>
                    <a:pt x="526916" y="294537"/>
                    <a:pt x="533567" y="302468"/>
                  </a:cubicBezTo>
                  <a:cubicBezTo>
                    <a:pt x="554910" y="327646"/>
                    <a:pt x="575162" y="353717"/>
                    <a:pt x="596505" y="378995"/>
                  </a:cubicBezTo>
                  <a:cubicBezTo>
                    <a:pt x="610303" y="392873"/>
                    <a:pt x="615664" y="415970"/>
                    <a:pt x="598490" y="434507"/>
                  </a:cubicBezTo>
                  <a:lnTo>
                    <a:pt x="527710" y="511035"/>
                  </a:lnTo>
                  <a:cubicBezTo>
                    <a:pt x="519669" y="519758"/>
                    <a:pt x="510437" y="523426"/>
                    <a:pt x="501602" y="523426"/>
                  </a:cubicBezTo>
                  <a:cubicBezTo>
                    <a:pt x="472218" y="523426"/>
                    <a:pt x="445812" y="484072"/>
                    <a:pt x="472118" y="455523"/>
                  </a:cubicBezTo>
                  <a:lnTo>
                    <a:pt x="481251" y="445610"/>
                  </a:lnTo>
                  <a:cubicBezTo>
                    <a:pt x="442635" y="442834"/>
                    <a:pt x="405508" y="433021"/>
                    <a:pt x="371160" y="410816"/>
                  </a:cubicBezTo>
                  <a:cubicBezTo>
                    <a:pt x="339493" y="390197"/>
                    <a:pt x="313980" y="362441"/>
                    <a:pt x="291446" y="332405"/>
                  </a:cubicBezTo>
                  <a:cubicBezTo>
                    <a:pt x="283504" y="321798"/>
                    <a:pt x="275959" y="310993"/>
                    <a:pt x="268713" y="300088"/>
                  </a:cubicBezTo>
                  <a:cubicBezTo>
                    <a:pt x="260175" y="287499"/>
                    <a:pt x="252134" y="274513"/>
                    <a:pt x="243895" y="261725"/>
                  </a:cubicBezTo>
                  <a:cubicBezTo>
                    <a:pt x="226721" y="234564"/>
                    <a:pt x="209150" y="207799"/>
                    <a:pt x="186814" y="184405"/>
                  </a:cubicBezTo>
                  <a:cubicBezTo>
                    <a:pt x="150580" y="146240"/>
                    <a:pt x="104420" y="133452"/>
                    <a:pt x="54188" y="133452"/>
                  </a:cubicBezTo>
                  <a:cubicBezTo>
                    <a:pt x="48729" y="133452"/>
                    <a:pt x="43368" y="133651"/>
                    <a:pt x="37908" y="133849"/>
                  </a:cubicBezTo>
                  <a:cubicBezTo>
                    <a:pt x="37114" y="133948"/>
                    <a:pt x="36320" y="133948"/>
                    <a:pt x="35526" y="133948"/>
                  </a:cubicBezTo>
                  <a:cubicBezTo>
                    <a:pt x="-12720" y="133948"/>
                    <a:pt x="-11727" y="57916"/>
                    <a:pt x="37908" y="55339"/>
                  </a:cubicBezTo>
                  <a:cubicBezTo>
                    <a:pt x="43567" y="55041"/>
                    <a:pt x="49126" y="54942"/>
                    <a:pt x="54586" y="54942"/>
                  </a:cubicBezTo>
                  <a:close/>
                  <a:moveTo>
                    <a:pt x="499664" y="55"/>
                  </a:moveTo>
                  <a:cubicBezTo>
                    <a:pt x="509173" y="-498"/>
                    <a:pt x="519100" y="3015"/>
                    <a:pt x="527712" y="12333"/>
                  </a:cubicBezTo>
                  <a:lnTo>
                    <a:pt x="598490" y="88858"/>
                  </a:lnTo>
                  <a:cubicBezTo>
                    <a:pt x="615664" y="107394"/>
                    <a:pt x="610303" y="130590"/>
                    <a:pt x="596505" y="144467"/>
                  </a:cubicBezTo>
                  <a:cubicBezTo>
                    <a:pt x="575162" y="169645"/>
                    <a:pt x="554911" y="195715"/>
                    <a:pt x="533568" y="220992"/>
                  </a:cubicBezTo>
                  <a:cubicBezTo>
                    <a:pt x="519770" y="237347"/>
                    <a:pt x="492173" y="235068"/>
                    <a:pt x="477978" y="220992"/>
                  </a:cubicBezTo>
                  <a:cubicBezTo>
                    <a:pt x="461896" y="204834"/>
                    <a:pt x="464179" y="181837"/>
                    <a:pt x="477978" y="165383"/>
                  </a:cubicBezTo>
                  <a:cubicBezTo>
                    <a:pt x="480360" y="162607"/>
                    <a:pt x="482743" y="159633"/>
                    <a:pt x="485125" y="156759"/>
                  </a:cubicBezTo>
                  <a:cubicBezTo>
                    <a:pt x="447403" y="160327"/>
                    <a:pt x="413056" y="173114"/>
                    <a:pt x="382878" y="204240"/>
                  </a:cubicBezTo>
                  <a:cubicBezTo>
                    <a:pt x="370866" y="216531"/>
                    <a:pt x="360244" y="229814"/>
                    <a:pt x="350318" y="243493"/>
                  </a:cubicBezTo>
                  <a:cubicBezTo>
                    <a:pt x="344858" y="235266"/>
                    <a:pt x="339497" y="226840"/>
                    <a:pt x="334037" y="218315"/>
                  </a:cubicBezTo>
                  <a:cubicBezTo>
                    <a:pt x="328280" y="209295"/>
                    <a:pt x="322324" y="199878"/>
                    <a:pt x="316268" y="190759"/>
                  </a:cubicBezTo>
                  <a:cubicBezTo>
                    <a:pt x="312496" y="185009"/>
                    <a:pt x="308624" y="179458"/>
                    <a:pt x="304753" y="174106"/>
                  </a:cubicBezTo>
                  <a:cubicBezTo>
                    <a:pt x="324011" y="150613"/>
                    <a:pt x="345553" y="129301"/>
                    <a:pt x="371164" y="112648"/>
                  </a:cubicBezTo>
                  <a:cubicBezTo>
                    <a:pt x="405511" y="90345"/>
                    <a:pt x="442638" y="80531"/>
                    <a:pt x="481254" y="77756"/>
                  </a:cubicBezTo>
                  <a:lnTo>
                    <a:pt x="472121" y="67843"/>
                  </a:lnTo>
                  <a:cubicBezTo>
                    <a:pt x="446361" y="39964"/>
                    <a:pt x="471134" y="1714"/>
                    <a:pt x="499664" y="55"/>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sp>
          <p:nvSpPr>
            <p:cNvPr id="51" name="îṣľíḓê"/>
            <p:cNvSpPr/>
            <p:nvPr/>
          </p:nvSpPr>
          <p:spPr bwMode="auto">
            <a:xfrm>
              <a:off x="4265331" y="4929951"/>
              <a:ext cx="1549400" cy="490537"/>
            </a:xfrm>
            <a:prstGeom prst="homePlate">
              <a:avLst/>
            </a:pr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关键词</a:t>
              </a:r>
              <a:endPar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3" name="iş1îďe"/>
            <p:cNvSpPr/>
            <p:nvPr/>
          </p:nvSpPr>
          <p:spPr bwMode="auto">
            <a:xfrm>
              <a:off x="6992314" y="4706917"/>
              <a:ext cx="658813" cy="658813"/>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54" name="ïŝľidê"/>
            <p:cNvSpPr/>
            <p:nvPr/>
          </p:nvSpPr>
          <p:spPr bwMode="auto">
            <a:xfrm>
              <a:off x="7179316" y="4893920"/>
              <a:ext cx="284810" cy="284808"/>
            </a:xfrm>
            <a:custGeom>
              <a:avLst/>
              <a:gdLst>
                <a:gd name="connsiteX0" fmla="*/ 0 w 607639"/>
                <a:gd name="connsiteY0" fmla="*/ 488737 h 606722"/>
                <a:gd name="connsiteX1" fmla="*/ 50666 w 607639"/>
                <a:gd name="connsiteY1" fmla="*/ 488737 h 606722"/>
                <a:gd name="connsiteX2" fmla="*/ 50666 w 607639"/>
                <a:gd name="connsiteY2" fmla="*/ 556197 h 606722"/>
                <a:gd name="connsiteX3" fmla="*/ 118127 w 607639"/>
                <a:gd name="connsiteY3" fmla="*/ 556197 h 606722"/>
                <a:gd name="connsiteX4" fmla="*/ 118127 w 607639"/>
                <a:gd name="connsiteY4" fmla="*/ 488737 h 606722"/>
                <a:gd name="connsiteX5" fmla="*/ 489442 w 607639"/>
                <a:gd name="connsiteY5" fmla="*/ 488737 h 606722"/>
                <a:gd name="connsiteX6" fmla="*/ 489442 w 607639"/>
                <a:gd name="connsiteY6" fmla="*/ 556197 h 606722"/>
                <a:gd name="connsiteX7" fmla="*/ 556973 w 607639"/>
                <a:gd name="connsiteY7" fmla="*/ 556197 h 606722"/>
                <a:gd name="connsiteX8" fmla="*/ 556973 w 607639"/>
                <a:gd name="connsiteY8" fmla="*/ 488737 h 606722"/>
                <a:gd name="connsiteX9" fmla="*/ 607639 w 607639"/>
                <a:gd name="connsiteY9" fmla="*/ 488737 h 606722"/>
                <a:gd name="connsiteX10" fmla="*/ 607639 w 607639"/>
                <a:gd name="connsiteY10" fmla="*/ 556198 h 606722"/>
                <a:gd name="connsiteX11" fmla="*/ 556973 w 607639"/>
                <a:gd name="connsiteY11" fmla="*/ 556198 h 606722"/>
                <a:gd name="connsiteX12" fmla="*/ 556973 w 607639"/>
                <a:gd name="connsiteY12" fmla="*/ 606722 h 606722"/>
                <a:gd name="connsiteX13" fmla="*/ 489442 w 607639"/>
                <a:gd name="connsiteY13" fmla="*/ 606722 h 606722"/>
                <a:gd name="connsiteX14" fmla="*/ 489442 w 607639"/>
                <a:gd name="connsiteY14" fmla="*/ 556198 h 606722"/>
                <a:gd name="connsiteX15" fmla="*/ 118127 w 607639"/>
                <a:gd name="connsiteY15" fmla="*/ 556198 h 606722"/>
                <a:gd name="connsiteX16" fmla="*/ 118127 w 607639"/>
                <a:gd name="connsiteY16" fmla="*/ 606722 h 606722"/>
                <a:gd name="connsiteX17" fmla="*/ 50666 w 607639"/>
                <a:gd name="connsiteY17" fmla="*/ 606722 h 606722"/>
                <a:gd name="connsiteX18" fmla="*/ 50666 w 607639"/>
                <a:gd name="connsiteY18" fmla="*/ 556198 h 606722"/>
                <a:gd name="connsiteX19" fmla="*/ 0 w 607639"/>
                <a:gd name="connsiteY19" fmla="*/ 556198 h 606722"/>
                <a:gd name="connsiteX20" fmla="*/ 168722 w 607639"/>
                <a:gd name="connsiteY20" fmla="*/ 168510 h 606722"/>
                <a:gd name="connsiteX21" fmla="*/ 438776 w 607639"/>
                <a:gd name="connsiteY21" fmla="*/ 168510 h 606722"/>
                <a:gd name="connsiteX22" fmla="*/ 438776 w 607639"/>
                <a:gd name="connsiteY22" fmla="*/ 438141 h 606722"/>
                <a:gd name="connsiteX23" fmla="*/ 168722 w 607639"/>
                <a:gd name="connsiteY23" fmla="*/ 438141 h 606722"/>
                <a:gd name="connsiteX24" fmla="*/ 489442 w 607639"/>
                <a:gd name="connsiteY24" fmla="*/ 117915 h 606722"/>
                <a:gd name="connsiteX25" fmla="*/ 556973 w 607639"/>
                <a:gd name="connsiteY25" fmla="*/ 117915 h 606722"/>
                <a:gd name="connsiteX26" fmla="*/ 556973 w 607639"/>
                <a:gd name="connsiteY26" fmla="*/ 488737 h 606722"/>
                <a:gd name="connsiteX27" fmla="*/ 489442 w 607639"/>
                <a:gd name="connsiteY27" fmla="*/ 488737 h 606722"/>
                <a:gd name="connsiteX28" fmla="*/ 50666 w 607639"/>
                <a:gd name="connsiteY28" fmla="*/ 117915 h 606722"/>
                <a:gd name="connsiteX29" fmla="*/ 118127 w 607639"/>
                <a:gd name="connsiteY29" fmla="*/ 117915 h 606722"/>
                <a:gd name="connsiteX30" fmla="*/ 118127 w 607639"/>
                <a:gd name="connsiteY30" fmla="*/ 488737 h 606722"/>
                <a:gd name="connsiteX31" fmla="*/ 50666 w 607639"/>
                <a:gd name="connsiteY31" fmla="*/ 488737 h 606722"/>
                <a:gd name="connsiteX32" fmla="*/ 556973 w 607639"/>
                <a:gd name="connsiteY32" fmla="*/ 50595 h 606722"/>
                <a:gd name="connsiteX33" fmla="*/ 607639 w 607639"/>
                <a:gd name="connsiteY33" fmla="*/ 50595 h 606722"/>
                <a:gd name="connsiteX34" fmla="*/ 607639 w 607639"/>
                <a:gd name="connsiteY34" fmla="*/ 117914 h 606722"/>
                <a:gd name="connsiteX35" fmla="*/ 556973 w 607639"/>
                <a:gd name="connsiteY35" fmla="*/ 117914 h 606722"/>
                <a:gd name="connsiteX36" fmla="*/ 118127 w 607639"/>
                <a:gd name="connsiteY36" fmla="*/ 50595 h 606722"/>
                <a:gd name="connsiteX37" fmla="*/ 489442 w 607639"/>
                <a:gd name="connsiteY37" fmla="*/ 50595 h 606722"/>
                <a:gd name="connsiteX38" fmla="*/ 489442 w 607639"/>
                <a:gd name="connsiteY38" fmla="*/ 117914 h 606722"/>
                <a:gd name="connsiteX39" fmla="*/ 118127 w 607639"/>
                <a:gd name="connsiteY39" fmla="*/ 117914 h 606722"/>
                <a:gd name="connsiteX40" fmla="*/ 0 w 607639"/>
                <a:gd name="connsiteY40" fmla="*/ 50595 h 606722"/>
                <a:gd name="connsiteX41" fmla="*/ 50666 w 607639"/>
                <a:gd name="connsiteY41" fmla="*/ 50595 h 606722"/>
                <a:gd name="connsiteX42" fmla="*/ 50666 w 607639"/>
                <a:gd name="connsiteY42" fmla="*/ 117914 h 606722"/>
                <a:gd name="connsiteX43" fmla="*/ 0 w 607639"/>
                <a:gd name="connsiteY43" fmla="*/ 117914 h 606722"/>
                <a:gd name="connsiteX44" fmla="*/ 489442 w 607639"/>
                <a:gd name="connsiteY44" fmla="*/ 0 h 606722"/>
                <a:gd name="connsiteX45" fmla="*/ 556973 w 607639"/>
                <a:gd name="connsiteY45" fmla="*/ 0 h 606722"/>
                <a:gd name="connsiteX46" fmla="*/ 556973 w 607639"/>
                <a:gd name="connsiteY46" fmla="*/ 50595 h 606722"/>
                <a:gd name="connsiteX47" fmla="*/ 489442 w 607639"/>
                <a:gd name="connsiteY47" fmla="*/ 50595 h 606722"/>
                <a:gd name="connsiteX48" fmla="*/ 50666 w 607639"/>
                <a:gd name="connsiteY48" fmla="*/ 0 h 606722"/>
                <a:gd name="connsiteX49" fmla="*/ 118127 w 607639"/>
                <a:gd name="connsiteY49" fmla="*/ 0 h 606722"/>
                <a:gd name="connsiteX50" fmla="*/ 118127 w 607639"/>
                <a:gd name="connsiteY50" fmla="*/ 50595 h 606722"/>
                <a:gd name="connsiteX51" fmla="*/ 50666 w 607639"/>
                <a:gd name="connsiteY51" fmla="*/ 50595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39" h="606722">
                  <a:moveTo>
                    <a:pt x="0" y="488737"/>
                  </a:moveTo>
                  <a:lnTo>
                    <a:pt x="50666" y="488737"/>
                  </a:lnTo>
                  <a:lnTo>
                    <a:pt x="50666" y="556197"/>
                  </a:lnTo>
                  <a:lnTo>
                    <a:pt x="118127" y="556197"/>
                  </a:lnTo>
                  <a:lnTo>
                    <a:pt x="118127" y="488737"/>
                  </a:lnTo>
                  <a:lnTo>
                    <a:pt x="489442" y="488737"/>
                  </a:lnTo>
                  <a:lnTo>
                    <a:pt x="489442" y="556197"/>
                  </a:lnTo>
                  <a:lnTo>
                    <a:pt x="556973" y="556197"/>
                  </a:lnTo>
                  <a:lnTo>
                    <a:pt x="556973" y="488737"/>
                  </a:lnTo>
                  <a:lnTo>
                    <a:pt x="607639" y="488737"/>
                  </a:lnTo>
                  <a:lnTo>
                    <a:pt x="607639" y="556198"/>
                  </a:lnTo>
                  <a:lnTo>
                    <a:pt x="556973" y="556198"/>
                  </a:lnTo>
                  <a:lnTo>
                    <a:pt x="556973" y="606722"/>
                  </a:lnTo>
                  <a:lnTo>
                    <a:pt x="489442" y="606722"/>
                  </a:lnTo>
                  <a:lnTo>
                    <a:pt x="489442" y="556198"/>
                  </a:lnTo>
                  <a:lnTo>
                    <a:pt x="118127" y="556198"/>
                  </a:lnTo>
                  <a:lnTo>
                    <a:pt x="118127" y="606722"/>
                  </a:lnTo>
                  <a:lnTo>
                    <a:pt x="50666" y="606722"/>
                  </a:lnTo>
                  <a:lnTo>
                    <a:pt x="50666" y="556198"/>
                  </a:lnTo>
                  <a:lnTo>
                    <a:pt x="0" y="556198"/>
                  </a:lnTo>
                  <a:close/>
                  <a:moveTo>
                    <a:pt x="168722" y="168510"/>
                  </a:moveTo>
                  <a:lnTo>
                    <a:pt x="438776" y="168510"/>
                  </a:lnTo>
                  <a:lnTo>
                    <a:pt x="438776" y="438141"/>
                  </a:lnTo>
                  <a:lnTo>
                    <a:pt x="168722" y="438141"/>
                  </a:lnTo>
                  <a:close/>
                  <a:moveTo>
                    <a:pt x="489442" y="117915"/>
                  </a:moveTo>
                  <a:lnTo>
                    <a:pt x="556973" y="117915"/>
                  </a:lnTo>
                  <a:lnTo>
                    <a:pt x="556973" y="488737"/>
                  </a:lnTo>
                  <a:lnTo>
                    <a:pt x="489442" y="488737"/>
                  </a:lnTo>
                  <a:close/>
                  <a:moveTo>
                    <a:pt x="50666" y="117915"/>
                  </a:moveTo>
                  <a:lnTo>
                    <a:pt x="118127" y="117915"/>
                  </a:lnTo>
                  <a:lnTo>
                    <a:pt x="118127" y="488737"/>
                  </a:lnTo>
                  <a:lnTo>
                    <a:pt x="50666" y="488737"/>
                  </a:lnTo>
                  <a:close/>
                  <a:moveTo>
                    <a:pt x="556973" y="50595"/>
                  </a:moveTo>
                  <a:lnTo>
                    <a:pt x="607639" y="50595"/>
                  </a:lnTo>
                  <a:lnTo>
                    <a:pt x="607639" y="117914"/>
                  </a:lnTo>
                  <a:lnTo>
                    <a:pt x="556973" y="117914"/>
                  </a:lnTo>
                  <a:close/>
                  <a:moveTo>
                    <a:pt x="118127" y="50595"/>
                  </a:moveTo>
                  <a:lnTo>
                    <a:pt x="489442" y="50595"/>
                  </a:lnTo>
                  <a:lnTo>
                    <a:pt x="489442" y="117914"/>
                  </a:lnTo>
                  <a:lnTo>
                    <a:pt x="118127" y="117914"/>
                  </a:lnTo>
                  <a:close/>
                  <a:moveTo>
                    <a:pt x="0" y="50595"/>
                  </a:moveTo>
                  <a:lnTo>
                    <a:pt x="50666" y="50595"/>
                  </a:lnTo>
                  <a:lnTo>
                    <a:pt x="50666" y="117914"/>
                  </a:lnTo>
                  <a:lnTo>
                    <a:pt x="0" y="117914"/>
                  </a:lnTo>
                  <a:close/>
                  <a:moveTo>
                    <a:pt x="489442" y="0"/>
                  </a:moveTo>
                  <a:lnTo>
                    <a:pt x="556973" y="0"/>
                  </a:lnTo>
                  <a:lnTo>
                    <a:pt x="556973" y="50595"/>
                  </a:lnTo>
                  <a:lnTo>
                    <a:pt x="489442" y="50595"/>
                  </a:lnTo>
                  <a:close/>
                  <a:moveTo>
                    <a:pt x="50666" y="0"/>
                  </a:moveTo>
                  <a:lnTo>
                    <a:pt x="118127" y="0"/>
                  </a:lnTo>
                  <a:lnTo>
                    <a:pt x="118127" y="50595"/>
                  </a:lnTo>
                  <a:lnTo>
                    <a:pt x="50666" y="50595"/>
                  </a:ln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grpSp>
      <p:grpSp>
        <p:nvGrpSpPr>
          <p:cNvPr id="15" name="组合 14"/>
          <p:cNvGrpSpPr/>
          <p:nvPr/>
        </p:nvGrpSpPr>
        <p:grpSpPr>
          <a:xfrm>
            <a:off x="7642793" y="1563161"/>
            <a:ext cx="3193936" cy="1117044"/>
            <a:chOff x="6677593" y="1613961"/>
            <a:chExt cx="3193936" cy="1117044"/>
          </a:xfrm>
        </p:grpSpPr>
        <p:sp>
          <p:nvSpPr>
            <p:cNvPr id="55" name="矩形 3"/>
            <p:cNvSpPr>
              <a:spLocks noChangeArrowheads="1"/>
            </p:cNvSpPr>
            <p:nvPr/>
          </p:nvSpPr>
          <p:spPr bwMode="auto">
            <a:xfrm>
              <a:off x="6677593" y="1613961"/>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56" name="文本框 55"/>
            <p:cNvSpPr txBox="1"/>
            <p:nvPr/>
          </p:nvSpPr>
          <p:spPr>
            <a:xfrm>
              <a:off x="6904470" y="2026901"/>
              <a:ext cx="2967059" cy="704104"/>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grpSp>
      <p:grpSp>
        <p:nvGrpSpPr>
          <p:cNvPr id="57" name="组合 56"/>
          <p:cNvGrpSpPr/>
          <p:nvPr/>
        </p:nvGrpSpPr>
        <p:grpSpPr>
          <a:xfrm>
            <a:off x="7642793" y="4788961"/>
            <a:ext cx="3193936" cy="1117044"/>
            <a:chOff x="6677593" y="1613961"/>
            <a:chExt cx="3193936" cy="1117044"/>
          </a:xfrm>
        </p:grpSpPr>
        <p:sp>
          <p:nvSpPr>
            <p:cNvPr id="58" name="矩形 3"/>
            <p:cNvSpPr>
              <a:spLocks noChangeArrowheads="1"/>
            </p:cNvSpPr>
            <p:nvPr/>
          </p:nvSpPr>
          <p:spPr bwMode="auto">
            <a:xfrm>
              <a:off x="6677593" y="1613961"/>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59" name="文本框 58"/>
            <p:cNvSpPr txBox="1"/>
            <p:nvPr/>
          </p:nvSpPr>
          <p:spPr>
            <a:xfrm>
              <a:off x="6904470" y="2026901"/>
              <a:ext cx="2967059" cy="704104"/>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grpSp>
      <p:sp>
        <p:nvSpPr>
          <p:cNvPr id="62" name="文本框 61"/>
          <p:cNvSpPr txBox="1"/>
          <p:nvPr/>
        </p:nvSpPr>
        <p:spPr>
          <a:xfrm>
            <a:off x="7869670" y="3728231"/>
            <a:ext cx="2967059" cy="704104"/>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63" name="文本框 62"/>
          <p:cNvSpPr txBox="1"/>
          <p:nvPr/>
        </p:nvSpPr>
        <p:spPr>
          <a:xfrm>
            <a:off x="7869670" y="3036832"/>
            <a:ext cx="2967059" cy="334772"/>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内容，文字尽量言简意赅</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down)">
                                      <p:cBhvr>
                                        <p:cTn id="17" dur="500"/>
                                        <p:tgtEl>
                                          <p:spTgt spid="14"/>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500"/>
                                        <p:tgtEl>
                                          <p:spTgt spid="15"/>
                                        </p:tgtEl>
                                      </p:cBhvr>
                                    </p:animEffect>
                                  </p:childTnLst>
                                </p:cTn>
                              </p:par>
                            </p:childTnLst>
                          </p:cTn>
                        </p:par>
                        <p:par>
                          <p:cTn id="22" fill="hold">
                            <p:stCondLst>
                              <p:cond delay="1000"/>
                            </p:stCondLst>
                            <p:childTnLst>
                              <p:par>
                                <p:cTn id="23" presetID="22" presetClass="entr" presetSubtype="4" fill="hold" nodeType="after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wipe(down)">
                                      <p:cBhvr>
                                        <p:cTn id="25" dur="500"/>
                                        <p:tgtEl>
                                          <p:spTgt spid="57"/>
                                        </p:tgtEl>
                                      </p:cBhvr>
                                    </p:animEffect>
                                  </p:childTnLst>
                                </p:cTn>
                              </p:par>
                            </p:childTnLst>
                          </p:cTn>
                        </p:par>
                        <p:par>
                          <p:cTn id="26" fill="hold">
                            <p:stCondLst>
                              <p:cond delay="1500"/>
                            </p:stCondLst>
                            <p:childTnLst>
                              <p:par>
                                <p:cTn id="27" presetID="22" presetClass="entr" presetSubtype="4" fill="hold" grpId="0" nodeType="after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wipe(down)">
                                      <p:cBhvr>
                                        <p:cTn id="29" dur="500"/>
                                        <p:tgtEl>
                                          <p:spTgt spid="62"/>
                                        </p:tgtEl>
                                      </p:cBhvr>
                                    </p:animEffect>
                                  </p:childTnLst>
                                </p:cTn>
                              </p:par>
                            </p:childTnLst>
                          </p:cTn>
                        </p:par>
                        <p:par>
                          <p:cTn id="30" fill="hold">
                            <p:stCondLst>
                              <p:cond delay="2000"/>
                            </p:stCondLst>
                            <p:childTnLst>
                              <p:par>
                                <p:cTn id="31" presetID="22" presetClass="entr" presetSubtype="4" fill="hold" grpId="0" nodeType="after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wipe(down)">
                                      <p:cBhvr>
                                        <p:cTn id="33"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62" grpId="0"/>
      <p:bldP spid="6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p:cNvSpPr/>
          <p:nvPr/>
        </p:nvSpPr>
        <p:spPr>
          <a:xfrm>
            <a:off x="1708155" y="1727509"/>
            <a:ext cx="3869988" cy="3299607"/>
          </a:xfrm>
          <a:prstGeom prst="roundRect">
            <a:avLst>
              <a:gd name="adj" fmla="val 0"/>
            </a:avLst>
          </a:prstGeom>
          <a:blipFill dpi="0" rotWithShape="1">
            <a:blip r:embed="rId1"/>
            <a:srcRect/>
            <a:stretch>
              <a:fillRect l="-25779" r="-2577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endParaRPr>
          </a:p>
        </p:txBody>
      </p:sp>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4775"/>
            </a:xfrm>
            <a:prstGeom prst="rect">
              <a:avLst/>
            </a:prstGeom>
            <a:noFill/>
          </p:spPr>
          <p:txBody>
            <a:bodyPr wrap="square" rtlCol="0">
              <a:spAutoFit/>
            </a:bodyPr>
            <a:lstStyle/>
            <a:p>
              <a:r>
                <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rPr>
                <a:t>盈利情况汇报</a:t>
              </a:r>
              <a:endPar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pSp>
        <p:nvGrpSpPr>
          <p:cNvPr id="35" name="组合 34"/>
          <p:cNvGrpSpPr/>
          <p:nvPr/>
        </p:nvGrpSpPr>
        <p:grpSpPr>
          <a:xfrm flipH="1">
            <a:off x="868158" y="3850773"/>
            <a:ext cx="2228198" cy="1896077"/>
            <a:chOff x="9019116" y="3838073"/>
            <a:chExt cx="2228198" cy="1896077"/>
          </a:xfrm>
        </p:grpSpPr>
        <p:sp>
          <p:nvSpPr>
            <p:cNvPr id="36" name="矩形 35"/>
            <p:cNvSpPr/>
            <p:nvPr/>
          </p:nvSpPr>
          <p:spPr>
            <a:xfrm>
              <a:off x="9019116" y="3838073"/>
              <a:ext cx="2228198" cy="1896077"/>
            </a:xfrm>
            <a:prstGeom prst="rect">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zh-CN" altLang="en-US" sz="2000">
                <a:solidFill>
                  <a:schemeClr val="bg1"/>
                </a:solidFill>
                <a:cs typeface="+mn-ea"/>
                <a:sym typeface="+mn-lt"/>
              </a:endParaRPr>
            </a:p>
          </p:txBody>
        </p:sp>
        <p:sp>
          <p:nvSpPr>
            <p:cNvPr id="37" name="Freeform 207"/>
            <p:cNvSpPr>
              <a:spLocks noEditPoints="1"/>
            </p:cNvSpPr>
            <p:nvPr/>
          </p:nvSpPr>
          <p:spPr bwMode="auto">
            <a:xfrm>
              <a:off x="9259359" y="4099029"/>
              <a:ext cx="471487" cy="292100"/>
            </a:xfrm>
            <a:custGeom>
              <a:avLst/>
              <a:gdLst>
                <a:gd name="T0" fmla="*/ 0 w 149"/>
                <a:gd name="T1" fmla="*/ 0 h 92"/>
                <a:gd name="T2" fmla="*/ 8 w 149"/>
                <a:gd name="T3" fmla="*/ 84 h 92"/>
                <a:gd name="T4" fmla="*/ 131 w 149"/>
                <a:gd name="T5" fmla="*/ 39 h 92"/>
                <a:gd name="T6" fmla="*/ 135 w 149"/>
                <a:gd name="T7" fmla="*/ 72 h 92"/>
                <a:gd name="T8" fmla="*/ 20 w 149"/>
                <a:gd name="T9" fmla="*/ 19 h 92"/>
                <a:gd name="T10" fmla="*/ 27 w 149"/>
                <a:gd name="T11" fmla="*/ 19 h 92"/>
                <a:gd name="T12" fmla="*/ 26 w 149"/>
                <a:gd name="T13" fmla="*/ 15 h 92"/>
                <a:gd name="T14" fmla="*/ 16 w 149"/>
                <a:gd name="T15" fmla="*/ 30 h 92"/>
                <a:gd name="T16" fmla="*/ 28 w 149"/>
                <a:gd name="T17" fmla="*/ 30 h 92"/>
                <a:gd name="T18" fmla="*/ 24 w 149"/>
                <a:gd name="T19" fmla="*/ 28 h 92"/>
                <a:gd name="T20" fmla="*/ 18 w 149"/>
                <a:gd name="T21" fmla="*/ 23 h 92"/>
                <a:gd name="T22" fmla="*/ 34 w 149"/>
                <a:gd name="T23" fmla="*/ 32 h 92"/>
                <a:gd name="T24" fmla="*/ 38 w 149"/>
                <a:gd name="T25" fmla="*/ 23 h 92"/>
                <a:gd name="T26" fmla="*/ 42 w 149"/>
                <a:gd name="T27" fmla="*/ 23 h 92"/>
                <a:gd name="T28" fmla="*/ 34 w 149"/>
                <a:gd name="T29" fmla="*/ 14 h 92"/>
                <a:gd name="T30" fmla="*/ 49 w 149"/>
                <a:gd name="T31" fmla="*/ 28 h 92"/>
                <a:gd name="T32" fmla="*/ 55 w 149"/>
                <a:gd name="T33" fmla="*/ 28 h 92"/>
                <a:gd name="T34" fmla="*/ 54 w 149"/>
                <a:gd name="T35" fmla="*/ 32 h 92"/>
                <a:gd name="T36" fmla="*/ 46 w 149"/>
                <a:gd name="T37" fmla="*/ 20 h 92"/>
                <a:gd name="T38" fmla="*/ 53 w 149"/>
                <a:gd name="T39" fmla="*/ 24 h 92"/>
                <a:gd name="T40" fmla="*/ 53 w 149"/>
                <a:gd name="T41" fmla="*/ 24 h 92"/>
                <a:gd name="T42" fmla="*/ 63 w 149"/>
                <a:gd name="T43" fmla="*/ 32 h 92"/>
                <a:gd name="T44" fmla="*/ 59 w 149"/>
                <a:gd name="T45" fmla="*/ 20 h 92"/>
                <a:gd name="T46" fmla="*/ 66 w 149"/>
                <a:gd name="T47" fmla="*/ 19 h 92"/>
                <a:gd name="T48" fmla="*/ 66 w 149"/>
                <a:gd name="T49" fmla="*/ 22 h 92"/>
                <a:gd name="T50" fmla="*/ 62 w 149"/>
                <a:gd name="T51" fmla="*/ 28 h 92"/>
                <a:gd name="T52" fmla="*/ 73 w 149"/>
                <a:gd name="T53" fmla="*/ 27 h 92"/>
                <a:gd name="T54" fmla="*/ 81 w 149"/>
                <a:gd name="T55" fmla="*/ 32 h 92"/>
                <a:gd name="T56" fmla="*/ 80 w 149"/>
                <a:gd name="T57" fmla="*/ 28 h 92"/>
                <a:gd name="T58" fmla="*/ 77 w 149"/>
                <a:gd name="T59" fmla="*/ 25 h 92"/>
                <a:gd name="T60" fmla="*/ 87 w 149"/>
                <a:gd name="T61" fmla="*/ 25 h 92"/>
                <a:gd name="T62" fmla="*/ 100 w 149"/>
                <a:gd name="T63" fmla="*/ 26 h 92"/>
                <a:gd name="T64" fmla="*/ 95 w 149"/>
                <a:gd name="T65" fmla="*/ 29 h 92"/>
                <a:gd name="T66" fmla="*/ 99 w 149"/>
                <a:gd name="T67" fmla="*/ 28 h 92"/>
                <a:gd name="T68" fmla="*/ 94 w 149"/>
                <a:gd name="T69" fmla="*/ 32 h 92"/>
                <a:gd name="T70" fmla="*/ 92 w 149"/>
                <a:gd name="T71" fmla="*/ 22 h 92"/>
                <a:gd name="T72" fmla="*/ 34 w 149"/>
                <a:gd name="T73" fmla="*/ 56 h 92"/>
                <a:gd name="T74" fmla="*/ 18 w 149"/>
                <a:gd name="T75" fmla="*/ 65 h 92"/>
                <a:gd name="T76" fmla="*/ 21 w 149"/>
                <a:gd name="T77" fmla="*/ 63 h 92"/>
                <a:gd name="T78" fmla="*/ 15 w 149"/>
                <a:gd name="T79" fmla="*/ 54 h 92"/>
                <a:gd name="T80" fmla="*/ 22 w 149"/>
                <a:gd name="T81" fmla="*/ 50 h 92"/>
                <a:gd name="T82" fmla="*/ 26 w 149"/>
                <a:gd name="T83" fmla="*/ 54 h 92"/>
                <a:gd name="T84" fmla="*/ 23 w 149"/>
                <a:gd name="T85" fmla="*/ 56 h 92"/>
                <a:gd name="T86" fmla="*/ 22 w 149"/>
                <a:gd name="T87" fmla="*/ 65 h 92"/>
                <a:gd name="T88" fmla="*/ 22 w 149"/>
                <a:gd name="T89" fmla="*/ 62 h 92"/>
                <a:gd name="T90" fmla="*/ 22 w 149"/>
                <a:gd name="T91" fmla="*/ 59 h 92"/>
                <a:gd name="T92" fmla="*/ 19 w 149"/>
                <a:gd name="T93" fmla="*/ 53 h 92"/>
                <a:gd name="T94" fmla="*/ 120 w 149"/>
                <a:gd name="T95" fmla="*/ 15 h 92"/>
                <a:gd name="T96" fmla="*/ 106 w 149"/>
                <a:gd name="T97" fmla="*/ 42 h 92"/>
                <a:gd name="T98" fmla="*/ 127 w 149"/>
                <a:gd name="T99" fmla="*/ 39 h 92"/>
                <a:gd name="T100" fmla="*/ 131 w 149"/>
                <a:gd name="T101" fmla="*/ 22 h 92"/>
                <a:gd name="T102" fmla="*/ 130 w 149"/>
                <a:gd name="T103" fmla="*/ 77 h 92"/>
                <a:gd name="T104" fmla="*/ 98 w 149"/>
                <a:gd name="T105" fmla="*/ 74 h 92"/>
                <a:gd name="T106" fmla="*/ 90 w 149"/>
                <a:gd name="T107" fmla="*/ 72 h 92"/>
                <a:gd name="T108" fmla="*/ 97 w 149"/>
                <a:gd name="T109" fmla="*/ 63 h 92"/>
                <a:gd name="T110" fmla="*/ 94 w 149"/>
                <a:gd name="T111" fmla="*/ 62 h 92"/>
                <a:gd name="T112" fmla="*/ 90 w 149"/>
                <a:gd name="T113" fmla="*/ 70 h 92"/>
                <a:gd name="T114" fmla="*/ 98 w 149"/>
                <a:gd name="T115" fmla="*/ 76 h 92"/>
                <a:gd name="T116" fmla="*/ 128 w 149"/>
                <a:gd name="T117" fmla="*/ 7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9" h="92">
                  <a:moveTo>
                    <a:pt x="129" y="80"/>
                  </a:moveTo>
                  <a:cubicBezTo>
                    <a:pt x="132" y="80"/>
                    <a:pt x="135" y="79"/>
                    <a:pt x="137" y="78"/>
                  </a:cubicBezTo>
                  <a:cubicBezTo>
                    <a:pt x="137" y="92"/>
                    <a:pt x="137" y="92"/>
                    <a:pt x="137" y="92"/>
                  </a:cubicBezTo>
                  <a:cubicBezTo>
                    <a:pt x="0" y="92"/>
                    <a:pt x="0" y="92"/>
                    <a:pt x="0" y="92"/>
                  </a:cubicBezTo>
                  <a:cubicBezTo>
                    <a:pt x="0" y="0"/>
                    <a:pt x="0" y="0"/>
                    <a:pt x="0" y="0"/>
                  </a:cubicBezTo>
                  <a:cubicBezTo>
                    <a:pt x="137" y="0"/>
                    <a:pt x="137" y="0"/>
                    <a:pt x="137" y="0"/>
                  </a:cubicBezTo>
                  <a:cubicBezTo>
                    <a:pt x="137" y="3"/>
                    <a:pt x="137" y="3"/>
                    <a:pt x="137" y="3"/>
                  </a:cubicBezTo>
                  <a:cubicBezTo>
                    <a:pt x="134" y="5"/>
                    <a:pt x="130" y="6"/>
                    <a:pt x="127" y="8"/>
                  </a:cubicBezTo>
                  <a:cubicBezTo>
                    <a:pt x="8" y="8"/>
                    <a:pt x="8" y="8"/>
                    <a:pt x="8" y="8"/>
                  </a:cubicBezTo>
                  <a:cubicBezTo>
                    <a:pt x="8" y="84"/>
                    <a:pt x="8" y="84"/>
                    <a:pt x="8" y="84"/>
                  </a:cubicBezTo>
                  <a:cubicBezTo>
                    <a:pt x="129" y="84"/>
                    <a:pt x="129" y="84"/>
                    <a:pt x="129" y="84"/>
                  </a:cubicBezTo>
                  <a:cubicBezTo>
                    <a:pt x="129" y="80"/>
                    <a:pt x="129" y="80"/>
                    <a:pt x="129" y="80"/>
                  </a:cubicBezTo>
                  <a:cubicBezTo>
                    <a:pt x="129" y="80"/>
                    <a:pt x="129" y="80"/>
                    <a:pt x="129" y="80"/>
                  </a:cubicBezTo>
                  <a:close/>
                  <a:moveTo>
                    <a:pt x="131" y="38"/>
                  </a:moveTo>
                  <a:cubicBezTo>
                    <a:pt x="131" y="39"/>
                    <a:pt x="131" y="39"/>
                    <a:pt x="131" y="39"/>
                  </a:cubicBezTo>
                  <a:cubicBezTo>
                    <a:pt x="130" y="41"/>
                    <a:pt x="130" y="41"/>
                    <a:pt x="130" y="41"/>
                  </a:cubicBezTo>
                  <a:cubicBezTo>
                    <a:pt x="129" y="41"/>
                    <a:pt x="129" y="42"/>
                    <a:pt x="129" y="42"/>
                  </a:cubicBezTo>
                  <a:cubicBezTo>
                    <a:pt x="129" y="73"/>
                    <a:pt x="129" y="73"/>
                    <a:pt x="129" y="73"/>
                  </a:cubicBezTo>
                  <a:cubicBezTo>
                    <a:pt x="129" y="74"/>
                    <a:pt x="129" y="74"/>
                    <a:pt x="129" y="74"/>
                  </a:cubicBezTo>
                  <a:cubicBezTo>
                    <a:pt x="131" y="74"/>
                    <a:pt x="133" y="73"/>
                    <a:pt x="135" y="72"/>
                  </a:cubicBezTo>
                  <a:cubicBezTo>
                    <a:pt x="136" y="72"/>
                    <a:pt x="136" y="71"/>
                    <a:pt x="137" y="71"/>
                  </a:cubicBezTo>
                  <a:cubicBezTo>
                    <a:pt x="137" y="29"/>
                    <a:pt x="137" y="29"/>
                    <a:pt x="137" y="29"/>
                  </a:cubicBezTo>
                  <a:cubicBezTo>
                    <a:pt x="136" y="32"/>
                    <a:pt x="134" y="35"/>
                    <a:pt x="132" y="37"/>
                  </a:cubicBezTo>
                  <a:cubicBezTo>
                    <a:pt x="132" y="38"/>
                    <a:pt x="132" y="38"/>
                    <a:pt x="131" y="38"/>
                  </a:cubicBezTo>
                  <a:close/>
                  <a:moveTo>
                    <a:pt x="20" y="19"/>
                  </a:moveTo>
                  <a:cubicBezTo>
                    <a:pt x="20" y="18"/>
                    <a:pt x="21" y="18"/>
                    <a:pt x="21" y="18"/>
                  </a:cubicBezTo>
                  <a:cubicBezTo>
                    <a:pt x="22" y="18"/>
                    <a:pt x="22" y="18"/>
                    <a:pt x="23" y="18"/>
                  </a:cubicBezTo>
                  <a:cubicBezTo>
                    <a:pt x="23" y="18"/>
                    <a:pt x="24" y="18"/>
                    <a:pt x="24" y="18"/>
                  </a:cubicBezTo>
                  <a:cubicBezTo>
                    <a:pt x="25" y="18"/>
                    <a:pt x="25" y="18"/>
                    <a:pt x="26" y="18"/>
                  </a:cubicBezTo>
                  <a:cubicBezTo>
                    <a:pt x="26" y="19"/>
                    <a:pt x="26" y="19"/>
                    <a:pt x="27" y="19"/>
                  </a:cubicBezTo>
                  <a:cubicBezTo>
                    <a:pt x="27" y="19"/>
                    <a:pt x="27" y="20"/>
                    <a:pt x="27" y="20"/>
                  </a:cubicBezTo>
                  <a:cubicBezTo>
                    <a:pt x="28" y="20"/>
                    <a:pt x="28" y="20"/>
                    <a:pt x="28" y="20"/>
                  </a:cubicBezTo>
                  <a:cubicBezTo>
                    <a:pt x="28" y="16"/>
                    <a:pt x="28" y="16"/>
                    <a:pt x="28" y="16"/>
                  </a:cubicBezTo>
                  <a:cubicBezTo>
                    <a:pt x="28" y="16"/>
                    <a:pt x="27" y="16"/>
                    <a:pt x="27" y="15"/>
                  </a:cubicBezTo>
                  <a:cubicBezTo>
                    <a:pt x="26" y="15"/>
                    <a:pt x="26" y="15"/>
                    <a:pt x="26" y="15"/>
                  </a:cubicBezTo>
                  <a:cubicBezTo>
                    <a:pt x="25" y="15"/>
                    <a:pt x="25" y="15"/>
                    <a:pt x="24" y="15"/>
                  </a:cubicBezTo>
                  <a:cubicBezTo>
                    <a:pt x="23" y="14"/>
                    <a:pt x="23" y="14"/>
                    <a:pt x="22" y="14"/>
                  </a:cubicBezTo>
                  <a:cubicBezTo>
                    <a:pt x="20" y="14"/>
                    <a:pt x="18" y="15"/>
                    <a:pt x="16" y="17"/>
                  </a:cubicBezTo>
                  <a:cubicBezTo>
                    <a:pt x="15" y="18"/>
                    <a:pt x="14" y="21"/>
                    <a:pt x="14" y="23"/>
                  </a:cubicBezTo>
                  <a:cubicBezTo>
                    <a:pt x="14" y="26"/>
                    <a:pt x="15" y="28"/>
                    <a:pt x="16" y="30"/>
                  </a:cubicBezTo>
                  <a:cubicBezTo>
                    <a:pt x="18" y="31"/>
                    <a:pt x="20" y="32"/>
                    <a:pt x="22" y="32"/>
                  </a:cubicBezTo>
                  <a:cubicBezTo>
                    <a:pt x="23" y="32"/>
                    <a:pt x="24" y="32"/>
                    <a:pt x="24" y="32"/>
                  </a:cubicBezTo>
                  <a:cubicBezTo>
                    <a:pt x="25" y="32"/>
                    <a:pt x="25" y="32"/>
                    <a:pt x="26" y="31"/>
                  </a:cubicBezTo>
                  <a:cubicBezTo>
                    <a:pt x="26" y="31"/>
                    <a:pt x="26" y="31"/>
                    <a:pt x="27" y="31"/>
                  </a:cubicBezTo>
                  <a:cubicBezTo>
                    <a:pt x="27" y="31"/>
                    <a:pt x="28" y="31"/>
                    <a:pt x="28" y="30"/>
                  </a:cubicBezTo>
                  <a:cubicBezTo>
                    <a:pt x="28" y="26"/>
                    <a:pt x="28" y="26"/>
                    <a:pt x="28" y="26"/>
                  </a:cubicBezTo>
                  <a:cubicBezTo>
                    <a:pt x="27" y="26"/>
                    <a:pt x="27" y="26"/>
                    <a:pt x="27" y="26"/>
                  </a:cubicBezTo>
                  <a:cubicBezTo>
                    <a:pt x="27" y="27"/>
                    <a:pt x="27" y="27"/>
                    <a:pt x="27" y="27"/>
                  </a:cubicBezTo>
                  <a:cubicBezTo>
                    <a:pt x="26" y="27"/>
                    <a:pt x="26" y="28"/>
                    <a:pt x="26" y="28"/>
                  </a:cubicBezTo>
                  <a:cubicBezTo>
                    <a:pt x="25" y="28"/>
                    <a:pt x="25" y="28"/>
                    <a:pt x="24" y="28"/>
                  </a:cubicBezTo>
                  <a:cubicBezTo>
                    <a:pt x="24" y="29"/>
                    <a:pt x="23" y="29"/>
                    <a:pt x="23" y="29"/>
                  </a:cubicBezTo>
                  <a:cubicBezTo>
                    <a:pt x="22" y="29"/>
                    <a:pt x="22" y="29"/>
                    <a:pt x="21" y="28"/>
                  </a:cubicBezTo>
                  <a:cubicBezTo>
                    <a:pt x="21" y="28"/>
                    <a:pt x="20" y="28"/>
                    <a:pt x="20" y="28"/>
                  </a:cubicBezTo>
                  <a:cubicBezTo>
                    <a:pt x="19" y="27"/>
                    <a:pt x="19" y="27"/>
                    <a:pt x="19" y="26"/>
                  </a:cubicBezTo>
                  <a:cubicBezTo>
                    <a:pt x="18" y="25"/>
                    <a:pt x="18" y="24"/>
                    <a:pt x="18" y="23"/>
                  </a:cubicBezTo>
                  <a:cubicBezTo>
                    <a:pt x="18" y="22"/>
                    <a:pt x="18" y="21"/>
                    <a:pt x="19" y="21"/>
                  </a:cubicBezTo>
                  <a:cubicBezTo>
                    <a:pt x="19" y="20"/>
                    <a:pt x="19" y="19"/>
                    <a:pt x="20" y="19"/>
                  </a:cubicBezTo>
                  <a:close/>
                  <a:moveTo>
                    <a:pt x="30" y="14"/>
                  </a:moveTo>
                  <a:cubicBezTo>
                    <a:pt x="30" y="32"/>
                    <a:pt x="30" y="32"/>
                    <a:pt x="30" y="32"/>
                  </a:cubicBezTo>
                  <a:cubicBezTo>
                    <a:pt x="34" y="32"/>
                    <a:pt x="34" y="32"/>
                    <a:pt x="34" y="32"/>
                  </a:cubicBezTo>
                  <a:cubicBezTo>
                    <a:pt x="34" y="23"/>
                    <a:pt x="34" y="23"/>
                    <a:pt x="34" y="23"/>
                  </a:cubicBezTo>
                  <a:cubicBezTo>
                    <a:pt x="34" y="22"/>
                    <a:pt x="35" y="22"/>
                    <a:pt x="35" y="22"/>
                  </a:cubicBezTo>
                  <a:cubicBezTo>
                    <a:pt x="35" y="22"/>
                    <a:pt x="36" y="22"/>
                    <a:pt x="36" y="22"/>
                  </a:cubicBezTo>
                  <a:cubicBezTo>
                    <a:pt x="37" y="22"/>
                    <a:pt x="37" y="22"/>
                    <a:pt x="37" y="22"/>
                  </a:cubicBezTo>
                  <a:cubicBezTo>
                    <a:pt x="37" y="22"/>
                    <a:pt x="38" y="22"/>
                    <a:pt x="38" y="23"/>
                  </a:cubicBezTo>
                  <a:cubicBezTo>
                    <a:pt x="38" y="23"/>
                    <a:pt x="38" y="23"/>
                    <a:pt x="38" y="24"/>
                  </a:cubicBezTo>
                  <a:cubicBezTo>
                    <a:pt x="38" y="24"/>
                    <a:pt x="38" y="25"/>
                    <a:pt x="38" y="25"/>
                  </a:cubicBezTo>
                  <a:cubicBezTo>
                    <a:pt x="38" y="32"/>
                    <a:pt x="38" y="32"/>
                    <a:pt x="38" y="32"/>
                  </a:cubicBezTo>
                  <a:cubicBezTo>
                    <a:pt x="42" y="32"/>
                    <a:pt x="42" y="32"/>
                    <a:pt x="42" y="32"/>
                  </a:cubicBezTo>
                  <a:cubicBezTo>
                    <a:pt x="42" y="23"/>
                    <a:pt x="42" y="23"/>
                    <a:pt x="42" y="23"/>
                  </a:cubicBezTo>
                  <a:cubicBezTo>
                    <a:pt x="42" y="22"/>
                    <a:pt x="42" y="21"/>
                    <a:pt x="41" y="20"/>
                  </a:cubicBezTo>
                  <a:cubicBezTo>
                    <a:pt x="40" y="19"/>
                    <a:pt x="39" y="19"/>
                    <a:pt x="38" y="19"/>
                  </a:cubicBezTo>
                  <a:cubicBezTo>
                    <a:pt x="37" y="19"/>
                    <a:pt x="37" y="19"/>
                    <a:pt x="36" y="19"/>
                  </a:cubicBezTo>
                  <a:cubicBezTo>
                    <a:pt x="35" y="19"/>
                    <a:pt x="35" y="20"/>
                    <a:pt x="34" y="20"/>
                  </a:cubicBezTo>
                  <a:cubicBezTo>
                    <a:pt x="34" y="14"/>
                    <a:pt x="34" y="14"/>
                    <a:pt x="34" y="14"/>
                  </a:cubicBezTo>
                  <a:lnTo>
                    <a:pt x="30" y="14"/>
                  </a:lnTo>
                  <a:close/>
                  <a:moveTo>
                    <a:pt x="57" y="26"/>
                  </a:moveTo>
                  <a:cubicBezTo>
                    <a:pt x="48" y="26"/>
                    <a:pt x="48" y="26"/>
                    <a:pt x="48" y="26"/>
                  </a:cubicBezTo>
                  <a:cubicBezTo>
                    <a:pt x="48" y="27"/>
                    <a:pt x="48" y="27"/>
                    <a:pt x="48" y="27"/>
                  </a:cubicBezTo>
                  <a:cubicBezTo>
                    <a:pt x="48" y="28"/>
                    <a:pt x="49" y="28"/>
                    <a:pt x="49" y="28"/>
                  </a:cubicBezTo>
                  <a:cubicBezTo>
                    <a:pt x="49" y="29"/>
                    <a:pt x="50" y="29"/>
                    <a:pt x="50" y="29"/>
                  </a:cubicBezTo>
                  <a:cubicBezTo>
                    <a:pt x="51" y="29"/>
                    <a:pt x="51" y="29"/>
                    <a:pt x="52" y="29"/>
                  </a:cubicBezTo>
                  <a:cubicBezTo>
                    <a:pt x="52" y="29"/>
                    <a:pt x="53" y="29"/>
                    <a:pt x="53" y="29"/>
                  </a:cubicBezTo>
                  <a:cubicBezTo>
                    <a:pt x="54" y="29"/>
                    <a:pt x="54" y="29"/>
                    <a:pt x="54" y="28"/>
                  </a:cubicBezTo>
                  <a:cubicBezTo>
                    <a:pt x="55" y="28"/>
                    <a:pt x="55" y="28"/>
                    <a:pt x="55" y="28"/>
                  </a:cubicBezTo>
                  <a:cubicBezTo>
                    <a:pt x="56" y="28"/>
                    <a:pt x="56" y="28"/>
                    <a:pt x="56" y="28"/>
                  </a:cubicBezTo>
                  <a:cubicBezTo>
                    <a:pt x="56" y="28"/>
                    <a:pt x="56" y="28"/>
                    <a:pt x="56" y="28"/>
                  </a:cubicBezTo>
                  <a:cubicBezTo>
                    <a:pt x="56" y="31"/>
                    <a:pt x="56" y="31"/>
                    <a:pt x="56" y="31"/>
                  </a:cubicBezTo>
                  <a:cubicBezTo>
                    <a:pt x="56" y="31"/>
                    <a:pt x="56" y="31"/>
                    <a:pt x="55" y="31"/>
                  </a:cubicBezTo>
                  <a:cubicBezTo>
                    <a:pt x="55" y="31"/>
                    <a:pt x="55" y="31"/>
                    <a:pt x="54" y="32"/>
                  </a:cubicBezTo>
                  <a:cubicBezTo>
                    <a:pt x="54" y="32"/>
                    <a:pt x="53" y="32"/>
                    <a:pt x="53" y="32"/>
                  </a:cubicBezTo>
                  <a:cubicBezTo>
                    <a:pt x="53" y="32"/>
                    <a:pt x="52" y="32"/>
                    <a:pt x="51" y="32"/>
                  </a:cubicBezTo>
                  <a:cubicBezTo>
                    <a:pt x="49" y="32"/>
                    <a:pt x="47" y="31"/>
                    <a:pt x="46" y="30"/>
                  </a:cubicBezTo>
                  <a:cubicBezTo>
                    <a:pt x="45" y="29"/>
                    <a:pt x="44" y="27"/>
                    <a:pt x="44" y="25"/>
                  </a:cubicBezTo>
                  <a:cubicBezTo>
                    <a:pt x="44" y="23"/>
                    <a:pt x="45" y="22"/>
                    <a:pt x="46" y="20"/>
                  </a:cubicBezTo>
                  <a:cubicBezTo>
                    <a:pt x="47" y="19"/>
                    <a:pt x="49" y="19"/>
                    <a:pt x="51" y="19"/>
                  </a:cubicBezTo>
                  <a:cubicBezTo>
                    <a:pt x="53" y="19"/>
                    <a:pt x="54" y="19"/>
                    <a:pt x="55" y="20"/>
                  </a:cubicBezTo>
                  <a:cubicBezTo>
                    <a:pt x="56" y="21"/>
                    <a:pt x="57" y="23"/>
                    <a:pt x="57" y="25"/>
                  </a:cubicBezTo>
                  <a:lnTo>
                    <a:pt x="57" y="26"/>
                  </a:lnTo>
                  <a:close/>
                  <a:moveTo>
                    <a:pt x="53" y="24"/>
                  </a:moveTo>
                  <a:cubicBezTo>
                    <a:pt x="53" y="23"/>
                    <a:pt x="52" y="22"/>
                    <a:pt x="52" y="22"/>
                  </a:cubicBezTo>
                  <a:cubicBezTo>
                    <a:pt x="52" y="21"/>
                    <a:pt x="51" y="21"/>
                    <a:pt x="50" y="21"/>
                  </a:cubicBezTo>
                  <a:cubicBezTo>
                    <a:pt x="50" y="21"/>
                    <a:pt x="49" y="21"/>
                    <a:pt x="49" y="22"/>
                  </a:cubicBezTo>
                  <a:cubicBezTo>
                    <a:pt x="48" y="22"/>
                    <a:pt x="48" y="23"/>
                    <a:pt x="48" y="24"/>
                  </a:cubicBezTo>
                  <a:lnTo>
                    <a:pt x="53" y="24"/>
                  </a:lnTo>
                  <a:close/>
                  <a:moveTo>
                    <a:pt x="66" y="36"/>
                  </a:moveTo>
                  <a:cubicBezTo>
                    <a:pt x="66" y="30"/>
                    <a:pt x="66" y="30"/>
                    <a:pt x="66" y="30"/>
                  </a:cubicBezTo>
                  <a:cubicBezTo>
                    <a:pt x="66" y="31"/>
                    <a:pt x="66" y="31"/>
                    <a:pt x="65" y="31"/>
                  </a:cubicBezTo>
                  <a:cubicBezTo>
                    <a:pt x="65" y="31"/>
                    <a:pt x="65" y="31"/>
                    <a:pt x="64" y="31"/>
                  </a:cubicBezTo>
                  <a:cubicBezTo>
                    <a:pt x="64" y="32"/>
                    <a:pt x="64" y="32"/>
                    <a:pt x="63" y="32"/>
                  </a:cubicBezTo>
                  <a:cubicBezTo>
                    <a:pt x="63" y="32"/>
                    <a:pt x="63" y="32"/>
                    <a:pt x="62" y="32"/>
                  </a:cubicBezTo>
                  <a:cubicBezTo>
                    <a:pt x="61" y="32"/>
                    <a:pt x="60" y="31"/>
                    <a:pt x="59" y="30"/>
                  </a:cubicBezTo>
                  <a:cubicBezTo>
                    <a:pt x="58" y="29"/>
                    <a:pt x="58" y="27"/>
                    <a:pt x="58" y="25"/>
                  </a:cubicBezTo>
                  <a:cubicBezTo>
                    <a:pt x="58" y="24"/>
                    <a:pt x="58" y="23"/>
                    <a:pt x="58" y="22"/>
                  </a:cubicBezTo>
                  <a:cubicBezTo>
                    <a:pt x="58" y="22"/>
                    <a:pt x="59" y="21"/>
                    <a:pt x="59" y="20"/>
                  </a:cubicBezTo>
                  <a:cubicBezTo>
                    <a:pt x="60" y="20"/>
                    <a:pt x="60" y="19"/>
                    <a:pt x="61" y="19"/>
                  </a:cubicBezTo>
                  <a:cubicBezTo>
                    <a:pt x="62" y="19"/>
                    <a:pt x="62" y="19"/>
                    <a:pt x="63" y="19"/>
                  </a:cubicBezTo>
                  <a:cubicBezTo>
                    <a:pt x="64" y="19"/>
                    <a:pt x="64" y="19"/>
                    <a:pt x="65" y="19"/>
                  </a:cubicBezTo>
                  <a:cubicBezTo>
                    <a:pt x="65" y="19"/>
                    <a:pt x="66" y="19"/>
                    <a:pt x="66" y="19"/>
                  </a:cubicBezTo>
                  <a:cubicBezTo>
                    <a:pt x="66" y="19"/>
                    <a:pt x="66" y="19"/>
                    <a:pt x="66" y="19"/>
                  </a:cubicBezTo>
                  <a:cubicBezTo>
                    <a:pt x="70" y="19"/>
                    <a:pt x="70" y="19"/>
                    <a:pt x="70" y="19"/>
                  </a:cubicBezTo>
                  <a:cubicBezTo>
                    <a:pt x="70" y="36"/>
                    <a:pt x="70" y="36"/>
                    <a:pt x="70" y="36"/>
                  </a:cubicBezTo>
                  <a:lnTo>
                    <a:pt x="66" y="36"/>
                  </a:lnTo>
                  <a:close/>
                  <a:moveTo>
                    <a:pt x="66" y="28"/>
                  </a:moveTo>
                  <a:cubicBezTo>
                    <a:pt x="66" y="22"/>
                    <a:pt x="66" y="22"/>
                    <a:pt x="66" y="22"/>
                  </a:cubicBezTo>
                  <a:cubicBezTo>
                    <a:pt x="66" y="22"/>
                    <a:pt x="66" y="22"/>
                    <a:pt x="65" y="22"/>
                  </a:cubicBezTo>
                  <a:cubicBezTo>
                    <a:pt x="65" y="22"/>
                    <a:pt x="65" y="22"/>
                    <a:pt x="65" y="22"/>
                  </a:cubicBezTo>
                  <a:cubicBezTo>
                    <a:pt x="64" y="22"/>
                    <a:pt x="63" y="22"/>
                    <a:pt x="62" y="22"/>
                  </a:cubicBezTo>
                  <a:cubicBezTo>
                    <a:pt x="62" y="23"/>
                    <a:pt x="62" y="24"/>
                    <a:pt x="62" y="25"/>
                  </a:cubicBezTo>
                  <a:cubicBezTo>
                    <a:pt x="62" y="27"/>
                    <a:pt x="62" y="27"/>
                    <a:pt x="62" y="28"/>
                  </a:cubicBezTo>
                  <a:cubicBezTo>
                    <a:pt x="63" y="29"/>
                    <a:pt x="63" y="29"/>
                    <a:pt x="64" y="29"/>
                  </a:cubicBezTo>
                  <a:cubicBezTo>
                    <a:pt x="64" y="29"/>
                    <a:pt x="65" y="29"/>
                    <a:pt x="65" y="29"/>
                  </a:cubicBezTo>
                  <a:cubicBezTo>
                    <a:pt x="66" y="28"/>
                    <a:pt x="66" y="28"/>
                    <a:pt x="66" y="28"/>
                  </a:cubicBezTo>
                  <a:close/>
                  <a:moveTo>
                    <a:pt x="73" y="19"/>
                  </a:moveTo>
                  <a:cubicBezTo>
                    <a:pt x="73" y="27"/>
                    <a:pt x="73" y="27"/>
                    <a:pt x="73" y="27"/>
                  </a:cubicBezTo>
                  <a:cubicBezTo>
                    <a:pt x="73" y="29"/>
                    <a:pt x="73" y="30"/>
                    <a:pt x="74" y="31"/>
                  </a:cubicBezTo>
                  <a:cubicBezTo>
                    <a:pt x="75" y="31"/>
                    <a:pt x="76" y="32"/>
                    <a:pt x="77" y="32"/>
                  </a:cubicBezTo>
                  <a:cubicBezTo>
                    <a:pt x="78" y="32"/>
                    <a:pt x="78" y="32"/>
                    <a:pt x="79" y="31"/>
                  </a:cubicBezTo>
                  <a:cubicBezTo>
                    <a:pt x="80" y="31"/>
                    <a:pt x="80" y="31"/>
                    <a:pt x="81" y="30"/>
                  </a:cubicBezTo>
                  <a:cubicBezTo>
                    <a:pt x="81" y="32"/>
                    <a:pt x="81" y="32"/>
                    <a:pt x="81" y="32"/>
                  </a:cubicBezTo>
                  <a:cubicBezTo>
                    <a:pt x="85" y="32"/>
                    <a:pt x="85" y="32"/>
                    <a:pt x="85" y="32"/>
                  </a:cubicBezTo>
                  <a:cubicBezTo>
                    <a:pt x="85" y="19"/>
                    <a:pt x="85" y="19"/>
                    <a:pt x="85" y="19"/>
                  </a:cubicBezTo>
                  <a:cubicBezTo>
                    <a:pt x="81" y="19"/>
                    <a:pt x="81" y="19"/>
                    <a:pt x="81" y="19"/>
                  </a:cubicBezTo>
                  <a:cubicBezTo>
                    <a:pt x="81" y="28"/>
                    <a:pt x="81" y="28"/>
                    <a:pt x="81" y="28"/>
                  </a:cubicBezTo>
                  <a:cubicBezTo>
                    <a:pt x="81" y="28"/>
                    <a:pt x="80" y="28"/>
                    <a:pt x="80" y="28"/>
                  </a:cubicBezTo>
                  <a:cubicBezTo>
                    <a:pt x="79" y="29"/>
                    <a:pt x="79" y="29"/>
                    <a:pt x="79" y="29"/>
                  </a:cubicBezTo>
                  <a:cubicBezTo>
                    <a:pt x="78" y="29"/>
                    <a:pt x="78" y="29"/>
                    <a:pt x="78" y="28"/>
                  </a:cubicBezTo>
                  <a:cubicBezTo>
                    <a:pt x="78" y="28"/>
                    <a:pt x="77" y="28"/>
                    <a:pt x="77" y="28"/>
                  </a:cubicBezTo>
                  <a:cubicBezTo>
                    <a:pt x="77" y="28"/>
                    <a:pt x="77" y="27"/>
                    <a:pt x="77" y="27"/>
                  </a:cubicBezTo>
                  <a:cubicBezTo>
                    <a:pt x="77" y="26"/>
                    <a:pt x="77" y="26"/>
                    <a:pt x="77" y="25"/>
                  </a:cubicBezTo>
                  <a:cubicBezTo>
                    <a:pt x="77" y="19"/>
                    <a:pt x="77" y="19"/>
                    <a:pt x="77" y="19"/>
                  </a:cubicBezTo>
                  <a:lnTo>
                    <a:pt x="73" y="19"/>
                  </a:lnTo>
                  <a:close/>
                  <a:moveTo>
                    <a:pt x="94" y="32"/>
                  </a:moveTo>
                  <a:cubicBezTo>
                    <a:pt x="92" y="32"/>
                    <a:pt x="90" y="31"/>
                    <a:pt x="89" y="30"/>
                  </a:cubicBezTo>
                  <a:cubicBezTo>
                    <a:pt x="88" y="29"/>
                    <a:pt x="87" y="27"/>
                    <a:pt x="87" y="25"/>
                  </a:cubicBezTo>
                  <a:cubicBezTo>
                    <a:pt x="87" y="23"/>
                    <a:pt x="88" y="22"/>
                    <a:pt x="89" y="20"/>
                  </a:cubicBezTo>
                  <a:cubicBezTo>
                    <a:pt x="90" y="19"/>
                    <a:pt x="92" y="19"/>
                    <a:pt x="94" y="19"/>
                  </a:cubicBezTo>
                  <a:cubicBezTo>
                    <a:pt x="96" y="19"/>
                    <a:pt x="97" y="19"/>
                    <a:pt x="98" y="20"/>
                  </a:cubicBezTo>
                  <a:cubicBezTo>
                    <a:pt x="99" y="21"/>
                    <a:pt x="100" y="23"/>
                    <a:pt x="100" y="25"/>
                  </a:cubicBezTo>
                  <a:cubicBezTo>
                    <a:pt x="100" y="26"/>
                    <a:pt x="100" y="26"/>
                    <a:pt x="100" y="26"/>
                  </a:cubicBezTo>
                  <a:cubicBezTo>
                    <a:pt x="91" y="26"/>
                    <a:pt x="91" y="26"/>
                    <a:pt x="91" y="26"/>
                  </a:cubicBezTo>
                  <a:cubicBezTo>
                    <a:pt x="91" y="27"/>
                    <a:pt x="91" y="27"/>
                    <a:pt x="91" y="27"/>
                  </a:cubicBezTo>
                  <a:cubicBezTo>
                    <a:pt x="91" y="28"/>
                    <a:pt x="92" y="28"/>
                    <a:pt x="92" y="28"/>
                  </a:cubicBezTo>
                  <a:cubicBezTo>
                    <a:pt x="92" y="29"/>
                    <a:pt x="93" y="29"/>
                    <a:pt x="93" y="29"/>
                  </a:cubicBezTo>
                  <a:cubicBezTo>
                    <a:pt x="94" y="29"/>
                    <a:pt x="94" y="29"/>
                    <a:pt x="95" y="29"/>
                  </a:cubicBezTo>
                  <a:cubicBezTo>
                    <a:pt x="95" y="29"/>
                    <a:pt x="96" y="29"/>
                    <a:pt x="96" y="29"/>
                  </a:cubicBezTo>
                  <a:cubicBezTo>
                    <a:pt x="97" y="29"/>
                    <a:pt x="97" y="29"/>
                    <a:pt x="97" y="28"/>
                  </a:cubicBezTo>
                  <a:cubicBezTo>
                    <a:pt x="98" y="28"/>
                    <a:pt x="98" y="28"/>
                    <a:pt x="98" y="28"/>
                  </a:cubicBezTo>
                  <a:cubicBezTo>
                    <a:pt x="99" y="28"/>
                    <a:pt x="99" y="28"/>
                    <a:pt x="99" y="28"/>
                  </a:cubicBezTo>
                  <a:cubicBezTo>
                    <a:pt x="99" y="28"/>
                    <a:pt x="99" y="28"/>
                    <a:pt x="99" y="28"/>
                  </a:cubicBezTo>
                  <a:cubicBezTo>
                    <a:pt x="99" y="31"/>
                    <a:pt x="99" y="31"/>
                    <a:pt x="99" y="31"/>
                  </a:cubicBezTo>
                  <a:cubicBezTo>
                    <a:pt x="99" y="31"/>
                    <a:pt x="99" y="31"/>
                    <a:pt x="98" y="31"/>
                  </a:cubicBezTo>
                  <a:cubicBezTo>
                    <a:pt x="98" y="31"/>
                    <a:pt x="98" y="31"/>
                    <a:pt x="97" y="32"/>
                  </a:cubicBezTo>
                  <a:cubicBezTo>
                    <a:pt x="97" y="32"/>
                    <a:pt x="96" y="32"/>
                    <a:pt x="96" y="32"/>
                  </a:cubicBezTo>
                  <a:cubicBezTo>
                    <a:pt x="96" y="32"/>
                    <a:pt x="95" y="32"/>
                    <a:pt x="94" y="32"/>
                  </a:cubicBezTo>
                  <a:close/>
                  <a:moveTo>
                    <a:pt x="91" y="24"/>
                  </a:moveTo>
                  <a:cubicBezTo>
                    <a:pt x="96" y="24"/>
                    <a:pt x="96" y="24"/>
                    <a:pt x="96" y="24"/>
                  </a:cubicBezTo>
                  <a:cubicBezTo>
                    <a:pt x="96" y="23"/>
                    <a:pt x="95" y="22"/>
                    <a:pt x="95" y="22"/>
                  </a:cubicBezTo>
                  <a:cubicBezTo>
                    <a:pt x="95" y="21"/>
                    <a:pt x="94" y="21"/>
                    <a:pt x="93" y="21"/>
                  </a:cubicBezTo>
                  <a:cubicBezTo>
                    <a:pt x="93" y="21"/>
                    <a:pt x="92" y="21"/>
                    <a:pt x="92" y="22"/>
                  </a:cubicBezTo>
                  <a:cubicBezTo>
                    <a:pt x="91" y="22"/>
                    <a:pt x="91" y="23"/>
                    <a:pt x="91" y="24"/>
                  </a:cubicBezTo>
                  <a:close/>
                  <a:moveTo>
                    <a:pt x="34" y="60"/>
                  </a:moveTo>
                  <a:cubicBezTo>
                    <a:pt x="92" y="60"/>
                    <a:pt x="92" y="60"/>
                    <a:pt x="92" y="60"/>
                  </a:cubicBezTo>
                  <a:cubicBezTo>
                    <a:pt x="93" y="58"/>
                    <a:pt x="94" y="57"/>
                    <a:pt x="94" y="56"/>
                  </a:cubicBezTo>
                  <a:cubicBezTo>
                    <a:pt x="34" y="56"/>
                    <a:pt x="34" y="56"/>
                    <a:pt x="34" y="56"/>
                  </a:cubicBezTo>
                  <a:cubicBezTo>
                    <a:pt x="32" y="56"/>
                    <a:pt x="30" y="56"/>
                    <a:pt x="30" y="58"/>
                  </a:cubicBezTo>
                  <a:cubicBezTo>
                    <a:pt x="30" y="59"/>
                    <a:pt x="32" y="60"/>
                    <a:pt x="34" y="60"/>
                  </a:cubicBezTo>
                  <a:close/>
                  <a:moveTo>
                    <a:pt x="21" y="68"/>
                  </a:moveTo>
                  <a:cubicBezTo>
                    <a:pt x="21" y="65"/>
                    <a:pt x="21" y="65"/>
                    <a:pt x="21" y="65"/>
                  </a:cubicBezTo>
                  <a:cubicBezTo>
                    <a:pt x="19" y="65"/>
                    <a:pt x="19" y="65"/>
                    <a:pt x="18" y="65"/>
                  </a:cubicBezTo>
                  <a:cubicBezTo>
                    <a:pt x="17" y="65"/>
                    <a:pt x="16" y="65"/>
                    <a:pt x="15" y="64"/>
                  </a:cubicBezTo>
                  <a:cubicBezTo>
                    <a:pt x="15" y="61"/>
                    <a:pt x="15" y="61"/>
                    <a:pt x="15" y="61"/>
                  </a:cubicBezTo>
                  <a:cubicBezTo>
                    <a:pt x="16" y="61"/>
                    <a:pt x="16" y="61"/>
                    <a:pt x="16" y="61"/>
                  </a:cubicBezTo>
                  <a:cubicBezTo>
                    <a:pt x="16" y="61"/>
                    <a:pt x="17" y="62"/>
                    <a:pt x="18" y="62"/>
                  </a:cubicBezTo>
                  <a:cubicBezTo>
                    <a:pt x="19" y="62"/>
                    <a:pt x="20" y="63"/>
                    <a:pt x="21" y="63"/>
                  </a:cubicBezTo>
                  <a:cubicBezTo>
                    <a:pt x="21" y="59"/>
                    <a:pt x="21" y="59"/>
                    <a:pt x="21" y="59"/>
                  </a:cubicBezTo>
                  <a:cubicBezTo>
                    <a:pt x="20" y="59"/>
                    <a:pt x="20" y="59"/>
                    <a:pt x="20" y="59"/>
                  </a:cubicBezTo>
                  <a:cubicBezTo>
                    <a:pt x="20" y="59"/>
                    <a:pt x="19" y="59"/>
                    <a:pt x="19" y="59"/>
                  </a:cubicBezTo>
                  <a:cubicBezTo>
                    <a:pt x="17" y="58"/>
                    <a:pt x="17" y="58"/>
                    <a:pt x="16" y="57"/>
                  </a:cubicBezTo>
                  <a:cubicBezTo>
                    <a:pt x="16" y="56"/>
                    <a:pt x="15" y="56"/>
                    <a:pt x="15" y="54"/>
                  </a:cubicBezTo>
                  <a:cubicBezTo>
                    <a:pt x="15" y="53"/>
                    <a:pt x="16" y="52"/>
                    <a:pt x="17" y="51"/>
                  </a:cubicBezTo>
                  <a:cubicBezTo>
                    <a:pt x="18" y="50"/>
                    <a:pt x="19" y="50"/>
                    <a:pt x="21" y="50"/>
                  </a:cubicBezTo>
                  <a:cubicBezTo>
                    <a:pt x="21" y="48"/>
                    <a:pt x="21" y="48"/>
                    <a:pt x="21" y="48"/>
                  </a:cubicBezTo>
                  <a:cubicBezTo>
                    <a:pt x="22" y="48"/>
                    <a:pt x="22" y="48"/>
                    <a:pt x="22" y="48"/>
                  </a:cubicBezTo>
                  <a:cubicBezTo>
                    <a:pt x="22" y="50"/>
                    <a:pt x="22" y="50"/>
                    <a:pt x="22" y="50"/>
                  </a:cubicBezTo>
                  <a:cubicBezTo>
                    <a:pt x="22" y="50"/>
                    <a:pt x="22" y="50"/>
                    <a:pt x="22" y="50"/>
                  </a:cubicBezTo>
                  <a:cubicBezTo>
                    <a:pt x="22" y="50"/>
                    <a:pt x="23" y="50"/>
                    <a:pt x="24" y="50"/>
                  </a:cubicBezTo>
                  <a:cubicBezTo>
                    <a:pt x="25" y="50"/>
                    <a:pt x="26" y="50"/>
                    <a:pt x="27" y="51"/>
                  </a:cubicBezTo>
                  <a:cubicBezTo>
                    <a:pt x="27" y="54"/>
                    <a:pt x="27" y="54"/>
                    <a:pt x="27" y="54"/>
                  </a:cubicBezTo>
                  <a:cubicBezTo>
                    <a:pt x="26" y="54"/>
                    <a:pt x="26" y="54"/>
                    <a:pt x="26" y="54"/>
                  </a:cubicBezTo>
                  <a:cubicBezTo>
                    <a:pt x="26" y="54"/>
                    <a:pt x="25" y="53"/>
                    <a:pt x="24" y="53"/>
                  </a:cubicBezTo>
                  <a:cubicBezTo>
                    <a:pt x="23" y="53"/>
                    <a:pt x="23" y="52"/>
                    <a:pt x="22" y="52"/>
                  </a:cubicBezTo>
                  <a:cubicBezTo>
                    <a:pt x="22" y="52"/>
                    <a:pt x="22" y="52"/>
                    <a:pt x="22" y="52"/>
                  </a:cubicBezTo>
                  <a:cubicBezTo>
                    <a:pt x="22" y="56"/>
                    <a:pt x="22" y="56"/>
                    <a:pt x="22" y="56"/>
                  </a:cubicBezTo>
                  <a:cubicBezTo>
                    <a:pt x="22" y="56"/>
                    <a:pt x="22" y="56"/>
                    <a:pt x="23" y="56"/>
                  </a:cubicBezTo>
                  <a:cubicBezTo>
                    <a:pt x="23" y="56"/>
                    <a:pt x="24" y="56"/>
                    <a:pt x="24" y="56"/>
                  </a:cubicBezTo>
                  <a:cubicBezTo>
                    <a:pt x="25" y="57"/>
                    <a:pt x="26" y="57"/>
                    <a:pt x="26" y="58"/>
                  </a:cubicBezTo>
                  <a:cubicBezTo>
                    <a:pt x="27" y="58"/>
                    <a:pt x="27" y="59"/>
                    <a:pt x="27" y="60"/>
                  </a:cubicBezTo>
                  <a:cubicBezTo>
                    <a:pt x="27" y="62"/>
                    <a:pt x="27" y="63"/>
                    <a:pt x="25" y="64"/>
                  </a:cubicBezTo>
                  <a:cubicBezTo>
                    <a:pt x="24" y="65"/>
                    <a:pt x="23" y="65"/>
                    <a:pt x="22" y="65"/>
                  </a:cubicBezTo>
                  <a:cubicBezTo>
                    <a:pt x="22" y="68"/>
                    <a:pt x="22" y="68"/>
                    <a:pt x="22" y="68"/>
                  </a:cubicBezTo>
                  <a:lnTo>
                    <a:pt x="21" y="68"/>
                  </a:lnTo>
                  <a:close/>
                  <a:moveTo>
                    <a:pt x="22" y="63"/>
                  </a:moveTo>
                  <a:cubicBezTo>
                    <a:pt x="22" y="63"/>
                    <a:pt x="22" y="63"/>
                    <a:pt x="22" y="63"/>
                  </a:cubicBezTo>
                  <a:cubicBezTo>
                    <a:pt x="22" y="62"/>
                    <a:pt x="22" y="62"/>
                    <a:pt x="22" y="62"/>
                  </a:cubicBezTo>
                  <a:cubicBezTo>
                    <a:pt x="23" y="62"/>
                    <a:pt x="23" y="62"/>
                    <a:pt x="23" y="62"/>
                  </a:cubicBezTo>
                  <a:cubicBezTo>
                    <a:pt x="23" y="62"/>
                    <a:pt x="23" y="61"/>
                    <a:pt x="23" y="61"/>
                  </a:cubicBezTo>
                  <a:cubicBezTo>
                    <a:pt x="23" y="61"/>
                    <a:pt x="23" y="60"/>
                    <a:pt x="23" y="60"/>
                  </a:cubicBezTo>
                  <a:cubicBezTo>
                    <a:pt x="23" y="60"/>
                    <a:pt x="22" y="60"/>
                    <a:pt x="22" y="60"/>
                  </a:cubicBezTo>
                  <a:cubicBezTo>
                    <a:pt x="22" y="60"/>
                    <a:pt x="22" y="60"/>
                    <a:pt x="22" y="59"/>
                  </a:cubicBezTo>
                  <a:lnTo>
                    <a:pt x="22" y="63"/>
                  </a:lnTo>
                  <a:close/>
                  <a:moveTo>
                    <a:pt x="21" y="55"/>
                  </a:moveTo>
                  <a:cubicBezTo>
                    <a:pt x="21" y="53"/>
                    <a:pt x="21" y="53"/>
                    <a:pt x="21" y="53"/>
                  </a:cubicBezTo>
                  <a:cubicBezTo>
                    <a:pt x="20" y="53"/>
                    <a:pt x="20" y="53"/>
                    <a:pt x="20" y="53"/>
                  </a:cubicBezTo>
                  <a:cubicBezTo>
                    <a:pt x="20" y="53"/>
                    <a:pt x="20" y="53"/>
                    <a:pt x="19" y="53"/>
                  </a:cubicBezTo>
                  <a:cubicBezTo>
                    <a:pt x="19" y="54"/>
                    <a:pt x="19" y="54"/>
                    <a:pt x="19" y="54"/>
                  </a:cubicBezTo>
                  <a:cubicBezTo>
                    <a:pt x="19" y="54"/>
                    <a:pt x="19" y="55"/>
                    <a:pt x="20" y="55"/>
                  </a:cubicBezTo>
                  <a:cubicBezTo>
                    <a:pt x="20" y="55"/>
                    <a:pt x="20" y="55"/>
                    <a:pt x="21" y="55"/>
                  </a:cubicBezTo>
                  <a:close/>
                  <a:moveTo>
                    <a:pt x="146" y="4"/>
                  </a:moveTo>
                  <a:cubicBezTo>
                    <a:pt x="136" y="6"/>
                    <a:pt x="128" y="10"/>
                    <a:pt x="120" y="15"/>
                  </a:cubicBezTo>
                  <a:cubicBezTo>
                    <a:pt x="122" y="22"/>
                    <a:pt x="122" y="22"/>
                    <a:pt x="122" y="22"/>
                  </a:cubicBezTo>
                  <a:cubicBezTo>
                    <a:pt x="119" y="17"/>
                    <a:pt x="119" y="17"/>
                    <a:pt x="119" y="17"/>
                  </a:cubicBezTo>
                  <a:cubicBezTo>
                    <a:pt x="115" y="20"/>
                    <a:pt x="111" y="23"/>
                    <a:pt x="108" y="27"/>
                  </a:cubicBezTo>
                  <a:cubicBezTo>
                    <a:pt x="106" y="30"/>
                    <a:pt x="105" y="33"/>
                    <a:pt x="103" y="36"/>
                  </a:cubicBezTo>
                  <a:cubicBezTo>
                    <a:pt x="106" y="42"/>
                    <a:pt x="106" y="42"/>
                    <a:pt x="106" y="42"/>
                  </a:cubicBezTo>
                  <a:cubicBezTo>
                    <a:pt x="103" y="38"/>
                    <a:pt x="103" y="38"/>
                    <a:pt x="103" y="38"/>
                  </a:cubicBezTo>
                  <a:cubicBezTo>
                    <a:pt x="99" y="47"/>
                    <a:pt x="99" y="55"/>
                    <a:pt x="99" y="55"/>
                  </a:cubicBezTo>
                  <a:cubicBezTo>
                    <a:pt x="104" y="48"/>
                    <a:pt x="125" y="18"/>
                    <a:pt x="139" y="10"/>
                  </a:cubicBezTo>
                  <a:cubicBezTo>
                    <a:pt x="139" y="10"/>
                    <a:pt x="121" y="23"/>
                    <a:pt x="100" y="55"/>
                  </a:cubicBezTo>
                  <a:cubicBezTo>
                    <a:pt x="101" y="55"/>
                    <a:pt x="116" y="55"/>
                    <a:pt x="127" y="39"/>
                  </a:cubicBezTo>
                  <a:cubicBezTo>
                    <a:pt x="128" y="39"/>
                    <a:pt x="128" y="38"/>
                    <a:pt x="128" y="38"/>
                  </a:cubicBezTo>
                  <a:cubicBezTo>
                    <a:pt x="120" y="36"/>
                    <a:pt x="120" y="36"/>
                    <a:pt x="120" y="36"/>
                  </a:cubicBezTo>
                  <a:cubicBezTo>
                    <a:pt x="130" y="36"/>
                    <a:pt x="130" y="36"/>
                    <a:pt x="130" y="36"/>
                  </a:cubicBezTo>
                  <a:cubicBezTo>
                    <a:pt x="133" y="32"/>
                    <a:pt x="135" y="28"/>
                    <a:pt x="137" y="24"/>
                  </a:cubicBezTo>
                  <a:cubicBezTo>
                    <a:pt x="131" y="22"/>
                    <a:pt x="131" y="22"/>
                    <a:pt x="131" y="22"/>
                  </a:cubicBezTo>
                  <a:cubicBezTo>
                    <a:pt x="138" y="22"/>
                    <a:pt x="138" y="22"/>
                    <a:pt x="138" y="22"/>
                  </a:cubicBezTo>
                  <a:cubicBezTo>
                    <a:pt x="143" y="12"/>
                    <a:pt x="146" y="4"/>
                    <a:pt x="146" y="4"/>
                  </a:cubicBezTo>
                  <a:close/>
                  <a:moveTo>
                    <a:pt x="147" y="68"/>
                  </a:moveTo>
                  <a:cubicBezTo>
                    <a:pt x="144" y="71"/>
                    <a:pt x="140" y="73"/>
                    <a:pt x="136" y="75"/>
                  </a:cubicBezTo>
                  <a:cubicBezTo>
                    <a:pt x="134" y="76"/>
                    <a:pt x="132" y="76"/>
                    <a:pt x="130" y="77"/>
                  </a:cubicBezTo>
                  <a:cubicBezTo>
                    <a:pt x="127" y="77"/>
                    <a:pt x="126" y="75"/>
                    <a:pt x="125" y="73"/>
                  </a:cubicBezTo>
                  <a:cubicBezTo>
                    <a:pt x="121" y="69"/>
                    <a:pt x="115" y="76"/>
                    <a:pt x="113" y="78"/>
                  </a:cubicBezTo>
                  <a:cubicBezTo>
                    <a:pt x="108" y="83"/>
                    <a:pt x="108" y="74"/>
                    <a:pt x="108" y="72"/>
                  </a:cubicBezTo>
                  <a:cubicBezTo>
                    <a:pt x="107" y="70"/>
                    <a:pt x="106" y="68"/>
                    <a:pt x="104" y="69"/>
                  </a:cubicBezTo>
                  <a:cubicBezTo>
                    <a:pt x="101" y="70"/>
                    <a:pt x="100" y="72"/>
                    <a:pt x="98" y="74"/>
                  </a:cubicBezTo>
                  <a:cubicBezTo>
                    <a:pt x="96" y="76"/>
                    <a:pt x="93" y="80"/>
                    <a:pt x="90" y="77"/>
                  </a:cubicBezTo>
                  <a:cubicBezTo>
                    <a:pt x="90" y="76"/>
                    <a:pt x="89" y="75"/>
                    <a:pt x="89" y="75"/>
                  </a:cubicBezTo>
                  <a:cubicBezTo>
                    <a:pt x="89" y="74"/>
                    <a:pt x="88" y="74"/>
                    <a:pt x="88" y="74"/>
                  </a:cubicBezTo>
                  <a:cubicBezTo>
                    <a:pt x="88" y="74"/>
                    <a:pt x="88" y="74"/>
                    <a:pt x="88" y="74"/>
                  </a:cubicBezTo>
                  <a:cubicBezTo>
                    <a:pt x="90" y="72"/>
                    <a:pt x="90" y="72"/>
                    <a:pt x="90" y="72"/>
                  </a:cubicBezTo>
                  <a:cubicBezTo>
                    <a:pt x="92" y="72"/>
                    <a:pt x="92" y="72"/>
                    <a:pt x="92" y="72"/>
                  </a:cubicBezTo>
                  <a:cubicBezTo>
                    <a:pt x="92" y="69"/>
                    <a:pt x="92" y="69"/>
                    <a:pt x="92" y="69"/>
                  </a:cubicBezTo>
                  <a:cubicBezTo>
                    <a:pt x="93" y="70"/>
                    <a:pt x="93" y="70"/>
                    <a:pt x="93" y="70"/>
                  </a:cubicBezTo>
                  <a:cubicBezTo>
                    <a:pt x="94" y="69"/>
                    <a:pt x="94" y="69"/>
                    <a:pt x="94" y="69"/>
                  </a:cubicBezTo>
                  <a:cubicBezTo>
                    <a:pt x="94" y="69"/>
                    <a:pt x="95" y="66"/>
                    <a:pt x="97" y="63"/>
                  </a:cubicBezTo>
                  <a:cubicBezTo>
                    <a:pt x="99" y="60"/>
                    <a:pt x="101" y="57"/>
                    <a:pt x="101" y="57"/>
                  </a:cubicBezTo>
                  <a:cubicBezTo>
                    <a:pt x="101" y="56"/>
                    <a:pt x="101" y="56"/>
                    <a:pt x="101" y="56"/>
                  </a:cubicBezTo>
                  <a:cubicBezTo>
                    <a:pt x="99" y="55"/>
                    <a:pt x="99" y="55"/>
                    <a:pt x="99" y="55"/>
                  </a:cubicBezTo>
                  <a:cubicBezTo>
                    <a:pt x="98" y="55"/>
                    <a:pt x="98" y="55"/>
                    <a:pt x="98" y="55"/>
                  </a:cubicBezTo>
                  <a:cubicBezTo>
                    <a:pt x="98" y="55"/>
                    <a:pt x="96" y="58"/>
                    <a:pt x="94" y="62"/>
                  </a:cubicBezTo>
                  <a:cubicBezTo>
                    <a:pt x="92" y="65"/>
                    <a:pt x="90" y="67"/>
                    <a:pt x="90" y="67"/>
                  </a:cubicBezTo>
                  <a:cubicBezTo>
                    <a:pt x="91" y="68"/>
                    <a:pt x="91" y="68"/>
                    <a:pt x="91" y="68"/>
                  </a:cubicBezTo>
                  <a:cubicBezTo>
                    <a:pt x="91" y="69"/>
                    <a:pt x="91" y="69"/>
                    <a:pt x="91" y="69"/>
                  </a:cubicBezTo>
                  <a:cubicBezTo>
                    <a:pt x="90" y="70"/>
                    <a:pt x="90" y="70"/>
                    <a:pt x="90" y="70"/>
                  </a:cubicBezTo>
                  <a:cubicBezTo>
                    <a:pt x="90" y="70"/>
                    <a:pt x="90" y="70"/>
                    <a:pt x="90" y="70"/>
                  </a:cubicBezTo>
                  <a:cubicBezTo>
                    <a:pt x="88" y="74"/>
                    <a:pt x="88" y="74"/>
                    <a:pt x="88" y="74"/>
                  </a:cubicBezTo>
                  <a:cubicBezTo>
                    <a:pt x="87" y="74"/>
                    <a:pt x="87" y="74"/>
                    <a:pt x="87" y="74"/>
                  </a:cubicBezTo>
                  <a:cubicBezTo>
                    <a:pt x="87" y="74"/>
                    <a:pt x="87" y="75"/>
                    <a:pt x="87" y="75"/>
                  </a:cubicBezTo>
                  <a:cubicBezTo>
                    <a:pt x="87" y="75"/>
                    <a:pt x="87" y="75"/>
                    <a:pt x="87" y="75"/>
                  </a:cubicBezTo>
                  <a:cubicBezTo>
                    <a:pt x="90" y="81"/>
                    <a:pt x="94" y="80"/>
                    <a:pt x="98" y="76"/>
                  </a:cubicBezTo>
                  <a:cubicBezTo>
                    <a:pt x="99" y="74"/>
                    <a:pt x="104" y="67"/>
                    <a:pt x="106" y="71"/>
                  </a:cubicBezTo>
                  <a:cubicBezTo>
                    <a:pt x="107" y="72"/>
                    <a:pt x="106" y="75"/>
                    <a:pt x="106" y="76"/>
                  </a:cubicBezTo>
                  <a:cubicBezTo>
                    <a:pt x="107" y="79"/>
                    <a:pt x="108" y="81"/>
                    <a:pt x="111" y="80"/>
                  </a:cubicBezTo>
                  <a:cubicBezTo>
                    <a:pt x="114" y="80"/>
                    <a:pt x="116" y="76"/>
                    <a:pt x="118" y="74"/>
                  </a:cubicBezTo>
                  <a:cubicBezTo>
                    <a:pt x="123" y="70"/>
                    <a:pt x="123" y="76"/>
                    <a:pt x="128" y="77"/>
                  </a:cubicBezTo>
                  <a:cubicBezTo>
                    <a:pt x="131" y="78"/>
                    <a:pt x="134" y="76"/>
                    <a:pt x="137" y="75"/>
                  </a:cubicBezTo>
                  <a:cubicBezTo>
                    <a:pt x="141" y="73"/>
                    <a:pt x="145" y="71"/>
                    <a:pt x="148" y="68"/>
                  </a:cubicBezTo>
                  <a:cubicBezTo>
                    <a:pt x="149" y="68"/>
                    <a:pt x="147" y="68"/>
                    <a:pt x="147" y="6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grpSp>
        <p:nvGrpSpPr>
          <p:cNvPr id="14" name="组合 13"/>
          <p:cNvGrpSpPr/>
          <p:nvPr/>
        </p:nvGrpSpPr>
        <p:grpSpPr>
          <a:xfrm flipH="1">
            <a:off x="6183404" y="3665396"/>
            <a:ext cx="4373549" cy="2084542"/>
            <a:chOff x="6513604" y="3716196"/>
            <a:chExt cx="4373549" cy="2084542"/>
          </a:xfrm>
        </p:grpSpPr>
        <p:sp>
          <p:nvSpPr>
            <p:cNvPr id="18" name="文本框 17"/>
            <p:cNvSpPr txBox="1"/>
            <p:nvPr/>
          </p:nvSpPr>
          <p:spPr>
            <a:xfrm flipH="1">
              <a:off x="10066095" y="5462184"/>
              <a:ext cx="80021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chemeClr val="tx1">
                      <a:lumMod val="85000"/>
                      <a:lumOff val="15000"/>
                    </a:schemeClr>
                  </a:solidFill>
                  <a:effectLst/>
                  <a:uLnTx/>
                  <a:uFillTx/>
                  <a:latin typeface="思源黑体 CN Bold" panose="020B0800000000000000" pitchFamily="34" charset="-122"/>
                  <a:ea typeface="思源黑体 CN Bold" panose="020B0800000000000000" pitchFamily="34" charset="-122"/>
                  <a:cs typeface="+mn-ea"/>
                  <a:sym typeface="+mn-lt"/>
                </a:rPr>
                <a:t>关键词</a:t>
              </a:r>
              <a:endParaRPr kumimoji="0" lang="en-US" altLang="zh-CN" sz="1600" b="0" i="0" u="none" strike="noStrike" kern="1200" cap="none" spc="0" normalizeH="0" baseline="0" noProof="0" dirty="0">
                <a:ln>
                  <a:noFill/>
                </a:ln>
                <a:solidFill>
                  <a:schemeClr val="tx1">
                    <a:lumMod val="85000"/>
                    <a:lumOff val="1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grpSp>
          <p:nvGrpSpPr>
            <p:cNvPr id="19" name="组合 18"/>
            <p:cNvGrpSpPr/>
            <p:nvPr/>
          </p:nvGrpSpPr>
          <p:grpSpPr>
            <a:xfrm flipH="1">
              <a:off x="6513604" y="3716196"/>
              <a:ext cx="4373549" cy="581022"/>
              <a:chOff x="1281126" y="3959329"/>
              <a:chExt cx="4373549" cy="581022"/>
            </a:xfrm>
          </p:grpSpPr>
          <p:grpSp>
            <p:nvGrpSpPr>
              <p:cNvPr id="20" name="组合 19"/>
              <p:cNvGrpSpPr/>
              <p:nvPr/>
            </p:nvGrpSpPr>
            <p:grpSpPr>
              <a:xfrm>
                <a:off x="1411148" y="4328595"/>
                <a:ext cx="4243527" cy="211756"/>
                <a:chOff x="1411148" y="4328595"/>
                <a:chExt cx="4243527" cy="211756"/>
              </a:xfrm>
            </p:grpSpPr>
            <p:sp>
              <p:nvSpPr>
                <p:cNvPr id="23" name="矩形: 圆角 22"/>
                <p:cNvSpPr/>
                <p:nvPr/>
              </p:nvSpPr>
              <p:spPr>
                <a:xfrm>
                  <a:off x="1411148" y="4328595"/>
                  <a:ext cx="4243527" cy="211756"/>
                </a:xfrm>
                <a:prstGeom prst="roundRect">
                  <a:avLst>
                    <a:gd name="adj" fmla="val 50000"/>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24" name="矩形: 圆角 23"/>
                <p:cNvSpPr/>
                <p:nvPr/>
              </p:nvSpPr>
              <p:spPr>
                <a:xfrm>
                  <a:off x="1411148" y="4328595"/>
                  <a:ext cx="3282772" cy="211756"/>
                </a:xfrm>
                <a:prstGeom prst="roundRect">
                  <a:avLst>
                    <a:gd name="adj" fmla="val 50000"/>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zh-CN" altLang="en-US"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grpSp>
          <p:sp>
            <p:nvSpPr>
              <p:cNvPr id="22" name="文本框 21"/>
              <p:cNvSpPr txBox="1"/>
              <p:nvPr/>
            </p:nvSpPr>
            <p:spPr>
              <a:xfrm>
                <a:off x="1281126" y="3959329"/>
                <a:ext cx="67999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lumMod val="75000"/>
                        <a:lumOff val="25000"/>
                      </a:prstClr>
                    </a:solidFill>
                    <a:effectLst/>
                    <a:uLnTx/>
                    <a:uFillTx/>
                    <a:latin typeface="思源黑体 CN Bold" panose="020B0800000000000000" pitchFamily="34" charset="-122"/>
                    <a:ea typeface="思源黑体 CN Bold" panose="020B0800000000000000" pitchFamily="34" charset="-122"/>
                    <a:cs typeface="+mn-ea"/>
                    <a:sym typeface="+mn-lt"/>
                  </a:rPr>
                  <a:t>80%</a:t>
                </a:r>
                <a:endParaRPr kumimoji="0" lang="en-US" altLang="zh-CN" sz="1800" b="0" i="0" u="none" strike="noStrike" kern="1200" cap="none" spc="0" normalizeH="0" baseline="0" noProof="0" dirty="0">
                  <a:ln>
                    <a:noFill/>
                  </a:ln>
                  <a:solidFill>
                    <a:prstClr val="black">
                      <a:lumMod val="75000"/>
                      <a:lumOff val="25000"/>
                    </a:prstClr>
                  </a:solidFill>
                  <a:effectLst/>
                  <a:uLnTx/>
                  <a:uFillTx/>
                  <a:latin typeface="思源黑体 CN Bold" panose="020B0800000000000000" pitchFamily="34" charset="-122"/>
                  <a:ea typeface="思源黑体 CN Bold" panose="020B0800000000000000" pitchFamily="34" charset="-122"/>
                  <a:cs typeface="+mn-ea"/>
                  <a:sym typeface="+mn-lt"/>
                </a:endParaRPr>
              </a:p>
            </p:txBody>
          </p:sp>
        </p:grpSp>
        <p:grpSp>
          <p:nvGrpSpPr>
            <p:cNvPr id="26" name="组合 25"/>
            <p:cNvGrpSpPr/>
            <p:nvPr/>
          </p:nvGrpSpPr>
          <p:grpSpPr>
            <a:xfrm flipH="1">
              <a:off x="6513605" y="4624180"/>
              <a:ext cx="4373548" cy="581088"/>
              <a:chOff x="1281126" y="4575213"/>
              <a:chExt cx="4373548" cy="581088"/>
            </a:xfrm>
          </p:grpSpPr>
          <p:grpSp>
            <p:nvGrpSpPr>
              <p:cNvPr id="30" name="组合 29"/>
              <p:cNvGrpSpPr/>
              <p:nvPr/>
            </p:nvGrpSpPr>
            <p:grpSpPr>
              <a:xfrm>
                <a:off x="1411146" y="4944545"/>
                <a:ext cx="4243528" cy="211756"/>
                <a:chOff x="1411147" y="4328595"/>
                <a:chExt cx="4243528" cy="211756"/>
              </a:xfrm>
            </p:grpSpPr>
            <p:sp>
              <p:nvSpPr>
                <p:cNvPr id="32" name="矩形: 圆角 31"/>
                <p:cNvSpPr/>
                <p:nvPr/>
              </p:nvSpPr>
              <p:spPr>
                <a:xfrm>
                  <a:off x="1411148" y="4328595"/>
                  <a:ext cx="4243527" cy="211756"/>
                </a:xfrm>
                <a:prstGeom prst="roundRect">
                  <a:avLst>
                    <a:gd name="adj" fmla="val 50000"/>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33" name="矩形: 圆角 32"/>
                <p:cNvSpPr/>
                <p:nvPr/>
              </p:nvSpPr>
              <p:spPr>
                <a:xfrm>
                  <a:off x="1411147" y="4328595"/>
                  <a:ext cx="3679013" cy="211756"/>
                </a:xfrm>
                <a:prstGeom prst="roundRect">
                  <a:avLst>
                    <a:gd name="adj" fmla="val 50000"/>
                  </a:avLst>
                </a:prstGeom>
                <a:solidFill>
                  <a:srgbClr val="1324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zh-CN" altLang="en-US"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grpSp>
          <p:sp>
            <p:nvSpPr>
              <p:cNvPr id="31" name="文本框 30"/>
              <p:cNvSpPr txBox="1"/>
              <p:nvPr/>
            </p:nvSpPr>
            <p:spPr>
              <a:xfrm>
                <a:off x="1281126" y="4575213"/>
                <a:ext cx="67999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lumMod val="75000"/>
                        <a:lumOff val="25000"/>
                      </a:prstClr>
                    </a:solidFill>
                    <a:effectLst/>
                    <a:uLnTx/>
                    <a:uFillTx/>
                    <a:latin typeface="思源黑体 CN Bold" panose="020B0800000000000000" pitchFamily="34" charset="-122"/>
                    <a:ea typeface="思源黑体 CN Bold" panose="020B0800000000000000" pitchFamily="34" charset="-122"/>
                    <a:cs typeface="+mn-ea"/>
                    <a:sym typeface="+mn-lt"/>
                  </a:rPr>
                  <a:t>90%</a:t>
                </a:r>
                <a:endParaRPr kumimoji="0" lang="en-US" altLang="zh-CN" sz="1800" b="0" i="0" u="none" strike="noStrike" kern="1200" cap="none" spc="0" normalizeH="0" baseline="0" noProof="0" dirty="0">
                  <a:ln>
                    <a:noFill/>
                  </a:ln>
                  <a:solidFill>
                    <a:prstClr val="black">
                      <a:lumMod val="75000"/>
                      <a:lumOff val="25000"/>
                    </a:prstClr>
                  </a:solidFill>
                  <a:effectLst/>
                  <a:uLnTx/>
                  <a:uFillTx/>
                  <a:latin typeface="思源黑体 CN Bold" panose="020B0800000000000000" pitchFamily="34" charset="-122"/>
                  <a:ea typeface="思源黑体 CN Bold" panose="020B0800000000000000" pitchFamily="34" charset="-122"/>
                  <a:cs typeface="+mn-ea"/>
                  <a:sym typeface="+mn-lt"/>
                </a:endParaRPr>
              </a:p>
            </p:txBody>
          </p:sp>
        </p:grpSp>
        <p:sp>
          <p:nvSpPr>
            <p:cNvPr id="39" name="文本框 38"/>
            <p:cNvSpPr txBox="1"/>
            <p:nvPr/>
          </p:nvSpPr>
          <p:spPr>
            <a:xfrm flipH="1">
              <a:off x="8791317" y="5462184"/>
              <a:ext cx="80021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chemeClr val="tx1">
                      <a:lumMod val="85000"/>
                      <a:lumOff val="15000"/>
                    </a:schemeClr>
                  </a:solidFill>
                  <a:effectLst/>
                  <a:uLnTx/>
                  <a:uFillTx/>
                  <a:latin typeface="思源黑体 CN Bold" panose="020B0800000000000000" pitchFamily="34" charset="-122"/>
                  <a:ea typeface="思源黑体 CN Bold" panose="020B0800000000000000" pitchFamily="34" charset="-122"/>
                  <a:cs typeface="+mn-ea"/>
                  <a:sym typeface="+mn-lt"/>
                </a:rPr>
                <a:t>关键词</a:t>
              </a:r>
              <a:endParaRPr kumimoji="0" lang="en-US" altLang="zh-CN" sz="1600" b="0" i="0" u="none" strike="noStrike" kern="1200" cap="none" spc="0" normalizeH="0" baseline="0" noProof="0" dirty="0">
                <a:ln>
                  <a:noFill/>
                </a:ln>
                <a:solidFill>
                  <a:schemeClr val="tx1">
                    <a:lumMod val="85000"/>
                    <a:lumOff val="1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41" name="文本框 40"/>
            <p:cNvSpPr txBox="1"/>
            <p:nvPr/>
          </p:nvSpPr>
          <p:spPr>
            <a:xfrm flipH="1">
              <a:off x="7516539" y="5462184"/>
              <a:ext cx="80021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chemeClr val="tx1">
                      <a:lumMod val="85000"/>
                      <a:lumOff val="15000"/>
                    </a:schemeClr>
                  </a:solidFill>
                  <a:effectLst/>
                  <a:uLnTx/>
                  <a:uFillTx/>
                  <a:latin typeface="思源黑体 CN Bold" panose="020B0800000000000000" pitchFamily="34" charset="-122"/>
                  <a:ea typeface="思源黑体 CN Bold" panose="020B0800000000000000" pitchFamily="34" charset="-122"/>
                  <a:cs typeface="+mn-ea"/>
                  <a:sym typeface="+mn-lt"/>
                </a:rPr>
                <a:t>关键词</a:t>
              </a:r>
              <a:endParaRPr kumimoji="0" lang="en-US" altLang="zh-CN" sz="1600" b="0" i="0" u="none" strike="noStrike" kern="1200" cap="none" spc="0" normalizeH="0" baseline="0" noProof="0" dirty="0">
                <a:ln>
                  <a:noFill/>
                </a:ln>
                <a:solidFill>
                  <a:schemeClr val="tx1">
                    <a:lumMod val="85000"/>
                    <a:lumOff val="1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grpSp>
      <p:sp>
        <p:nvSpPr>
          <p:cNvPr id="42" name="矩形 3"/>
          <p:cNvSpPr>
            <a:spLocks noChangeArrowheads="1"/>
          </p:cNvSpPr>
          <p:nvPr/>
        </p:nvSpPr>
        <p:spPr bwMode="auto">
          <a:xfrm>
            <a:off x="6142379" y="1690161"/>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43" name="文本框 42"/>
          <p:cNvSpPr txBox="1"/>
          <p:nvPr/>
        </p:nvSpPr>
        <p:spPr>
          <a:xfrm>
            <a:off x="6369256" y="2330585"/>
            <a:ext cx="4114590" cy="1073435"/>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请在此处添加具体内容，文字尽量言简意赅，简单说明即可，不必过于繁琐，注意版面美观度。</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grpSp>
        <p:nvGrpSpPr>
          <p:cNvPr id="16" name="组合 15"/>
          <p:cNvGrpSpPr/>
          <p:nvPr/>
        </p:nvGrpSpPr>
        <p:grpSpPr>
          <a:xfrm>
            <a:off x="847386" y="4159404"/>
            <a:ext cx="1873146" cy="1469384"/>
            <a:chOff x="847386" y="4159404"/>
            <a:chExt cx="1873146" cy="1469384"/>
          </a:xfrm>
        </p:grpSpPr>
        <p:sp>
          <p:nvSpPr>
            <p:cNvPr id="44" name="矩形 3"/>
            <p:cNvSpPr>
              <a:spLocks noChangeArrowheads="1"/>
            </p:cNvSpPr>
            <p:nvPr/>
          </p:nvSpPr>
          <p:spPr bwMode="auto">
            <a:xfrm>
              <a:off x="847386" y="4159404"/>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bg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bg1"/>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45" name="文本框 44"/>
            <p:cNvSpPr txBox="1"/>
            <p:nvPr/>
          </p:nvSpPr>
          <p:spPr>
            <a:xfrm>
              <a:off x="1074263" y="4555353"/>
              <a:ext cx="1646269" cy="1073435"/>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bg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a:t>
              </a:r>
              <a:endParaRPr lang="zh-CN" altLang="en-US" sz="1600" dirty="0">
                <a:solidFill>
                  <a:schemeClr val="bg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gr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par>
                                <p:cTn id="18" presetID="22" presetClass="entr" presetSubtype="4" fill="hold" nodeType="with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wipe(down)">
                                      <p:cBhvr>
                                        <p:cTn id="20" dur="500"/>
                                        <p:tgtEl>
                                          <p:spTgt spid="35"/>
                                        </p:tgtEl>
                                      </p:cBhvr>
                                    </p:animEffect>
                                  </p:childTnLst>
                                </p:cTn>
                              </p:par>
                              <p:par>
                                <p:cTn id="21" presetID="22" presetClass="entr" presetSubtype="4"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down)">
                                      <p:cBhvr>
                                        <p:cTn id="23" dur="500"/>
                                        <p:tgtEl>
                                          <p:spTgt spid="16"/>
                                        </p:tgtEl>
                                      </p:cBhvr>
                                    </p:animEffect>
                                  </p:childTnLst>
                                </p:cTn>
                              </p:par>
                            </p:childTnLst>
                          </p:cTn>
                        </p:par>
                        <p:par>
                          <p:cTn id="24" fill="hold">
                            <p:stCondLst>
                              <p:cond delay="500"/>
                            </p:stCondLst>
                            <p:childTnLst>
                              <p:par>
                                <p:cTn id="25" presetID="42" presetClass="entr" presetSubtype="0"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childTnLst>
                          </p:cTn>
                        </p:par>
                        <p:par>
                          <p:cTn id="30" fill="hold">
                            <p:stCondLst>
                              <p:cond delay="1500"/>
                            </p:stCondLst>
                            <p:childTnLst>
                              <p:par>
                                <p:cTn id="31" presetID="42" presetClass="entr" presetSubtype="0" fill="hold" grpId="0" nodeType="after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1000"/>
                                        <p:tgtEl>
                                          <p:spTgt spid="42"/>
                                        </p:tgtEl>
                                      </p:cBhvr>
                                    </p:animEffect>
                                    <p:anim calcmode="lin" valueType="num">
                                      <p:cBhvr>
                                        <p:cTn id="34" dur="1000" fill="hold"/>
                                        <p:tgtEl>
                                          <p:spTgt spid="42"/>
                                        </p:tgtEl>
                                        <p:attrNameLst>
                                          <p:attrName>ppt_x</p:attrName>
                                        </p:attrNameLst>
                                      </p:cBhvr>
                                      <p:tavLst>
                                        <p:tav tm="0">
                                          <p:val>
                                            <p:strVal val="#ppt_x"/>
                                          </p:val>
                                        </p:tav>
                                        <p:tav tm="100000">
                                          <p:val>
                                            <p:strVal val="#ppt_x"/>
                                          </p:val>
                                        </p:tav>
                                      </p:tavLst>
                                    </p:anim>
                                    <p:anim calcmode="lin" valueType="num">
                                      <p:cBhvr>
                                        <p:cTn id="35" dur="1000" fill="hold"/>
                                        <p:tgtEl>
                                          <p:spTgt spid="42"/>
                                        </p:tgtEl>
                                        <p:attrNameLst>
                                          <p:attrName>ppt_y</p:attrName>
                                        </p:attrNameLst>
                                      </p:cBhvr>
                                      <p:tavLst>
                                        <p:tav tm="0">
                                          <p:val>
                                            <p:strVal val="#ppt_y+.1"/>
                                          </p:val>
                                        </p:tav>
                                        <p:tav tm="100000">
                                          <p:val>
                                            <p:strVal val="#ppt_y"/>
                                          </p:val>
                                        </p:tav>
                                      </p:tavLst>
                                    </p:anim>
                                  </p:childTnLst>
                                </p:cTn>
                              </p:par>
                            </p:childTnLst>
                          </p:cTn>
                        </p:par>
                        <p:par>
                          <p:cTn id="36" fill="hold">
                            <p:stCondLst>
                              <p:cond delay="2500"/>
                            </p:stCondLst>
                            <p:childTnLst>
                              <p:par>
                                <p:cTn id="37" presetID="42" presetClass="entr" presetSubtype="0" fill="hold" grpId="0" nodeType="after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1000"/>
                                        <p:tgtEl>
                                          <p:spTgt spid="43"/>
                                        </p:tgtEl>
                                      </p:cBhvr>
                                    </p:animEffect>
                                    <p:anim calcmode="lin" valueType="num">
                                      <p:cBhvr>
                                        <p:cTn id="40" dur="1000" fill="hold"/>
                                        <p:tgtEl>
                                          <p:spTgt spid="43"/>
                                        </p:tgtEl>
                                        <p:attrNameLst>
                                          <p:attrName>ppt_x</p:attrName>
                                        </p:attrNameLst>
                                      </p:cBhvr>
                                      <p:tavLst>
                                        <p:tav tm="0">
                                          <p:val>
                                            <p:strVal val="#ppt_x"/>
                                          </p:val>
                                        </p:tav>
                                        <p:tav tm="100000">
                                          <p:val>
                                            <p:strVal val="#ppt_x"/>
                                          </p:val>
                                        </p:tav>
                                      </p:tavLst>
                                    </p:anim>
                                    <p:anim calcmode="lin" valueType="num">
                                      <p:cBhvr>
                                        <p:cTn id="41"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5" grpId="0" animBg="1"/>
      <p:bldP spid="42" grpId="0"/>
      <p:bldP spid="4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4775"/>
            </a:xfrm>
            <a:prstGeom prst="rect">
              <a:avLst/>
            </a:prstGeom>
            <a:noFill/>
          </p:spPr>
          <p:txBody>
            <a:bodyPr wrap="square" rtlCol="0">
              <a:spAutoFit/>
            </a:bodyPr>
            <a:lstStyle/>
            <a:p>
              <a:r>
                <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rPr>
                <a:t>问题分析总结</a:t>
              </a:r>
              <a:endPar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pSp>
        <p:nvGrpSpPr>
          <p:cNvPr id="14" name="组合 13"/>
          <p:cNvGrpSpPr/>
          <p:nvPr/>
        </p:nvGrpSpPr>
        <p:grpSpPr>
          <a:xfrm>
            <a:off x="687107" y="2147867"/>
            <a:ext cx="6752952" cy="3173433"/>
            <a:chOff x="687106" y="2147867"/>
            <a:chExt cx="6964021" cy="3272621"/>
          </a:xfrm>
        </p:grpSpPr>
        <p:sp>
          <p:nvSpPr>
            <p:cNvPr id="18" name="îŝľiḑé"/>
            <p:cNvSpPr/>
            <p:nvPr/>
          </p:nvSpPr>
          <p:spPr bwMode="auto">
            <a:xfrm>
              <a:off x="687106" y="3520105"/>
              <a:ext cx="1744662" cy="728662"/>
            </a:xfrm>
            <a:prstGeom prst="homePlate">
              <a:avLst>
                <a:gd name="adj" fmla="val 43468"/>
              </a:avLst>
            </a:prstGeom>
            <a:solidFill>
              <a:srgbClr val="13245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sz="2000" dirty="0">
                  <a:solidFill>
                    <a:schemeClr val="bg1"/>
                  </a:solidFill>
                  <a:cs typeface="+mn-ea"/>
                  <a:sym typeface="+mn-lt"/>
                </a:rPr>
                <a:t>输入文本</a:t>
              </a:r>
              <a:endParaRPr lang="zh-CN" altLang="en-US" sz="2000" dirty="0">
                <a:solidFill>
                  <a:schemeClr val="bg1"/>
                </a:solidFill>
                <a:cs typeface="+mn-ea"/>
                <a:sym typeface="+mn-lt"/>
              </a:endParaRPr>
            </a:p>
          </p:txBody>
        </p:sp>
        <p:sp>
          <p:nvSpPr>
            <p:cNvPr id="19" name="îṣľíḓê"/>
            <p:cNvSpPr/>
            <p:nvPr/>
          </p:nvSpPr>
          <p:spPr bwMode="auto">
            <a:xfrm>
              <a:off x="4265331" y="2336177"/>
              <a:ext cx="1549400" cy="490537"/>
            </a:xfrm>
            <a:prstGeom prst="homePlate">
              <a:avLst/>
            </a:prstGeom>
            <a:solidFill>
              <a:srgbClr val="62EFFE"/>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关键词</a:t>
              </a:r>
              <a:endPar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2" name="iş1îďe"/>
            <p:cNvSpPr/>
            <p:nvPr/>
          </p:nvSpPr>
          <p:spPr bwMode="auto">
            <a:xfrm>
              <a:off x="6992314" y="2147867"/>
              <a:ext cx="658813" cy="658813"/>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23" name="ïŝľidê"/>
            <p:cNvSpPr/>
            <p:nvPr/>
          </p:nvSpPr>
          <p:spPr bwMode="auto">
            <a:xfrm>
              <a:off x="7179316" y="2346873"/>
              <a:ext cx="284810" cy="260802"/>
            </a:xfrm>
            <a:custGeom>
              <a:avLst/>
              <a:gdLst>
                <a:gd name="connsiteX0" fmla="*/ 192176 w 607614"/>
                <a:gd name="connsiteY0" fmla="*/ 71398 h 556807"/>
                <a:gd name="connsiteX1" fmla="*/ 239270 w 607614"/>
                <a:gd name="connsiteY1" fmla="*/ 78224 h 556807"/>
                <a:gd name="connsiteX2" fmla="*/ 237751 w 607614"/>
                <a:gd name="connsiteY2" fmla="*/ 102495 h 556807"/>
                <a:gd name="connsiteX3" fmla="*/ 237751 w 607614"/>
                <a:gd name="connsiteY3" fmla="*/ 150277 h 556807"/>
                <a:gd name="connsiteX4" fmla="*/ 227877 w 607614"/>
                <a:gd name="connsiteY4" fmla="*/ 182132 h 556807"/>
                <a:gd name="connsiteX5" fmla="*/ 227877 w 607614"/>
                <a:gd name="connsiteY5" fmla="*/ 223088 h 556807"/>
                <a:gd name="connsiteX6" fmla="*/ 244588 w 607614"/>
                <a:gd name="connsiteY6" fmla="*/ 262528 h 556807"/>
                <a:gd name="connsiteX7" fmla="*/ 278769 w 607614"/>
                <a:gd name="connsiteY7" fmla="*/ 332305 h 556807"/>
                <a:gd name="connsiteX8" fmla="*/ 278769 w 607614"/>
                <a:gd name="connsiteY8" fmla="*/ 361127 h 556807"/>
                <a:gd name="connsiteX9" fmla="*/ 272692 w 607614"/>
                <a:gd name="connsiteY9" fmla="*/ 370986 h 556807"/>
                <a:gd name="connsiteX10" fmla="*/ 182301 w 607614"/>
                <a:gd name="connsiteY10" fmla="*/ 420286 h 556807"/>
                <a:gd name="connsiteX11" fmla="*/ 126851 w 607614"/>
                <a:gd name="connsiteY11" fmla="*/ 513575 h 556807"/>
                <a:gd name="connsiteX12" fmla="*/ 126851 w 607614"/>
                <a:gd name="connsiteY12" fmla="*/ 556807 h 556807"/>
                <a:gd name="connsiteX13" fmla="*/ 0 w 607614"/>
                <a:gd name="connsiteY13" fmla="*/ 556807 h 556807"/>
                <a:gd name="connsiteX14" fmla="*/ 0 w 607614"/>
                <a:gd name="connsiteY14" fmla="*/ 518126 h 556807"/>
                <a:gd name="connsiteX15" fmla="*/ 41777 w 607614"/>
                <a:gd name="connsiteY15" fmla="*/ 447590 h 556807"/>
                <a:gd name="connsiteX16" fmla="*/ 109381 w 607614"/>
                <a:gd name="connsiteY16" fmla="*/ 405875 h 556807"/>
                <a:gd name="connsiteX17" fmla="*/ 120775 w 607614"/>
                <a:gd name="connsiteY17" fmla="*/ 386155 h 556807"/>
                <a:gd name="connsiteX18" fmla="*/ 120775 w 607614"/>
                <a:gd name="connsiteY18" fmla="*/ 358851 h 556807"/>
                <a:gd name="connsiteX19" fmla="*/ 84314 w 607614"/>
                <a:gd name="connsiteY19" fmla="*/ 295141 h 556807"/>
                <a:gd name="connsiteX20" fmla="*/ 70642 w 607614"/>
                <a:gd name="connsiteY20" fmla="*/ 267079 h 556807"/>
                <a:gd name="connsiteX21" fmla="*/ 70642 w 607614"/>
                <a:gd name="connsiteY21" fmla="*/ 232190 h 556807"/>
                <a:gd name="connsiteX22" fmla="*/ 81276 w 607614"/>
                <a:gd name="connsiteY22" fmla="*/ 208678 h 556807"/>
                <a:gd name="connsiteX23" fmla="*/ 81276 w 607614"/>
                <a:gd name="connsiteY23" fmla="*/ 162412 h 556807"/>
                <a:gd name="connsiteX24" fmla="*/ 192176 w 607614"/>
                <a:gd name="connsiteY24" fmla="*/ 71398 h 556807"/>
                <a:gd name="connsiteX25" fmla="*/ 374460 w 607614"/>
                <a:gd name="connsiteY25" fmla="*/ 0 h 556807"/>
                <a:gd name="connsiteX26" fmla="*/ 474708 w 607614"/>
                <a:gd name="connsiteY26" fmla="*/ 35654 h 556807"/>
                <a:gd name="connsiteX27" fmla="*/ 495973 w 607614"/>
                <a:gd name="connsiteY27" fmla="*/ 101651 h 556807"/>
                <a:gd name="connsiteX28" fmla="*/ 495973 w 607614"/>
                <a:gd name="connsiteY28" fmla="*/ 155511 h 556807"/>
                <a:gd name="connsiteX29" fmla="*/ 506606 w 607614"/>
                <a:gd name="connsiteY29" fmla="*/ 182062 h 556807"/>
                <a:gd name="connsiteX30" fmla="*/ 506606 w 607614"/>
                <a:gd name="connsiteY30" fmla="*/ 223026 h 556807"/>
                <a:gd name="connsiteX31" fmla="*/ 483063 w 607614"/>
                <a:gd name="connsiteY31" fmla="*/ 259439 h 556807"/>
                <a:gd name="connsiteX32" fmla="*/ 452684 w 607614"/>
                <a:gd name="connsiteY32" fmla="*/ 317850 h 556807"/>
                <a:gd name="connsiteX33" fmla="*/ 445849 w 607614"/>
                <a:gd name="connsiteY33" fmla="*/ 327712 h 556807"/>
                <a:gd name="connsiteX34" fmla="*/ 445849 w 607614"/>
                <a:gd name="connsiteY34" fmla="*/ 361849 h 556807"/>
                <a:gd name="connsiteX35" fmla="*/ 460279 w 607614"/>
                <a:gd name="connsiteY35" fmla="*/ 386124 h 556807"/>
                <a:gd name="connsiteX36" fmla="*/ 557490 w 607614"/>
                <a:gd name="connsiteY36" fmla="*/ 433915 h 556807"/>
                <a:gd name="connsiteX37" fmla="*/ 607614 w 607614"/>
                <a:gd name="connsiteY37" fmla="*/ 515843 h 556807"/>
                <a:gd name="connsiteX38" fmla="*/ 607614 w 607614"/>
                <a:gd name="connsiteY38" fmla="*/ 556807 h 556807"/>
                <a:gd name="connsiteX39" fmla="*/ 142065 w 607614"/>
                <a:gd name="connsiteY39" fmla="*/ 556807 h 556807"/>
                <a:gd name="connsiteX40" fmla="*/ 142065 w 607614"/>
                <a:gd name="connsiteY40" fmla="*/ 513567 h 556807"/>
                <a:gd name="connsiteX41" fmla="*/ 189152 w 607614"/>
                <a:gd name="connsiteY41" fmla="*/ 433915 h 556807"/>
                <a:gd name="connsiteX42" fmla="*/ 279527 w 607614"/>
                <a:gd name="connsiteY42" fmla="*/ 384606 h 556807"/>
                <a:gd name="connsiteX43" fmla="*/ 293957 w 607614"/>
                <a:gd name="connsiteY43" fmla="*/ 361090 h 556807"/>
                <a:gd name="connsiteX44" fmla="*/ 293957 w 607614"/>
                <a:gd name="connsiteY44" fmla="*/ 327712 h 556807"/>
                <a:gd name="connsiteX45" fmla="*/ 258262 w 607614"/>
                <a:gd name="connsiteY45" fmla="*/ 254129 h 556807"/>
                <a:gd name="connsiteX46" fmla="*/ 243073 w 607614"/>
                <a:gd name="connsiteY46" fmla="*/ 223026 h 556807"/>
                <a:gd name="connsiteX47" fmla="*/ 243073 w 607614"/>
                <a:gd name="connsiteY47" fmla="*/ 182062 h 556807"/>
                <a:gd name="connsiteX48" fmla="*/ 252946 w 607614"/>
                <a:gd name="connsiteY48" fmla="*/ 155511 h 556807"/>
                <a:gd name="connsiteX49" fmla="*/ 252946 w 607614"/>
                <a:gd name="connsiteY49" fmla="*/ 101651 h 556807"/>
                <a:gd name="connsiteX50" fmla="*/ 274211 w 607614"/>
                <a:gd name="connsiteY50" fmla="*/ 35654 h 556807"/>
                <a:gd name="connsiteX51" fmla="*/ 374460 w 607614"/>
                <a:gd name="connsiteY51" fmla="*/ 0 h 556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14" h="556807">
                  <a:moveTo>
                    <a:pt x="192176" y="71398"/>
                  </a:moveTo>
                  <a:cubicBezTo>
                    <a:pt x="209646" y="71398"/>
                    <a:pt x="224838" y="73673"/>
                    <a:pt x="239270" y="78224"/>
                  </a:cubicBezTo>
                  <a:cubicBezTo>
                    <a:pt x="236992" y="89601"/>
                    <a:pt x="237751" y="98702"/>
                    <a:pt x="237751" y="102495"/>
                  </a:cubicBezTo>
                  <a:lnTo>
                    <a:pt x="237751" y="150277"/>
                  </a:lnTo>
                  <a:cubicBezTo>
                    <a:pt x="231675" y="160137"/>
                    <a:pt x="227877" y="170755"/>
                    <a:pt x="227877" y="182132"/>
                  </a:cubicBezTo>
                  <a:lnTo>
                    <a:pt x="227877" y="223088"/>
                  </a:lnTo>
                  <a:cubicBezTo>
                    <a:pt x="227877" y="238257"/>
                    <a:pt x="233953" y="251909"/>
                    <a:pt x="244588" y="262528"/>
                  </a:cubicBezTo>
                  <a:cubicBezTo>
                    <a:pt x="253703" y="295141"/>
                    <a:pt x="269654" y="320170"/>
                    <a:pt x="278769" y="332305"/>
                  </a:cubicBezTo>
                  <a:lnTo>
                    <a:pt x="278769" y="361127"/>
                  </a:lnTo>
                  <a:cubicBezTo>
                    <a:pt x="278769" y="364919"/>
                    <a:pt x="276490" y="368711"/>
                    <a:pt x="272692" y="370986"/>
                  </a:cubicBezTo>
                  <a:lnTo>
                    <a:pt x="182301" y="420286"/>
                  </a:lnTo>
                  <a:cubicBezTo>
                    <a:pt x="148120" y="439247"/>
                    <a:pt x="126851" y="474894"/>
                    <a:pt x="126851" y="513575"/>
                  </a:cubicBezTo>
                  <a:lnTo>
                    <a:pt x="126851" y="556807"/>
                  </a:lnTo>
                  <a:lnTo>
                    <a:pt x="0" y="556807"/>
                  </a:lnTo>
                  <a:lnTo>
                    <a:pt x="0" y="518126"/>
                  </a:lnTo>
                  <a:cubicBezTo>
                    <a:pt x="0" y="488546"/>
                    <a:pt x="15951" y="462001"/>
                    <a:pt x="41777" y="447590"/>
                  </a:cubicBezTo>
                  <a:lnTo>
                    <a:pt x="109381" y="405875"/>
                  </a:lnTo>
                  <a:cubicBezTo>
                    <a:pt x="116977" y="401324"/>
                    <a:pt x="120775" y="394498"/>
                    <a:pt x="120775" y="386155"/>
                  </a:cubicBezTo>
                  <a:lnTo>
                    <a:pt x="120775" y="358851"/>
                  </a:lnTo>
                  <a:cubicBezTo>
                    <a:pt x="113179" y="350508"/>
                    <a:pt x="92670" y="326238"/>
                    <a:pt x="84314" y="295141"/>
                  </a:cubicBezTo>
                  <a:cubicBezTo>
                    <a:pt x="75959" y="288315"/>
                    <a:pt x="70642" y="277697"/>
                    <a:pt x="70642" y="267079"/>
                  </a:cubicBezTo>
                  <a:lnTo>
                    <a:pt x="70642" y="232190"/>
                  </a:lnTo>
                  <a:cubicBezTo>
                    <a:pt x="70642" y="223847"/>
                    <a:pt x="74440" y="215504"/>
                    <a:pt x="81276" y="208678"/>
                  </a:cubicBezTo>
                  <a:lnTo>
                    <a:pt x="81276" y="162412"/>
                  </a:lnTo>
                  <a:cubicBezTo>
                    <a:pt x="81276" y="160895"/>
                    <a:pt x="87353" y="71398"/>
                    <a:pt x="192176" y="71398"/>
                  </a:cubicBezTo>
                  <a:close/>
                  <a:moveTo>
                    <a:pt x="374460" y="0"/>
                  </a:moveTo>
                  <a:cubicBezTo>
                    <a:pt x="420787" y="0"/>
                    <a:pt x="454203" y="12137"/>
                    <a:pt x="474708" y="35654"/>
                  </a:cubicBezTo>
                  <a:cubicBezTo>
                    <a:pt x="499011" y="62963"/>
                    <a:pt x="496733" y="96341"/>
                    <a:pt x="495973" y="101651"/>
                  </a:cubicBezTo>
                  <a:lnTo>
                    <a:pt x="495973" y="155511"/>
                  </a:lnTo>
                  <a:cubicBezTo>
                    <a:pt x="502808" y="163097"/>
                    <a:pt x="506606" y="172201"/>
                    <a:pt x="506606" y="182062"/>
                  </a:cubicBezTo>
                  <a:lnTo>
                    <a:pt x="506606" y="223026"/>
                  </a:lnTo>
                  <a:cubicBezTo>
                    <a:pt x="506606" y="238957"/>
                    <a:pt x="496733" y="252611"/>
                    <a:pt x="483063" y="259439"/>
                  </a:cubicBezTo>
                  <a:cubicBezTo>
                    <a:pt x="475468" y="280679"/>
                    <a:pt x="465595" y="300403"/>
                    <a:pt x="452684" y="317850"/>
                  </a:cubicBezTo>
                  <a:cubicBezTo>
                    <a:pt x="450406" y="321643"/>
                    <a:pt x="448127" y="324678"/>
                    <a:pt x="445849" y="327712"/>
                  </a:cubicBezTo>
                  <a:lnTo>
                    <a:pt x="445849" y="361849"/>
                  </a:lnTo>
                  <a:cubicBezTo>
                    <a:pt x="445849" y="371710"/>
                    <a:pt x="451165" y="380813"/>
                    <a:pt x="460279" y="386124"/>
                  </a:cubicBezTo>
                  <a:lnTo>
                    <a:pt x="557490" y="433915"/>
                  </a:lnTo>
                  <a:cubicBezTo>
                    <a:pt x="588628" y="449845"/>
                    <a:pt x="607614" y="480948"/>
                    <a:pt x="607614" y="515843"/>
                  </a:cubicBezTo>
                  <a:lnTo>
                    <a:pt x="607614" y="556807"/>
                  </a:lnTo>
                  <a:lnTo>
                    <a:pt x="142065" y="556807"/>
                  </a:lnTo>
                  <a:lnTo>
                    <a:pt x="142065" y="513567"/>
                  </a:lnTo>
                  <a:cubicBezTo>
                    <a:pt x="142065" y="480189"/>
                    <a:pt x="160292" y="449845"/>
                    <a:pt x="189152" y="433915"/>
                  </a:cubicBezTo>
                  <a:lnTo>
                    <a:pt x="279527" y="384606"/>
                  </a:lnTo>
                  <a:cubicBezTo>
                    <a:pt x="288641" y="379296"/>
                    <a:pt x="293957" y="370952"/>
                    <a:pt x="293957" y="361090"/>
                  </a:cubicBezTo>
                  <a:lnTo>
                    <a:pt x="293957" y="327712"/>
                  </a:lnTo>
                  <a:cubicBezTo>
                    <a:pt x="287122" y="318609"/>
                    <a:pt x="267376" y="290541"/>
                    <a:pt x="258262" y="254129"/>
                  </a:cubicBezTo>
                  <a:cubicBezTo>
                    <a:pt x="248389" y="246543"/>
                    <a:pt x="243073" y="235164"/>
                    <a:pt x="243073" y="223026"/>
                  </a:cubicBezTo>
                  <a:lnTo>
                    <a:pt x="243073" y="182062"/>
                  </a:lnTo>
                  <a:cubicBezTo>
                    <a:pt x="243073" y="172201"/>
                    <a:pt x="246870" y="163097"/>
                    <a:pt x="252946" y="155511"/>
                  </a:cubicBezTo>
                  <a:lnTo>
                    <a:pt x="252946" y="101651"/>
                  </a:lnTo>
                  <a:cubicBezTo>
                    <a:pt x="252946" y="96341"/>
                    <a:pt x="250668" y="62963"/>
                    <a:pt x="274211" y="35654"/>
                  </a:cubicBezTo>
                  <a:cubicBezTo>
                    <a:pt x="295476" y="12137"/>
                    <a:pt x="328892" y="0"/>
                    <a:pt x="374460" y="0"/>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grpSp>
          <p:nvGrpSpPr>
            <p:cNvPr id="24" name="组合 23"/>
            <p:cNvGrpSpPr/>
            <p:nvPr/>
          </p:nvGrpSpPr>
          <p:grpSpPr>
            <a:xfrm>
              <a:off x="5814731" y="2580652"/>
              <a:ext cx="1027112" cy="2317569"/>
              <a:chOff x="5725831" y="2529852"/>
              <a:chExt cx="1027112" cy="2317569"/>
            </a:xfrm>
          </p:grpSpPr>
          <p:cxnSp>
            <p:nvCxnSpPr>
              <p:cNvPr id="26" name="直接箭头连接符 25"/>
              <p:cNvCxnSpPr>
                <a:stCxn id="19" idx="3"/>
              </p:cNvCxnSpPr>
              <p:nvPr/>
            </p:nvCxnSpPr>
            <p:spPr bwMode="auto">
              <a:xfrm>
                <a:off x="5725831" y="2529852"/>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bwMode="auto">
              <a:xfrm>
                <a:off x="5725831" y="3140859"/>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bwMode="auto">
              <a:xfrm>
                <a:off x="5725831" y="3993346"/>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bwMode="auto">
              <a:xfrm>
                <a:off x="5725831" y="4847421"/>
                <a:ext cx="1027112" cy="0"/>
              </a:xfrm>
              <a:prstGeom prst="straightConnector1">
                <a:avLst/>
              </a:prstGeom>
              <a:ln w="3175" cap="rnd">
                <a:solidFill>
                  <a:schemeClr val="bg1">
                    <a:lumMod val="75000"/>
                  </a:schemeClr>
                </a:solidFill>
                <a:prstDash val="dash"/>
                <a:round/>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34" name="肘形连接符 50"/>
            <p:cNvCxnSpPr>
              <a:stCxn id="18" idx="3"/>
            </p:cNvCxnSpPr>
            <p:nvPr/>
          </p:nvCxnSpPr>
          <p:spPr bwMode="auto">
            <a:xfrm flipV="1">
              <a:off x="2431768" y="2615377"/>
              <a:ext cx="1833563" cy="1269059"/>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5" name="肘形连接符 52"/>
            <p:cNvCxnSpPr>
              <a:stCxn id="18" idx="3"/>
            </p:cNvCxnSpPr>
            <p:nvPr/>
          </p:nvCxnSpPr>
          <p:spPr bwMode="auto">
            <a:xfrm flipV="1">
              <a:off x="2431768" y="3469451"/>
              <a:ext cx="1833563" cy="414985"/>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6" name="肘形连接符 54"/>
            <p:cNvCxnSpPr>
              <a:stCxn id="18" idx="3"/>
            </p:cNvCxnSpPr>
            <p:nvPr/>
          </p:nvCxnSpPr>
          <p:spPr bwMode="auto">
            <a:xfrm>
              <a:off x="2431768" y="3884436"/>
              <a:ext cx="1833563" cy="437502"/>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7" name="肘形连接符 55"/>
            <p:cNvCxnSpPr>
              <a:stCxn id="18" idx="3"/>
            </p:cNvCxnSpPr>
            <p:nvPr/>
          </p:nvCxnSpPr>
          <p:spPr bwMode="auto">
            <a:xfrm>
              <a:off x="2431768" y="3884436"/>
              <a:ext cx="1833563" cy="1291577"/>
            </a:xfrm>
            <a:prstGeom prst="bentConnector3">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3306054" y="2564087"/>
              <a:ext cx="80228" cy="2640699"/>
              <a:chOff x="3217154" y="2513287"/>
              <a:chExt cx="80228" cy="2640699"/>
            </a:xfrm>
            <a:solidFill>
              <a:srgbClr val="13245C"/>
            </a:solidFill>
          </p:grpSpPr>
          <p:sp>
            <p:nvSpPr>
              <p:cNvPr id="39" name="íş1ídè"/>
              <p:cNvSpPr/>
              <p:nvPr/>
            </p:nvSpPr>
            <p:spPr bwMode="auto">
              <a:xfrm>
                <a:off x="3217154" y="2513287"/>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0" name="íṥļíde"/>
              <p:cNvSpPr/>
              <p:nvPr/>
            </p:nvSpPr>
            <p:spPr bwMode="auto">
              <a:xfrm>
                <a:off x="3217154" y="3361012"/>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1" name="ïSḷîḋê"/>
              <p:cNvSpPr/>
              <p:nvPr/>
            </p:nvSpPr>
            <p:spPr bwMode="auto">
              <a:xfrm>
                <a:off x="3217154" y="4216675"/>
                <a:ext cx="80228" cy="80228"/>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sp>
            <p:nvSpPr>
              <p:cNvPr id="42" name="î$ļíḑè"/>
              <p:cNvSpPr/>
              <p:nvPr/>
            </p:nvSpPr>
            <p:spPr bwMode="auto">
              <a:xfrm>
                <a:off x="3217154" y="5072504"/>
                <a:ext cx="80228" cy="81482"/>
              </a:xfrm>
              <a:prstGeom prst="ellipse">
                <a:avLst/>
              </a:prstGeom>
              <a:grp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dk1"/>
                    </a:solidFill>
                  </a:defRPr>
                </a:lvl1pPr>
                <a:lvl2pPr marL="457200" algn="l" defTabSz="913765" rtl="0" eaLnBrk="1" latinLnBrk="0" hangingPunct="1">
                  <a:defRPr sz="1800" kern="1200">
                    <a:solidFill>
                      <a:schemeClr val="dk1"/>
                    </a:solidFill>
                  </a:defRPr>
                </a:lvl2pPr>
                <a:lvl3pPr marL="914400" algn="l" defTabSz="913765" rtl="0" eaLnBrk="1" latinLnBrk="0" hangingPunct="1">
                  <a:defRPr sz="1800" kern="1200">
                    <a:solidFill>
                      <a:schemeClr val="dk1"/>
                    </a:solidFill>
                  </a:defRPr>
                </a:lvl3pPr>
                <a:lvl4pPr marL="1371600" algn="l" defTabSz="913765" rtl="0" eaLnBrk="1" latinLnBrk="0" hangingPunct="1">
                  <a:defRPr sz="1800" kern="1200">
                    <a:solidFill>
                      <a:schemeClr val="dk1"/>
                    </a:solidFill>
                  </a:defRPr>
                </a:lvl4pPr>
                <a:lvl5pPr marL="1828800" algn="l" defTabSz="913765" rtl="0" eaLnBrk="1" latinLnBrk="0" hangingPunct="1">
                  <a:defRPr sz="1800" kern="1200">
                    <a:solidFill>
                      <a:schemeClr val="dk1"/>
                    </a:solidFill>
                  </a:defRPr>
                </a:lvl5pPr>
                <a:lvl6pPr marL="2286000" algn="l" defTabSz="913765" rtl="0" eaLnBrk="1" latinLnBrk="0" hangingPunct="1">
                  <a:defRPr sz="1800" kern="1200">
                    <a:solidFill>
                      <a:schemeClr val="dk1"/>
                    </a:solidFill>
                  </a:defRPr>
                </a:lvl6pPr>
                <a:lvl7pPr marL="2743200" algn="l" defTabSz="913765" rtl="0" eaLnBrk="1" latinLnBrk="0" hangingPunct="1">
                  <a:defRPr sz="1800" kern="1200">
                    <a:solidFill>
                      <a:schemeClr val="dk1"/>
                    </a:solidFill>
                  </a:defRPr>
                </a:lvl7pPr>
                <a:lvl8pPr marL="3200400" algn="l" defTabSz="913765" rtl="0" eaLnBrk="1" latinLnBrk="0" hangingPunct="1">
                  <a:defRPr sz="1800" kern="1200">
                    <a:solidFill>
                      <a:schemeClr val="dk1"/>
                    </a:solidFill>
                  </a:defRPr>
                </a:lvl8pPr>
                <a:lvl9pPr marL="3657600" algn="l" defTabSz="913765" rtl="0" eaLnBrk="1" latinLnBrk="0" hangingPunct="1">
                  <a:defRPr sz="1800" kern="1200">
                    <a:solidFill>
                      <a:schemeClr val="dk1"/>
                    </a:solidFill>
                  </a:defRPr>
                </a:lvl9pPr>
              </a:lstStyle>
              <a:p>
                <a:pPr algn="ctr"/>
                <a:endParaRPr lang="zh-CN" altLang="en-US" sz="2000" dirty="0">
                  <a:solidFill>
                    <a:schemeClr val="bg1"/>
                  </a:solidFill>
                  <a:cs typeface="+mn-ea"/>
                  <a:sym typeface="+mn-lt"/>
                </a:endParaRPr>
              </a:p>
            </p:txBody>
          </p:sp>
        </p:grpSp>
        <p:sp>
          <p:nvSpPr>
            <p:cNvPr id="43" name="îṣľíḓê"/>
            <p:cNvSpPr/>
            <p:nvPr/>
          </p:nvSpPr>
          <p:spPr bwMode="auto">
            <a:xfrm>
              <a:off x="4265331" y="3200768"/>
              <a:ext cx="1549400" cy="490538"/>
            </a:xfrm>
            <a:prstGeom prst="homePlate">
              <a:avLst/>
            </a:pr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关键词</a:t>
              </a:r>
              <a:endPar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45" name="iş1îďe"/>
            <p:cNvSpPr/>
            <p:nvPr/>
          </p:nvSpPr>
          <p:spPr bwMode="auto">
            <a:xfrm>
              <a:off x="6992314" y="3000355"/>
              <a:ext cx="658813" cy="658812"/>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46" name="ïŝľidê"/>
            <p:cNvSpPr/>
            <p:nvPr/>
          </p:nvSpPr>
          <p:spPr bwMode="auto">
            <a:xfrm>
              <a:off x="7179317" y="3189539"/>
              <a:ext cx="284808" cy="280444"/>
            </a:xfrm>
            <a:custGeom>
              <a:avLst/>
              <a:gdLst>
                <a:gd name="connsiteX0" fmla="*/ 210237 w 587192"/>
                <a:gd name="connsiteY0" fmla="*/ 487697 h 579060"/>
                <a:gd name="connsiteX1" fmla="*/ 199202 w 587192"/>
                <a:gd name="connsiteY1" fmla="*/ 498628 h 579060"/>
                <a:gd name="connsiteX2" fmla="*/ 199202 w 587192"/>
                <a:gd name="connsiteY2" fmla="*/ 521647 h 579060"/>
                <a:gd name="connsiteX3" fmla="*/ 210237 w 587192"/>
                <a:gd name="connsiteY3" fmla="*/ 532667 h 579060"/>
                <a:gd name="connsiteX4" fmla="*/ 295575 w 587192"/>
                <a:gd name="connsiteY4" fmla="*/ 532667 h 579060"/>
                <a:gd name="connsiteX5" fmla="*/ 306521 w 587192"/>
                <a:gd name="connsiteY5" fmla="*/ 521647 h 579060"/>
                <a:gd name="connsiteX6" fmla="*/ 306521 w 587192"/>
                <a:gd name="connsiteY6" fmla="*/ 498628 h 579060"/>
                <a:gd name="connsiteX7" fmla="*/ 295575 w 587192"/>
                <a:gd name="connsiteY7" fmla="*/ 487697 h 579060"/>
                <a:gd name="connsiteX8" fmla="*/ 210237 w 587192"/>
                <a:gd name="connsiteY8" fmla="*/ 390112 h 579060"/>
                <a:gd name="connsiteX9" fmla="*/ 199202 w 587192"/>
                <a:gd name="connsiteY9" fmla="*/ 401133 h 579060"/>
                <a:gd name="connsiteX10" fmla="*/ 199202 w 587192"/>
                <a:gd name="connsiteY10" fmla="*/ 424062 h 579060"/>
                <a:gd name="connsiteX11" fmla="*/ 210237 w 587192"/>
                <a:gd name="connsiteY11" fmla="*/ 435083 h 579060"/>
                <a:gd name="connsiteX12" fmla="*/ 295575 w 587192"/>
                <a:gd name="connsiteY12" fmla="*/ 435083 h 579060"/>
                <a:gd name="connsiteX13" fmla="*/ 306521 w 587192"/>
                <a:gd name="connsiteY13" fmla="*/ 424062 h 579060"/>
                <a:gd name="connsiteX14" fmla="*/ 306521 w 587192"/>
                <a:gd name="connsiteY14" fmla="*/ 401133 h 579060"/>
                <a:gd name="connsiteX15" fmla="*/ 295575 w 587192"/>
                <a:gd name="connsiteY15" fmla="*/ 390112 h 579060"/>
                <a:gd name="connsiteX16" fmla="*/ 210237 w 587192"/>
                <a:gd name="connsiteY16" fmla="*/ 292527 h 579060"/>
                <a:gd name="connsiteX17" fmla="*/ 199202 w 587192"/>
                <a:gd name="connsiteY17" fmla="*/ 303459 h 579060"/>
                <a:gd name="connsiteX18" fmla="*/ 199202 w 587192"/>
                <a:gd name="connsiteY18" fmla="*/ 326478 h 579060"/>
                <a:gd name="connsiteX19" fmla="*/ 210237 w 587192"/>
                <a:gd name="connsiteY19" fmla="*/ 337498 h 579060"/>
                <a:gd name="connsiteX20" fmla="*/ 295575 w 587192"/>
                <a:gd name="connsiteY20" fmla="*/ 337498 h 579060"/>
                <a:gd name="connsiteX21" fmla="*/ 306521 w 587192"/>
                <a:gd name="connsiteY21" fmla="*/ 326478 h 579060"/>
                <a:gd name="connsiteX22" fmla="*/ 306521 w 587192"/>
                <a:gd name="connsiteY22" fmla="*/ 303459 h 579060"/>
                <a:gd name="connsiteX23" fmla="*/ 295575 w 587192"/>
                <a:gd name="connsiteY23" fmla="*/ 292527 h 579060"/>
                <a:gd name="connsiteX24" fmla="*/ 412250 w 587192"/>
                <a:gd name="connsiteY24" fmla="*/ 268713 h 579060"/>
                <a:gd name="connsiteX25" fmla="*/ 485772 w 587192"/>
                <a:gd name="connsiteY25" fmla="*/ 342022 h 579060"/>
                <a:gd name="connsiteX26" fmla="*/ 412250 w 587192"/>
                <a:gd name="connsiteY26" fmla="*/ 415419 h 579060"/>
                <a:gd name="connsiteX27" fmla="*/ 401658 w 587192"/>
                <a:gd name="connsiteY27" fmla="*/ 414353 h 579060"/>
                <a:gd name="connsiteX28" fmla="*/ 401658 w 587192"/>
                <a:gd name="connsiteY28" fmla="*/ 395692 h 579060"/>
                <a:gd name="connsiteX29" fmla="*/ 401658 w 587192"/>
                <a:gd name="connsiteY29" fmla="*/ 288440 h 579060"/>
                <a:gd name="connsiteX30" fmla="*/ 401658 w 587192"/>
                <a:gd name="connsiteY30" fmla="*/ 269691 h 579060"/>
                <a:gd name="connsiteX31" fmla="*/ 412250 w 587192"/>
                <a:gd name="connsiteY31" fmla="*/ 268713 h 579060"/>
                <a:gd name="connsiteX32" fmla="*/ 170993 w 587192"/>
                <a:gd name="connsiteY32" fmla="*/ 231737 h 579060"/>
                <a:gd name="connsiteX33" fmla="*/ 334819 w 587192"/>
                <a:gd name="connsiteY33" fmla="*/ 231737 h 579060"/>
                <a:gd name="connsiteX34" fmla="*/ 362494 w 587192"/>
                <a:gd name="connsiteY34" fmla="*/ 259377 h 579060"/>
                <a:gd name="connsiteX35" fmla="*/ 362494 w 587192"/>
                <a:gd name="connsiteY35" fmla="*/ 579060 h 579060"/>
                <a:gd name="connsiteX36" fmla="*/ 143318 w 587192"/>
                <a:gd name="connsiteY36" fmla="*/ 579060 h 579060"/>
                <a:gd name="connsiteX37" fmla="*/ 143318 w 587192"/>
                <a:gd name="connsiteY37" fmla="*/ 259377 h 579060"/>
                <a:gd name="connsiteX38" fmla="*/ 170993 w 587192"/>
                <a:gd name="connsiteY38" fmla="*/ 231737 h 579060"/>
                <a:gd name="connsiteX39" fmla="*/ 385391 w 587192"/>
                <a:gd name="connsiteY39" fmla="*/ 159196 h 579060"/>
                <a:gd name="connsiteX40" fmla="*/ 439244 w 587192"/>
                <a:gd name="connsiteY40" fmla="*/ 159196 h 579060"/>
                <a:gd name="connsiteX41" fmla="*/ 460518 w 587192"/>
                <a:gd name="connsiteY41" fmla="*/ 180435 h 579060"/>
                <a:gd name="connsiteX42" fmla="*/ 460518 w 587192"/>
                <a:gd name="connsiteY42" fmla="*/ 206918 h 579060"/>
                <a:gd name="connsiteX43" fmla="*/ 505469 w 587192"/>
                <a:gd name="connsiteY43" fmla="*/ 232778 h 579060"/>
                <a:gd name="connsiteX44" fmla="*/ 528345 w 587192"/>
                <a:gd name="connsiteY44" fmla="*/ 219626 h 579060"/>
                <a:gd name="connsiteX45" fmla="*/ 557363 w 587192"/>
                <a:gd name="connsiteY45" fmla="*/ 227357 h 579060"/>
                <a:gd name="connsiteX46" fmla="*/ 584334 w 587192"/>
                <a:gd name="connsiteY46" fmla="*/ 273924 h 579060"/>
                <a:gd name="connsiteX47" fmla="*/ 576590 w 587192"/>
                <a:gd name="connsiteY47" fmla="*/ 302894 h 579060"/>
                <a:gd name="connsiteX48" fmla="*/ 553625 w 587192"/>
                <a:gd name="connsiteY48" fmla="*/ 316136 h 579060"/>
                <a:gd name="connsiteX49" fmla="*/ 556028 w 587192"/>
                <a:gd name="connsiteY49" fmla="*/ 341996 h 579060"/>
                <a:gd name="connsiteX50" fmla="*/ 553625 w 587192"/>
                <a:gd name="connsiteY50" fmla="*/ 367945 h 579060"/>
                <a:gd name="connsiteX51" fmla="*/ 576590 w 587192"/>
                <a:gd name="connsiteY51" fmla="*/ 381187 h 579060"/>
                <a:gd name="connsiteX52" fmla="*/ 584334 w 587192"/>
                <a:gd name="connsiteY52" fmla="*/ 410157 h 579060"/>
                <a:gd name="connsiteX53" fmla="*/ 557363 w 587192"/>
                <a:gd name="connsiteY53" fmla="*/ 456724 h 579060"/>
                <a:gd name="connsiteX54" fmla="*/ 544546 w 587192"/>
                <a:gd name="connsiteY54" fmla="*/ 466588 h 579060"/>
                <a:gd name="connsiteX55" fmla="*/ 528345 w 587192"/>
                <a:gd name="connsiteY55" fmla="*/ 464455 h 579060"/>
                <a:gd name="connsiteX56" fmla="*/ 505469 w 587192"/>
                <a:gd name="connsiteY56" fmla="*/ 451214 h 579060"/>
                <a:gd name="connsiteX57" fmla="*/ 460518 w 587192"/>
                <a:gd name="connsiteY57" fmla="*/ 477074 h 579060"/>
                <a:gd name="connsiteX58" fmla="*/ 460518 w 587192"/>
                <a:gd name="connsiteY58" fmla="*/ 503557 h 579060"/>
                <a:gd name="connsiteX59" fmla="*/ 439244 w 587192"/>
                <a:gd name="connsiteY59" fmla="*/ 524796 h 579060"/>
                <a:gd name="connsiteX60" fmla="*/ 401680 w 587192"/>
                <a:gd name="connsiteY60" fmla="*/ 524796 h 579060"/>
                <a:gd name="connsiteX61" fmla="*/ 401680 w 587192"/>
                <a:gd name="connsiteY61" fmla="*/ 476363 h 579060"/>
                <a:gd name="connsiteX62" fmla="*/ 401680 w 587192"/>
                <a:gd name="connsiteY62" fmla="*/ 434151 h 579060"/>
                <a:gd name="connsiteX63" fmla="*/ 412273 w 587192"/>
                <a:gd name="connsiteY63" fmla="*/ 434951 h 579060"/>
                <a:gd name="connsiteX64" fmla="*/ 505380 w 587192"/>
                <a:gd name="connsiteY64" fmla="*/ 341996 h 579060"/>
                <a:gd name="connsiteX65" fmla="*/ 412273 w 587192"/>
                <a:gd name="connsiteY65" fmla="*/ 249130 h 579060"/>
                <a:gd name="connsiteX66" fmla="*/ 400701 w 587192"/>
                <a:gd name="connsiteY66" fmla="*/ 249930 h 579060"/>
                <a:gd name="connsiteX67" fmla="*/ 364117 w 587192"/>
                <a:gd name="connsiteY67" fmla="*/ 199719 h 579060"/>
                <a:gd name="connsiteX68" fmla="*/ 364117 w 587192"/>
                <a:gd name="connsiteY68" fmla="*/ 180435 h 579060"/>
                <a:gd name="connsiteX69" fmla="*/ 385391 w 587192"/>
                <a:gd name="connsiteY69" fmla="*/ 159196 h 579060"/>
                <a:gd name="connsiteX70" fmla="*/ 189325 w 587192"/>
                <a:gd name="connsiteY70" fmla="*/ 75016 h 579060"/>
                <a:gd name="connsiteX71" fmla="*/ 178288 w 587192"/>
                <a:gd name="connsiteY71" fmla="*/ 86037 h 579060"/>
                <a:gd name="connsiteX72" fmla="*/ 178288 w 587192"/>
                <a:gd name="connsiteY72" fmla="*/ 129677 h 579060"/>
                <a:gd name="connsiteX73" fmla="*/ 189325 w 587192"/>
                <a:gd name="connsiteY73" fmla="*/ 140699 h 579060"/>
                <a:gd name="connsiteX74" fmla="*/ 233029 w 587192"/>
                <a:gd name="connsiteY74" fmla="*/ 140699 h 579060"/>
                <a:gd name="connsiteX75" fmla="*/ 244067 w 587192"/>
                <a:gd name="connsiteY75" fmla="*/ 129677 h 579060"/>
                <a:gd name="connsiteX76" fmla="*/ 244067 w 587192"/>
                <a:gd name="connsiteY76" fmla="*/ 86037 h 579060"/>
                <a:gd name="connsiteX77" fmla="*/ 233029 w 587192"/>
                <a:gd name="connsiteY77" fmla="*/ 75016 h 579060"/>
                <a:gd name="connsiteX78" fmla="*/ 55988 w 587192"/>
                <a:gd name="connsiteY78" fmla="*/ 75016 h 579060"/>
                <a:gd name="connsiteX79" fmla="*/ 44950 w 587192"/>
                <a:gd name="connsiteY79" fmla="*/ 86037 h 579060"/>
                <a:gd name="connsiteX80" fmla="*/ 44950 w 587192"/>
                <a:gd name="connsiteY80" fmla="*/ 129677 h 579060"/>
                <a:gd name="connsiteX81" fmla="*/ 55988 w 587192"/>
                <a:gd name="connsiteY81" fmla="*/ 140699 h 579060"/>
                <a:gd name="connsiteX82" fmla="*/ 99692 w 587192"/>
                <a:gd name="connsiteY82" fmla="*/ 140699 h 579060"/>
                <a:gd name="connsiteX83" fmla="*/ 110729 w 587192"/>
                <a:gd name="connsiteY83" fmla="*/ 129677 h 579060"/>
                <a:gd name="connsiteX84" fmla="*/ 110729 w 587192"/>
                <a:gd name="connsiteY84" fmla="*/ 86037 h 579060"/>
                <a:gd name="connsiteX85" fmla="*/ 99692 w 587192"/>
                <a:gd name="connsiteY85" fmla="*/ 75016 h 579060"/>
                <a:gd name="connsiteX86" fmla="*/ 27682 w 587192"/>
                <a:gd name="connsiteY86" fmla="*/ 0 h 579060"/>
                <a:gd name="connsiteX87" fmla="*/ 261424 w 587192"/>
                <a:gd name="connsiteY87" fmla="*/ 0 h 579060"/>
                <a:gd name="connsiteX88" fmla="*/ 289106 w 587192"/>
                <a:gd name="connsiteY88" fmla="*/ 27642 h 579060"/>
                <a:gd name="connsiteX89" fmla="*/ 289106 w 587192"/>
                <a:gd name="connsiteY89" fmla="*/ 192605 h 579060"/>
                <a:gd name="connsiteX90" fmla="*/ 170989 w 587192"/>
                <a:gd name="connsiteY90" fmla="*/ 192605 h 579060"/>
                <a:gd name="connsiteX91" fmla="*/ 110729 w 587192"/>
                <a:gd name="connsiteY91" fmla="*/ 230913 h 579060"/>
                <a:gd name="connsiteX92" fmla="*/ 110729 w 587192"/>
                <a:gd name="connsiteY92" fmla="*/ 222825 h 579060"/>
                <a:gd name="connsiteX93" fmla="*/ 99692 w 587192"/>
                <a:gd name="connsiteY93" fmla="*/ 211803 h 579060"/>
                <a:gd name="connsiteX94" fmla="*/ 55988 w 587192"/>
                <a:gd name="connsiteY94" fmla="*/ 211803 h 579060"/>
                <a:gd name="connsiteX95" fmla="*/ 44950 w 587192"/>
                <a:gd name="connsiteY95" fmla="*/ 222825 h 579060"/>
                <a:gd name="connsiteX96" fmla="*/ 44950 w 587192"/>
                <a:gd name="connsiteY96" fmla="*/ 266554 h 579060"/>
                <a:gd name="connsiteX97" fmla="*/ 55988 w 587192"/>
                <a:gd name="connsiteY97" fmla="*/ 277487 h 579060"/>
                <a:gd name="connsiteX98" fmla="*/ 99692 w 587192"/>
                <a:gd name="connsiteY98" fmla="*/ 277487 h 579060"/>
                <a:gd name="connsiteX99" fmla="*/ 104142 w 587192"/>
                <a:gd name="connsiteY99" fmla="*/ 276598 h 579060"/>
                <a:gd name="connsiteX100" fmla="*/ 104142 w 587192"/>
                <a:gd name="connsiteY100" fmla="*/ 349569 h 579060"/>
                <a:gd name="connsiteX101" fmla="*/ 99692 w 587192"/>
                <a:gd name="connsiteY101" fmla="*/ 348680 h 579060"/>
                <a:gd name="connsiteX102" fmla="*/ 55988 w 587192"/>
                <a:gd name="connsiteY102" fmla="*/ 348680 h 579060"/>
                <a:gd name="connsiteX103" fmla="*/ 44950 w 587192"/>
                <a:gd name="connsiteY103" fmla="*/ 359613 h 579060"/>
                <a:gd name="connsiteX104" fmla="*/ 44950 w 587192"/>
                <a:gd name="connsiteY104" fmla="*/ 403342 h 579060"/>
                <a:gd name="connsiteX105" fmla="*/ 55988 w 587192"/>
                <a:gd name="connsiteY105" fmla="*/ 414364 h 579060"/>
                <a:gd name="connsiteX106" fmla="*/ 99692 w 587192"/>
                <a:gd name="connsiteY106" fmla="*/ 414364 h 579060"/>
                <a:gd name="connsiteX107" fmla="*/ 104142 w 587192"/>
                <a:gd name="connsiteY107" fmla="*/ 413386 h 579060"/>
                <a:gd name="connsiteX108" fmla="*/ 104142 w 587192"/>
                <a:gd name="connsiteY108" fmla="*/ 579060 h 579060"/>
                <a:gd name="connsiteX109" fmla="*/ 27682 w 587192"/>
                <a:gd name="connsiteY109" fmla="*/ 579060 h 579060"/>
                <a:gd name="connsiteX110" fmla="*/ 0 w 587192"/>
                <a:gd name="connsiteY110" fmla="*/ 551329 h 579060"/>
                <a:gd name="connsiteX111" fmla="*/ 0 w 587192"/>
                <a:gd name="connsiteY111" fmla="*/ 27642 h 579060"/>
                <a:gd name="connsiteX112" fmla="*/ 27682 w 587192"/>
                <a:gd name="connsiteY112" fmla="*/ 0 h 57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587192" h="579060">
                  <a:moveTo>
                    <a:pt x="210237" y="487697"/>
                  </a:moveTo>
                  <a:cubicBezTo>
                    <a:pt x="204096" y="487697"/>
                    <a:pt x="199202" y="492585"/>
                    <a:pt x="199202" y="498628"/>
                  </a:cubicBezTo>
                  <a:lnTo>
                    <a:pt x="199202" y="521647"/>
                  </a:lnTo>
                  <a:cubicBezTo>
                    <a:pt x="199202" y="527690"/>
                    <a:pt x="204096" y="532667"/>
                    <a:pt x="210237" y="532667"/>
                  </a:cubicBezTo>
                  <a:lnTo>
                    <a:pt x="295575" y="532667"/>
                  </a:lnTo>
                  <a:cubicBezTo>
                    <a:pt x="301627" y="532667"/>
                    <a:pt x="306521" y="527690"/>
                    <a:pt x="306521" y="521647"/>
                  </a:cubicBezTo>
                  <a:lnTo>
                    <a:pt x="306521" y="498628"/>
                  </a:lnTo>
                  <a:cubicBezTo>
                    <a:pt x="306521" y="492585"/>
                    <a:pt x="301627" y="487697"/>
                    <a:pt x="295575" y="487697"/>
                  </a:cubicBezTo>
                  <a:close/>
                  <a:moveTo>
                    <a:pt x="210237" y="390112"/>
                  </a:moveTo>
                  <a:cubicBezTo>
                    <a:pt x="204096" y="390112"/>
                    <a:pt x="199202" y="395000"/>
                    <a:pt x="199202" y="401133"/>
                  </a:cubicBezTo>
                  <a:lnTo>
                    <a:pt x="199202" y="424062"/>
                  </a:lnTo>
                  <a:cubicBezTo>
                    <a:pt x="199202" y="430106"/>
                    <a:pt x="204096" y="435083"/>
                    <a:pt x="210237" y="435083"/>
                  </a:cubicBezTo>
                  <a:lnTo>
                    <a:pt x="295575" y="435083"/>
                  </a:lnTo>
                  <a:cubicBezTo>
                    <a:pt x="301627" y="435083"/>
                    <a:pt x="306521" y="430106"/>
                    <a:pt x="306521" y="424062"/>
                  </a:cubicBezTo>
                  <a:lnTo>
                    <a:pt x="306521" y="401133"/>
                  </a:lnTo>
                  <a:cubicBezTo>
                    <a:pt x="306521" y="395000"/>
                    <a:pt x="301627" y="390112"/>
                    <a:pt x="295575" y="390112"/>
                  </a:cubicBezTo>
                  <a:close/>
                  <a:moveTo>
                    <a:pt x="210237" y="292527"/>
                  </a:moveTo>
                  <a:cubicBezTo>
                    <a:pt x="204096" y="292527"/>
                    <a:pt x="199202" y="297416"/>
                    <a:pt x="199202" y="303459"/>
                  </a:cubicBezTo>
                  <a:lnTo>
                    <a:pt x="199202" y="326478"/>
                  </a:lnTo>
                  <a:cubicBezTo>
                    <a:pt x="199202" y="332521"/>
                    <a:pt x="204096" y="337498"/>
                    <a:pt x="210237" y="337498"/>
                  </a:cubicBezTo>
                  <a:lnTo>
                    <a:pt x="295575" y="337498"/>
                  </a:lnTo>
                  <a:cubicBezTo>
                    <a:pt x="301627" y="337498"/>
                    <a:pt x="306521" y="332521"/>
                    <a:pt x="306521" y="326478"/>
                  </a:cubicBezTo>
                  <a:lnTo>
                    <a:pt x="306521" y="303459"/>
                  </a:lnTo>
                  <a:cubicBezTo>
                    <a:pt x="306521" y="297416"/>
                    <a:pt x="301627" y="292527"/>
                    <a:pt x="295575" y="292527"/>
                  </a:cubicBezTo>
                  <a:close/>
                  <a:moveTo>
                    <a:pt x="412250" y="268713"/>
                  </a:moveTo>
                  <a:cubicBezTo>
                    <a:pt x="452838" y="268713"/>
                    <a:pt x="485772" y="301591"/>
                    <a:pt x="485772" y="342022"/>
                  </a:cubicBezTo>
                  <a:cubicBezTo>
                    <a:pt x="485772" y="382541"/>
                    <a:pt x="452838" y="415419"/>
                    <a:pt x="412250" y="415419"/>
                  </a:cubicBezTo>
                  <a:cubicBezTo>
                    <a:pt x="408690" y="415419"/>
                    <a:pt x="405129" y="414886"/>
                    <a:pt x="401658" y="414353"/>
                  </a:cubicBezTo>
                  <a:lnTo>
                    <a:pt x="401658" y="395692"/>
                  </a:lnTo>
                  <a:lnTo>
                    <a:pt x="401658" y="288440"/>
                  </a:lnTo>
                  <a:lnTo>
                    <a:pt x="401658" y="269691"/>
                  </a:lnTo>
                  <a:cubicBezTo>
                    <a:pt x="405129" y="269157"/>
                    <a:pt x="408690" y="268713"/>
                    <a:pt x="412250" y="268713"/>
                  </a:cubicBezTo>
                  <a:close/>
                  <a:moveTo>
                    <a:pt x="170993" y="231737"/>
                  </a:moveTo>
                  <a:lnTo>
                    <a:pt x="334819" y="231737"/>
                  </a:lnTo>
                  <a:cubicBezTo>
                    <a:pt x="350125" y="231737"/>
                    <a:pt x="362494" y="244091"/>
                    <a:pt x="362494" y="259377"/>
                  </a:cubicBezTo>
                  <a:lnTo>
                    <a:pt x="362494" y="579060"/>
                  </a:lnTo>
                  <a:lnTo>
                    <a:pt x="143318" y="579060"/>
                  </a:lnTo>
                  <a:lnTo>
                    <a:pt x="143318" y="259377"/>
                  </a:lnTo>
                  <a:cubicBezTo>
                    <a:pt x="143318" y="244091"/>
                    <a:pt x="155687" y="231737"/>
                    <a:pt x="170993" y="231737"/>
                  </a:cubicBezTo>
                  <a:close/>
                  <a:moveTo>
                    <a:pt x="385391" y="159196"/>
                  </a:moveTo>
                  <a:lnTo>
                    <a:pt x="439244" y="159196"/>
                  </a:lnTo>
                  <a:cubicBezTo>
                    <a:pt x="450993" y="159196"/>
                    <a:pt x="460518" y="168705"/>
                    <a:pt x="460518" y="180435"/>
                  </a:cubicBezTo>
                  <a:lnTo>
                    <a:pt x="460518" y="206918"/>
                  </a:lnTo>
                  <a:cubicBezTo>
                    <a:pt x="477074" y="212872"/>
                    <a:pt x="492295" y="221581"/>
                    <a:pt x="505469" y="232778"/>
                  </a:cubicBezTo>
                  <a:lnTo>
                    <a:pt x="528345" y="219626"/>
                  </a:lnTo>
                  <a:cubicBezTo>
                    <a:pt x="538582" y="213760"/>
                    <a:pt x="551578" y="217226"/>
                    <a:pt x="557363" y="227357"/>
                  </a:cubicBezTo>
                  <a:lnTo>
                    <a:pt x="584334" y="273924"/>
                  </a:lnTo>
                  <a:cubicBezTo>
                    <a:pt x="590209" y="284055"/>
                    <a:pt x="586738" y="297029"/>
                    <a:pt x="576590" y="302894"/>
                  </a:cubicBezTo>
                  <a:lnTo>
                    <a:pt x="553625" y="316136"/>
                  </a:lnTo>
                  <a:cubicBezTo>
                    <a:pt x="555138" y="324578"/>
                    <a:pt x="556028" y="333198"/>
                    <a:pt x="556028" y="341996"/>
                  </a:cubicBezTo>
                  <a:cubicBezTo>
                    <a:pt x="556028" y="350883"/>
                    <a:pt x="555138" y="359503"/>
                    <a:pt x="553625" y="367945"/>
                  </a:cubicBezTo>
                  <a:lnTo>
                    <a:pt x="576590" y="381187"/>
                  </a:lnTo>
                  <a:cubicBezTo>
                    <a:pt x="586738" y="387052"/>
                    <a:pt x="590209" y="400026"/>
                    <a:pt x="584334" y="410157"/>
                  </a:cubicBezTo>
                  <a:lnTo>
                    <a:pt x="557363" y="456724"/>
                  </a:lnTo>
                  <a:cubicBezTo>
                    <a:pt x="554604" y="461611"/>
                    <a:pt x="549975" y="465166"/>
                    <a:pt x="544546" y="466588"/>
                  </a:cubicBezTo>
                  <a:cubicBezTo>
                    <a:pt x="539027" y="468010"/>
                    <a:pt x="533241" y="467299"/>
                    <a:pt x="528345" y="464455"/>
                  </a:cubicBezTo>
                  <a:lnTo>
                    <a:pt x="505469" y="451214"/>
                  </a:lnTo>
                  <a:cubicBezTo>
                    <a:pt x="492295" y="462411"/>
                    <a:pt x="477074" y="471209"/>
                    <a:pt x="460518" y="477074"/>
                  </a:cubicBezTo>
                  <a:lnTo>
                    <a:pt x="460518" y="503557"/>
                  </a:lnTo>
                  <a:cubicBezTo>
                    <a:pt x="460518" y="515287"/>
                    <a:pt x="450993" y="524796"/>
                    <a:pt x="439244" y="524796"/>
                  </a:cubicBezTo>
                  <a:lnTo>
                    <a:pt x="401680" y="524796"/>
                  </a:lnTo>
                  <a:lnTo>
                    <a:pt x="401680" y="476363"/>
                  </a:lnTo>
                  <a:lnTo>
                    <a:pt x="401680" y="434151"/>
                  </a:lnTo>
                  <a:cubicBezTo>
                    <a:pt x="405152" y="434596"/>
                    <a:pt x="408712" y="434951"/>
                    <a:pt x="412273" y="434951"/>
                  </a:cubicBezTo>
                  <a:cubicBezTo>
                    <a:pt x="463633" y="434951"/>
                    <a:pt x="505380" y="393272"/>
                    <a:pt x="505380" y="341996"/>
                  </a:cubicBezTo>
                  <a:cubicBezTo>
                    <a:pt x="505380" y="290809"/>
                    <a:pt x="463633" y="249130"/>
                    <a:pt x="412273" y="249130"/>
                  </a:cubicBezTo>
                  <a:cubicBezTo>
                    <a:pt x="408356" y="249130"/>
                    <a:pt x="404529" y="249485"/>
                    <a:pt x="400701" y="249930"/>
                  </a:cubicBezTo>
                  <a:cubicBezTo>
                    <a:pt x="397497" y="227801"/>
                    <a:pt x="383522" y="209228"/>
                    <a:pt x="364117" y="199719"/>
                  </a:cubicBezTo>
                  <a:lnTo>
                    <a:pt x="364117" y="180435"/>
                  </a:lnTo>
                  <a:cubicBezTo>
                    <a:pt x="364117" y="168705"/>
                    <a:pt x="373641" y="159196"/>
                    <a:pt x="385391" y="159196"/>
                  </a:cubicBezTo>
                  <a:close/>
                  <a:moveTo>
                    <a:pt x="189325" y="75016"/>
                  </a:moveTo>
                  <a:cubicBezTo>
                    <a:pt x="183273" y="75016"/>
                    <a:pt x="178288" y="79904"/>
                    <a:pt x="178288" y="86037"/>
                  </a:cubicBezTo>
                  <a:lnTo>
                    <a:pt x="178288" y="129677"/>
                  </a:lnTo>
                  <a:cubicBezTo>
                    <a:pt x="178288" y="135810"/>
                    <a:pt x="183273" y="140699"/>
                    <a:pt x="189325" y="140699"/>
                  </a:cubicBezTo>
                  <a:lnTo>
                    <a:pt x="233029" y="140699"/>
                  </a:lnTo>
                  <a:cubicBezTo>
                    <a:pt x="239171" y="140699"/>
                    <a:pt x="244067" y="135810"/>
                    <a:pt x="244067" y="129677"/>
                  </a:cubicBezTo>
                  <a:lnTo>
                    <a:pt x="244067" y="86037"/>
                  </a:lnTo>
                  <a:cubicBezTo>
                    <a:pt x="244067" y="79904"/>
                    <a:pt x="239171" y="75016"/>
                    <a:pt x="233029" y="75016"/>
                  </a:cubicBezTo>
                  <a:close/>
                  <a:moveTo>
                    <a:pt x="55988" y="75016"/>
                  </a:moveTo>
                  <a:cubicBezTo>
                    <a:pt x="49846" y="75016"/>
                    <a:pt x="44950" y="79904"/>
                    <a:pt x="44950" y="86037"/>
                  </a:cubicBezTo>
                  <a:lnTo>
                    <a:pt x="44950" y="129677"/>
                  </a:lnTo>
                  <a:cubicBezTo>
                    <a:pt x="44950" y="135810"/>
                    <a:pt x="49846" y="140699"/>
                    <a:pt x="55988" y="140699"/>
                  </a:cubicBezTo>
                  <a:lnTo>
                    <a:pt x="99692" y="140699"/>
                  </a:lnTo>
                  <a:cubicBezTo>
                    <a:pt x="105833" y="140699"/>
                    <a:pt x="110729" y="135810"/>
                    <a:pt x="110729" y="129677"/>
                  </a:cubicBezTo>
                  <a:lnTo>
                    <a:pt x="110729" y="86037"/>
                  </a:lnTo>
                  <a:cubicBezTo>
                    <a:pt x="110729" y="79904"/>
                    <a:pt x="105833" y="75016"/>
                    <a:pt x="99692" y="75016"/>
                  </a:cubicBezTo>
                  <a:close/>
                  <a:moveTo>
                    <a:pt x="27682" y="0"/>
                  </a:moveTo>
                  <a:lnTo>
                    <a:pt x="261424" y="0"/>
                  </a:lnTo>
                  <a:cubicBezTo>
                    <a:pt x="276645" y="0"/>
                    <a:pt x="289106" y="12354"/>
                    <a:pt x="289106" y="27642"/>
                  </a:cubicBezTo>
                  <a:lnTo>
                    <a:pt x="289106" y="192605"/>
                  </a:lnTo>
                  <a:lnTo>
                    <a:pt x="170989" y="192605"/>
                  </a:lnTo>
                  <a:cubicBezTo>
                    <a:pt x="144375" y="192605"/>
                    <a:pt x="121499" y="208337"/>
                    <a:pt x="110729" y="230913"/>
                  </a:cubicBezTo>
                  <a:lnTo>
                    <a:pt x="110729" y="222825"/>
                  </a:lnTo>
                  <a:cubicBezTo>
                    <a:pt x="110729" y="216781"/>
                    <a:pt x="105833" y="211803"/>
                    <a:pt x="99692" y="211803"/>
                  </a:cubicBezTo>
                  <a:lnTo>
                    <a:pt x="55988" y="211803"/>
                  </a:lnTo>
                  <a:cubicBezTo>
                    <a:pt x="49846" y="211803"/>
                    <a:pt x="44950" y="216781"/>
                    <a:pt x="44950" y="222825"/>
                  </a:cubicBezTo>
                  <a:lnTo>
                    <a:pt x="44950" y="266554"/>
                  </a:lnTo>
                  <a:cubicBezTo>
                    <a:pt x="44950" y="272598"/>
                    <a:pt x="49846" y="277487"/>
                    <a:pt x="55988" y="277487"/>
                  </a:cubicBezTo>
                  <a:lnTo>
                    <a:pt x="99692" y="277487"/>
                  </a:lnTo>
                  <a:cubicBezTo>
                    <a:pt x="101294" y="277487"/>
                    <a:pt x="102807" y="277131"/>
                    <a:pt x="104142" y="276598"/>
                  </a:cubicBezTo>
                  <a:lnTo>
                    <a:pt x="104142" y="349569"/>
                  </a:lnTo>
                  <a:cubicBezTo>
                    <a:pt x="102807" y="349036"/>
                    <a:pt x="101294" y="348680"/>
                    <a:pt x="99692" y="348680"/>
                  </a:cubicBezTo>
                  <a:lnTo>
                    <a:pt x="55988" y="348680"/>
                  </a:lnTo>
                  <a:cubicBezTo>
                    <a:pt x="49846" y="348680"/>
                    <a:pt x="44950" y="353569"/>
                    <a:pt x="44950" y="359613"/>
                  </a:cubicBezTo>
                  <a:lnTo>
                    <a:pt x="44950" y="403342"/>
                  </a:lnTo>
                  <a:cubicBezTo>
                    <a:pt x="44950" y="409475"/>
                    <a:pt x="49846" y="414364"/>
                    <a:pt x="55988" y="414364"/>
                  </a:cubicBezTo>
                  <a:lnTo>
                    <a:pt x="99692" y="414364"/>
                  </a:lnTo>
                  <a:cubicBezTo>
                    <a:pt x="101294" y="414364"/>
                    <a:pt x="102807" y="414008"/>
                    <a:pt x="104142" y="413386"/>
                  </a:cubicBezTo>
                  <a:lnTo>
                    <a:pt x="104142" y="579060"/>
                  </a:lnTo>
                  <a:lnTo>
                    <a:pt x="27682" y="579060"/>
                  </a:lnTo>
                  <a:cubicBezTo>
                    <a:pt x="12372" y="579060"/>
                    <a:pt x="0" y="566617"/>
                    <a:pt x="0" y="551329"/>
                  </a:cubicBezTo>
                  <a:lnTo>
                    <a:pt x="0" y="27642"/>
                  </a:lnTo>
                  <a:cubicBezTo>
                    <a:pt x="0" y="12354"/>
                    <a:pt x="12372" y="0"/>
                    <a:pt x="27682" y="0"/>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sp>
          <p:nvSpPr>
            <p:cNvPr id="47" name="îṣľíḓê"/>
            <p:cNvSpPr/>
            <p:nvPr/>
          </p:nvSpPr>
          <p:spPr bwMode="auto">
            <a:xfrm>
              <a:off x="4265331" y="4065360"/>
              <a:ext cx="1549400" cy="490538"/>
            </a:xfrm>
            <a:prstGeom prst="homePlate">
              <a:avLst/>
            </a:prstGeom>
            <a:solidFill>
              <a:srgbClr val="62EFFE"/>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关键词</a:t>
              </a:r>
              <a:endParaRPr lang="zh-CN" altLang="en-US"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49" name="iş1îďe"/>
            <p:cNvSpPr/>
            <p:nvPr/>
          </p:nvSpPr>
          <p:spPr bwMode="auto">
            <a:xfrm>
              <a:off x="6992314" y="3854430"/>
              <a:ext cx="658813" cy="658812"/>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50" name="ïŝľidê"/>
            <p:cNvSpPr/>
            <p:nvPr/>
          </p:nvSpPr>
          <p:spPr bwMode="auto">
            <a:xfrm>
              <a:off x="7179316" y="4060825"/>
              <a:ext cx="284810" cy="244434"/>
            </a:xfrm>
            <a:custGeom>
              <a:avLst/>
              <a:gdLst>
                <a:gd name="connsiteX0" fmla="*/ 231569 w 609272"/>
                <a:gd name="connsiteY0" fmla="*/ 280751 h 523426"/>
                <a:gd name="connsiteX1" fmla="*/ 251519 w 609272"/>
                <a:gd name="connsiteY1" fmla="*/ 311575 h 523426"/>
                <a:gd name="connsiteX2" fmla="*/ 278714 w 609272"/>
                <a:gd name="connsiteY2" fmla="*/ 349634 h 523426"/>
                <a:gd name="connsiteX3" fmla="*/ 37927 w 609272"/>
                <a:gd name="connsiteY3" fmla="*/ 467972 h 523426"/>
                <a:gd name="connsiteX4" fmla="*/ 37927 w 609272"/>
                <a:gd name="connsiteY4" fmla="*/ 389476 h 523426"/>
                <a:gd name="connsiteX5" fmla="*/ 186806 w 609272"/>
                <a:gd name="connsiteY5" fmla="*/ 339029 h 523426"/>
                <a:gd name="connsiteX6" fmla="*/ 231569 w 609272"/>
                <a:gd name="connsiteY6" fmla="*/ 280751 h 523426"/>
                <a:gd name="connsiteX7" fmla="*/ 54586 w 609272"/>
                <a:gd name="connsiteY7" fmla="*/ 54942 h 523426"/>
                <a:gd name="connsiteX8" fmla="*/ 291446 w 609272"/>
                <a:gd name="connsiteY8" fmla="*/ 191046 h 523426"/>
                <a:gd name="connsiteX9" fmla="*/ 299090 w 609272"/>
                <a:gd name="connsiteY9" fmla="*/ 202050 h 523426"/>
                <a:gd name="connsiteX10" fmla="*/ 337607 w 609272"/>
                <a:gd name="connsiteY10" fmla="*/ 261725 h 523426"/>
                <a:gd name="connsiteX11" fmla="*/ 382874 w 609272"/>
                <a:gd name="connsiteY11" fmla="*/ 319121 h 523426"/>
                <a:gd name="connsiteX12" fmla="*/ 485123 w 609272"/>
                <a:gd name="connsiteY12" fmla="*/ 366604 h 523426"/>
                <a:gd name="connsiteX13" fmla="*/ 477975 w 609272"/>
                <a:gd name="connsiteY13" fmla="*/ 357980 h 523426"/>
                <a:gd name="connsiteX14" fmla="*/ 477975 w 609272"/>
                <a:gd name="connsiteY14" fmla="*/ 302468 h 523426"/>
                <a:gd name="connsiteX15" fmla="*/ 507062 w 609272"/>
                <a:gd name="connsiteY15" fmla="*/ 290969 h 523426"/>
                <a:gd name="connsiteX16" fmla="*/ 533567 w 609272"/>
                <a:gd name="connsiteY16" fmla="*/ 302468 h 523426"/>
                <a:gd name="connsiteX17" fmla="*/ 596505 w 609272"/>
                <a:gd name="connsiteY17" fmla="*/ 378995 h 523426"/>
                <a:gd name="connsiteX18" fmla="*/ 598490 w 609272"/>
                <a:gd name="connsiteY18" fmla="*/ 434507 h 523426"/>
                <a:gd name="connsiteX19" fmla="*/ 527710 w 609272"/>
                <a:gd name="connsiteY19" fmla="*/ 511035 h 523426"/>
                <a:gd name="connsiteX20" fmla="*/ 501602 w 609272"/>
                <a:gd name="connsiteY20" fmla="*/ 523426 h 523426"/>
                <a:gd name="connsiteX21" fmla="*/ 472118 w 609272"/>
                <a:gd name="connsiteY21" fmla="*/ 455523 h 523426"/>
                <a:gd name="connsiteX22" fmla="*/ 481251 w 609272"/>
                <a:gd name="connsiteY22" fmla="*/ 445610 h 523426"/>
                <a:gd name="connsiteX23" fmla="*/ 371160 w 609272"/>
                <a:gd name="connsiteY23" fmla="*/ 410816 h 523426"/>
                <a:gd name="connsiteX24" fmla="*/ 291446 w 609272"/>
                <a:gd name="connsiteY24" fmla="*/ 332405 h 523426"/>
                <a:gd name="connsiteX25" fmla="*/ 268713 w 609272"/>
                <a:gd name="connsiteY25" fmla="*/ 300088 h 523426"/>
                <a:gd name="connsiteX26" fmla="*/ 243895 w 609272"/>
                <a:gd name="connsiteY26" fmla="*/ 261725 h 523426"/>
                <a:gd name="connsiteX27" fmla="*/ 186814 w 609272"/>
                <a:gd name="connsiteY27" fmla="*/ 184405 h 523426"/>
                <a:gd name="connsiteX28" fmla="*/ 54188 w 609272"/>
                <a:gd name="connsiteY28" fmla="*/ 133452 h 523426"/>
                <a:gd name="connsiteX29" fmla="*/ 37908 w 609272"/>
                <a:gd name="connsiteY29" fmla="*/ 133849 h 523426"/>
                <a:gd name="connsiteX30" fmla="*/ 35526 w 609272"/>
                <a:gd name="connsiteY30" fmla="*/ 133948 h 523426"/>
                <a:gd name="connsiteX31" fmla="*/ 37908 w 609272"/>
                <a:gd name="connsiteY31" fmla="*/ 55339 h 523426"/>
                <a:gd name="connsiteX32" fmla="*/ 54586 w 609272"/>
                <a:gd name="connsiteY32" fmla="*/ 54942 h 523426"/>
                <a:gd name="connsiteX33" fmla="*/ 499664 w 609272"/>
                <a:gd name="connsiteY33" fmla="*/ 55 h 523426"/>
                <a:gd name="connsiteX34" fmla="*/ 527712 w 609272"/>
                <a:gd name="connsiteY34" fmla="*/ 12333 h 523426"/>
                <a:gd name="connsiteX35" fmla="*/ 598490 w 609272"/>
                <a:gd name="connsiteY35" fmla="*/ 88858 h 523426"/>
                <a:gd name="connsiteX36" fmla="*/ 596505 w 609272"/>
                <a:gd name="connsiteY36" fmla="*/ 144467 h 523426"/>
                <a:gd name="connsiteX37" fmla="*/ 533568 w 609272"/>
                <a:gd name="connsiteY37" fmla="*/ 220992 h 523426"/>
                <a:gd name="connsiteX38" fmla="*/ 477978 w 609272"/>
                <a:gd name="connsiteY38" fmla="*/ 220992 h 523426"/>
                <a:gd name="connsiteX39" fmla="*/ 477978 w 609272"/>
                <a:gd name="connsiteY39" fmla="*/ 165383 h 523426"/>
                <a:gd name="connsiteX40" fmla="*/ 485125 w 609272"/>
                <a:gd name="connsiteY40" fmla="*/ 156759 h 523426"/>
                <a:gd name="connsiteX41" fmla="*/ 382878 w 609272"/>
                <a:gd name="connsiteY41" fmla="*/ 204240 h 523426"/>
                <a:gd name="connsiteX42" fmla="*/ 350318 w 609272"/>
                <a:gd name="connsiteY42" fmla="*/ 243493 h 523426"/>
                <a:gd name="connsiteX43" fmla="*/ 334037 w 609272"/>
                <a:gd name="connsiteY43" fmla="*/ 218315 h 523426"/>
                <a:gd name="connsiteX44" fmla="*/ 316268 w 609272"/>
                <a:gd name="connsiteY44" fmla="*/ 190759 h 523426"/>
                <a:gd name="connsiteX45" fmla="*/ 304753 w 609272"/>
                <a:gd name="connsiteY45" fmla="*/ 174106 h 523426"/>
                <a:gd name="connsiteX46" fmla="*/ 371164 w 609272"/>
                <a:gd name="connsiteY46" fmla="*/ 112648 h 523426"/>
                <a:gd name="connsiteX47" fmla="*/ 481254 w 609272"/>
                <a:gd name="connsiteY47" fmla="*/ 77756 h 523426"/>
                <a:gd name="connsiteX48" fmla="*/ 472121 w 609272"/>
                <a:gd name="connsiteY48" fmla="*/ 67843 h 523426"/>
                <a:gd name="connsiteX49" fmla="*/ 499664 w 609272"/>
                <a:gd name="connsiteY49" fmla="*/ 55 h 523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09272" h="523426">
                  <a:moveTo>
                    <a:pt x="231569" y="280751"/>
                  </a:moveTo>
                  <a:cubicBezTo>
                    <a:pt x="238020" y="290960"/>
                    <a:pt x="244670" y="301366"/>
                    <a:pt x="251519" y="311575"/>
                  </a:cubicBezTo>
                  <a:cubicBezTo>
                    <a:pt x="259757" y="323964"/>
                    <a:pt x="268888" y="336848"/>
                    <a:pt x="278714" y="349634"/>
                  </a:cubicBezTo>
                  <a:cubicBezTo>
                    <a:pt x="219063" y="427535"/>
                    <a:pt x="144028" y="473324"/>
                    <a:pt x="37927" y="467972"/>
                  </a:cubicBezTo>
                  <a:cubicBezTo>
                    <a:pt x="-12493" y="465395"/>
                    <a:pt x="-12791" y="386899"/>
                    <a:pt x="37927" y="389476"/>
                  </a:cubicBezTo>
                  <a:cubicBezTo>
                    <a:pt x="94402" y="392350"/>
                    <a:pt x="146708" y="381151"/>
                    <a:pt x="186806" y="339029"/>
                  </a:cubicBezTo>
                  <a:cubicBezTo>
                    <a:pt x="203878" y="321089"/>
                    <a:pt x="218170" y="301267"/>
                    <a:pt x="231569" y="280751"/>
                  </a:cubicBezTo>
                  <a:close/>
                  <a:moveTo>
                    <a:pt x="54586" y="54942"/>
                  </a:moveTo>
                  <a:cubicBezTo>
                    <a:pt x="159416" y="54942"/>
                    <a:pt x="232777" y="106985"/>
                    <a:pt x="291446" y="191046"/>
                  </a:cubicBezTo>
                  <a:cubicBezTo>
                    <a:pt x="294027" y="194714"/>
                    <a:pt x="296508" y="198283"/>
                    <a:pt x="299090" y="202050"/>
                  </a:cubicBezTo>
                  <a:cubicBezTo>
                    <a:pt x="312094" y="221876"/>
                    <a:pt x="324503" y="242098"/>
                    <a:pt x="337607" y="261725"/>
                  </a:cubicBezTo>
                  <a:cubicBezTo>
                    <a:pt x="351207" y="281948"/>
                    <a:pt x="365700" y="301476"/>
                    <a:pt x="382874" y="319121"/>
                  </a:cubicBezTo>
                  <a:cubicBezTo>
                    <a:pt x="413052" y="350248"/>
                    <a:pt x="447400" y="363035"/>
                    <a:pt x="485123" y="366604"/>
                  </a:cubicBezTo>
                  <a:cubicBezTo>
                    <a:pt x="482740" y="363729"/>
                    <a:pt x="480457" y="360855"/>
                    <a:pt x="477975" y="357980"/>
                  </a:cubicBezTo>
                  <a:cubicBezTo>
                    <a:pt x="464177" y="341624"/>
                    <a:pt x="461894" y="318526"/>
                    <a:pt x="477975" y="302468"/>
                  </a:cubicBezTo>
                  <a:cubicBezTo>
                    <a:pt x="485321" y="295132"/>
                    <a:pt x="496341" y="290969"/>
                    <a:pt x="507062" y="290969"/>
                  </a:cubicBezTo>
                  <a:cubicBezTo>
                    <a:pt x="517088" y="290969"/>
                    <a:pt x="526916" y="294537"/>
                    <a:pt x="533567" y="302468"/>
                  </a:cubicBezTo>
                  <a:cubicBezTo>
                    <a:pt x="554910" y="327646"/>
                    <a:pt x="575162" y="353717"/>
                    <a:pt x="596505" y="378995"/>
                  </a:cubicBezTo>
                  <a:cubicBezTo>
                    <a:pt x="610303" y="392873"/>
                    <a:pt x="615664" y="415970"/>
                    <a:pt x="598490" y="434507"/>
                  </a:cubicBezTo>
                  <a:lnTo>
                    <a:pt x="527710" y="511035"/>
                  </a:lnTo>
                  <a:cubicBezTo>
                    <a:pt x="519669" y="519758"/>
                    <a:pt x="510437" y="523426"/>
                    <a:pt x="501602" y="523426"/>
                  </a:cubicBezTo>
                  <a:cubicBezTo>
                    <a:pt x="472218" y="523426"/>
                    <a:pt x="445812" y="484072"/>
                    <a:pt x="472118" y="455523"/>
                  </a:cubicBezTo>
                  <a:lnTo>
                    <a:pt x="481251" y="445610"/>
                  </a:lnTo>
                  <a:cubicBezTo>
                    <a:pt x="442635" y="442834"/>
                    <a:pt x="405508" y="433021"/>
                    <a:pt x="371160" y="410816"/>
                  </a:cubicBezTo>
                  <a:cubicBezTo>
                    <a:pt x="339493" y="390197"/>
                    <a:pt x="313980" y="362441"/>
                    <a:pt x="291446" y="332405"/>
                  </a:cubicBezTo>
                  <a:cubicBezTo>
                    <a:pt x="283504" y="321798"/>
                    <a:pt x="275959" y="310993"/>
                    <a:pt x="268713" y="300088"/>
                  </a:cubicBezTo>
                  <a:cubicBezTo>
                    <a:pt x="260175" y="287499"/>
                    <a:pt x="252134" y="274513"/>
                    <a:pt x="243895" y="261725"/>
                  </a:cubicBezTo>
                  <a:cubicBezTo>
                    <a:pt x="226721" y="234564"/>
                    <a:pt x="209150" y="207799"/>
                    <a:pt x="186814" y="184405"/>
                  </a:cubicBezTo>
                  <a:cubicBezTo>
                    <a:pt x="150580" y="146240"/>
                    <a:pt x="104420" y="133452"/>
                    <a:pt x="54188" y="133452"/>
                  </a:cubicBezTo>
                  <a:cubicBezTo>
                    <a:pt x="48729" y="133452"/>
                    <a:pt x="43368" y="133651"/>
                    <a:pt x="37908" y="133849"/>
                  </a:cubicBezTo>
                  <a:cubicBezTo>
                    <a:pt x="37114" y="133948"/>
                    <a:pt x="36320" y="133948"/>
                    <a:pt x="35526" y="133948"/>
                  </a:cubicBezTo>
                  <a:cubicBezTo>
                    <a:pt x="-12720" y="133948"/>
                    <a:pt x="-11727" y="57916"/>
                    <a:pt x="37908" y="55339"/>
                  </a:cubicBezTo>
                  <a:cubicBezTo>
                    <a:pt x="43567" y="55041"/>
                    <a:pt x="49126" y="54942"/>
                    <a:pt x="54586" y="54942"/>
                  </a:cubicBezTo>
                  <a:close/>
                  <a:moveTo>
                    <a:pt x="499664" y="55"/>
                  </a:moveTo>
                  <a:cubicBezTo>
                    <a:pt x="509173" y="-498"/>
                    <a:pt x="519100" y="3015"/>
                    <a:pt x="527712" y="12333"/>
                  </a:cubicBezTo>
                  <a:lnTo>
                    <a:pt x="598490" y="88858"/>
                  </a:lnTo>
                  <a:cubicBezTo>
                    <a:pt x="615664" y="107394"/>
                    <a:pt x="610303" y="130590"/>
                    <a:pt x="596505" y="144467"/>
                  </a:cubicBezTo>
                  <a:cubicBezTo>
                    <a:pt x="575162" y="169645"/>
                    <a:pt x="554911" y="195715"/>
                    <a:pt x="533568" y="220992"/>
                  </a:cubicBezTo>
                  <a:cubicBezTo>
                    <a:pt x="519770" y="237347"/>
                    <a:pt x="492173" y="235068"/>
                    <a:pt x="477978" y="220992"/>
                  </a:cubicBezTo>
                  <a:cubicBezTo>
                    <a:pt x="461896" y="204834"/>
                    <a:pt x="464179" y="181837"/>
                    <a:pt x="477978" y="165383"/>
                  </a:cubicBezTo>
                  <a:cubicBezTo>
                    <a:pt x="480360" y="162607"/>
                    <a:pt x="482743" y="159633"/>
                    <a:pt x="485125" y="156759"/>
                  </a:cubicBezTo>
                  <a:cubicBezTo>
                    <a:pt x="447403" y="160327"/>
                    <a:pt x="413056" y="173114"/>
                    <a:pt x="382878" y="204240"/>
                  </a:cubicBezTo>
                  <a:cubicBezTo>
                    <a:pt x="370866" y="216531"/>
                    <a:pt x="360244" y="229814"/>
                    <a:pt x="350318" y="243493"/>
                  </a:cubicBezTo>
                  <a:cubicBezTo>
                    <a:pt x="344858" y="235266"/>
                    <a:pt x="339497" y="226840"/>
                    <a:pt x="334037" y="218315"/>
                  </a:cubicBezTo>
                  <a:cubicBezTo>
                    <a:pt x="328280" y="209295"/>
                    <a:pt x="322324" y="199878"/>
                    <a:pt x="316268" y="190759"/>
                  </a:cubicBezTo>
                  <a:cubicBezTo>
                    <a:pt x="312496" y="185009"/>
                    <a:pt x="308624" y="179458"/>
                    <a:pt x="304753" y="174106"/>
                  </a:cubicBezTo>
                  <a:cubicBezTo>
                    <a:pt x="324011" y="150613"/>
                    <a:pt x="345553" y="129301"/>
                    <a:pt x="371164" y="112648"/>
                  </a:cubicBezTo>
                  <a:cubicBezTo>
                    <a:pt x="405511" y="90345"/>
                    <a:pt x="442638" y="80531"/>
                    <a:pt x="481254" y="77756"/>
                  </a:cubicBezTo>
                  <a:lnTo>
                    <a:pt x="472121" y="67843"/>
                  </a:lnTo>
                  <a:cubicBezTo>
                    <a:pt x="446361" y="39964"/>
                    <a:pt x="471134" y="1714"/>
                    <a:pt x="499664" y="55"/>
                  </a:cubicBez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sp>
          <p:nvSpPr>
            <p:cNvPr id="51" name="îṣľíḓê"/>
            <p:cNvSpPr/>
            <p:nvPr/>
          </p:nvSpPr>
          <p:spPr bwMode="auto">
            <a:xfrm>
              <a:off x="4265331" y="4929951"/>
              <a:ext cx="1549400" cy="490537"/>
            </a:xfrm>
            <a:prstGeom prst="homePlate">
              <a:avLst/>
            </a:pr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关键词</a:t>
              </a:r>
              <a:endPar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3" name="iş1îďe"/>
            <p:cNvSpPr/>
            <p:nvPr/>
          </p:nvSpPr>
          <p:spPr bwMode="auto">
            <a:xfrm>
              <a:off x="6992314" y="4706917"/>
              <a:ext cx="658813" cy="658813"/>
            </a:xfrm>
            <a:prstGeom prst="ellipse">
              <a:avLst/>
            </a:prstGeom>
            <a:solidFill>
              <a:schemeClr val="bg1"/>
            </a:solidFill>
            <a:ln w="9525">
              <a:solidFill>
                <a:schemeClr val="bg1">
                  <a:lumMod val="75000"/>
                </a:schemeClr>
              </a:solidFill>
              <a:round/>
            </a:ln>
          </p:spPr>
          <p:txBody>
            <a:bodyPr anchor="ctr"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sz="1400" b="1">
                <a:cs typeface="+mn-ea"/>
                <a:sym typeface="+mn-lt"/>
              </a:endParaRPr>
            </a:p>
          </p:txBody>
        </p:sp>
        <p:sp>
          <p:nvSpPr>
            <p:cNvPr id="54" name="ïŝľidê"/>
            <p:cNvSpPr/>
            <p:nvPr/>
          </p:nvSpPr>
          <p:spPr bwMode="auto">
            <a:xfrm>
              <a:off x="7179316" y="4893920"/>
              <a:ext cx="284810" cy="284808"/>
            </a:xfrm>
            <a:custGeom>
              <a:avLst/>
              <a:gdLst>
                <a:gd name="connsiteX0" fmla="*/ 0 w 607639"/>
                <a:gd name="connsiteY0" fmla="*/ 488737 h 606722"/>
                <a:gd name="connsiteX1" fmla="*/ 50666 w 607639"/>
                <a:gd name="connsiteY1" fmla="*/ 488737 h 606722"/>
                <a:gd name="connsiteX2" fmla="*/ 50666 w 607639"/>
                <a:gd name="connsiteY2" fmla="*/ 556197 h 606722"/>
                <a:gd name="connsiteX3" fmla="*/ 118127 w 607639"/>
                <a:gd name="connsiteY3" fmla="*/ 556197 h 606722"/>
                <a:gd name="connsiteX4" fmla="*/ 118127 w 607639"/>
                <a:gd name="connsiteY4" fmla="*/ 488737 h 606722"/>
                <a:gd name="connsiteX5" fmla="*/ 489442 w 607639"/>
                <a:gd name="connsiteY5" fmla="*/ 488737 h 606722"/>
                <a:gd name="connsiteX6" fmla="*/ 489442 w 607639"/>
                <a:gd name="connsiteY6" fmla="*/ 556197 h 606722"/>
                <a:gd name="connsiteX7" fmla="*/ 556973 w 607639"/>
                <a:gd name="connsiteY7" fmla="*/ 556197 h 606722"/>
                <a:gd name="connsiteX8" fmla="*/ 556973 w 607639"/>
                <a:gd name="connsiteY8" fmla="*/ 488737 h 606722"/>
                <a:gd name="connsiteX9" fmla="*/ 607639 w 607639"/>
                <a:gd name="connsiteY9" fmla="*/ 488737 h 606722"/>
                <a:gd name="connsiteX10" fmla="*/ 607639 w 607639"/>
                <a:gd name="connsiteY10" fmla="*/ 556198 h 606722"/>
                <a:gd name="connsiteX11" fmla="*/ 556973 w 607639"/>
                <a:gd name="connsiteY11" fmla="*/ 556198 h 606722"/>
                <a:gd name="connsiteX12" fmla="*/ 556973 w 607639"/>
                <a:gd name="connsiteY12" fmla="*/ 606722 h 606722"/>
                <a:gd name="connsiteX13" fmla="*/ 489442 w 607639"/>
                <a:gd name="connsiteY13" fmla="*/ 606722 h 606722"/>
                <a:gd name="connsiteX14" fmla="*/ 489442 w 607639"/>
                <a:gd name="connsiteY14" fmla="*/ 556198 h 606722"/>
                <a:gd name="connsiteX15" fmla="*/ 118127 w 607639"/>
                <a:gd name="connsiteY15" fmla="*/ 556198 h 606722"/>
                <a:gd name="connsiteX16" fmla="*/ 118127 w 607639"/>
                <a:gd name="connsiteY16" fmla="*/ 606722 h 606722"/>
                <a:gd name="connsiteX17" fmla="*/ 50666 w 607639"/>
                <a:gd name="connsiteY17" fmla="*/ 606722 h 606722"/>
                <a:gd name="connsiteX18" fmla="*/ 50666 w 607639"/>
                <a:gd name="connsiteY18" fmla="*/ 556198 h 606722"/>
                <a:gd name="connsiteX19" fmla="*/ 0 w 607639"/>
                <a:gd name="connsiteY19" fmla="*/ 556198 h 606722"/>
                <a:gd name="connsiteX20" fmla="*/ 168722 w 607639"/>
                <a:gd name="connsiteY20" fmla="*/ 168510 h 606722"/>
                <a:gd name="connsiteX21" fmla="*/ 438776 w 607639"/>
                <a:gd name="connsiteY21" fmla="*/ 168510 h 606722"/>
                <a:gd name="connsiteX22" fmla="*/ 438776 w 607639"/>
                <a:gd name="connsiteY22" fmla="*/ 438141 h 606722"/>
                <a:gd name="connsiteX23" fmla="*/ 168722 w 607639"/>
                <a:gd name="connsiteY23" fmla="*/ 438141 h 606722"/>
                <a:gd name="connsiteX24" fmla="*/ 489442 w 607639"/>
                <a:gd name="connsiteY24" fmla="*/ 117915 h 606722"/>
                <a:gd name="connsiteX25" fmla="*/ 556973 w 607639"/>
                <a:gd name="connsiteY25" fmla="*/ 117915 h 606722"/>
                <a:gd name="connsiteX26" fmla="*/ 556973 w 607639"/>
                <a:gd name="connsiteY26" fmla="*/ 488737 h 606722"/>
                <a:gd name="connsiteX27" fmla="*/ 489442 w 607639"/>
                <a:gd name="connsiteY27" fmla="*/ 488737 h 606722"/>
                <a:gd name="connsiteX28" fmla="*/ 50666 w 607639"/>
                <a:gd name="connsiteY28" fmla="*/ 117915 h 606722"/>
                <a:gd name="connsiteX29" fmla="*/ 118127 w 607639"/>
                <a:gd name="connsiteY29" fmla="*/ 117915 h 606722"/>
                <a:gd name="connsiteX30" fmla="*/ 118127 w 607639"/>
                <a:gd name="connsiteY30" fmla="*/ 488737 h 606722"/>
                <a:gd name="connsiteX31" fmla="*/ 50666 w 607639"/>
                <a:gd name="connsiteY31" fmla="*/ 488737 h 606722"/>
                <a:gd name="connsiteX32" fmla="*/ 556973 w 607639"/>
                <a:gd name="connsiteY32" fmla="*/ 50595 h 606722"/>
                <a:gd name="connsiteX33" fmla="*/ 607639 w 607639"/>
                <a:gd name="connsiteY33" fmla="*/ 50595 h 606722"/>
                <a:gd name="connsiteX34" fmla="*/ 607639 w 607639"/>
                <a:gd name="connsiteY34" fmla="*/ 117914 h 606722"/>
                <a:gd name="connsiteX35" fmla="*/ 556973 w 607639"/>
                <a:gd name="connsiteY35" fmla="*/ 117914 h 606722"/>
                <a:gd name="connsiteX36" fmla="*/ 118127 w 607639"/>
                <a:gd name="connsiteY36" fmla="*/ 50595 h 606722"/>
                <a:gd name="connsiteX37" fmla="*/ 489442 w 607639"/>
                <a:gd name="connsiteY37" fmla="*/ 50595 h 606722"/>
                <a:gd name="connsiteX38" fmla="*/ 489442 w 607639"/>
                <a:gd name="connsiteY38" fmla="*/ 117914 h 606722"/>
                <a:gd name="connsiteX39" fmla="*/ 118127 w 607639"/>
                <a:gd name="connsiteY39" fmla="*/ 117914 h 606722"/>
                <a:gd name="connsiteX40" fmla="*/ 0 w 607639"/>
                <a:gd name="connsiteY40" fmla="*/ 50595 h 606722"/>
                <a:gd name="connsiteX41" fmla="*/ 50666 w 607639"/>
                <a:gd name="connsiteY41" fmla="*/ 50595 h 606722"/>
                <a:gd name="connsiteX42" fmla="*/ 50666 w 607639"/>
                <a:gd name="connsiteY42" fmla="*/ 117914 h 606722"/>
                <a:gd name="connsiteX43" fmla="*/ 0 w 607639"/>
                <a:gd name="connsiteY43" fmla="*/ 117914 h 606722"/>
                <a:gd name="connsiteX44" fmla="*/ 489442 w 607639"/>
                <a:gd name="connsiteY44" fmla="*/ 0 h 606722"/>
                <a:gd name="connsiteX45" fmla="*/ 556973 w 607639"/>
                <a:gd name="connsiteY45" fmla="*/ 0 h 606722"/>
                <a:gd name="connsiteX46" fmla="*/ 556973 w 607639"/>
                <a:gd name="connsiteY46" fmla="*/ 50595 h 606722"/>
                <a:gd name="connsiteX47" fmla="*/ 489442 w 607639"/>
                <a:gd name="connsiteY47" fmla="*/ 50595 h 606722"/>
                <a:gd name="connsiteX48" fmla="*/ 50666 w 607639"/>
                <a:gd name="connsiteY48" fmla="*/ 0 h 606722"/>
                <a:gd name="connsiteX49" fmla="*/ 118127 w 607639"/>
                <a:gd name="connsiteY49" fmla="*/ 0 h 606722"/>
                <a:gd name="connsiteX50" fmla="*/ 118127 w 607639"/>
                <a:gd name="connsiteY50" fmla="*/ 50595 h 606722"/>
                <a:gd name="connsiteX51" fmla="*/ 50666 w 607639"/>
                <a:gd name="connsiteY51" fmla="*/ 50595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39" h="606722">
                  <a:moveTo>
                    <a:pt x="0" y="488737"/>
                  </a:moveTo>
                  <a:lnTo>
                    <a:pt x="50666" y="488737"/>
                  </a:lnTo>
                  <a:lnTo>
                    <a:pt x="50666" y="556197"/>
                  </a:lnTo>
                  <a:lnTo>
                    <a:pt x="118127" y="556197"/>
                  </a:lnTo>
                  <a:lnTo>
                    <a:pt x="118127" y="488737"/>
                  </a:lnTo>
                  <a:lnTo>
                    <a:pt x="489442" y="488737"/>
                  </a:lnTo>
                  <a:lnTo>
                    <a:pt x="489442" y="556197"/>
                  </a:lnTo>
                  <a:lnTo>
                    <a:pt x="556973" y="556197"/>
                  </a:lnTo>
                  <a:lnTo>
                    <a:pt x="556973" y="488737"/>
                  </a:lnTo>
                  <a:lnTo>
                    <a:pt x="607639" y="488737"/>
                  </a:lnTo>
                  <a:lnTo>
                    <a:pt x="607639" y="556198"/>
                  </a:lnTo>
                  <a:lnTo>
                    <a:pt x="556973" y="556198"/>
                  </a:lnTo>
                  <a:lnTo>
                    <a:pt x="556973" y="606722"/>
                  </a:lnTo>
                  <a:lnTo>
                    <a:pt x="489442" y="606722"/>
                  </a:lnTo>
                  <a:lnTo>
                    <a:pt x="489442" y="556198"/>
                  </a:lnTo>
                  <a:lnTo>
                    <a:pt x="118127" y="556198"/>
                  </a:lnTo>
                  <a:lnTo>
                    <a:pt x="118127" y="606722"/>
                  </a:lnTo>
                  <a:lnTo>
                    <a:pt x="50666" y="606722"/>
                  </a:lnTo>
                  <a:lnTo>
                    <a:pt x="50666" y="556198"/>
                  </a:lnTo>
                  <a:lnTo>
                    <a:pt x="0" y="556198"/>
                  </a:lnTo>
                  <a:close/>
                  <a:moveTo>
                    <a:pt x="168722" y="168510"/>
                  </a:moveTo>
                  <a:lnTo>
                    <a:pt x="438776" y="168510"/>
                  </a:lnTo>
                  <a:lnTo>
                    <a:pt x="438776" y="438141"/>
                  </a:lnTo>
                  <a:lnTo>
                    <a:pt x="168722" y="438141"/>
                  </a:lnTo>
                  <a:close/>
                  <a:moveTo>
                    <a:pt x="489442" y="117915"/>
                  </a:moveTo>
                  <a:lnTo>
                    <a:pt x="556973" y="117915"/>
                  </a:lnTo>
                  <a:lnTo>
                    <a:pt x="556973" y="488737"/>
                  </a:lnTo>
                  <a:lnTo>
                    <a:pt x="489442" y="488737"/>
                  </a:lnTo>
                  <a:close/>
                  <a:moveTo>
                    <a:pt x="50666" y="117915"/>
                  </a:moveTo>
                  <a:lnTo>
                    <a:pt x="118127" y="117915"/>
                  </a:lnTo>
                  <a:lnTo>
                    <a:pt x="118127" y="488737"/>
                  </a:lnTo>
                  <a:lnTo>
                    <a:pt x="50666" y="488737"/>
                  </a:lnTo>
                  <a:close/>
                  <a:moveTo>
                    <a:pt x="556973" y="50595"/>
                  </a:moveTo>
                  <a:lnTo>
                    <a:pt x="607639" y="50595"/>
                  </a:lnTo>
                  <a:lnTo>
                    <a:pt x="607639" y="117914"/>
                  </a:lnTo>
                  <a:lnTo>
                    <a:pt x="556973" y="117914"/>
                  </a:lnTo>
                  <a:close/>
                  <a:moveTo>
                    <a:pt x="118127" y="50595"/>
                  </a:moveTo>
                  <a:lnTo>
                    <a:pt x="489442" y="50595"/>
                  </a:lnTo>
                  <a:lnTo>
                    <a:pt x="489442" y="117914"/>
                  </a:lnTo>
                  <a:lnTo>
                    <a:pt x="118127" y="117914"/>
                  </a:lnTo>
                  <a:close/>
                  <a:moveTo>
                    <a:pt x="0" y="50595"/>
                  </a:moveTo>
                  <a:lnTo>
                    <a:pt x="50666" y="50595"/>
                  </a:lnTo>
                  <a:lnTo>
                    <a:pt x="50666" y="117914"/>
                  </a:lnTo>
                  <a:lnTo>
                    <a:pt x="0" y="117914"/>
                  </a:lnTo>
                  <a:close/>
                  <a:moveTo>
                    <a:pt x="489442" y="0"/>
                  </a:moveTo>
                  <a:lnTo>
                    <a:pt x="556973" y="0"/>
                  </a:lnTo>
                  <a:lnTo>
                    <a:pt x="556973" y="50595"/>
                  </a:lnTo>
                  <a:lnTo>
                    <a:pt x="489442" y="50595"/>
                  </a:lnTo>
                  <a:close/>
                  <a:moveTo>
                    <a:pt x="50666" y="0"/>
                  </a:moveTo>
                  <a:lnTo>
                    <a:pt x="118127" y="0"/>
                  </a:lnTo>
                  <a:lnTo>
                    <a:pt x="118127" y="50595"/>
                  </a:lnTo>
                  <a:lnTo>
                    <a:pt x="50666" y="50595"/>
                  </a:lnTo>
                  <a:close/>
                </a:path>
              </a:pathLst>
            </a:custGeom>
            <a:solidFill>
              <a:srgbClr val="13245C"/>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bg1"/>
                </a:solidFill>
                <a:cs typeface="+mn-ea"/>
                <a:sym typeface="+mn-lt"/>
              </a:endParaRPr>
            </a:p>
          </p:txBody>
        </p:sp>
      </p:grpSp>
      <p:grpSp>
        <p:nvGrpSpPr>
          <p:cNvPr id="15" name="组合 14"/>
          <p:cNvGrpSpPr/>
          <p:nvPr/>
        </p:nvGrpSpPr>
        <p:grpSpPr>
          <a:xfrm>
            <a:off x="7642793" y="1563161"/>
            <a:ext cx="3193936" cy="1117044"/>
            <a:chOff x="6677593" y="1613961"/>
            <a:chExt cx="3193936" cy="1117044"/>
          </a:xfrm>
        </p:grpSpPr>
        <p:sp>
          <p:nvSpPr>
            <p:cNvPr id="55" name="矩形 3"/>
            <p:cNvSpPr>
              <a:spLocks noChangeArrowheads="1"/>
            </p:cNvSpPr>
            <p:nvPr/>
          </p:nvSpPr>
          <p:spPr bwMode="auto">
            <a:xfrm>
              <a:off x="6677593" y="1613961"/>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56" name="文本框 55"/>
            <p:cNvSpPr txBox="1"/>
            <p:nvPr/>
          </p:nvSpPr>
          <p:spPr>
            <a:xfrm>
              <a:off x="6904470" y="2026901"/>
              <a:ext cx="2967059" cy="704104"/>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grpSp>
      <p:grpSp>
        <p:nvGrpSpPr>
          <p:cNvPr id="57" name="组合 56"/>
          <p:cNvGrpSpPr/>
          <p:nvPr/>
        </p:nvGrpSpPr>
        <p:grpSpPr>
          <a:xfrm>
            <a:off x="7642793" y="4788961"/>
            <a:ext cx="3193936" cy="1117044"/>
            <a:chOff x="6677593" y="1613961"/>
            <a:chExt cx="3193936" cy="1117044"/>
          </a:xfrm>
        </p:grpSpPr>
        <p:sp>
          <p:nvSpPr>
            <p:cNvPr id="58" name="矩形 3"/>
            <p:cNvSpPr>
              <a:spLocks noChangeArrowheads="1"/>
            </p:cNvSpPr>
            <p:nvPr/>
          </p:nvSpPr>
          <p:spPr bwMode="auto">
            <a:xfrm>
              <a:off x="6677593" y="1613961"/>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59" name="文本框 58"/>
            <p:cNvSpPr txBox="1"/>
            <p:nvPr/>
          </p:nvSpPr>
          <p:spPr>
            <a:xfrm>
              <a:off x="6904470" y="2026901"/>
              <a:ext cx="2967059" cy="704104"/>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grpSp>
      <p:sp>
        <p:nvSpPr>
          <p:cNvPr id="62" name="文本框 61"/>
          <p:cNvSpPr txBox="1"/>
          <p:nvPr/>
        </p:nvSpPr>
        <p:spPr>
          <a:xfrm>
            <a:off x="7869670" y="3728231"/>
            <a:ext cx="2967059" cy="704104"/>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63" name="文本框 62"/>
          <p:cNvSpPr txBox="1"/>
          <p:nvPr/>
        </p:nvSpPr>
        <p:spPr>
          <a:xfrm>
            <a:off x="7869670" y="3036832"/>
            <a:ext cx="2967059" cy="334772"/>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内容，文字尽量言简意赅</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down)">
                                      <p:cBhvr>
                                        <p:cTn id="17" dur="500"/>
                                        <p:tgtEl>
                                          <p:spTgt spid="14"/>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500"/>
                                        <p:tgtEl>
                                          <p:spTgt spid="15"/>
                                        </p:tgtEl>
                                      </p:cBhvr>
                                    </p:animEffect>
                                  </p:childTnLst>
                                </p:cTn>
                              </p:par>
                            </p:childTnLst>
                          </p:cTn>
                        </p:par>
                        <p:par>
                          <p:cTn id="22" fill="hold">
                            <p:stCondLst>
                              <p:cond delay="1000"/>
                            </p:stCondLst>
                            <p:childTnLst>
                              <p:par>
                                <p:cTn id="23" presetID="22" presetClass="entr" presetSubtype="4" fill="hold" nodeType="after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wipe(down)">
                                      <p:cBhvr>
                                        <p:cTn id="25" dur="500"/>
                                        <p:tgtEl>
                                          <p:spTgt spid="57"/>
                                        </p:tgtEl>
                                      </p:cBhvr>
                                    </p:animEffect>
                                  </p:childTnLst>
                                </p:cTn>
                              </p:par>
                            </p:childTnLst>
                          </p:cTn>
                        </p:par>
                        <p:par>
                          <p:cTn id="26" fill="hold">
                            <p:stCondLst>
                              <p:cond delay="1500"/>
                            </p:stCondLst>
                            <p:childTnLst>
                              <p:par>
                                <p:cTn id="27" presetID="22" presetClass="entr" presetSubtype="4" fill="hold" grpId="0" nodeType="after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wipe(down)">
                                      <p:cBhvr>
                                        <p:cTn id="29" dur="500"/>
                                        <p:tgtEl>
                                          <p:spTgt spid="62"/>
                                        </p:tgtEl>
                                      </p:cBhvr>
                                    </p:animEffect>
                                  </p:childTnLst>
                                </p:cTn>
                              </p:par>
                            </p:childTnLst>
                          </p:cTn>
                        </p:par>
                        <p:par>
                          <p:cTn id="30" fill="hold">
                            <p:stCondLst>
                              <p:cond delay="2000"/>
                            </p:stCondLst>
                            <p:childTnLst>
                              <p:par>
                                <p:cTn id="31" presetID="22" presetClass="entr" presetSubtype="4" fill="hold" grpId="0" nodeType="after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wipe(down)">
                                      <p:cBhvr>
                                        <p:cTn id="33"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62" grpId="0"/>
      <p:bldP spid="6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4775"/>
            </a:xfrm>
            <a:prstGeom prst="rect">
              <a:avLst/>
            </a:prstGeom>
            <a:noFill/>
          </p:spPr>
          <p:txBody>
            <a:bodyPr wrap="square" rtlCol="0">
              <a:spAutoFit/>
            </a:bodyPr>
            <a:lstStyle/>
            <a:p>
              <a:r>
                <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rPr>
                <a:t>问题分析总结</a:t>
              </a:r>
              <a:endPar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pSp>
        <p:nvGrpSpPr>
          <p:cNvPr id="18" name="组合 17"/>
          <p:cNvGrpSpPr/>
          <p:nvPr/>
        </p:nvGrpSpPr>
        <p:grpSpPr>
          <a:xfrm>
            <a:off x="4737923" y="1858258"/>
            <a:ext cx="1594834" cy="2887484"/>
            <a:chOff x="6975079" y="3044918"/>
            <a:chExt cx="1585754" cy="2871046"/>
          </a:xfrm>
        </p:grpSpPr>
        <p:sp>
          <p:nvSpPr>
            <p:cNvPr id="19" name="ïṧlíḓê"/>
            <p:cNvSpPr/>
            <p:nvPr/>
          </p:nvSpPr>
          <p:spPr>
            <a:xfrm>
              <a:off x="7147563" y="4135470"/>
              <a:ext cx="809127" cy="1780494"/>
            </a:xfrm>
            <a:custGeom>
              <a:avLst/>
              <a:gdLst/>
              <a:ahLst/>
              <a:cxnLst/>
              <a:rect l="0" t="0" r="0" b="0"/>
              <a:pathLst>
                <a:path w="10029" h="10000" extrusionOk="0">
                  <a:moveTo>
                    <a:pt x="10000" y="0"/>
                  </a:moveTo>
                  <a:cubicBezTo>
                    <a:pt x="10010" y="3333"/>
                    <a:pt x="10019" y="6667"/>
                    <a:pt x="10029" y="10000"/>
                  </a:cubicBezTo>
                  <a:lnTo>
                    <a:pt x="0" y="10000"/>
                  </a:lnTo>
                  <a:lnTo>
                    <a:pt x="0" y="4781"/>
                  </a:lnTo>
                  <a:lnTo>
                    <a:pt x="10000" y="0"/>
                  </a:lnTo>
                  <a:close/>
                </a:path>
              </a:pathLst>
            </a:custGeom>
            <a:solidFill>
              <a:schemeClr val="bg1">
                <a:lumMod val="95000"/>
              </a:schemeClr>
            </a:solidFill>
            <a:ln>
              <a:noFill/>
            </a:ln>
          </p:spPr>
          <p:txBody>
            <a:bodyPr spcFirstLastPara="1" wrap="square" lIns="91440" tIns="45720" rIns="91440" bIns="45720" anchor="b" anchorCtr="0">
              <a:noAutofit/>
            </a:bodyPr>
            <a:lstStyle/>
            <a:p>
              <a:pPr marL="0" marR="0" lvl="0" indent="0" algn="ctr" rtl="0">
                <a:spcBef>
                  <a:spcPts val="0"/>
                </a:spcBef>
                <a:spcAft>
                  <a:spcPts val="0"/>
                </a:spcAft>
                <a:buNone/>
              </a:pPr>
              <a:endParaRPr sz="200" dirty="0">
                <a:latin typeface="思源黑体 CN Bold" panose="020B0800000000000000" pitchFamily="34" charset="-122"/>
                <a:ea typeface="思源黑体 CN Bold" panose="020B0800000000000000" pitchFamily="34" charset="-122"/>
                <a:cs typeface="+mn-ea"/>
                <a:sym typeface="+mn-lt"/>
              </a:endParaRPr>
            </a:p>
          </p:txBody>
        </p:sp>
        <p:sp>
          <p:nvSpPr>
            <p:cNvPr id="20" name="ïśľidé"/>
            <p:cNvSpPr/>
            <p:nvPr/>
          </p:nvSpPr>
          <p:spPr>
            <a:xfrm>
              <a:off x="6975079" y="4986771"/>
              <a:ext cx="172487" cy="356099"/>
            </a:xfrm>
            <a:custGeom>
              <a:avLst/>
              <a:gdLst/>
              <a:ahLst/>
              <a:cxnLst/>
              <a:rect l="0" t="0" r="0" b="0"/>
              <a:pathLst>
                <a:path w="31" h="64" extrusionOk="0">
                  <a:moveTo>
                    <a:pt x="31" y="64"/>
                  </a:moveTo>
                  <a:lnTo>
                    <a:pt x="0" y="31"/>
                  </a:lnTo>
                  <a:lnTo>
                    <a:pt x="31" y="0"/>
                  </a:lnTo>
                  <a:lnTo>
                    <a:pt x="31" y="64"/>
                  </a:lnTo>
                  <a:close/>
                </a:path>
              </a:pathLst>
            </a:custGeom>
            <a:solidFill>
              <a:schemeClr val="tx1">
                <a:lumMod val="75000"/>
                <a:lumOff val="25000"/>
              </a:schemeClr>
            </a:solidFill>
            <a:ln>
              <a:noFill/>
            </a:ln>
          </p:spPr>
          <p:txBody>
            <a:bodyPr spcFirstLastPara="1" wrap="square" lIns="91440" tIns="45720" rIns="91440" bIns="45720" anchor="t" anchorCtr="0">
              <a:noAutofit/>
            </a:bodyPr>
            <a:lstStyle/>
            <a:p>
              <a:pPr marL="0" marR="0" lvl="0" indent="0" algn="l" rtl="0">
                <a:spcBef>
                  <a:spcPts val="0"/>
                </a:spcBef>
                <a:spcAft>
                  <a:spcPts val="0"/>
                </a:spcAft>
                <a:buNone/>
              </a:pPr>
              <a:endParaRPr sz="300">
                <a:solidFill>
                  <a:schemeClr val="dk1"/>
                </a:solidFill>
                <a:latin typeface="思源黑体 CN Bold" panose="020B0800000000000000" pitchFamily="34" charset="-122"/>
                <a:ea typeface="思源黑体 CN Bold" panose="020B0800000000000000" pitchFamily="34" charset="-122"/>
                <a:cs typeface="+mn-ea"/>
                <a:sym typeface="+mn-lt"/>
              </a:endParaRPr>
            </a:p>
          </p:txBody>
        </p:sp>
        <p:sp>
          <p:nvSpPr>
            <p:cNvPr id="22" name="islîḑé"/>
            <p:cNvSpPr/>
            <p:nvPr/>
          </p:nvSpPr>
          <p:spPr>
            <a:xfrm>
              <a:off x="6975079" y="3044918"/>
              <a:ext cx="1585754" cy="2114336"/>
            </a:xfrm>
            <a:custGeom>
              <a:avLst/>
              <a:gdLst/>
              <a:ahLst/>
              <a:cxnLst/>
              <a:rect l="0" t="0" r="0" b="0"/>
              <a:pathLst>
                <a:path w="285" h="380" extrusionOk="0">
                  <a:moveTo>
                    <a:pt x="0" y="380"/>
                  </a:moveTo>
                  <a:lnTo>
                    <a:pt x="0" y="175"/>
                  </a:lnTo>
                  <a:lnTo>
                    <a:pt x="140" y="38"/>
                  </a:lnTo>
                  <a:lnTo>
                    <a:pt x="95" y="0"/>
                  </a:lnTo>
                  <a:lnTo>
                    <a:pt x="285" y="0"/>
                  </a:lnTo>
                  <a:lnTo>
                    <a:pt x="285" y="179"/>
                  </a:lnTo>
                  <a:lnTo>
                    <a:pt x="237" y="134"/>
                  </a:lnTo>
                  <a:lnTo>
                    <a:pt x="0" y="380"/>
                  </a:lnTo>
                  <a:close/>
                </a:path>
              </a:pathLst>
            </a:custGeom>
            <a:solidFill>
              <a:srgbClr val="13245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3" name="ïšḷidè"/>
            <p:cNvSpPr/>
            <p:nvPr/>
          </p:nvSpPr>
          <p:spPr>
            <a:xfrm>
              <a:off x="7288271" y="5454299"/>
              <a:ext cx="527710" cy="461665"/>
            </a:xfrm>
            <a:prstGeom prst="rect">
              <a:avLst/>
            </a:prstGeom>
          </p:spPr>
          <p:txBody>
            <a:bodyPr wrap="square" lIns="91440" tIns="45720" rIns="91440" bIns="45720">
              <a:noAutofit/>
            </a:bodyPr>
            <a:lstStyle/>
            <a:p>
              <a:pPr lvl="0" algn="ctr" defTabSz="913765">
                <a:defRPr/>
              </a:pPr>
              <a:r>
                <a:rPr lang="en-US" altLang="zh-CN" b="1"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02</a:t>
              </a:r>
              <a:endParaRPr lang="en-US" altLang="zh-CN" b="1"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endParaRPr>
            </a:p>
          </p:txBody>
        </p:sp>
        <p:grpSp>
          <p:nvGrpSpPr>
            <p:cNvPr id="24" name="组合 23"/>
            <p:cNvGrpSpPr/>
            <p:nvPr/>
          </p:nvGrpSpPr>
          <p:grpSpPr>
            <a:xfrm>
              <a:off x="7328926" y="3723065"/>
              <a:ext cx="452656" cy="524549"/>
              <a:chOff x="3750781" y="541374"/>
              <a:chExt cx="469532" cy="544105"/>
            </a:xfrm>
            <a:solidFill>
              <a:schemeClr val="bg1"/>
            </a:solidFill>
          </p:grpSpPr>
          <p:sp>
            <p:nvSpPr>
              <p:cNvPr id="26" name="Freeform 63"/>
              <p:cNvSpPr>
                <a:spLocks noEditPoints="1"/>
              </p:cNvSpPr>
              <p:nvPr/>
            </p:nvSpPr>
            <p:spPr bwMode="auto">
              <a:xfrm>
                <a:off x="3750781" y="541374"/>
                <a:ext cx="469532" cy="544105"/>
              </a:xfrm>
              <a:custGeom>
                <a:avLst/>
                <a:gdLst>
                  <a:gd name="T0" fmla="*/ 22 w 171"/>
                  <a:gd name="T1" fmla="*/ 64 h 198"/>
                  <a:gd name="T2" fmla="*/ 8 w 171"/>
                  <a:gd name="T3" fmla="*/ 102 h 198"/>
                  <a:gd name="T4" fmla="*/ 16 w 171"/>
                  <a:gd name="T5" fmla="*/ 121 h 198"/>
                  <a:gd name="T6" fmla="*/ 10 w 171"/>
                  <a:gd name="T7" fmla="*/ 131 h 198"/>
                  <a:gd name="T8" fmla="*/ 17 w 171"/>
                  <a:gd name="T9" fmla="*/ 162 h 198"/>
                  <a:gd name="T10" fmla="*/ 83 w 171"/>
                  <a:gd name="T11" fmla="*/ 198 h 198"/>
                  <a:gd name="T12" fmla="*/ 123 w 171"/>
                  <a:gd name="T13" fmla="*/ 13 h 198"/>
                  <a:gd name="T14" fmla="*/ 91 w 171"/>
                  <a:gd name="T15" fmla="*/ 89 h 198"/>
                  <a:gd name="T16" fmla="*/ 84 w 171"/>
                  <a:gd name="T17" fmla="*/ 98 h 198"/>
                  <a:gd name="T18" fmla="*/ 74 w 171"/>
                  <a:gd name="T19" fmla="*/ 92 h 198"/>
                  <a:gd name="T20" fmla="*/ 63 w 171"/>
                  <a:gd name="T21" fmla="*/ 96 h 198"/>
                  <a:gd name="T22" fmla="*/ 58 w 171"/>
                  <a:gd name="T23" fmla="*/ 86 h 198"/>
                  <a:gd name="T24" fmla="*/ 46 w 171"/>
                  <a:gd name="T25" fmla="*/ 84 h 198"/>
                  <a:gd name="T26" fmla="*/ 47 w 171"/>
                  <a:gd name="T27" fmla="*/ 73 h 198"/>
                  <a:gd name="T28" fmla="*/ 37 w 171"/>
                  <a:gd name="T29" fmla="*/ 65 h 198"/>
                  <a:gd name="T30" fmla="*/ 44 w 171"/>
                  <a:gd name="T31" fmla="*/ 55 h 198"/>
                  <a:gd name="T32" fmla="*/ 40 w 171"/>
                  <a:gd name="T33" fmla="*/ 44 h 198"/>
                  <a:gd name="T34" fmla="*/ 50 w 171"/>
                  <a:gd name="T35" fmla="*/ 39 h 198"/>
                  <a:gd name="T36" fmla="*/ 52 w 171"/>
                  <a:gd name="T37" fmla="*/ 28 h 198"/>
                  <a:gd name="T38" fmla="*/ 64 w 171"/>
                  <a:gd name="T39" fmla="*/ 28 h 198"/>
                  <a:gd name="T40" fmla="*/ 71 w 171"/>
                  <a:gd name="T41" fmla="*/ 19 h 198"/>
                  <a:gd name="T42" fmla="*/ 81 w 171"/>
                  <a:gd name="T43" fmla="*/ 26 h 198"/>
                  <a:gd name="T44" fmla="*/ 91 w 171"/>
                  <a:gd name="T45" fmla="*/ 21 h 198"/>
                  <a:gd name="T46" fmla="*/ 97 w 171"/>
                  <a:gd name="T47" fmla="*/ 32 h 198"/>
                  <a:gd name="T48" fmla="*/ 108 w 171"/>
                  <a:gd name="T49" fmla="*/ 33 h 198"/>
                  <a:gd name="T50" fmla="*/ 108 w 171"/>
                  <a:gd name="T51" fmla="*/ 45 h 198"/>
                  <a:gd name="T52" fmla="*/ 117 w 171"/>
                  <a:gd name="T53" fmla="*/ 52 h 198"/>
                  <a:gd name="T54" fmla="*/ 111 w 171"/>
                  <a:gd name="T55" fmla="*/ 62 h 198"/>
                  <a:gd name="T56" fmla="*/ 115 w 171"/>
                  <a:gd name="T57" fmla="*/ 73 h 198"/>
                  <a:gd name="T58" fmla="*/ 104 w 171"/>
                  <a:gd name="T59" fmla="*/ 78 h 198"/>
                  <a:gd name="T60" fmla="*/ 103 w 171"/>
                  <a:gd name="T61" fmla="*/ 90 h 198"/>
                  <a:gd name="T62" fmla="*/ 138 w 171"/>
                  <a:gd name="T63" fmla="*/ 104 h 198"/>
                  <a:gd name="T64" fmla="*/ 139 w 171"/>
                  <a:gd name="T65" fmla="*/ 113 h 198"/>
                  <a:gd name="T66" fmla="*/ 131 w 171"/>
                  <a:gd name="T67" fmla="*/ 119 h 198"/>
                  <a:gd name="T68" fmla="*/ 123 w 171"/>
                  <a:gd name="T69" fmla="*/ 116 h 198"/>
                  <a:gd name="T70" fmla="*/ 119 w 171"/>
                  <a:gd name="T71" fmla="*/ 122 h 198"/>
                  <a:gd name="T72" fmla="*/ 114 w 171"/>
                  <a:gd name="T73" fmla="*/ 113 h 198"/>
                  <a:gd name="T74" fmla="*/ 105 w 171"/>
                  <a:gd name="T75" fmla="*/ 109 h 198"/>
                  <a:gd name="T76" fmla="*/ 104 w 171"/>
                  <a:gd name="T77" fmla="*/ 100 h 198"/>
                  <a:gd name="T78" fmla="*/ 111 w 171"/>
                  <a:gd name="T79" fmla="*/ 94 h 198"/>
                  <a:gd name="T80" fmla="*/ 113 w 171"/>
                  <a:gd name="T81" fmla="*/ 84 h 198"/>
                  <a:gd name="T82" fmla="*/ 121 w 171"/>
                  <a:gd name="T83" fmla="*/ 87 h 198"/>
                  <a:gd name="T84" fmla="*/ 126 w 171"/>
                  <a:gd name="T85" fmla="*/ 82 h 198"/>
                  <a:gd name="T86" fmla="*/ 134 w 171"/>
                  <a:gd name="T87" fmla="*/ 86 h 198"/>
                  <a:gd name="T88" fmla="*/ 136 w 171"/>
                  <a:gd name="T89" fmla="*/ 94 h 198"/>
                  <a:gd name="T90" fmla="*/ 144 w 171"/>
                  <a:gd name="T91" fmla="*/ 10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1" h="198">
                    <a:moveTo>
                      <a:pt x="123" y="13"/>
                    </a:moveTo>
                    <a:cubicBezTo>
                      <a:pt x="95" y="1"/>
                      <a:pt x="72" y="0"/>
                      <a:pt x="47" y="16"/>
                    </a:cubicBezTo>
                    <a:cubicBezTo>
                      <a:pt x="28" y="29"/>
                      <a:pt x="22" y="60"/>
                      <a:pt x="22" y="64"/>
                    </a:cubicBezTo>
                    <a:cubicBezTo>
                      <a:pt x="22" y="68"/>
                      <a:pt x="26" y="73"/>
                      <a:pt x="14" y="82"/>
                    </a:cubicBezTo>
                    <a:cubicBezTo>
                      <a:pt x="2" y="90"/>
                      <a:pt x="0" y="88"/>
                      <a:pt x="1" y="93"/>
                    </a:cubicBezTo>
                    <a:cubicBezTo>
                      <a:pt x="2" y="97"/>
                      <a:pt x="6" y="100"/>
                      <a:pt x="8" y="102"/>
                    </a:cubicBezTo>
                    <a:cubicBezTo>
                      <a:pt x="10" y="104"/>
                      <a:pt x="11" y="106"/>
                      <a:pt x="9" y="109"/>
                    </a:cubicBezTo>
                    <a:cubicBezTo>
                      <a:pt x="7" y="111"/>
                      <a:pt x="4" y="111"/>
                      <a:pt x="6" y="116"/>
                    </a:cubicBezTo>
                    <a:cubicBezTo>
                      <a:pt x="8" y="120"/>
                      <a:pt x="14" y="120"/>
                      <a:pt x="16" y="121"/>
                    </a:cubicBezTo>
                    <a:cubicBezTo>
                      <a:pt x="16" y="121"/>
                      <a:pt x="10" y="120"/>
                      <a:pt x="8" y="121"/>
                    </a:cubicBezTo>
                    <a:cubicBezTo>
                      <a:pt x="6" y="122"/>
                      <a:pt x="4" y="125"/>
                      <a:pt x="5" y="127"/>
                    </a:cubicBezTo>
                    <a:cubicBezTo>
                      <a:pt x="6" y="129"/>
                      <a:pt x="9" y="130"/>
                      <a:pt x="10" y="131"/>
                    </a:cubicBezTo>
                    <a:cubicBezTo>
                      <a:pt x="11" y="131"/>
                      <a:pt x="11" y="135"/>
                      <a:pt x="11" y="136"/>
                    </a:cubicBezTo>
                    <a:cubicBezTo>
                      <a:pt x="11" y="140"/>
                      <a:pt x="9" y="143"/>
                      <a:pt x="7" y="147"/>
                    </a:cubicBezTo>
                    <a:cubicBezTo>
                      <a:pt x="5" y="151"/>
                      <a:pt x="8" y="160"/>
                      <a:pt x="17" y="162"/>
                    </a:cubicBezTo>
                    <a:cubicBezTo>
                      <a:pt x="26" y="164"/>
                      <a:pt x="30" y="164"/>
                      <a:pt x="36" y="164"/>
                    </a:cubicBezTo>
                    <a:cubicBezTo>
                      <a:pt x="48" y="165"/>
                      <a:pt x="57" y="183"/>
                      <a:pt x="58" y="197"/>
                    </a:cubicBezTo>
                    <a:cubicBezTo>
                      <a:pt x="63" y="198"/>
                      <a:pt x="78" y="198"/>
                      <a:pt x="83" y="198"/>
                    </a:cubicBezTo>
                    <a:cubicBezTo>
                      <a:pt x="100" y="198"/>
                      <a:pt x="117" y="194"/>
                      <a:pt x="131" y="186"/>
                    </a:cubicBezTo>
                    <a:cubicBezTo>
                      <a:pt x="124" y="144"/>
                      <a:pt x="147" y="140"/>
                      <a:pt x="159" y="100"/>
                    </a:cubicBezTo>
                    <a:cubicBezTo>
                      <a:pt x="164" y="83"/>
                      <a:pt x="171" y="35"/>
                      <a:pt x="123" y="13"/>
                    </a:cubicBezTo>
                    <a:close/>
                    <a:moveTo>
                      <a:pt x="98" y="93"/>
                    </a:moveTo>
                    <a:cubicBezTo>
                      <a:pt x="97" y="95"/>
                      <a:pt x="97" y="95"/>
                      <a:pt x="97" y="95"/>
                    </a:cubicBezTo>
                    <a:cubicBezTo>
                      <a:pt x="91" y="89"/>
                      <a:pt x="91" y="89"/>
                      <a:pt x="91" y="89"/>
                    </a:cubicBezTo>
                    <a:cubicBezTo>
                      <a:pt x="89" y="90"/>
                      <a:pt x="88" y="90"/>
                      <a:pt x="86" y="91"/>
                    </a:cubicBezTo>
                    <a:cubicBezTo>
                      <a:pt x="86" y="98"/>
                      <a:pt x="86" y="98"/>
                      <a:pt x="86" y="98"/>
                    </a:cubicBezTo>
                    <a:cubicBezTo>
                      <a:pt x="84" y="98"/>
                      <a:pt x="84" y="98"/>
                      <a:pt x="84" y="98"/>
                    </a:cubicBezTo>
                    <a:cubicBezTo>
                      <a:pt x="78" y="99"/>
                      <a:pt x="78" y="99"/>
                      <a:pt x="78" y="99"/>
                    </a:cubicBezTo>
                    <a:cubicBezTo>
                      <a:pt x="76" y="99"/>
                      <a:pt x="76" y="99"/>
                      <a:pt x="76" y="99"/>
                    </a:cubicBezTo>
                    <a:cubicBezTo>
                      <a:pt x="74" y="92"/>
                      <a:pt x="74" y="92"/>
                      <a:pt x="74" y="92"/>
                    </a:cubicBezTo>
                    <a:cubicBezTo>
                      <a:pt x="72" y="92"/>
                      <a:pt x="70" y="91"/>
                      <a:pt x="69" y="91"/>
                    </a:cubicBezTo>
                    <a:cubicBezTo>
                      <a:pt x="65" y="97"/>
                      <a:pt x="65" y="97"/>
                      <a:pt x="65" y="97"/>
                    </a:cubicBezTo>
                    <a:cubicBezTo>
                      <a:pt x="63" y="96"/>
                      <a:pt x="63" y="96"/>
                      <a:pt x="63" y="96"/>
                    </a:cubicBezTo>
                    <a:cubicBezTo>
                      <a:pt x="58" y="94"/>
                      <a:pt x="58" y="94"/>
                      <a:pt x="58" y="94"/>
                    </a:cubicBezTo>
                    <a:cubicBezTo>
                      <a:pt x="56" y="93"/>
                      <a:pt x="56" y="93"/>
                      <a:pt x="56" y="93"/>
                    </a:cubicBezTo>
                    <a:cubicBezTo>
                      <a:pt x="58" y="86"/>
                      <a:pt x="58" y="86"/>
                      <a:pt x="58" y="86"/>
                    </a:cubicBezTo>
                    <a:cubicBezTo>
                      <a:pt x="56" y="85"/>
                      <a:pt x="55" y="84"/>
                      <a:pt x="54" y="82"/>
                    </a:cubicBezTo>
                    <a:cubicBezTo>
                      <a:pt x="47" y="86"/>
                      <a:pt x="47" y="86"/>
                      <a:pt x="47" y="86"/>
                    </a:cubicBezTo>
                    <a:cubicBezTo>
                      <a:pt x="46" y="84"/>
                      <a:pt x="46" y="84"/>
                      <a:pt x="46" y="84"/>
                    </a:cubicBezTo>
                    <a:cubicBezTo>
                      <a:pt x="43" y="80"/>
                      <a:pt x="43" y="80"/>
                      <a:pt x="43" y="80"/>
                    </a:cubicBezTo>
                    <a:cubicBezTo>
                      <a:pt x="41" y="78"/>
                      <a:pt x="41" y="78"/>
                      <a:pt x="41" y="78"/>
                    </a:cubicBezTo>
                    <a:cubicBezTo>
                      <a:pt x="47" y="73"/>
                      <a:pt x="47" y="73"/>
                      <a:pt x="47" y="73"/>
                    </a:cubicBezTo>
                    <a:cubicBezTo>
                      <a:pt x="46" y="71"/>
                      <a:pt x="45" y="69"/>
                      <a:pt x="45" y="68"/>
                    </a:cubicBezTo>
                    <a:cubicBezTo>
                      <a:pt x="38" y="67"/>
                      <a:pt x="38" y="67"/>
                      <a:pt x="38" y="67"/>
                    </a:cubicBezTo>
                    <a:cubicBezTo>
                      <a:pt x="37" y="65"/>
                      <a:pt x="37" y="65"/>
                      <a:pt x="37" y="65"/>
                    </a:cubicBezTo>
                    <a:cubicBezTo>
                      <a:pt x="37" y="60"/>
                      <a:pt x="37" y="60"/>
                      <a:pt x="37" y="60"/>
                    </a:cubicBezTo>
                    <a:cubicBezTo>
                      <a:pt x="36" y="58"/>
                      <a:pt x="36" y="58"/>
                      <a:pt x="36" y="58"/>
                    </a:cubicBezTo>
                    <a:cubicBezTo>
                      <a:pt x="44" y="55"/>
                      <a:pt x="44" y="55"/>
                      <a:pt x="44" y="55"/>
                    </a:cubicBezTo>
                    <a:cubicBezTo>
                      <a:pt x="44" y="54"/>
                      <a:pt x="44" y="52"/>
                      <a:pt x="45" y="50"/>
                    </a:cubicBezTo>
                    <a:cubicBezTo>
                      <a:pt x="39" y="46"/>
                      <a:pt x="39" y="46"/>
                      <a:pt x="39" y="46"/>
                    </a:cubicBezTo>
                    <a:cubicBezTo>
                      <a:pt x="40" y="44"/>
                      <a:pt x="40" y="44"/>
                      <a:pt x="40" y="44"/>
                    </a:cubicBezTo>
                    <a:cubicBezTo>
                      <a:pt x="42" y="39"/>
                      <a:pt x="42" y="39"/>
                      <a:pt x="42" y="39"/>
                    </a:cubicBezTo>
                    <a:cubicBezTo>
                      <a:pt x="43" y="37"/>
                      <a:pt x="43" y="37"/>
                      <a:pt x="43" y="37"/>
                    </a:cubicBezTo>
                    <a:cubicBezTo>
                      <a:pt x="50" y="39"/>
                      <a:pt x="50" y="39"/>
                      <a:pt x="50" y="39"/>
                    </a:cubicBezTo>
                    <a:cubicBezTo>
                      <a:pt x="51" y="38"/>
                      <a:pt x="52" y="36"/>
                      <a:pt x="54" y="35"/>
                    </a:cubicBezTo>
                    <a:cubicBezTo>
                      <a:pt x="50" y="29"/>
                      <a:pt x="50" y="29"/>
                      <a:pt x="50" y="29"/>
                    </a:cubicBezTo>
                    <a:cubicBezTo>
                      <a:pt x="52" y="28"/>
                      <a:pt x="52" y="28"/>
                      <a:pt x="52" y="28"/>
                    </a:cubicBezTo>
                    <a:cubicBezTo>
                      <a:pt x="56" y="24"/>
                      <a:pt x="56" y="24"/>
                      <a:pt x="56" y="24"/>
                    </a:cubicBezTo>
                    <a:cubicBezTo>
                      <a:pt x="58" y="23"/>
                      <a:pt x="58" y="23"/>
                      <a:pt x="58" y="23"/>
                    </a:cubicBezTo>
                    <a:cubicBezTo>
                      <a:pt x="64" y="28"/>
                      <a:pt x="64" y="28"/>
                      <a:pt x="64" y="28"/>
                    </a:cubicBezTo>
                    <a:cubicBezTo>
                      <a:pt x="65" y="28"/>
                      <a:pt x="67" y="27"/>
                      <a:pt x="68" y="27"/>
                    </a:cubicBezTo>
                    <a:cubicBezTo>
                      <a:pt x="69" y="19"/>
                      <a:pt x="69" y="19"/>
                      <a:pt x="69" y="19"/>
                    </a:cubicBezTo>
                    <a:cubicBezTo>
                      <a:pt x="71" y="19"/>
                      <a:pt x="71" y="19"/>
                      <a:pt x="71" y="19"/>
                    </a:cubicBezTo>
                    <a:cubicBezTo>
                      <a:pt x="76" y="18"/>
                      <a:pt x="76" y="18"/>
                      <a:pt x="76" y="18"/>
                    </a:cubicBezTo>
                    <a:cubicBezTo>
                      <a:pt x="78" y="18"/>
                      <a:pt x="78" y="18"/>
                      <a:pt x="78" y="18"/>
                    </a:cubicBezTo>
                    <a:cubicBezTo>
                      <a:pt x="81" y="26"/>
                      <a:pt x="81" y="26"/>
                      <a:pt x="81" y="26"/>
                    </a:cubicBezTo>
                    <a:cubicBezTo>
                      <a:pt x="82" y="26"/>
                      <a:pt x="84" y="26"/>
                      <a:pt x="86" y="26"/>
                    </a:cubicBezTo>
                    <a:cubicBezTo>
                      <a:pt x="89" y="20"/>
                      <a:pt x="89" y="20"/>
                      <a:pt x="89" y="20"/>
                    </a:cubicBezTo>
                    <a:cubicBezTo>
                      <a:pt x="91" y="21"/>
                      <a:pt x="91" y="21"/>
                      <a:pt x="91" y="21"/>
                    </a:cubicBezTo>
                    <a:cubicBezTo>
                      <a:pt x="97" y="23"/>
                      <a:pt x="97" y="23"/>
                      <a:pt x="97" y="23"/>
                    </a:cubicBezTo>
                    <a:cubicBezTo>
                      <a:pt x="99" y="24"/>
                      <a:pt x="99" y="24"/>
                      <a:pt x="99" y="24"/>
                    </a:cubicBezTo>
                    <a:cubicBezTo>
                      <a:pt x="97" y="32"/>
                      <a:pt x="97" y="32"/>
                      <a:pt x="97" y="32"/>
                    </a:cubicBezTo>
                    <a:cubicBezTo>
                      <a:pt x="98" y="33"/>
                      <a:pt x="100" y="34"/>
                      <a:pt x="101" y="35"/>
                    </a:cubicBezTo>
                    <a:cubicBezTo>
                      <a:pt x="107" y="31"/>
                      <a:pt x="107" y="31"/>
                      <a:pt x="107" y="31"/>
                    </a:cubicBezTo>
                    <a:cubicBezTo>
                      <a:pt x="108" y="33"/>
                      <a:pt x="108" y="33"/>
                      <a:pt x="108" y="33"/>
                    </a:cubicBezTo>
                    <a:cubicBezTo>
                      <a:pt x="112" y="38"/>
                      <a:pt x="112" y="38"/>
                      <a:pt x="112" y="38"/>
                    </a:cubicBezTo>
                    <a:cubicBezTo>
                      <a:pt x="113" y="39"/>
                      <a:pt x="113" y="39"/>
                      <a:pt x="113" y="39"/>
                    </a:cubicBezTo>
                    <a:cubicBezTo>
                      <a:pt x="108" y="45"/>
                      <a:pt x="108" y="45"/>
                      <a:pt x="108" y="45"/>
                    </a:cubicBezTo>
                    <a:cubicBezTo>
                      <a:pt x="109" y="46"/>
                      <a:pt x="109" y="48"/>
                      <a:pt x="110" y="50"/>
                    </a:cubicBezTo>
                    <a:cubicBezTo>
                      <a:pt x="117" y="50"/>
                      <a:pt x="117" y="50"/>
                      <a:pt x="117" y="50"/>
                    </a:cubicBezTo>
                    <a:cubicBezTo>
                      <a:pt x="117" y="52"/>
                      <a:pt x="117" y="52"/>
                      <a:pt x="117" y="52"/>
                    </a:cubicBezTo>
                    <a:cubicBezTo>
                      <a:pt x="118" y="58"/>
                      <a:pt x="118" y="58"/>
                      <a:pt x="118" y="58"/>
                    </a:cubicBezTo>
                    <a:cubicBezTo>
                      <a:pt x="118" y="60"/>
                      <a:pt x="118" y="60"/>
                      <a:pt x="118" y="60"/>
                    </a:cubicBezTo>
                    <a:cubicBezTo>
                      <a:pt x="111" y="62"/>
                      <a:pt x="111" y="62"/>
                      <a:pt x="111" y="62"/>
                    </a:cubicBezTo>
                    <a:cubicBezTo>
                      <a:pt x="110" y="64"/>
                      <a:pt x="110" y="66"/>
                      <a:pt x="110" y="67"/>
                    </a:cubicBezTo>
                    <a:cubicBezTo>
                      <a:pt x="116" y="71"/>
                      <a:pt x="116" y="71"/>
                      <a:pt x="116" y="71"/>
                    </a:cubicBezTo>
                    <a:cubicBezTo>
                      <a:pt x="115" y="73"/>
                      <a:pt x="115" y="73"/>
                      <a:pt x="115" y="73"/>
                    </a:cubicBezTo>
                    <a:cubicBezTo>
                      <a:pt x="113" y="78"/>
                      <a:pt x="113" y="78"/>
                      <a:pt x="113" y="78"/>
                    </a:cubicBezTo>
                    <a:cubicBezTo>
                      <a:pt x="112" y="80"/>
                      <a:pt x="112" y="80"/>
                      <a:pt x="112" y="80"/>
                    </a:cubicBezTo>
                    <a:cubicBezTo>
                      <a:pt x="104" y="78"/>
                      <a:pt x="104" y="78"/>
                      <a:pt x="104" y="78"/>
                    </a:cubicBezTo>
                    <a:cubicBezTo>
                      <a:pt x="103" y="80"/>
                      <a:pt x="102" y="81"/>
                      <a:pt x="101" y="82"/>
                    </a:cubicBezTo>
                    <a:cubicBezTo>
                      <a:pt x="104" y="89"/>
                      <a:pt x="104" y="89"/>
                      <a:pt x="104" y="89"/>
                    </a:cubicBezTo>
                    <a:cubicBezTo>
                      <a:pt x="103" y="90"/>
                      <a:pt x="103" y="90"/>
                      <a:pt x="103" y="90"/>
                    </a:cubicBezTo>
                    <a:lnTo>
                      <a:pt x="98" y="93"/>
                    </a:lnTo>
                    <a:close/>
                    <a:moveTo>
                      <a:pt x="142" y="103"/>
                    </a:moveTo>
                    <a:cubicBezTo>
                      <a:pt x="138" y="104"/>
                      <a:pt x="138" y="104"/>
                      <a:pt x="138" y="104"/>
                    </a:cubicBezTo>
                    <a:cubicBezTo>
                      <a:pt x="137" y="106"/>
                      <a:pt x="137" y="107"/>
                      <a:pt x="136" y="109"/>
                    </a:cubicBezTo>
                    <a:cubicBezTo>
                      <a:pt x="136" y="109"/>
                      <a:pt x="136" y="109"/>
                      <a:pt x="136" y="109"/>
                    </a:cubicBezTo>
                    <a:cubicBezTo>
                      <a:pt x="139" y="113"/>
                      <a:pt x="139" y="113"/>
                      <a:pt x="139" y="113"/>
                    </a:cubicBezTo>
                    <a:cubicBezTo>
                      <a:pt x="139" y="114"/>
                      <a:pt x="139" y="115"/>
                      <a:pt x="139" y="115"/>
                    </a:cubicBezTo>
                    <a:cubicBezTo>
                      <a:pt x="134" y="119"/>
                      <a:pt x="134" y="119"/>
                      <a:pt x="134" y="119"/>
                    </a:cubicBezTo>
                    <a:cubicBezTo>
                      <a:pt x="133" y="120"/>
                      <a:pt x="132" y="120"/>
                      <a:pt x="131" y="119"/>
                    </a:cubicBezTo>
                    <a:cubicBezTo>
                      <a:pt x="129" y="115"/>
                      <a:pt x="129" y="115"/>
                      <a:pt x="129" y="115"/>
                    </a:cubicBezTo>
                    <a:cubicBezTo>
                      <a:pt x="128" y="116"/>
                      <a:pt x="126" y="116"/>
                      <a:pt x="125" y="116"/>
                    </a:cubicBezTo>
                    <a:cubicBezTo>
                      <a:pt x="124" y="116"/>
                      <a:pt x="124" y="116"/>
                      <a:pt x="123" y="116"/>
                    </a:cubicBezTo>
                    <a:cubicBezTo>
                      <a:pt x="123" y="116"/>
                      <a:pt x="123" y="116"/>
                      <a:pt x="123" y="116"/>
                    </a:cubicBezTo>
                    <a:cubicBezTo>
                      <a:pt x="121" y="121"/>
                      <a:pt x="121" y="121"/>
                      <a:pt x="121" y="121"/>
                    </a:cubicBezTo>
                    <a:cubicBezTo>
                      <a:pt x="121" y="122"/>
                      <a:pt x="120" y="122"/>
                      <a:pt x="119" y="122"/>
                    </a:cubicBezTo>
                    <a:cubicBezTo>
                      <a:pt x="113" y="119"/>
                      <a:pt x="113" y="119"/>
                      <a:pt x="113" y="119"/>
                    </a:cubicBezTo>
                    <a:cubicBezTo>
                      <a:pt x="112" y="119"/>
                      <a:pt x="112" y="118"/>
                      <a:pt x="112" y="117"/>
                    </a:cubicBezTo>
                    <a:cubicBezTo>
                      <a:pt x="114" y="113"/>
                      <a:pt x="114" y="113"/>
                      <a:pt x="114" y="113"/>
                    </a:cubicBezTo>
                    <a:cubicBezTo>
                      <a:pt x="113" y="112"/>
                      <a:pt x="111" y="110"/>
                      <a:pt x="110" y="108"/>
                    </a:cubicBezTo>
                    <a:cubicBezTo>
                      <a:pt x="110" y="109"/>
                      <a:pt x="110" y="109"/>
                      <a:pt x="110" y="109"/>
                    </a:cubicBezTo>
                    <a:cubicBezTo>
                      <a:pt x="105" y="109"/>
                      <a:pt x="105" y="109"/>
                      <a:pt x="105" y="109"/>
                    </a:cubicBezTo>
                    <a:cubicBezTo>
                      <a:pt x="104" y="109"/>
                      <a:pt x="104" y="109"/>
                      <a:pt x="104" y="108"/>
                    </a:cubicBezTo>
                    <a:cubicBezTo>
                      <a:pt x="103" y="102"/>
                      <a:pt x="103" y="102"/>
                      <a:pt x="103" y="102"/>
                    </a:cubicBezTo>
                    <a:cubicBezTo>
                      <a:pt x="103" y="101"/>
                      <a:pt x="103" y="100"/>
                      <a:pt x="104" y="100"/>
                    </a:cubicBezTo>
                    <a:cubicBezTo>
                      <a:pt x="109" y="99"/>
                      <a:pt x="109" y="99"/>
                      <a:pt x="109" y="99"/>
                    </a:cubicBezTo>
                    <a:cubicBezTo>
                      <a:pt x="109" y="97"/>
                      <a:pt x="110" y="95"/>
                      <a:pt x="111" y="94"/>
                    </a:cubicBezTo>
                    <a:cubicBezTo>
                      <a:pt x="111" y="94"/>
                      <a:pt x="111" y="94"/>
                      <a:pt x="111" y="94"/>
                    </a:cubicBezTo>
                    <a:cubicBezTo>
                      <a:pt x="108" y="90"/>
                      <a:pt x="108" y="90"/>
                      <a:pt x="108" y="90"/>
                    </a:cubicBezTo>
                    <a:cubicBezTo>
                      <a:pt x="107" y="89"/>
                      <a:pt x="107" y="88"/>
                      <a:pt x="108" y="88"/>
                    </a:cubicBezTo>
                    <a:cubicBezTo>
                      <a:pt x="113" y="84"/>
                      <a:pt x="113" y="84"/>
                      <a:pt x="113" y="84"/>
                    </a:cubicBezTo>
                    <a:cubicBezTo>
                      <a:pt x="114" y="83"/>
                      <a:pt x="115" y="83"/>
                      <a:pt x="115" y="84"/>
                    </a:cubicBezTo>
                    <a:cubicBezTo>
                      <a:pt x="118" y="88"/>
                      <a:pt x="118" y="88"/>
                      <a:pt x="118" y="88"/>
                    </a:cubicBezTo>
                    <a:cubicBezTo>
                      <a:pt x="119" y="87"/>
                      <a:pt x="120" y="87"/>
                      <a:pt x="121" y="87"/>
                    </a:cubicBezTo>
                    <a:cubicBezTo>
                      <a:pt x="122" y="87"/>
                      <a:pt x="123" y="87"/>
                      <a:pt x="124" y="87"/>
                    </a:cubicBezTo>
                    <a:cubicBezTo>
                      <a:pt x="124" y="87"/>
                      <a:pt x="124" y="87"/>
                      <a:pt x="124" y="87"/>
                    </a:cubicBezTo>
                    <a:cubicBezTo>
                      <a:pt x="126" y="82"/>
                      <a:pt x="126" y="82"/>
                      <a:pt x="126" y="82"/>
                    </a:cubicBezTo>
                    <a:cubicBezTo>
                      <a:pt x="126" y="81"/>
                      <a:pt x="127" y="81"/>
                      <a:pt x="128" y="81"/>
                    </a:cubicBezTo>
                    <a:cubicBezTo>
                      <a:pt x="133" y="84"/>
                      <a:pt x="133" y="84"/>
                      <a:pt x="133" y="84"/>
                    </a:cubicBezTo>
                    <a:cubicBezTo>
                      <a:pt x="134" y="84"/>
                      <a:pt x="135" y="85"/>
                      <a:pt x="134" y="86"/>
                    </a:cubicBezTo>
                    <a:cubicBezTo>
                      <a:pt x="132" y="90"/>
                      <a:pt x="132" y="90"/>
                      <a:pt x="132" y="90"/>
                    </a:cubicBezTo>
                    <a:cubicBezTo>
                      <a:pt x="134" y="91"/>
                      <a:pt x="135" y="93"/>
                      <a:pt x="136" y="94"/>
                    </a:cubicBezTo>
                    <a:cubicBezTo>
                      <a:pt x="136" y="94"/>
                      <a:pt x="136" y="94"/>
                      <a:pt x="136" y="94"/>
                    </a:cubicBezTo>
                    <a:cubicBezTo>
                      <a:pt x="141" y="94"/>
                      <a:pt x="141" y="94"/>
                      <a:pt x="141" y="94"/>
                    </a:cubicBezTo>
                    <a:cubicBezTo>
                      <a:pt x="142" y="94"/>
                      <a:pt x="143" y="94"/>
                      <a:pt x="143" y="95"/>
                    </a:cubicBezTo>
                    <a:cubicBezTo>
                      <a:pt x="144" y="101"/>
                      <a:pt x="144" y="101"/>
                      <a:pt x="144" y="101"/>
                    </a:cubicBezTo>
                    <a:cubicBezTo>
                      <a:pt x="144" y="102"/>
                      <a:pt x="143" y="103"/>
                      <a:pt x="142" y="103"/>
                    </a:cubicBezTo>
                    <a:close/>
                  </a:path>
                </a:pathLst>
              </a:custGeom>
              <a:grpFill/>
              <a:ln>
                <a:noFill/>
              </a:ln>
            </p:spPr>
            <p:txBody>
              <a:bodyPr vert="horz" wrap="square" lIns="91440" tIns="45720" rIns="91440" bIns="45720" numCol="1" anchor="t" anchorCtr="0" compatLnSpc="1"/>
              <a:lstStyle/>
              <a:p>
                <a:endParaRPr lang="en-US" sz="1600">
                  <a:latin typeface="思源黑体 CN Bold" panose="020B0800000000000000" pitchFamily="34" charset="-122"/>
                  <a:ea typeface="思源黑体 CN Bold" panose="020B0800000000000000" pitchFamily="34" charset="-122"/>
                  <a:cs typeface="+mn-ea"/>
                  <a:sym typeface="+mn-lt"/>
                </a:endParaRPr>
              </a:p>
            </p:txBody>
          </p:sp>
          <p:sp>
            <p:nvSpPr>
              <p:cNvPr id="30" name="Freeform 64"/>
              <p:cNvSpPr/>
              <p:nvPr/>
            </p:nvSpPr>
            <p:spPr bwMode="auto">
              <a:xfrm>
                <a:off x="4069786" y="799617"/>
                <a:ext cx="40048" cy="41429"/>
              </a:xfrm>
              <a:custGeom>
                <a:avLst/>
                <a:gdLst>
                  <a:gd name="T0" fmla="*/ 0 w 15"/>
                  <a:gd name="T1" fmla="*/ 8 h 15"/>
                  <a:gd name="T2" fmla="*/ 6 w 15"/>
                  <a:gd name="T3" fmla="*/ 1 h 15"/>
                  <a:gd name="T4" fmla="*/ 14 w 15"/>
                  <a:gd name="T5" fmla="*/ 7 h 15"/>
                  <a:gd name="T6" fmla="*/ 8 w 15"/>
                  <a:gd name="T7" fmla="*/ 14 h 15"/>
                  <a:gd name="T8" fmla="*/ 0 w 15"/>
                  <a:gd name="T9" fmla="*/ 8 h 15"/>
                </a:gdLst>
                <a:ahLst/>
                <a:cxnLst>
                  <a:cxn ang="0">
                    <a:pos x="T0" y="T1"/>
                  </a:cxn>
                  <a:cxn ang="0">
                    <a:pos x="T2" y="T3"/>
                  </a:cxn>
                  <a:cxn ang="0">
                    <a:pos x="T4" y="T5"/>
                  </a:cxn>
                  <a:cxn ang="0">
                    <a:pos x="T6" y="T7"/>
                  </a:cxn>
                  <a:cxn ang="0">
                    <a:pos x="T8" y="T9"/>
                  </a:cxn>
                </a:cxnLst>
                <a:rect l="0" t="0" r="r" b="b"/>
                <a:pathLst>
                  <a:path w="15" h="15">
                    <a:moveTo>
                      <a:pt x="0" y="8"/>
                    </a:moveTo>
                    <a:cubicBezTo>
                      <a:pt x="0" y="5"/>
                      <a:pt x="3" y="1"/>
                      <a:pt x="6" y="1"/>
                    </a:cubicBezTo>
                    <a:cubicBezTo>
                      <a:pt x="10" y="0"/>
                      <a:pt x="14" y="3"/>
                      <a:pt x="14" y="7"/>
                    </a:cubicBezTo>
                    <a:cubicBezTo>
                      <a:pt x="15" y="10"/>
                      <a:pt x="12" y="14"/>
                      <a:pt x="8" y="14"/>
                    </a:cubicBezTo>
                    <a:cubicBezTo>
                      <a:pt x="4" y="15"/>
                      <a:pt x="1" y="12"/>
                      <a:pt x="0" y="8"/>
                    </a:cubicBezTo>
                    <a:close/>
                  </a:path>
                </a:pathLst>
              </a:custGeom>
              <a:grpFill/>
              <a:ln>
                <a:noFill/>
              </a:ln>
            </p:spPr>
            <p:txBody>
              <a:bodyPr vert="horz" wrap="square" lIns="91440" tIns="45720" rIns="91440" bIns="45720" numCol="1" anchor="t" anchorCtr="0" compatLnSpc="1"/>
              <a:lstStyle/>
              <a:p>
                <a:endParaRPr lang="en-US" sz="1600">
                  <a:latin typeface="思源黑体 CN Bold" panose="020B0800000000000000" pitchFamily="34" charset="-122"/>
                  <a:ea typeface="思源黑体 CN Bold" panose="020B0800000000000000" pitchFamily="34" charset="-122"/>
                  <a:cs typeface="+mn-ea"/>
                  <a:sym typeface="+mn-lt"/>
                </a:endParaRPr>
              </a:p>
            </p:txBody>
          </p:sp>
          <p:sp>
            <p:nvSpPr>
              <p:cNvPr id="31" name="Freeform 65"/>
              <p:cNvSpPr>
                <a:spLocks noEditPoints="1"/>
              </p:cNvSpPr>
              <p:nvPr/>
            </p:nvSpPr>
            <p:spPr bwMode="auto">
              <a:xfrm>
                <a:off x="3887497" y="626995"/>
                <a:ext cx="151908" cy="150527"/>
              </a:xfrm>
              <a:custGeom>
                <a:avLst/>
                <a:gdLst>
                  <a:gd name="T0" fmla="*/ 27 w 55"/>
                  <a:gd name="T1" fmla="*/ 0 h 55"/>
                  <a:gd name="T2" fmla="*/ 0 w 55"/>
                  <a:gd name="T3" fmla="*/ 28 h 55"/>
                  <a:gd name="T4" fmla="*/ 27 w 55"/>
                  <a:gd name="T5" fmla="*/ 55 h 55"/>
                  <a:gd name="T6" fmla="*/ 55 w 55"/>
                  <a:gd name="T7" fmla="*/ 28 h 55"/>
                  <a:gd name="T8" fmla="*/ 27 w 55"/>
                  <a:gd name="T9" fmla="*/ 0 h 55"/>
                  <a:gd name="T10" fmla="*/ 27 w 55"/>
                  <a:gd name="T11" fmla="*/ 40 h 55"/>
                  <a:gd name="T12" fmla="*/ 15 w 55"/>
                  <a:gd name="T13" fmla="*/ 28 h 55"/>
                  <a:gd name="T14" fmla="*/ 27 w 55"/>
                  <a:gd name="T15" fmla="*/ 15 h 55"/>
                  <a:gd name="T16" fmla="*/ 40 w 55"/>
                  <a:gd name="T17" fmla="*/ 28 h 55"/>
                  <a:gd name="T18" fmla="*/ 27 w 55"/>
                  <a:gd name="T19" fmla="*/ 4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 h="55">
                    <a:moveTo>
                      <a:pt x="27" y="0"/>
                    </a:moveTo>
                    <a:cubicBezTo>
                      <a:pt x="12" y="0"/>
                      <a:pt x="0" y="13"/>
                      <a:pt x="0" y="28"/>
                    </a:cubicBezTo>
                    <a:cubicBezTo>
                      <a:pt x="0" y="43"/>
                      <a:pt x="12" y="55"/>
                      <a:pt x="27" y="55"/>
                    </a:cubicBezTo>
                    <a:cubicBezTo>
                      <a:pt x="42" y="55"/>
                      <a:pt x="55" y="43"/>
                      <a:pt x="55" y="28"/>
                    </a:cubicBezTo>
                    <a:cubicBezTo>
                      <a:pt x="55" y="13"/>
                      <a:pt x="42" y="0"/>
                      <a:pt x="27" y="0"/>
                    </a:cubicBezTo>
                    <a:close/>
                    <a:moveTo>
                      <a:pt x="27" y="40"/>
                    </a:moveTo>
                    <a:cubicBezTo>
                      <a:pt x="20" y="40"/>
                      <a:pt x="15" y="35"/>
                      <a:pt x="15" y="28"/>
                    </a:cubicBezTo>
                    <a:cubicBezTo>
                      <a:pt x="15" y="21"/>
                      <a:pt x="20" y="15"/>
                      <a:pt x="27" y="15"/>
                    </a:cubicBezTo>
                    <a:cubicBezTo>
                      <a:pt x="34" y="15"/>
                      <a:pt x="40" y="21"/>
                      <a:pt x="40" y="28"/>
                    </a:cubicBezTo>
                    <a:cubicBezTo>
                      <a:pt x="40" y="35"/>
                      <a:pt x="34" y="40"/>
                      <a:pt x="27" y="40"/>
                    </a:cubicBezTo>
                    <a:close/>
                  </a:path>
                </a:pathLst>
              </a:custGeom>
              <a:grpFill/>
              <a:ln>
                <a:noFill/>
              </a:ln>
            </p:spPr>
            <p:txBody>
              <a:bodyPr vert="horz" wrap="square" lIns="91440" tIns="45720" rIns="91440" bIns="45720" numCol="1" anchor="t" anchorCtr="0" compatLnSpc="1"/>
              <a:lstStyle/>
              <a:p>
                <a:endParaRPr lang="en-US" sz="1600">
                  <a:latin typeface="思源黑体 CN Bold" panose="020B0800000000000000" pitchFamily="34" charset="-122"/>
                  <a:ea typeface="思源黑体 CN Bold" panose="020B0800000000000000" pitchFamily="34" charset="-122"/>
                  <a:cs typeface="+mn-ea"/>
                  <a:sym typeface="+mn-lt"/>
                </a:endParaRPr>
              </a:p>
            </p:txBody>
          </p:sp>
        </p:grpSp>
      </p:grpSp>
      <p:grpSp>
        <p:nvGrpSpPr>
          <p:cNvPr id="32" name="组合 31"/>
          <p:cNvGrpSpPr/>
          <p:nvPr/>
        </p:nvGrpSpPr>
        <p:grpSpPr>
          <a:xfrm>
            <a:off x="8305572" y="2146447"/>
            <a:ext cx="1600428" cy="2311106"/>
            <a:chOff x="4338527" y="4300920"/>
            <a:chExt cx="1591316" cy="2297948"/>
          </a:xfrm>
        </p:grpSpPr>
        <p:sp>
          <p:nvSpPr>
            <p:cNvPr id="33" name="iŝ1ide"/>
            <p:cNvSpPr/>
            <p:nvPr/>
          </p:nvSpPr>
          <p:spPr>
            <a:xfrm>
              <a:off x="4499886" y="5419291"/>
              <a:ext cx="778966" cy="1168449"/>
            </a:xfrm>
            <a:custGeom>
              <a:avLst/>
              <a:gdLst/>
              <a:ahLst/>
              <a:cxnLst/>
              <a:rect l="0" t="0" r="0" b="0"/>
              <a:pathLst>
                <a:path w="140" h="210" extrusionOk="0">
                  <a:moveTo>
                    <a:pt x="140" y="0"/>
                  </a:moveTo>
                  <a:lnTo>
                    <a:pt x="140" y="210"/>
                  </a:lnTo>
                  <a:lnTo>
                    <a:pt x="0" y="210"/>
                  </a:lnTo>
                  <a:lnTo>
                    <a:pt x="0" y="148"/>
                  </a:lnTo>
                  <a:lnTo>
                    <a:pt x="140" y="0"/>
                  </a:lnTo>
                  <a:close/>
                </a:path>
              </a:pathLst>
            </a:custGeom>
            <a:solidFill>
              <a:schemeClr val="bg1">
                <a:lumMod val="95000"/>
              </a:schemeClr>
            </a:solidFill>
            <a:ln>
              <a:noFill/>
            </a:ln>
          </p:spPr>
          <p:txBody>
            <a:bodyPr spcFirstLastPara="1" wrap="square" lIns="91440" tIns="45720" rIns="91440" bIns="45720" anchor="b" anchorCtr="0">
              <a:noAutofit/>
            </a:bodyPr>
            <a:lstStyle/>
            <a:p>
              <a:pPr marL="0" marR="0" lvl="0" indent="0" algn="ctr" rtl="0">
                <a:spcBef>
                  <a:spcPts val="0"/>
                </a:spcBef>
                <a:spcAft>
                  <a:spcPts val="0"/>
                </a:spcAft>
                <a:buNone/>
              </a:pPr>
              <a:endParaRPr sz="200" dirty="0">
                <a:latin typeface="思源黑体 CN Bold" panose="020B0800000000000000" pitchFamily="34" charset="-122"/>
                <a:ea typeface="思源黑体 CN Bold" panose="020B0800000000000000" pitchFamily="34" charset="-122"/>
                <a:cs typeface="+mn-ea"/>
                <a:sym typeface="+mn-lt"/>
              </a:endParaRPr>
            </a:p>
          </p:txBody>
        </p:sp>
        <p:sp>
          <p:nvSpPr>
            <p:cNvPr id="34" name="îsḻidé"/>
            <p:cNvSpPr/>
            <p:nvPr/>
          </p:nvSpPr>
          <p:spPr>
            <a:xfrm>
              <a:off x="4338527" y="6242769"/>
              <a:ext cx="161359" cy="356099"/>
            </a:xfrm>
            <a:custGeom>
              <a:avLst/>
              <a:gdLst/>
              <a:ahLst/>
              <a:cxnLst/>
              <a:rect l="0" t="0" r="0" b="0"/>
              <a:pathLst>
                <a:path w="29" h="64" extrusionOk="0">
                  <a:moveTo>
                    <a:pt x="29" y="64"/>
                  </a:moveTo>
                  <a:lnTo>
                    <a:pt x="0" y="31"/>
                  </a:lnTo>
                  <a:lnTo>
                    <a:pt x="29" y="0"/>
                  </a:lnTo>
                  <a:lnTo>
                    <a:pt x="29" y="64"/>
                  </a:lnTo>
                  <a:close/>
                </a:path>
              </a:pathLst>
            </a:custGeom>
            <a:solidFill>
              <a:schemeClr val="bg1">
                <a:lumMod val="75000"/>
              </a:schemeClr>
            </a:solidFill>
            <a:ln>
              <a:noFill/>
            </a:ln>
          </p:spPr>
          <p:txBody>
            <a:bodyPr spcFirstLastPara="1" wrap="square" lIns="91440" tIns="45720" rIns="91440" bIns="45720" anchor="t" anchorCtr="0">
              <a:noAutofit/>
            </a:bodyPr>
            <a:lstStyle/>
            <a:p>
              <a:endParaRPr sz="300">
                <a:solidFill>
                  <a:schemeClr val="dk1"/>
                </a:solidFill>
                <a:latin typeface="思源黑体 CN Bold" panose="020B0800000000000000" pitchFamily="34" charset="-122"/>
                <a:ea typeface="思源黑体 CN Bold" panose="020B0800000000000000" pitchFamily="34" charset="-122"/>
                <a:cs typeface="+mn-ea"/>
                <a:sym typeface="+mn-lt"/>
              </a:endParaRPr>
            </a:p>
          </p:txBody>
        </p:sp>
        <p:sp>
          <p:nvSpPr>
            <p:cNvPr id="35" name="ísľïḋé"/>
            <p:cNvSpPr/>
            <p:nvPr/>
          </p:nvSpPr>
          <p:spPr>
            <a:xfrm>
              <a:off x="4338527" y="4300920"/>
              <a:ext cx="1591316" cy="2114336"/>
            </a:xfrm>
            <a:custGeom>
              <a:avLst/>
              <a:gdLst/>
              <a:ahLst/>
              <a:cxnLst/>
              <a:rect l="0" t="0" r="0" b="0"/>
              <a:pathLst>
                <a:path w="286" h="380" extrusionOk="0">
                  <a:moveTo>
                    <a:pt x="0" y="380"/>
                  </a:moveTo>
                  <a:lnTo>
                    <a:pt x="0" y="175"/>
                  </a:lnTo>
                  <a:lnTo>
                    <a:pt x="141" y="39"/>
                  </a:lnTo>
                  <a:lnTo>
                    <a:pt x="95" y="0"/>
                  </a:lnTo>
                  <a:lnTo>
                    <a:pt x="286" y="0"/>
                  </a:lnTo>
                  <a:lnTo>
                    <a:pt x="286" y="179"/>
                  </a:lnTo>
                  <a:lnTo>
                    <a:pt x="236" y="134"/>
                  </a:lnTo>
                  <a:lnTo>
                    <a:pt x="0" y="380"/>
                  </a:lnTo>
                  <a:close/>
                </a:path>
              </a:pathLst>
            </a:custGeom>
            <a:solidFill>
              <a:srgbClr val="62EFF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36" name="îṥḷîḋe"/>
            <p:cNvSpPr/>
            <p:nvPr/>
          </p:nvSpPr>
          <p:spPr>
            <a:xfrm>
              <a:off x="4625514" y="6126075"/>
              <a:ext cx="527710" cy="461665"/>
            </a:xfrm>
            <a:prstGeom prst="rect">
              <a:avLst/>
            </a:prstGeom>
          </p:spPr>
          <p:txBody>
            <a:bodyPr wrap="square" lIns="91440" tIns="45720" rIns="91440" bIns="45720">
              <a:noAutofit/>
            </a:bodyPr>
            <a:lstStyle/>
            <a:p>
              <a:pPr lvl="0" algn="ctr" defTabSz="913765">
                <a:defRPr/>
              </a:pPr>
              <a:r>
                <a:rPr lang="en-US" altLang="zh-CN" b="1"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03</a:t>
              </a:r>
              <a:endParaRPr lang="en-US" altLang="zh-CN" b="1"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37" name="Freeform 142"/>
            <p:cNvSpPr>
              <a:spLocks noEditPoints="1"/>
            </p:cNvSpPr>
            <p:nvPr/>
          </p:nvSpPr>
          <p:spPr bwMode="auto">
            <a:xfrm>
              <a:off x="4632973" y="5103480"/>
              <a:ext cx="573106" cy="348006"/>
            </a:xfrm>
            <a:custGeom>
              <a:avLst/>
              <a:gdLst>
                <a:gd name="T0" fmla="*/ 172 w 209"/>
                <a:gd name="T1" fmla="*/ 85 h 127"/>
                <a:gd name="T2" fmla="*/ 142 w 209"/>
                <a:gd name="T3" fmla="*/ 17 h 127"/>
                <a:gd name="T4" fmla="*/ 138 w 209"/>
                <a:gd name="T5" fmla="*/ 20 h 127"/>
                <a:gd name="T6" fmla="*/ 131 w 209"/>
                <a:gd name="T7" fmla="*/ 19 h 127"/>
                <a:gd name="T8" fmla="*/ 79 w 209"/>
                <a:gd name="T9" fmla="*/ 23 h 127"/>
                <a:gd name="T10" fmla="*/ 67 w 209"/>
                <a:gd name="T11" fmla="*/ 17 h 127"/>
                <a:gd name="T12" fmla="*/ 37 w 209"/>
                <a:gd name="T13" fmla="*/ 85 h 127"/>
                <a:gd name="T14" fmla="*/ 45 w 209"/>
                <a:gd name="T15" fmla="*/ 91 h 127"/>
                <a:gd name="T16" fmla="*/ 60 w 209"/>
                <a:gd name="T17" fmla="*/ 99 h 127"/>
                <a:gd name="T18" fmla="*/ 72 w 209"/>
                <a:gd name="T19" fmla="*/ 110 h 127"/>
                <a:gd name="T20" fmla="*/ 85 w 209"/>
                <a:gd name="T21" fmla="*/ 121 h 127"/>
                <a:gd name="T22" fmla="*/ 109 w 209"/>
                <a:gd name="T23" fmla="*/ 125 h 127"/>
                <a:gd name="T24" fmla="*/ 116 w 209"/>
                <a:gd name="T25" fmla="*/ 111 h 127"/>
                <a:gd name="T26" fmla="*/ 130 w 209"/>
                <a:gd name="T27" fmla="*/ 116 h 127"/>
                <a:gd name="T28" fmla="*/ 134 w 209"/>
                <a:gd name="T29" fmla="*/ 102 h 127"/>
                <a:gd name="T30" fmla="*/ 141 w 209"/>
                <a:gd name="T31" fmla="*/ 104 h 127"/>
                <a:gd name="T32" fmla="*/ 149 w 209"/>
                <a:gd name="T33" fmla="*/ 91 h 127"/>
                <a:gd name="T34" fmla="*/ 158 w 209"/>
                <a:gd name="T35" fmla="*/ 93 h 127"/>
                <a:gd name="T36" fmla="*/ 165 w 209"/>
                <a:gd name="T37" fmla="*/ 79 h 127"/>
                <a:gd name="T38" fmla="*/ 34 w 209"/>
                <a:gd name="T39" fmla="*/ 9 h 127"/>
                <a:gd name="T40" fmla="*/ 175 w 209"/>
                <a:gd name="T41" fmla="*/ 9 h 127"/>
                <a:gd name="T42" fmla="*/ 151 w 209"/>
                <a:gd name="T43" fmla="*/ 20 h 127"/>
                <a:gd name="T44" fmla="*/ 100 w 209"/>
                <a:gd name="T45" fmla="*/ 27 h 127"/>
                <a:gd name="T46" fmla="*/ 108 w 209"/>
                <a:gd name="T47" fmla="*/ 25 h 127"/>
                <a:gd name="T48" fmla="*/ 115 w 209"/>
                <a:gd name="T49" fmla="*/ 24 h 127"/>
                <a:gd name="T50" fmla="*/ 130 w 209"/>
                <a:gd name="T51" fmla="*/ 26 h 127"/>
                <a:gd name="T52" fmla="*/ 148 w 209"/>
                <a:gd name="T53" fmla="*/ 29 h 127"/>
                <a:gd name="T54" fmla="*/ 160 w 209"/>
                <a:gd name="T55" fmla="*/ 75 h 127"/>
                <a:gd name="T56" fmla="*/ 111 w 209"/>
                <a:gd name="T57" fmla="*/ 48 h 127"/>
                <a:gd name="T58" fmla="*/ 107 w 209"/>
                <a:gd name="T59" fmla="*/ 47 h 127"/>
                <a:gd name="T60" fmla="*/ 103 w 209"/>
                <a:gd name="T61" fmla="*/ 46 h 127"/>
                <a:gd name="T62" fmla="*/ 95 w 209"/>
                <a:gd name="T63" fmla="*/ 47 h 127"/>
                <a:gd name="T64" fmla="*/ 93 w 209"/>
                <a:gd name="T65" fmla="*/ 48 h 127"/>
                <a:gd name="T66" fmla="*/ 72 w 209"/>
                <a:gd name="T67" fmla="*/ 52 h 127"/>
                <a:gd name="T68" fmla="*/ 69 w 209"/>
                <a:gd name="T69" fmla="*/ 50 h 127"/>
                <a:gd name="T70" fmla="*/ 94 w 209"/>
                <a:gd name="T71" fmla="*/ 30 h 127"/>
                <a:gd name="T72" fmla="*/ 50 w 209"/>
                <a:gd name="T73" fmla="*/ 90 h 127"/>
                <a:gd name="T74" fmla="*/ 56 w 209"/>
                <a:gd name="T75" fmla="*/ 84 h 127"/>
                <a:gd name="T76" fmla="*/ 71 w 209"/>
                <a:gd name="T77" fmla="*/ 105 h 127"/>
                <a:gd name="T78" fmla="*/ 70 w 209"/>
                <a:gd name="T79" fmla="*/ 94 h 127"/>
                <a:gd name="T80" fmla="*/ 71 w 209"/>
                <a:gd name="T81" fmla="*/ 105 h 127"/>
                <a:gd name="T82" fmla="*/ 80 w 209"/>
                <a:gd name="T83" fmla="*/ 107 h 127"/>
                <a:gd name="T84" fmla="*/ 91 w 209"/>
                <a:gd name="T85" fmla="*/ 10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9" h="127">
                  <a:moveTo>
                    <a:pt x="165" y="79"/>
                  </a:moveTo>
                  <a:cubicBezTo>
                    <a:pt x="167" y="78"/>
                    <a:pt x="167" y="77"/>
                    <a:pt x="168" y="76"/>
                  </a:cubicBezTo>
                  <a:cubicBezTo>
                    <a:pt x="172" y="85"/>
                    <a:pt x="172" y="85"/>
                    <a:pt x="172" y="85"/>
                  </a:cubicBezTo>
                  <a:cubicBezTo>
                    <a:pt x="209" y="68"/>
                    <a:pt x="209" y="68"/>
                    <a:pt x="209" y="68"/>
                  </a:cubicBezTo>
                  <a:cubicBezTo>
                    <a:pt x="179" y="0"/>
                    <a:pt x="179" y="0"/>
                    <a:pt x="179" y="0"/>
                  </a:cubicBezTo>
                  <a:cubicBezTo>
                    <a:pt x="142" y="17"/>
                    <a:pt x="142" y="17"/>
                    <a:pt x="142" y="17"/>
                  </a:cubicBezTo>
                  <a:cubicBezTo>
                    <a:pt x="144" y="22"/>
                    <a:pt x="144" y="22"/>
                    <a:pt x="144" y="22"/>
                  </a:cubicBezTo>
                  <a:cubicBezTo>
                    <a:pt x="138" y="20"/>
                    <a:pt x="138" y="20"/>
                    <a:pt x="138" y="20"/>
                  </a:cubicBezTo>
                  <a:cubicBezTo>
                    <a:pt x="138" y="20"/>
                    <a:pt x="138" y="20"/>
                    <a:pt x="138" y="20"/>
                  </a:cubicBezTo>
                  <a:cubicBezTo>
                    <a:pt x="138" y="20"/>
                    <a:pt x="138" y="20"/>
                    <a:pt x="138" y="20"/>
                  </a:cubicBezTo>
                  <a:cubicBezTo>
                    <a:pt x="134" y="19"/>
                    <a:pt x="134" y="19"/>
                    <a:pt x="134" y="19"/>
                  </a:cubicBezTo>
                  <a:cubicBezTo>
                    <a:pt x="133" y="19"/>
                    <a:pt x="132" y="19"/>
                    <a:pt x="131" y="19"/>
                  </a:cubicBezTo>
                  <a:cubicBezTo>
                    <a:pt x="121" y="17"/>
                    <a:pt x="104" y="16"/>
                    <a:pt x="93" y="23"/>
                  </a:cubicBezTo>
                  <a:cubicBezTo>
                    <a:pt x="91" y="24"/>
                    <a:pt x="90" y="25"/>
                    <a:pt x="89" y="26"/>
                  </a:cubicBezTo>
                  <a:cubicBezTo>
                    <a:pt x="86" y="23"/>
                    <a:pt x="82" y="22"/>
                    <a:pt x="79" y="23"/>
                  </a:cubicBezTo>
                  <a:cubicBezTo>
                    <a:pt x="64" y="27"/>
                    <a:pt x="64" y="27"/>
                    <a:pt x="64" y="27"/>
                  </a:cubicBezTo>
                  <a:cubicBezTo>
                    <a:pt x="63" y="26"/>
                    <a:pt x="63" y="26"/>
                    <a:pt x="63" y="26"/>
                  </a:cubicBezTo>
                  <a:cubicBezTo>
                    <a:pt x="67" y="17"/>
                    <a:pt x="67" y="17"/>
                    <a:pt x="67" y="17"/>
                  </a:cubicBezTo>
                  <a:cubicBezTo>
                    <a:pt x="31" y="0"/>
                    <a:pt x="31" y="0"/>
                    <a:pt x="31" y="0"/>
                  </a:cubicBezTo>
                  <a:cubicBezTo>
                    <a:pt x="0" y="68"/>
                    <a:pt x="0" y="68"/>
                    <a:pt x="0" y="68"/>
                  </a:cubicBezTo>
                  <a:cubicBezTo>
                    <a:pt x="37" y="85"/>
                    <a:pt x="37" y="85"/>
                    <a:pt x="37" y="85"/>
                  </a:cubicBezTo>
                  <a:cubicBezTo>
                    <a:pt x="41" y="76"/>
                    <a:pt x="41" y="76"/>
                    <a:pt x="41" y="76"/>
                  </a:cubicBezTo>
                  <a:cubicBezTo>
                    <a:pt x="43" y="78"/>
                    <a:pt x="45" y="81"/>
                    <a:pt x="47" y="83"/>
                  </a:cubicBezTo>
                  <a:cubicBezTo>
                    <a:pt x="46" y="85"/>
                    <a:pt x="45" y="88"/>
                    <a:pt x="45" y="91"/>
                  </a:cubicBezTo>
                  <a:cubicBezTo>
                    <a:pt x="46" y="96"/>
                    <a:pt x="51" y="100"/>
                    <a:pt x="56" y="100"/>
                  </a:cubicBezTo>
                  <a:cubicBezTo>
                    <a:pt x="56" y="100"/>
                    <a:pt x="57" y="100"/>
                    <a:pt x="57" y="100"/>
                  </a:cubicBezTo>
                  <a:cubicBezTo>
                    <a:pt x="58" y="100"/>
                    <a:pt x="59" y="99"/>
                    <a:pt x="60" y="99"/>
                  </a:cubicBezTo>
                  <a:cubicBezTo>
                    <a:pt x="60" y="100"/>
                    <a:pt x="60" y="100"/>
                    <a:pt x="60" y="101"/>
                  </a:cubicBezTo>
                  <a:cubicBezTo>
                    <a:pt x="61" y="106"/>
                    <a:pt x="65" y="110"/>
                    <a:pt x="70" y="110"/>
                  </a:cubicBezTo>
                  <a:cubicBezTo>
                    <a:pt x="71" y="110"/>
                    <a:pt x="71" y="110"/>
                    <a:pt x="72" y="110"/>
                  </a:cubicBezTo>
                  <a:cubicBezTo>
                    <a:pt x="73" y="110"/>
                    <a:pt x="74" y="110"/>
                    <a:pt x="74" y="109"/>
                  </a:cubicBezTo>
                  <a:cubicBezTo>
                    <a:pt x="74" y="110"/>
                    <a:pt x="74" y="111"/>
                    <a:pt x="75" y="112"/>
                  </a:cubicBezTo>
                  <a:cubicBezTo>
                    <a:pt x="75" y="117"/>
                    <a:pt x="80" y="121"/>
                    <a:pt x="85" y="121"/>
                  </a:cubicBezTo>
                  <a:cubicBezTo>
                    <a:pt x="85" y="121"/>
                    <a:pt x="86" y="121"/>
                    <a:pt x="86" y="120"/>
                  </a:cubicBezTo>
                  <a:cubicBezTo>
                    <a:pt x="90" y="120"/>
                    <a:pt x="92" y="118"/>
                    <a:pt x="94" y="116"/>
                  </a:cubicBezTo>
                  <a:cubicBezTo>
                    <a:pt x="109" y="125"/>
                    <a:pt x="109" y="125"/>
                    <a:pt x="109" y="125"/>
                  </a:cubicBezTo>
                  <a:cubicBezTo>
                    <a:pt x="112" y="127"/>
                    <a:pt x="117" y="126"/>
                    <a:pt x="119" y="122"/>
                  </a:cubicBezTo>
                  <a:cubicBezTo>
                    <a:pt x="121" y="118"/>
                    <a:pt x="120" y="114"/>
                    <a:pt x="116" y="112"/>
                  </a:cubicBezTo>
                  <a:cubicBezTo>
                    <a:pt x="116" y="111"/>
                    <a:pt x="116" y="111"/>
                    <a:pt x="116" y="111"/>
                  </a:cubicBezTo>
                  <a:cubicBezTo>
                    <a:pt x="117" y="111"/>
                    <a:pt x="118" y="111"/>
                    <a:pt x="119" y="110"/>
                  </a:cubicBezTo>
                  <a:cubicBezTo>
                    <a:pt x="126" y="115"/>
                    <a:pt x="126" y="115"/>
                    <a:pt x="126" y="115"/>
                  </a:cubicBezTo>
                  <a:cubicBezTo>
                    <a:pt x="128" y="116"/>
                    <a:pt x="129" y="116"/>
                    <a:pt x="130" y="116"/>
                  </a:cubicBezTo>
                  <a:cubicBezTo>
                    <a:pt x="133" y="116"/>
                    <a:pt x="135" y="115"/>
                    <a:pt x="137" y="112"/>
                  </a:cubicBezTo>
                  <a:cubicBezTo>
                    <a:pt x="138" y="111"/>
                    <a:pt x="138" y="109"/>
                    <a:pt x="138" y="107"/>
                  </a:cubicBezTo>
                  <a:cubicBezTo>
                    <a:pt x="137" y="105"/>
                    <a:pt x="136" y="103"/>
                    <a:pt x="134" y="102"/>
                  </a:cubicBezTo>
                  <a:cubicBezTo>
                    <a:pt x="132" y="101"/>
                    <a:pt x="132" y="101"/>
                    <a:pt x="132" y="101"/>
                  </a:cubicBezTo>
                  <a:cubicBezTo>
                    <a:pt x="133" y="101"/>
                    <a:pt x="134" y="100"/>
                    <a:pt x="134" y="100"/>
                  </a:cubicBezTo>
                  <a:cubicBezTo>
                    <a:pt x="141" y="104"/>
                    <a:pt x="141" y="104"/>
                    <a:pt x="141" y="104"/>
                  </a:cubicBezTo>
                  <a:cubicBezTo>
                    <a:pt x="142" y="104"/>
                    <a:pt x="143" y="105"/>
                    <a:pt x="145" y="105"/>
                  </a:cubicBezTo>
                  <a:cubicBezTo>
                    <a:pt x="147" y="105"/>
                    <a:pt x="150" y="103"/>
                    <a:pt x="151" y="101"/>
                  </a:cubicBezTo>
                  <a:cubicBezTo>
                    <a:pt x="153" y="98"/>
                    <a:pt x="152" y="93"/>
                    <a:pt x="149" y="91"/>
                  </a:cubicBezTo>
                  <a:cubicBezTo>
                    <a:pt x="151" y="90"/>
                    <a:pt x="151" y="90"/>
                    <a:pt x="151" y="90"/>
                  </a:cubicBezTo>
                  <a:cubicBezTo>
                    <a:pt x="154" y="92"/>
                    <a:pt x="154" y="92"/>
                    <a:pt x="154" y="92"/>
                  </a:cubicBezTo>
                  <a:cubicBezTo>
                    <a:pt x="155" y="92"/>
                    <a:pt x="157" y="93"/>
                    <a:pt x="158" y="93"/>
                  </a:cubicBezTo>
                  <a:cubicBezTo>
                    <a:pt x="161" y="93"/>
                    <a:pt x="163" y="91"/>
                    <a:pt x="164" y="89"/>
                  </a:cubicBezTo>
                  <a:cubicBezTo>
                    <a:pt x="166" y="86"/>
                    <a:pt x="166" y="83"/>
                    <a:pt x="164" y="80"/>
                  </a:cubicBezTo>
                  <a:cubicBezTo>
                    <a:pt x="164" y="80"/>
                    <a:pt x="165" y="80"/>
                    <a:pt x="165" y="79"/>
                  </a:cubicBezTo>
                  <a:close/>
                  <a:moveTo>
                    <a:pt x="34" y="76"/>
                  </a:moveTo>
                  <a:cubicBezTo>
                    <a:pt x="9" y="65"/>
                    <a:pt x="9" y="65"/>
                    <a:pt x="9" y="65"/>
                  </a:cubicBezTo>
                  <a:cubicBezTo>
                    <a:pt x="34" y="9"/>
                    <a:pt x="34" y="9"/>
                    <a:pt x="34" y="9"/>
                  </a:cubicBezTo>
                  <a:cubicBezTo>
                    <a:pt x="59" y="20"/>
                    <a:pt x="59" y="20"/>
                    <a:pt x="59" y="20"/>
                  </a:cubicBezTo>
                  <a:lnTo>
                    <a:pt x="34" y="76"/>
                  </a:lnTo>
                  <a:close/>
                  <a:moveTo>
                    <a:pt x="175" y="9"/>
                  </a:moveTo>
                  <a:cubicBezTo>
                    <a:pt x="200" y="65"/>
                    <a:pt x="200" y="65"/>
                    <a:pt x="200" y="65"/>
                  </a:cubicBezTo>
                  <a:cubicBezTo>
                    <a:pt x="176" y="76"/>
                    <a:pt x="176" y="76"/>
                    <a:pt x="176" y="76"/>
                  </a:cubicBezTo>
                  <a:cubicBezTo>
                    <a:pt x="151" y="20"/>
                    <a:pt x="151" y="20"/>
                    <a:pt x="151" y="20"/>
                  </a:cubicBezTo>
                  <a:lnTo>
                    <a:pt x="175" y="9"/>
                  </a:lnTo>
                  <a:close/>
                  <a:moveTo>
                    <a:pt x="98" y="28"/>
                  </a:moveTo>
                  <a:cubicBezTo>
                    <a:pt x="99" y="27"/>
                    <a:pt x="99" y="27"/>
                    <a:pt x="100" y="27"/>
                  </a:cubicBezTo>
                  <a:cubicBezTo>
                    <a:pt x="101" y="26"/>
                    <a:pt x="102" y="26"/>
                    <a:pt x="103" y="26"/>
                  </a:cubicBezTo>
                  <a:cubicBezTo>
                    <a:pt x="103" y="26"/>
                    <a:pt x="104" y="26"/>
                    <a:pt x="105" y="25"/>
                  </a:cubicBezTo>
                  <a:cubicBezTo>
                    <a:pt x="106" y="25"/>
                    <a:pt x="107" y="25"/>
                    <a:pt x="108" y="25"/>
                  </a:cubicBezTo>
                  <a:cubicBezTo>
                    <a:pt x="108" y="25"/>
                    <a:pt x="109" y="25"/>
                    <a:pt x="110" y="25"/>
                  </a:cubicBezTo>
                  <a:cubicBezTo>
                    <a:pt x="111" y="24"/>
                    <a:pt x="113" y="24"/>
                    <a:pt x="114" y="24"/>
                  </a:cubicBezTo>
                  <a:cubicBezTo>
                    <a:pt x="114" y="24"/>
                    <a:pt x="114" y="24"/>
                    <a:pt x="115" y="24"/>
                  </a:cubicBezTo>
                  <a:cubicBezTo>
                    <a:pt x="115" y="24"/>
                    <a:pt x="115" y="24"/>
                    <a:pt x="115" y="24"/>
                  </a:cubicBezTo>
                  <a:cubicBezTo>
                    <a:pt x="121" y="24"/>
                    <a:pt x="126" y="25"/>
                    <a:pt x="130" y="26"/>
                  </a:cubicBezTo>
                  <a:cubicBezTo>
                    <a:pt x="130" y="26"/>
                    <a:pt x="130" y="26"/>
                    <a:pt x="130" y="26"/>
                  </a:cubicBezTo>
                  <a:cubicBezTo>
                    <a:pt x="133" y="26"/>
                    <a:pt x="135" y="27"/>
                    <a:pt x="136" y="27"/>
                  </a:cubicBezTo>
                  <a:cubicBezTo>
                    <a:pt x="147" y="30"/>
                    <a:pt x="147" y="30"/>
                    <a:pt x="147" y="30"/>
                  </a:cubicBezTo>
                  <a:cubicBezTo>
                    <a:pt x="148" y="29"/>
                    <a:pt x="148" y="29"/>
                    <a:pt x="148" y="29"/>
                  </a:cubicBezTo>
                  <a:cubicBezTo>
                    <a:pt x="165" y="68"/>
                    <a:pt x="165" y="68"/>
                    <a:pt x="165" y="68"/>
                  </a:cubicBezTo>
                  <a:cubicBezTo>
                    <a:pt x="164" y="70"/>
                    <a:pt x="162" y="72"/>
                    <a:pt x="161" y="74"/>
                  </a:cubicBezTo>
                  <a:cubicBezTo>
                    <a:pt x="160" y="75"/>
                    <a:pt x="160" y="75"/>
                    <a:pt x="160" y="75"/>
                  </a:cubicBezTo>
                  <a:cubicBezTo>
                    <a:pt x="160" y="75"/>
                    <a:pt x="159" y="76"/>
                    <a:pt x="158" y="76"/>
                  </a:cubicBezTo>
                  <a:cubicBezTo>
                    <a:pt x="114" y="49"/>
                    <a:pt x="114" y="49"/>
                    <a:pt x="114" y="49"/>
                  </a:cubicBezTo>
                  <a:cubicBezTo>
                    <a:pt x="113" y="49"/>
                    <a:pt x="112" y="48"/>
                    <a:pt x="111" y="48"/>
                  </a:cubicBezTo>
                  <a:cubicBezTo>
                    <a:pt x="110" y="47"/>
                    <a:pt x="109" y="47"/>
                    <a:pt x="108" y="47"/>
                  </a:cubicBezTo>
                  <a:cubicBezTo>
                    <a:pt x="108" y="47"/>
                    <a:pt x="108" y="47"/>
                    <a:pt x="108" y="47"/>
                  </a:cubicBezTo>
                  <a:cubicBezTo>
                    <a:pt x="108" y="47"/>
                    <a:pt x="108" y="47"/>
                    <a:pt x="107" y="47"/>
                  </a:cubicBezTo>
                  <a:cubicBezTo>
                    <a:pt x="107" y="47"/>
                    <a:pt x="107" y="47"/>
                    <a:pt x="106" y="47"/>
                  </a:cubicBezTo>
                  <a:cubicBezTo>
                    <a:pt x="106" y="46"/>
                    <a:pt x="105" y="46"/>
                    <a:pt x="104" y="46"/>
                  </a:cubicBezTo>
                  <a:cubicBezTo>
                    <a:pt x="104" y="46"/>
                    <a:pt x="103" y="46"/>
                    <a:pt x="103" y="46"/>
                  </a:cubicBezTo>
                  <a:cubicBezTo>
                    <a:pt x="102" y="46"/>
                    <a:pt x="102" y="46"/>
                    <a:pt x="101" y="46"/>
                  </a:cubicBezTo>
                  <a:cubicBezTo>
                    <a:pt x="101" y="46"/>
                    <a:pt x="100" y="46"/>
                    <a:pt x="100" y="46"/>
                  </a:cubicBezTo>
                  <a:cubicBezTo>
                    <a:pt x="98" y="46"/>
                    <a:pt x="97" y="47"/>
                    <a:pt x="95" y="47"/>
                  </a:cubicBezTo>
                  <a:cubicBezTo>
                    <a:pt x="95" y="47"/>
                    <a:pt x="95" y="47"/>
                    <a:pt x="95" y="47"/>
                  </a:cubicBezTo>
                  <a:cubicBezTo>
                    <a:pt x="94" y="48"/>
                    <a:pt x="94" y="48"/>
                    <a:pt x="93" y="48"/>
                  </a:cubicBezTo>
                  <a:cubicBezTo>
                    <a:pt x="93" y="48"/>
                    <a:pt x="93" y="48"/>
                    <a:pt x="93" y="48"/>
                  </a:cubicBezTo>
                  <a:cubicBezTo>
                    <a:pt x="92" y="48"/>
                    <a:pt x="92" y="49"/>
                    <a:pt x="91" y="49"/>
                  </a:cubicBezTo>
                  <a:cubicBezTo>
                    <a:pt x="90" y="49"/>
                    <a:pt x="90" y="50"/>
                    <a:pt x="89" y="50"/>
                  </a:cubicBezTo>
                  <a:cubicBezTo>
                    <a:pt x="82" y="53"/>
                    <a:pt x="76" y="53"/>
                    <a:pt x="72" y="52"/>
                  </a:cubicBezTo>
                  <a:cubicBezTo>
                    <a:pt x="71" y="52"/>
                    <a:pt x="71" y="51"/>
                    <a:pt x="70" y="51"/>
                  </a:cubicBezTo>
                  <a:cubicBezTo>
                    <a:pt x="70" y="51"/>
                    <a:pt x="70" y="50"/>
                    <a:pt x="70" y="50"/>
                  </a:cubicBezTo>
                  <a:cubicBezTo>
                    <a:pt x="70" y="50"/>
                    <a:pt x="69" y="50"/>
                    <a:pt x="69" y="50"/>
                  </a:cubicBezTo>
                  <a:cubicBezTo>
                    <a:pt x="69" y="49"/>
                    <a:pt x="69" y="49"/>
                    <a:pt x="69" y="49"/>
                  </a:cubicBezTo>
                  <a:cubicBezTo>
                    <a:pt x="68" y="48"/>
                    <a:pt x="66" y="40"/>
                    <a:pt x="70" y="40"/>
                  </a:cubicBezTo>
                  <a:cubicBezTo>
                    <a:pt x="72" y="39"/>
                    <a:pt x="84" y="36"/>
                    <a:pt x="94" y="30"/>
                  </a:cubicBezTo>
                  <a:cubicBezTo>
                    <a:pt x="95" y="29"/>
                    <a:pt x="96" y="28"/>
                    <a:pt x="98" y="28"/>
                  </a:cubicBezTo>
                  <a:close/>
                  <a:moveTo>
                    <a:pt x="57" y="95"/>
                  </a:moveTo>
                  <a:cubicBezTo>
                    <a:pt x="54" y="95"/>
                    <a:pt x="51" y="93"/>
                    <a:pt x="50" y="90"/>
                  </a:cubicBezTo>
                  <a:cubicBezTo>
                    <a:pt x="50" y="89"/>
                    <a:pt x="50" y="87"/>
                    <a:pt x="51" y="86"/>
                  </a:cubicBezTo>
                  <a:cubicBezTo>
                    <a:pt x="52" y="85"/>
                    <a:pt x="54" y="84"/>
                    <a:pt x="55" y="84"/>
                  </a:cubicBezTo>
                  <a:cubicBezTo>
                    <a:pt x="55" y="84"/>
                    <a:pt x="56" y="84"/>
                    <a:pt x="56" y="84"/>
                  </a:cubicBezTo>
                  <a:cubicBezTo>
                    <a:pt x="59" y="84"/>
                    <a:pt x="61" y="86"/>
                    <a:pt x="61" y="89"/>
                  </a:cubicBezTo>
                  <a:cubicBezTo>
                    <a:pt x="62" y="92"/>
                    <a:pt x="60" y="95"/>
                    <a:pt x="57" y="95"/>
                  </a:cubicBezTo>
                  <a:close/>
                  <a:moveTo>
                    <a:pt x="71" y="105"/>
                  </a:moveTo>
                  <a:cubicBezTo>
                    <a:pt x="68" y="106"/>
                    <a:pt x="65" y="104"/>
                    <a:pt x="65" y="100"/>
                  </a:cubicBezTo>
                  <a:cubicBezTo>
                    <a:pt x="65" y="99"/>
                    <a:pt x="65" y="98"/>
                    <a:pt x="66" y="96"/>
                  </a:cubicBezTo>
                  <a:cubicBezTo>
                    <a:pt x="67" y="95"/>
                    <a:pt x="68" y="94"/>
                    <a:pt x="70" y="94"/>
                  </a:cubicBezTo>
                  <a:cubicBezTo>
                    <a:pt x="70" y="94"/>
                    <a:pt x="70" y="94"/>
                    <a:pt x="70" y="94"/>
                  </a:cubicBezTo>
                  <a:cubicBezTo>
                    <a:pt x="73" y="94"/>
                    <a:pt x="76" y="96"/>
                    <a:pt x="76" y="99"/>
                  </a:cubicBezTo>
                  <a:cubicBezTo>
                    <a:pt x="76" y="102"/>
                    <a:pt x="74" y="105"/>
                    <a:pt x="71" y="105"/>
                  </a:cubicBezTo>
                  <a:close/>
                  <a:moveTo>
                    <a:pt x="86" y="116"/>
                  </a:moveTo>
                  <a:cubicBezTo>
                    <a:pt x="83" y="116"/>
                    <a:pt x="80" y="114"/>
                    <a:pt x="79" y="111"/>
                  </a:cubicBezTo>
                  <a:cubicBezTo>
                    <a:pt x="79" y="109"/>
                    <a:pt x="79" y="108"/>
                    <a:pt x="80" y="107"/>
                  </a:cubicBezTo>
                  <a:cubicBezTo>
                    <a:pt x="81" y="105"/>
                    <a:pt x="83" y="105"/>
                    <a:pt x="84" y="104"/>
                  </a:cubicBezTo>
                  <a:cubicBezTo>
                    <a:pt x="84" y="104"/>
                    <a:pt x="85" y="104"/>
                    <a:pt x="85" y="104"/>
                  </a:cubicBezTo>
                  <a:cubicBezTo>
                    <a:pt x="88" y="104"/>
                    <a:pt x="90" y="106"/>
                    <a:pt x="91" y="109"/>
                  </a:cubicBezTo>
                  <a:cubicBezTo>
                    <a:pt x="91" y="112"/>
                    <a:pt x="89" y="115"/>
                    <a:pt x="86" y="116"/>
                  </a:cubicBezTo>
                  <a:close/>
                </a:path>
              </a:pathLst>
            </a:custGeom>
            <a:solidFill>
              <a:schemeClr val="bg1"/>
            </a:solidFill>
            <a:ln>
              <a:noFill/>
            </a:ln>
          </p:spPr>
          <p:txBody>
            <a:bodyPr vert="horz" wrap="square" lIns="91440" tIns="45720" rIns="91440" bIns="45720" numCol="1" anchor="t" anchorCtr="0" compatLnSpc="1"/>
            <a:lstStyle/>
            <a:p>
              <a:endParaRPr lang="en-US" sz="1600">
                <a:latin typeface="思源黑体 CN Bold" panose="020B0800000000000000" pitchFamily="34" charset="-122"/>
                <a:ea typeface="思源黑体 CN Bold" panose="020B0800000000000000" pitchFamily="34" charset="-122"/>
                <a:cs typeface="+mn-ea"/>
                <a:sym typeface="+mn-lt"/>
              </a:endParaRPr>
            </a:p>
          </p:txBody>
        </p:sp>
      </p:grpSp>
      <p:grpSp>
        <p:nvGrpSpPr>
          <p:cNvPr id="38" name="组合 37"/>
          <p:cNvGrpSpPr/>
          <p:nvPr/>
        </p:nvGrpSpPr>
        <p:grpSpPr>
          <a:xfrm>
            <a:off x="1170258" y="1572867"/>
            <a:ext cx="1594834" cy="3458266"/>
            <a:chOff x="9606069" y="1919510"/>
            <a:chExt cx="1585754" cy="3438578"/>
          </a:xfrm>
        </p:grpSpPr>
        <p:sp>
          <p:nvSpPr>
            <p:cNvPr id="39" name="ïSľïḑé"/>
            <p:cNvSpPr/>
            <p:nvPr/>
          </p:nvSpPr>
          <p:spPr>
            <a:xfrm>
              <a:off x="9761862" y="2965550"/>
              <a:ext cx="862429" cy="2392538"/>
            </a:xfrm>
            <a:custGeom>
              <a:avLst/>
              <a:gdLst/>
              <a:ahLst/>
              <a:cxnLst/>
              <a:rect l="0" t="0" r="0" b="0"/>
              <a:pathLst>
                <a:path w="10000" h="10000" extrusionOk="0">
                  <a:moveTo>
                    <a:pt x="10000" y="0"/>
                  </a:moveTo>
                  <a:cubicBezTo>
                    <a:pt x="9997" y="3333"/>
                    <a:pt x="9994" y="6667"/>
                    <a:pt x="9991" y="10000"/>
                  </a:cubicBezTo>
                  <a:lnTo>
                    <a:pt x="0" y="10000"/>
                  </a:lnTo>
                  <a:lnTo>
                    <a:pt x="0" y="3721"/>
                  </a:lnTo>
                  <a:lnTo>
                    <a:pt x="10000" y="0"/>
                  </a:lnTo>
                  <a:close/>
                </a:path>
              </a:pathLst>
            </a:custGeom>
            <a:solidFill>
              <a:schemeClr val="bg1">
                <a:lumMod val="95000"/>
              </a:schemeClr>
            </a:solidFill>
            <a:ln>
              <a:noFill/>
            </a:ln>
          </p:spPr>
          <p:txBody>
            <a:bodyPr spcFirstLastPara="1" wrap="square" lIns="91440" tIns="45720" rIns="91440" bIns="45720" anchor="b" anchorCtr="0">
              <a:noAutofit/>
            </a:bodyPr>
            <a:lstStyle/>
            <a:p>
              <a:pPr marL="0" marR="0" lvl="0" indent="0" algn="ctr" rtl="0">
                <a:spcBef>
                  <a:spcPts val="0"/>
                </a:spcBef>
                <a:spcAft>
                  <a:spcPts val="0"/>
                </a:spcAft>
                <a:buNone/>
              </a:pPr>
              <a:endParaRPr sz="200" dirty="0">
                <a:latin typeface="思源黑体 CN Bold" panose="020B0800000000000000" pitchFamily="34" charset="-122"/>
                <a:ea typeface="思源黑体 CN Bold" panose="020B0800000000000000" pitchFamily="34" charset="-122"/>
                <a:cs typeface="+mn-ea"/>
                <a:sym typeface="+mn-lt"/>
              </a:endParaRPr>
            </a:p>
          </p:txBody>
        </p:sp>
        <p:sp>
          <p:nvSpPr>
            <p:cNvPr id="40" name="ïś1iḓè"/>
            <p:cNvSpPr/>
            <p:nvPr/>
          </p:nvSpPr>
          <p:spPr>
            <a:xfrm>
              <a:off x="9606069" y="3855796"/>
              <a:ext cx="155793" cy="361665"/>
            </a:xfrm>
            <a:custGeom>
              <a:avLst/>
              <a:gdLst/>
              <a:ahLst/>
              <a:cxnLst/>
              <a:rect l="0" t="0" r="0" b="0"/>
              <a:pathLst>
                <a:path w="28" h="65" extrusionOk="0">
                  <a:moveTo>
                    <a:pt x="28" y="65"/>
                  </a:moveTo>
                  <a:lnTo>
                    <a:pt x="0" y="31"/>
                  </a:lnTo>
                  <a:lnTo>
                    <a:pt x="28" y="0"/>
                  </a:lnTo>
                  <a:lnTo>
                    <a:pt x="28" y="65"/>
                  </a:lnTo>
                  <a:close/>
                </a:path>
              </a:pathLst>
            </a:custGeom>
            <a:solidFill>
              <a:schemeClr val="tx1">
                <a:lumMod val="75000"/>
                <a:lumOff val="25000"/>
              </a:schemeClr>
            </a:solidFill>
            <a:ln>
              <a:noFill/>
            </a:ln>
          </p:spPr>
          <p:txBody>
            <a:bodyPr spcFirstLastPara="1" wrap="square" lIns="91440" tIns="45720" rIns="91440" bIns="45720" anchor="t" anchorCtr="0">
              <a:noAutofit/>
            </a:bodyPr>
            <a:lstStyle/>
            <a:p>
              <a:endParaRPr sz="300" dirty="0">
                <a:solidFill>
                  <a:schemeClr val="dk1"/>
                </a:solidFill>
                <a:latin typeface="思源黑体 CN Bold" panose="020B0800000000000000" pitchFamily="34" charset="-122"/>
                <a:ea typeface="思源黑体 CN Bold" panose="020B0800000000000000" pitchFamily="34" charset="-122"/>
                <a:cs typeface="+mn-ea"/>
                <a:sym typeface="+mn-lt"/>
              </a:endParaRPr>
            </a:p>
          </p:txBody>
        </p:sp>
        <p:sp>
          <p:nvSpPr>
            <p:cNvPr id="41" name="ïŝľíḍê"/>
            <p:cNvSpPr/>
            <p:nvPr/>
          </p:nvSpPr>
          <p:spPr>
            <a:xfrm>
              <a:off x="9606069" y="1919510"/>
              <a:ext cx="1585754" cy="2108773"/>
            </a:xfrm>
            <a:custGeom>
              <a:avLst/>
              <a:gdLst/>
              <a:ahLst/>
              <a:cxnLst/>
              <a:rect l="0" t="0" r="0" b="0"/>
              <a:pathLst>
                <a:path w="285" h="379" extrusionOk="0">
                  <a:moveTo>
                    <a:pt x="0" y="379"/>
                  </a:moveTo>
                  <a:lnTo>
                    <a:pt x="0" y="174"/>
                  </a:lnTo>
                  <a:lnTo>
                    <a:pt x="140" y="40"/>
                  </a:lnTo>
                  <a:lnTo>
                    <a:pt x="95" y="0"/>
                  </a:lnTo>
                  <a:lnTo>
                    <a:pt x="285" y="0"/>
                  </a:lnTo>
                  <a:lnTo>
                    <a:pt x="285" y="181"/>
                  </a:lnTo>
                  <a:lnTo>
                    <a:pt x="235" y="133"/>
                  </a:lnTo>
                  <a:lnTo>
                    <a:pt x="0" y="379"/>
                  </a:lnTo>
                  <a:close/>
                </a:path>
              </a:pathLst>
            </a:custGeom>
            <a:solidFill>
              <a:srgbClr val="13245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42" name="îṡliḓe"/>
            <p:cNvSpPr/>
            <p:nvPr/>
          </p:nvSpPr>
          <p:spPr>
            <a:xfrm>
              <a:off x="9929221" y="4896423"/>
              <a:ext cx="527710" cy="461665"/>
            </a:xfrm>
            <a:prstGeom prst="rect">
              <a:avLst/>
            </a:prstGeom>
          </p:spPr>
          <p:txBody>
            <a:bodyPr wrap="square" lIns="91440" tIns="45720" rIns="91440" bIns="45720">
              <a:noAutofit/>
            </a:bodyPr>
            <a:lstStyle/>
            <a:p>
              <a:pPr lvl="0" algn="ctr" defTabSz="913765">
                <a:defRPr/>
              </a:pPr>
              <a:r>
                <a:rPr lang="en-US" altLang="zh-CN" b="1"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01</a:t>
              </a:r>
              <a:endParaRPr lang="en-US" altLang="zh-CN" b="1"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endParaRPr>
            </a:p>
          </p:txBody>
        </p:sp>
        <p:grpSp>
          <p:nvGrpSpPr>
            <p:cNvPr id="43" name="组合 42"/>
            <p:cNvGrpSpPr/>
            <p:nvPr/>
          </p:nvGrpSpPr>
          <p:grpSpPr>
            <a:xfrm>
              <a:off x="9993583" y="2612586"/>
              <a:ext cx="395018" cy="397427"/>
              <a:chOff x="9537078" y="1872637"/>
              <a:chExt cx="452961" cy="455723"/>
            </a:xfrm>
            <a:solidFill>
              <a:schemeClr val="bg1"/>
            </a:solidFill>
          </p:grpSpPr>
          <p:sp>
            <p:nvSpPr>
              <p:cNvPr id="44" name="Freeform 125"/>
              <p:cNvSpPr>
                <a:spLocks noEditPoints="1"/>
              </p:cNvSpPr>
              <p:nvPr/>
            </p:nvSpPr>
            <p:spPr bwMode="auto">
              <a:xfrm>
                <a:off x="9537078" y="2064593"/>
                <a:ext cx="452961" cy="263767"/>
              </a:xfrm>
              <a:custGeom>
                <a:avLst/>
                <a:gdLst>
                  <a:gd name="T0" fmla="*/ 88 w 165"/>
                  <a:gd name="T1" fmla="*/ 64 h 96"/>
                  <a:gd name="T2" fmla="*/ 165 w 165"/>
                  <a:gd name="T3" fmla="*/ 0 h 96"/>
                  <a:gd name="T4" fmla="*/ 165 w 165"/>
                  <a:gd name="T5" fmla="*/ 89 h 96"/>
                  <a:gd name="T6" fmla="*/ 157 w 165"/>
                  <a:gd name="T7" fmla="*/ 96 h 96"/>
                  <a:gd name="T8" fmla="*/ 7 w 165"/>
                  <a:gd name="T9" fmla="*/ 96 h 96"/>
                  <a:gd name="T10" fmla="*/ 0 w 165"/>
                  <a:gd name="T11" fmla="*/ 89 h 96"/>
                  <a:gd name="T12" fmla="*/ 0 w 165"/>
                  <a:gd name="T13" fmla="*/ 0 h 96"/>
                  <a:gd name="T14" fmla="*/ 77 w 165"/>
                  <a:gd name="T15" fmla="*/ 64 h 96"/>
                  <a:gd name="T16" fmla="*/ 88 w 165"/>
                  <a:gd name="T17" fmla="*/ 64 h 96"/>
                  <a:gd name="T18" fmla="*/ 118 w 165"/>
                  <a:gd name="T19" fmla="*/ 55 h 96"/>
                  <a:gd name="T20" fmla="*/ 154 w 165"/>
                  <a:gd name="T21" fmla="*/ 89 h 96"/>
                  <a:gd name="T22" fmla="*/ 156 w 165"/>
                  <a:gd name="T23" fmla="*/ 90 h 96"/>
                  <a:gd name="T24" fmla="*/ 158 w 165"/>
                  <a:gd name="T25" fmla="*/ 89 h 96"/>
                  <a:gd name="T26" fmla="*/ 158 w 165"/>
                  <a:gd name="T27" fmla="*/ 85 h 96"/>
                  <a:gd name="T28" fmla="*/ 121 w 165"/>
                  <a:gd name="T29" fmla="*/ 51 h 96"/>
                  <a:gd name="T30" fmla="*/ 118 w 165"/>
                  <a:gd name="T31" fmla="*/ 51 h 96"/>
                  <a:gd name="T32" fmla="*/ 118 w 165"/>
                  <a:gd name="T33" fmla="*/ 55 h 96"/>
                  <a:gd name="T34" fmla="*/ 47 w 165"/>
                  <a:gd name="T35" fmla="*/ 51 h 96"/>
                  <a:gd name="T36" fmla="*/ 43 w 165"/>
                  <a:gd name="T37" fmla="*/ 51 h 96"/>
                  <a:gd name="T38" fmla="*/ 7 w 165"/>
                  <a:gd name="T39" fmla="*/ 85 h 96"/>
                  <a:gd name="T40" fmla="*/ 7 w 165"/>
                  <a:gd name="T41" fmla="*/ 89 h 96"/>
                  <a:gd name="T42" fmla="*/ 9 w 165"/>
                  <a:gd name="T43" fmla="*/ 90 h 96"/>
                  <a:gd name="T44" fmla="*/ 11 w 165"/>
                  <a:gd name="T45" fmla="*/ 89 h 96"/>
                  <a:gd name="T46" fmla="*/ 47 w 165"/>
                  <a:gd name="T47" fmla="*/ 55 h 96"/>
                  <a:gd name="T48" fmla="*/ 47 w 165"/>
                  <a:gd name="T49" fmla="*/ 5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5" h="96">
                    <a:moveTo>
                      <a:pt x="88" y="64"/>
                    </a:moveTo>
                    <a:cubicBezTo>
                      <a:pt x="165" y="0"/>
                      <a:pt x="165" y="0"/>
                      <a:pt x="165" y="0"/>
                    </a:cubicBezTo>
                    <a:cubicBezTo>
                      <a:pt x="165" y="89"/>
                      <a:pt x="165" y="89"/>
                      <a:pt x="165" y="89"/>
                    </a:cubicBezTo>
                    <a:cubicBezTo>
                      <a:pt x="165" y="93"/>
                      <a:pt x="162" y="96"/>
                      <a:pt x="157" y="96"/>
                    </a:cubicBezTo>
                    <a:cubicBezTo>
                      <a:pt x="7" y="96"/>
                      <a:pt x="7" y="96"/>
                      <a:pt x="7" y="96"/>
                    </a:cubicBezTo>
                    <a:cubicBezTo>
                      <a:pt x="3" y="96"/>
                      <a:pt x="0" y="93"/>
                      <a:pt x="0" y="89"/>
                    </a:cubicBezTo>
                    <a:cubicBezTo>
                      <a:pt x="0" y="0"/>
                      <a:pt x="0" y="0"/>
                      <a:pt x="0" y="0"/>
                    </a:cubicBezTo>
                    <a:cubicBezTo>
                      <a:pt x="77" y="64"/>
                      <a:pt x="77" y="64"/>
                      <a:pt x="77" y="64"/>
                    </a:cubicBezTo>
                    <a:cubicBezTo>
                      <a:pt x="80" y="66"/>
                      <a:pt x="85" y="66"/>
                      <a:pt x="88" y="64"/>
                    </a:cubicBezTo>
                    <a:close/>
                    <a:moveTo>
                      <a:pt x="118" y="55"/>
                    </a:moveTo>
                    <a:cubicBezTo>
                      <a:pt x="154" y="89"/>
                      <a:pt x="154" y="89"/>
                      <a:pt x="154" y="89"/>
                    </a:cubicBezTo>
                    <a:cubicBezTo>
                      <a:pt x="155" y="90"/>
                      <a:pt x="155" y="90"/>
                      <a:pt x="156" y="90"/>
                    </a:cubicBezTo>
                    <a:cubicBezTo>
                      <a:pt x="157" y="90"/>
                      <a:pt x="157" y="90"/>
                      <a:pt x="158" y="89"/>
                    </a:cubicBezTo>
                    <a:cubicBezTo>
                      <a:pt x="159" y="88"/>
                      <a:pt x="159" y="86"/>
                      <a:pt x="158" y="85"/>
                    </a:cubicBezTo>
                    <a:cubicBezTo>
                      <a:pt x="121" y="51"/>
                      <a:pt x="121" y="51"/>
                      <a:pt x="121" y="51"/>
                    </a:cubicBezTo>
                    <a:cubicBezTo>
                      <a:pt x="120" y="50"/>
                      <a:pt x="119" y="50"/>
                      <a:pt x="118" y="51"/>
                    </a:cubicBezTo>
                    <a:cubicBezTo>
                      <a:pt x="117" y="52"/>
                      <a:pt x="117" y="54"/>
                      <a:pt x="118" y="55"/>
                    </a:cubicBezTo>
                    <a:close/>
                    <a:moveTo>
                      <a:pt x="47" y="51"/>
                    </a:moveTo>
                    <a:cubicBezTo>
                      <a:pt x="46" y="50"/>
                      <a:pt x="44" y="50"/>
                      <a:pt x="43" y="51"/>
                    </a:cubicBezTo>
                    <a:cubicBezTo>
                      <a:pt x="7" y="85"/>
                      <a:pt x="7" y="85"/>
                      <a:pt x="7" y="85"/>
                    </a:cubicBezTo>
                    <a:cubicBezTo>
                      <a:pt x="6" y="86"/>
                      <a:pt x="6" y="88"/>
                      <a:pt x="7" y="89"/>
                    </a:cubicBezTo>
                    <a:cubicBezTo>
                      <a:pt x="7" y="90"/>
                      <a:pt x="8" y="90"/>
                      <a:pt x="9" y="90"/>
                    </a:cubicBezTo>
                    <a:cubicBezTo>
                      <a:pt x="9" y="90"/>
                      <a:pt x="10" y="90"/>
                      <a:pt x="11" y="89"/>
                    </a:cubicBezTo>
                    <a:cubicBezTo>
                      <a:pt x="47" y="55"/>
                      <a:pt x="47" y="55"/>
                      <a:pt x="47" y="55"/>
                    </a:cubicBezTo>
                    <a:cubicBezTo>
                      <a:pt x="48" y="54"/>
                      <a:pt x="48" y="52"/>
                      <a:pt x="47" y="51"/>
                    </a:cubicBezTo>
                    <a:close/>
                  </a:path>
                </a:pathLst>
              </a:custGeom>
              <a:grpFill/>
              <a:ln>
                <a:noFill/>
              </a:ln>
            </p:spPr>
            <p:txBody>
              <a:bodyPr vert="horz" wrap="square" lIns="91440" tIns="45720" rIns="91440" bIns="45720" numCol="1" anchor="t" anchorCtr="0" compatLnSpc="1"/>
              <a:lstStyle/>
              <a:p>
                <a:endParaRPr lang="en-US" sz="1600">
                  <a:latin typeface="思源黑体 CN Bold" panose="020B0800000000000000" pitchFamily="34" charset="-122"/>
                  <a:ea typeface="思源黑体 CN Bold" panose="020B0800000000000000" pitchFamily="34" charset="-122"/>
                  <a:cs typeface="+mn-ea"/>
                  <a:sym typeface="+mn-lt"/>
                </a:endParaRPr>
              </a:p>
            </p:txBody>
          </p:sp>
          <p:sp>
            <p:nvSpPr>
              <p:cNvPr id="45" name="Freeform 126"/>
              <p:cNvSpPr/>
              <p:nvPr/>
            </p:nvSpPr>
            <p:spPr bwMode="auto">
              <a:xfrm>
                <a:off x="9648937" y="2061831"/>
                <a:ext cx="255481" cy="66287"/>
              </a:xfrm>
              <a:custGeom>
                <a:avLst/>
                <a:gdLst>
                  <a:gd name="T0" fmla="*/ 6 w 93"/>
                  <a:gd name="T1" fmla="*/ 0 h 24"/>
                  <a:gd name="T2" fmla="*/ 89 w 93"/>
                  <a:gd name="T3" fmla="*/ 15 h 24"/>
                  <a:gd name="T4" fmla="*/ 93 w 93"/>
                  <a:gd name="T5" fmla="*/ 20 h 24"/>
                  <a:gd name="T6" fmla="*/ 88 w 93"/>
                  <a:gd name="T7" fmla="*/ 24 h 24"/>
                  <a:gd name="T8" fmla="*/ 88 w 93"/>
                  <a:gd name="T9" fmla="*/ 23 h 24"/>
                  <a:gd name="T10" fmla="*/ 4 w 93"/>
                  <a:gd name="T11" fmla="*/ 9 h 24"/>
                  <a:gd name="T12" fmla="*/ 1 w 93"/>
                  <a:gd name="T13" fmla="*/ 4 h 24"/>
                  <a:gd name="T14" fmla="*/ 6 w 93"/>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24">
                    <a:moveTo>
                      <a:pt x="6" y="0"/>
                    </a:moveTo>
                    <a:cubicBezTo>
                      <a:pt x="89" y="15"/>
                      <a:pt x="89" y="15"/>
                      <a:pt x="89" y="15"/>
                    </a:cubicBezTo>
                    <a:cubicBezTo>
                      <a:pt x="91" y="15"/>
                      <a:pt x="93" y="17"/>
                      <a:pt x="93" y="20"/>
                    </a:cubicBezTo>
                    <a:cubicBezTo>
                      <a:pt x="92" y="22"/>
                      <a:pt x="90" y="24"/>
                      <a:pt x="88" y="24"/>
                    </a:cubicBezTo>
                    <a:cubicBezTo>
                      <a:pt x="88" y="24"/>
                      <a:pt x="88" y="23"/>
                      <a:pt x="88" y="23"/>
                    </a:cubicBezTo>
                    <a:cubicBezTo>
                      <a:pt x="4" y="9"/>
                      <a:pt x="4" y="9"/>
                      <a:pt x="4" y="9"/>
                    </a:cubicBezTo>
                    <a:cubicBezTo>
                      <a:pt x="2" y="9"/>
                      <a:pt x="0" y="6"/>
                      <a:pt x="1" y="4"/>
                    </a:cubicBezTo>
                    <a:cubicBezTo>
                      <a:pt x="1" y="2"/>
                      <a:pt x="3" y="0"/>
                      <a:pt x="6" y="0"/>
                    </a:cubicBezTo>
                    <a:close/>
                  </a:path>
                </a:pathLst>
              </a:custGeom>
              <a:grpFill/>
              <a:ln>
                <a:noFill/>
              </a:ln>
            </p:spPr>
            <p:txBody>
              <a:bodyPr vert="horz" wrap="square" lIns="91440" tIns="45720" rIns="91440" bIns="45720" numCol="1" anchor="t" anchorCtr="0" compatLnSpc="1"/>
              <a:lstStyle/>
              <a:p>
                <a:endParaRPr lang="en-US" sz="1600">
                  <a:latin typeface="思源黑体 CN Bold" panose="020B0800000000000000" pitchFamily="34" charset="-122"/>
                  <a:ea typeface="思源黑体 CN Bold" panose="020B0800000000000000" pitchFamily="34" charset="-122"/>
                  <a:cs typeface="+mn-ea"/>
                  <a:sym typeface="+mn-lt"/>
                </a:endParaRPr>
              </a:p>
            </p:txBody>
          </p:sp>
          <p:sp>
            <p:nvSpPr>
              <p:cNvPr id="46" name="Freeform 127"/>
              <p:cNvSpPr/>
              <p:nvPr/>
            </p:nvSpPr>
            <p:spPr bwMode="auto">
              <a:xfrm>
                <a:off x="9642032" y="2111546"/>
                <a:ext cx="201623" cy="53858"/>
              </a:xfrm>
              <a:custGeom>
                <a:avLst/>
                <a:gdLst>
                  <a:gd name="T0" fmla="*/ 0 w 74"/>
                  <a:gd name="T1" fmla="*/ 4 h 20"/>
                  <a:gd name="T2" fmla="*/ 6 w 74"/>
                  <a:gd name="T3" fmla="*/ 0 h 20"/>
                  <a:gd name="T4" fmla="*/ 70 w 74"/>
                  <a:gd name="T5" fmla="*/ 11 h 20"/>
                  <a:gd name="T6" fmla="*/ 74 w 74"/>
                  <a:gd name="T7" fmla="*/ 16 h 20"/>
                  <a:gd name="T8" fmla="*/ 69 w 74"/>
                  <a:gd name="T9" fmla="*/ 20 h 20"/>
                  <a:gd name="T10" fmla="*/ 69 w 74"/>
                  <a:gd name="T11" fmla="*/ 20 h 20"/>
                  <a:gd name="T12" fmla="*/ 4 w 74"/>
                  <a:gd name="T13" fmla="*/ 9 h 20"/>
                  <a:gd name="T14" fmla="*/ 0 w 74"/>
                  <a:gd name="T15" fmla="*/ 4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4" h="20">
                    <a:moveTo>
                      <a:pt x="0" y="4"/>
                    </a:moveTo>
                    <a:cubicBezTo>
                      <a:pt x="1" y="1"/>
                      <a:pt x="3" y="0"/>
                      <a:pt x="6" y="0"/>
                    </a:cubicBezTo>
                    <a:cubicBezTo>
                      <a:pt x="70" y="11"/>
                      <a:pt x="70" y="11"/>
                      <a:pt x="70" y="11"/>
                    </a:cubicBezTo>
                    <a:cubicBezTo>
                      <a:pt x="72" y="12"/>
                      <a:pt x="74" y="14"/>
                      <a:pt x="74" y="16"/>
                    </a:cubicBezTo>
                    <a:cubicBezTo>
                      <a:pt x="73" y="18"/>
                      <a:pt x="71" y="20"/>
                      <a:pt x="69" y="20"/>
                    </a:cubicBezTo>
                    <a:cubicBezTo>
                      <a:pt x="69" y="20"/>
                      <a:pt x="69" y="20"/>
                      <a:pt x="69" y="20"/>
                    </a:cubicBezTo>
                    <a:cubicBezTo>
                      <a:pt x="4" y="9"/>
                      <a:pt x="4" y="9"/>
                      <a:pt x="4" y="9"/>
                    </a:cubicBezTo>
                    <a:cubicBezTo>
                      <a:pt x="2" y="8"/>
                      <a:pt x="0" y="6"/>
                      <a:pt x="0" y="4"/>
                    </a:cubicBezTo>
                    <a:close/>
                  </a:path>
                </a:pathLst>
              </a:custGeom>
              <a:grpFill/>
              <a:ln>
                <a:noFill/>
              </a:ln>
            </p:spPr>
            <p:txBody>
              <a:bodyPr vert="horz" wrap="square" lIns="91440" tIns="45720" rIns="91440" bIns="45720" numCol="1" anchor="t" anchorCtr="0" compatLnSpc="1"/>
              <a:lstStyle/>
              <a:p>
                <a:endParaRPr lang="en-US" sz="1600">
                  <a:latin typeface="思源黑体 CN Bold" panose="020B0800000000000000" pitchFamily="34" charset="-122"/>
                  <a:ea typeface="思源黑体 CN Bold" panose="020B0800000000000000" pitchFamily="34" charset="-122"/>
                  <a:cs typeface="+mn-ea"/>
                  <a:sym typeface="+mn-lt"/>
                </a:endParaRPr>
              </a:p>
            </p:txBody>
          </p:sp>
          <p:sp>
            <p:nvSpPr>
              <p:cNvPr id="47" name="Freeform 128"/>
              <p:cNvSpPr/>
              <p:nvPr/>
            </p:nvSpPr>
            <p:spPr bwMode="auto">
              <a:xfrm>
                <a:off x="9704176" y="2170929"/>
                <a:ext cx="93906" cy="35905"/>
              </a:xfrm>
              <a:custGeom>
                <a:avLst/>
                <a:gdLst>
                  <a:gd name="T0" fmla="*/ 30 w 34"/>
                  <a:gd name="T1" fmla="*/ 4 h 13"/>
                  <a:gd name="T2" fmla="*/ 34 w 34"/>
                  <a:gd name="T3" fmla="*/ 9 h 13"/>
                  <a:gd name="T4" fmla="*/ 30 w 34"/>
                  <a:gd name="T5" fmla="*/ 13 h 13"/>
                  <a:gd name="T6" fmla="*/ 29 w 34"/>
                  <a:gd name="T7" fmla="*/ 13 h 13"/>
                  <a:gd name="T8" fmla="*/ 4 w 34"/>
                  <a:gd name="T9" fmla="*/ 9 h 13"/>
                  <a:gd name="T10" fmla="*/ 1 w 34"/>
                  <a:gd name="T11" fmla="*/ 4 h 13"/>
                  <a:gd name="T12" fmla="*/ 6 w 34"/>
                  <a:gd name="T13" fmla="*/ 0 h 13"/>
                  <a:gd name="T14" fmla="*/ 30 w 34"/>
                  <a:gd name="T15" fmla="*/ 4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13">
                    <a:moveTo>
                      <a:pt x="30" y="4"/>
                    </a:moveTo>
                    <a:cubicBezTo>
                      <a:pt x="33" y="4"/>
                      <a:pt x="34" y="7"/>
                      <a:pt x="34" y="9"/>
                    </a:cubicBezTo>
                    <a:cubicBezTo>
                      <a:pt x="34" y="11"/>
                      <a:pt x="32" y="13"/>
                      <a:pt x="30" y="13"/>
                    </a:cubicBezTo>
                    <a:cubicBezTo>
                      <a:pt x="30" y="13"/>
                      <a:pt x="29" y="13"/>
                      <a:pt x="29" y="13"/>
                    </a:cubicBezTo>
                    <a:cubicBezTo>
                      <a:pt x="4" y="9"/>
                      <a:pt x="4" y="9"/>
                      <a:pt x="4" y="9"/>
                    </a:cubicBezTo>
                    <a:cubicBezTo>
                      <a:pt x="2" y="8"/>
                      <a:pt x="0" y="6"/>
                      <a:pt x="1" y="4"/>
                    </a:cubicBezTo>
                    <a:cubicBezTo>
                      <a:pt x="1" y="1"/>
                      <a:pt x="3" y="0"/>
                      <a:pt x="6" y="0"/>
                    </a:cubicBezTo>
                    <a:lnTo>
                      <a:pt x="30" y="4"/>
                    </a:lnTo>
                    <a:close/>
                  </a:path>
                </a:pathLst>
              </a:custGeom>
              <a:grpFill/>
              <a:ln>
                <a:noFill/>
              </a:ln>
            </p:spPr>
            <p:txBody>
              <a:bodyPr vert="horz" wrap="square" lIns="91440" tIns="45720" rIns="91440" bIns="45720" numCol="1" anchor="t" anchorCtr="0" compatLnSpc="1"/>
              <a:lstStyle/>
              <a:p>
                <a:endParaRPr lang="en-US" sz="1600">
                  <a:latin typeface="思源黑体 CN Bold" panose="020B0800000000000000" pitchFamily="34" charset="-122"/>
                  <a:ea typeface="思源黑体 CN Bold" panose="020B0800000000000000" pitchFamily="34" charset="-122"/>
                  <a:cs typeface="+mn-ea"/>
                  <a:sym typeface="+mn-lt"/>
                </a:endParaRPr>
              </a:p>
            </p:txBody>
          </p:sp>
          <p:sp>
            <p:nvSpPr>
              <p:cNvPr id="48" name="Freeform 129"/>
              <p:cNvSpPr/>
              <p:nvPr/>
            </p:nvSpPr>
            <p:spPr bwMode="auto">
              <a:xfrm>
                <a:off x="9542602" y="1872637"/>
                <a:ext cx="441913" cy="180908"/>
              </a:xfrm>
              <a:custGeom>
                <a:avLst/>
                <a:gdLst>
                  <a:gd name="T0" fmla="*/ 86 w 161"/>
                  <a:gd name="T1" fmla="*/ 3 h 66"/>
                  <a:gd name="T2" fmla="*/ 75 w 161"/>
                  <a:gd name="T3" fmla="*/ 3 h 66"/>
                  <a:gd name="T4" fmla="*/ 0 w 161"/>
                  <a:gd name="T5" fmla="*/ 64 h 66"/>
                  <a:gd name="T6" fmla="*/ 5 w 161"/>
                  <a:gd name="T7" fmla="*/ 66 h 66"/>
                  <a:gd name="T8" fmla="*/ 21 w 161"/>
                  <a:gd name="T9" fmla="*/ 66 h 66"/>
                  <a:gd name="T10" fmla="*/ 25 w 161"/>
                  <a:gd name="T11" fmla="*/ 47 h 66"/>
                  <a:gd name="T12" fmla="*/ 149 w 161"/>
                  <a:gd name="T13" fmla="*/ 66 h 66"/>
                  <a:gd name="T14" fmla="*/ 155 w 161"/>
                  <a:gd name="T15" fmla="*/ 66 h 66"/>
                  <a:gd name="T16" fmla="*/ 161 w 161"/>
                  <a:gd name="T17" fmla="*/ 64 h 66"/>
                  <a:gd name="T18" fmla="*/ 86 w 161"/>
                  <a:gd name="T19"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66">
                    <a:moveTo>
                      <a:pt x="86" y="3"/>
                    </a:moveTo>
                    <a:cubicBezTo>
                      <a:pt x="83" y="0"/>
                      <a:pt x="78" y="0"/>
                      <a:pt x="75" y="3"/>
                    </a:cubicBezTo>
                    <a:cubicBezTo>
                      <a:pt x="0" y="64"/>
                      <a:pt x="0" y="64"/>
                      <a:pt x="0" y="64"/>
                    </a:cubicBezTo>
                    <a:cubicBezTo>
                      <a:pt x="1" y="66"/>
                      <a:pt x="3" y="66"/>
                      <a:pt x="5" y="66"/>
                    </a:cubicBezTo>
                    <a:cubicBezTo>
                      <a:pt x="21" y="66"/>
                      <a:pt x="21" y="66"/>
                      <a:pt x="21" y="66"/>
                    </a:cubicBezTo>
                    <a:cubicBezTo>
                      <a:pt x="25" y="47"/>
                      <a:pt x="25" y="47"/>
                      <a:pt x="25" y="47"/>
                    </a:cubicBezTo>
                    <a:cubicBezTo>
                      <a:pt x="149" y="66"/>
                      <a:pt x="149" y="66"/>
                      <a:pt x="149" y="66"/>
                    </a:cubicBezTo>
                    <a:cubicBezTo>
                      <a:pt x="155" y="66"/>
                      <a:pt x="155" y="66"/>
                      <a:pt x="155" y="66"/>
                    </a:cubicBezTo>
                    <a:cubicBezTo>
                      <a:pt x="157" y="66"/>
                      <a:pt x="159" y="66"/>
                      <a:pt x="161" y="64"/>
                    </a:cubicBezTo>
                    <a:lnTo>
                      <a:pt x="86" y="3"/>
                    </a:lnTo>
                    <a:close/>
                  </a:path>
                </a:pathLst>
              </a:custGeom>
              <a:grpFill/>
              <a:ln>
                <a:noFill/>
              </a:ln>
            </p:spPr>
            <p:txBody>
              <a:bodyPr vert="horz" wrap="square" lIns="91440" tIns="45720" rIns="91440" bIns="45720" numCol="1" anchor="t" anchorCtr="0" compatLnSpc="1"/>
              <a:lstStyle/>
              <a:p>
                <a:endParaRPr lang="en-US" sz="1600">
                  <a:latin typeface="思源黑体 CN Bold" panose="020B0800000000000000" pitchFamily="34" charset="-122"/>
                  <a:ea typeface="思源黑体 CN Bold" panose="020B0800000000000000" pitchFamily="34" charset="-122"/>
                  <a:cs typeface="+mn-ea"/>
                  <a:sym typeface="+mn-lt"/>
                </a:endParaRPr>
              </a:p>
            </p:txBody>
          </p:sp>
        </p:grpSp>
      </p:grpSp>
      <p:sp>
        <p:nvSpPr>
          <p:cNvPr id="50" name="矩形 3"/>
          <p:cNvSpPr>
            <a:spLocks noChangeArrowheads="1"/>
          </p:cNvSpPr>
          <p:nvPr/>
        </p:nvSpPr>
        <p:spPr bwMode="auto">
          <a:xfrm>
            <a:off x="2620385" y="3442761"/>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51" name="文本框 50"/>
          <p:cNvSpPr txBox="1"/>
          <p:nvPr/>
        </p:nvSpPr>
        <p:spPr>
          <a:xfrm>
            <a:off x="2620385" y="3995401"/>
            <a:ext cx="1508212" cy="1442767"/>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52" name="矩形 3"/>
          <p:cNvSpPr>
            <a:spLocks noChangeArrowheads="1"/>
          </p:cNvSpPr>
          <p:nvPr/>
        </p:nvSpPr>
        <p:spPr bwMode="auto">
          <a:xfrm>
            <a:off x="6303385" y="3442761"/>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53" name="文本框 52"/>
          <p:cNvSpPr txBox="1"/>
          <p:nvPr/>
        </p:nvSpPr>
        <p:spPr>
          <a:xfrm>
            <a:off x="6303385" y="3995401"/>
            <a:ext cx="1508212" cy="1442767"/>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54" name="矩形 3"/>
          <p:cNvSpPr>
            <a:spLocks noChangeArrowheads="1"/>
          </p:cNvSpPr>
          <p:nvPr/>
        </p:nvSpPr>
        <p:spPr bwMode="auto">
          <a:xfrm>
            <a:off x="9783185" y="3442761"/>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55" name="文本框 54"/>
          <p:cNvSpPr txBox="1"/>
          <p:nvPr/>
        </p:nvSpPr>
        <p:spPr>
          <a:xfrm>
            <a:off x="9783185" y="3995401"/>
            <a:ext cx="1508212" cy="1442767"/>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down)">
                                      <p:cBhvr>
                                        <p:cTn id="16" dur="500"/>
                                        <p:tgtEl>
                                          <p:spTgt spid="18"/>
                                        </p:tgtEl>
                                      </p:cBhvr>
                                    </p:animEffect>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wipe(down)">
                                      <p:cBhvr>
                                        <p:cTn id="20" dur="500"/>
                                        <p:tgtEl>
                                          <p:spTgt spid="32"/>
                                        </p:tgtEl>
                                      </p:cBhvr>
                                    </p:animEffect>
                                  </p:childTnLst>
                                </p:cTn>
                              </p:par>
                            </p:childTnLst>
                          </p:cTn>
                        </p:par>
                        <p:par>
                          <p:cTn id="21" fill="hold">
                            <p:stCondLst>
                              <p:cond delay="1500"/>
                            </p:stCondLst>
                            <p:childTnLst>
                              <p:par>
                                <p:cTn id="22" presetID="22" presetClass="entr" presetSubtype="4" fill="hold" nodeType="after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wipe(down)">
                                      <p:cBhvr>
                                        <p:cTn id="24" dur="500"/>
                                        <p:tgtEl>
                                          <p:spTgt spid="38"/>
                                        </p:tgtEl>
                                      </p:cBhvr>
                                    </p:animEffect>
                                  </p:childTnLst>
                                </p:cTn>
                              </p:par>
                            </p:childTnLst>
                          </p:cTn>
                        </p:par>
                        <p:par>
                          <p:cTn id="25" fill="hold">
                            <p:stCondLst>
                              <p:cond delay="2000"/>
                            </p:stCondLst>
                            <p:childTnLst>
                              <p:par>
                                <p:cTn id="26" presetID="22" presetClass="entr" presetSubtype="4" fill="hold" grpId="0" nodeType="after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wipe(down)">
                                      <p:cBhvr>
                                        <p:cTn id="28" dur="500"/>
                                        <p:tgtEl>
                                          <p:spTgt spid="50"/>
                                        </p:tgtEl>
                                      </p:cBhvr>
                                    </p:animEffect>
                                  </p:childTnLst>
                                </p:cTn>
                              </p:par>
                            </p:childTnLst>
                          </p:cTn>
                        </p:par>
                        <p:par>
                          <p:cTn id="29" fill="hold">
                            <p:stCondLst>
                              <p:cond delay="2500"/>
                            </p:stCondLst>
                            <p:childTnLst>
                              <p:par>
                                <p:cTn id="30" presetID="22" presetClass="entr" presetSubtype="4" fill="hold" grpId="0" nodeType="after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wipe(down)">
                                      <p:cBhvr>
                                        <p:cTn id="32" dur="500"/>
                                        <p:tgtEl>
                                          <p:spTgt spid="51"/>
                                        </p:tgtEl>
                                      </p:cBhvr>
                                    </p:animEffect>
                                  </p:childTnLst>
                                </p:cTn>
                              </p:par>
                            </p:childTnLst>
                          </p:cTn>
                        </p:par>
                        <p:par>
                          <p:cTn id="33" fill="hold">
                            <p:stCondLst>
                              <p:cond delay="3000"/>
                            </p:stCondLst>
                            <p:childTnLst>
                              <p:par>
                                <p:cTn id="34" presetID="22" presetClass="entr" presetSubtype="4" fill="hold" grpId="0" nodeType="after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wipe(down)">
                                      <p:cBhvr>
                                        <p:cTn id="36" dur="500"/>
                                        <p:tgtEl>
                                          <p:spTgt spid="52"/>
                                        </p:tgtEl>
                                      </p:cBhvr>
                                    </p:animEffect>
                                  </p:childTnLst>
                                </p:cTn>
                              </p:par>
                            </p:childTnLst>
                          </p:cTn>
                        </p:par>
                        <p:par>
                          <p:cTn id="37" fill="hold">
                            <p:stCondLst>
                              <p:cond delay="3500"/>
                            </p:stCondLst>
                            <p:childTnLst>
                              <p:par>
                                <p:cTn id="38" presetID="22" presetClass="entr" presetSubtype="4" fill="hold" grpId="0" nodeType="after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wipe(down)">
                                      <p:cBhvr>
                                        <p:cTn id="40" dur="500"/>
                                        <p:tgtEl>
                                          <p:spTgt spid="53"/>
                                        </p:tgtEl>
                                      </p:cBhvr>
                                    </p:animEffect>
                                  </p:childTnLst>
                                </p:cTn>
                              </p:par>
                            </p:childTnLst>
                          </p:cTn>
                        </p:par>
                        <p:par>
                          <p:cTn id="41" fill="hold">
                            <p:stCondLst>
                              <p:cond delay="4000"/>
                            </p:stCondLst>
                            <p:childTnLst>
                              <p:par>
                                <p:cTn id="42" presetID="22" presetClass="entr" presetSubtype="4" fill="hold" grpId="0" nodeType="after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wipe(down)">
                                      <p:cBhvr>
                                        <p:cTn id="44" dur="500"/>
                                        <p:tgtEl>
                                          <p:spTgt spid="54"/>
                                        </p:tgtEl>
                                      </p:cBhvr>
                                    </p:animEffect>
                                  </p:childTnLst>
                                </p:cTn>
                              </p:par>
                            </p:childTnLst>
                          </p:cTn>
                        </p:par>
                        <p:par>
                          <p:cTn id="45" fill="hold">
                            <p:stCondLst>
                              <p:cond delay="4500"/>
                            </p:stCondLst>
                            <p:childTnLst>
                              <p:par>
                                <p:cTn id="46" presetID="22" presetClass="entr" presetSubtype="4" fill="hold" grpId="0" nodeType="afterEffect">
                                  <p:stCondLst>
                                    <p:cond delay="0"/>
                                  </p:stCondLst>
                                  <p:childTnLst>
                                    <p:set>
                                      <p:cBhvr>
                                        <p:cTn id="47" dur="1" fill="hold">
                                          <p:stCondLst>
                                            <p:cond delay="0"/>
                                          </p:stCondLst>
                                        </p:cTn>
                                        <p:tgtEl>
                                          <p:spTgt spid="55"/>
                                        </p:tgtEl>
                                        <p:attrNameLst>
                                          <p:attrName>style.visibility</p:attrName>
                                        </p:attrNameLst>
                                      </p:cBhvr>
                                      <p:to>
                                        <p:strVal val="visible"/>
                                      </p:to>
                                    </p:set>
                                    <p:animEffect transition="in" filter="wipe(down)">
                                      <p:cBhvr>
                                        <p:cTn id="4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0" grpId="0"/>
      <p:bldP spid="51" grpId="0"/>
      <p:bldP spid="52" grpId="0"/>
      <p:bldP spid="53" grpId="0"/>
      <p:bldP spid="54" grpId="0"/>
      <p:bldP spid="5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4775"/>
            </a:xfrm>
            <a:prstGeom prst="rect">
              <a:avLst/>
            </a:prstGeom>
            <a:noFill/>
          </p:spPr>
          <p:txBody>
            <a:bodyPr wrap="square" rtlCol="0">
              <a:spAutoFit/>
            </a:bodyPr>
            <a:lstStyle/>
            <a:p>
              <a:r>
                <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rPr>
                <a:t>问题分析总结</a:t>
              </a:r>
              <a:endPar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grpSp>
        <p:nvGrpSpPr>
          <p:cNvPr id="12" name="组合 11"/>
          <p:cNvGrpSpPr/>
          <p:nvPr/>
        </p:nvGrpSpPr>
        <p:grpSpPr>
          <a:xfrm>
            <a:off x="1375918" y="1691434"/>
            <a:ext cx="9440164" cy="2029666"/>
            <a:chOff x="785813" y="1618829"/>
            <a:chExt cx="10115550" cy="2174875"/>
          </a:xfrm>
        </p:grpSpPr>
        <p:sp>
          <p:nvSpPr>
            <p:cNvPr id="18" name="í$1ïḋê"/>
            <p:cNvSpPr/>
            <p:nvPr/>
          </p:nvSpPr>
          <p:spPr bwMode="auto">
            <a:xfrm>
              <a:off x="3096047" y="1729954"/>
              <a:ext cx="1952625" cy="1952625"/>
            </a:xfrm>
            <a:prstGeom prst="ellipse">
              <a:avLst/>
            </a:prstGeom>
            <a:solidFill>
              <a:srgbClr val="62EFF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19" name="íṡliḋe"/>
            <p:cNvSpPr/>
            <p:nvPr/>
          </p:nvSpPr>
          <p:spPr bwMode="auto">
            <a:xfrm>
              <a:off x="964035" y="1729954"/>
              <a:ext cx="1954212" cy="1952625"/>
            </a:xfrm>
            <a:prstGeom prst="ellipse">
              <a:avLst/>
            </a:prstGeom>
            <a:solidFill>
              <a:srgbClr val="13245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0" name="ïṥḷiḍé"/>
            <p:cNvSpPr/>
            <p:nvPr/>
          </p:nvSpPr>
          <p:spPr bwMode="auto">
            <a:xfrm>
              <a:off x="785813" y="1620416"/>
              <a:ext cx="6438900" cy="2171700"/>
            </a:xfrm>
            <a:prstGeom prst="roundRect">
              <a:avLst>
                <a:gd name="adj" fmla="val 50000"/>
              </a:avLst>
            </a:prstGeom>
            <a:noFill/>
            <a:ln w="28575">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ts val="0"/>
                </a:spcBef>
                <a:spcAft>
                  <a:spcPts val="0"/>
                </a:spcAft>
                <a:defRPr/>
              </a:pPr>
              <a:endParaRPr>
                <a:solidFill>
                  <a:schemeClr val="accent1"/>
                </a:solidFill>
                <a:latin typeface="思源黑体 CN Bold" panose="020B0800000000000000" pitchFamily="34" charset="-122"/>
                <a:ea typeface="思源黑体 CN Bold" panose="020B0800000000000000" pitchFamily="34" charset="-122"/>
                <a:cs typeface="+mn-ea"/>
                <a:sym typeface="+mn-lt"/>
              </a:endParaRPr>
            </a:p>
          </p:txBody>
        </p:sp>
        <p:sp>
          <p:nvSpPr>
            <p:cNvPr id="22" name="ísḷîḓe"/>
            <p:cNvSpPr/>
            <p:nvPr/>
          </p:nvSpPr>
          <p:spPr bwMode="auto">
            <a:xfrm>
              <a:off x="5167313" y="1729954"/>
              <a:ext cx="1952625" cy="1952625"/>
            </a:xfrm>
            <a:prstGeom prst="ellipse">
              <a:avLst/>
            </a:prstGeom>
            <a:solidFill>
              <a:srgbClr val="13245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3" name="ïS1ïḍè"/>
            <p:cNvSpPr/>
            <p:nvPr/>
          </p:nvSpPr>
          <p:spPr bwMode="auto">
            <a:xfrm>
              <a:off x="8837613" y="1729954"/>
              <a:ext cx="1952625" cy="1952625"/>
            </a:xfrm>
            <a:prstGeom prst="ellipse">
              <a:avLst/>
            </a:prstGeom>
            <a:solidFill>
              <a:srgbClr val="62EFF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4" name="iṡḻïḓê"/>
            <p:cNvSpPr/>
            <p:nvPr/>
          </p:nvSpPr>
          <p:spPr bwMode="auto">
            <a:xfrm>
              <a:off x="8726488" y="1618829"/>
              <a:ext cx="2174875" cy="2174875"/>
            </a:xfrm>
            <a:prstGeom prst="ellipse">
              <a:avLst/>
            </a:prstGeom>
            <a:noFill/>
            <a:ln w="28575">
              <a:solidFill>
                <a:schemeClr val="bg1">
                  <a:lumMod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ts val="0"/>
                </a:spcBef>
                <a:spcAft>
                  <a:spcPts val="0"/>
                </a:spcAft>
                <a:defRPr/>
              </a:pPr>
              <a:endParaRPr>
                <a:solidFill>
                  <a:schemeClr val="accent1"/>
                </a:solidFill>
                <a:latin typeface="思源黑体 CN Bold" panose="020B0800000000000000" pitchFamily="34" charset="-122"/>
                <a:ea typeface="思源黑体 CN Bold" panose="020B0800000000000000" pitchFamily="34" charset="-122"/>
                <a:cs typeface="+mn-ea"/>
                <a:sym typeface="+mn-lt"/>
              </a:endParaRPr>
            </a:p>
          </p:txBody>
        </p:sp>
        <p:sp>
          <p:nvSpPr>
            <p:cNvPr id="26" name="îşļide"/>
            <p:cNvSpPr/>
            <p:nvPr/>
          </p:nvSpPr>
          <p:spPr bwMode="auto">
            <a:xfrm rot="5400000">
              <a:off x="7567462" y="2517355"/>
              <a:ext cx="670227" cy="412750"/>
            </a:xfrm>
            <a:prstGeom prst="triangle">
              <a:avLst/>
            </a:prstGeom>
            <a:solidFill>
              <a:srgbClr val="13245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sz="200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30" name="ïŝļïḋè"/>
            <p:cNvSpPr txBox="1"/>
            <p:nvPr/>
          </p:nvSpPr>
          <p:spPr bwMode="auto">
            <a:xfrm>
              <a:off x="1022830" y="2773396"/>
              <a:ext cx="1714963" cy="545483"/>
            </a:xfrm>
            <a:prstGeom prst="rect">
              <a:avLst/>
            </a:prstGeom>
            <a:noFill/>
            <a:scene3d>
              <a:camera prst="orthographicFront">
                <a:rot lat="0" lon="0" rev="0"/>
              </a:camera>
              <a:lightRig rig="threePt" dir="t"/>
            </a:scene3d>
            <a:sp3d prstMaterial="matte">
              <a:bevelT w="1270" h="1270"/>
            </a:sp3d>
          </p:spPr>
          <p:txBody>
            <a:bodyPr anchor="ctr">
              <a:normAutofit/>
            </a:bodyPr>
            <a:lstStyle/>
            <a:p>
              <a:pPr algn="ctr" eaLnBrk="1" fontAlgn="auto" hangingPunct="1">
                <a:spcBef>
                  <a:spcPts val="0"/>
                </a:spcBef>
                <a:spcAft>
                  <a:spcPts val="0"/>
                </a:spcAft>
                <a:buClr>
                  <a:prstClr val="white"/>
                </a:buClr>
                <a:defRPr/>
              </a:pPr>
              <a:r>
                <a:rPr lang="zh-CN" altLang="en-US" sz="2000" dirty="0">
                  <a:solidFill>
                    <a:schemeClr val="bg1"/>
                  </a:solidFill>
                  <a:latin typeface="思源黑体 CN Bold" panose="020B0800000000000000" pitchFamily="34" charset="-122"/>
                  <a:ea typeface="思源黑体 CN Bold" panose="020B0800000000000000" pitchFamily="34" charset="-122"/>
                  <a:cs typeface="+mn-ea"/>
                  <a:sym typeface="+mn-lt"/>
                </a:rPr>
                <a:t>总结</a:t>
              </a:r>
              <a:endParaRPr lang="zh-CN" altLang="en-US" sz="20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31" name="îṡḻïďê"/>
            <p:cNvSpPr/>
            <p:nvPr/>
          </p:nvSpPr>
          <p:spPr bwMode="auto">
            <a:xfrm>
              <a:off x="1593850" y="2025229"/>
              <a:ext cx="573088" cy="574675"/>
            </a:xfrm>
            <a:custGeom>
              <a:avLst/>
              <a:gdLst>
                <a:gd name="connsiteX0" fmla="*/ 485208 w 606933"/>
                <a:gd name="connsiteY0" fmla="*/ 307595 h 606087"/>
                <a:gd name="connsiteX1" fmla="*/ 606933 w 606933"/>
                <a:gd name="connsiteY1" fmla="*/ 307595 h 606087"/>
                <a:gd name="connsiteX2" fmla="*/ 606933 w 606933"/>
                <a:gd name="connsiteY2" fmla="*/ 606087 h 606087"/>
                <a:gd name="connsiteX3" fmla="*/ 485208 w 606933"/>
                <a:gd name="connsiteY3" fmla="*/ 606087 h 606087"/>
                <a:gd name="connsiteX4" fmla="*/ 121725 w 606933"/>
                <a:gd name="connsiteY4" fmla="*/ 163359 h 606087"/>
                <a:gd name="connsiteX5" fmla="*/ 121725 w 606933"/>
                <a:gd name="connsiteY5" fmla="*/ 606087 h 606087"/>
                <a:gd name="connsiteX6" fmla="*/ 0 w 606933"/>
                <a:gd name="connsiteY6" fmla="*/ 606087 h 606087"/>
                <a:gd name="connsiteX7" fmla="*/ 0 w 606933"/>
                <a:gd name="connsiteY7" fmla="*/ 224893 h 606087"/>
                <a:gd name="connsiteX8" fmla="*/ 364380 w 606933"/>
                <a:gd name="connsiteY8" fmla="*/ 62027 h 606087"/>
                <a:gd name="connsiteX9" fmla="*/ 404389 w 606933"/>
                <a:gd name="connsiteY9" fmla="*/ 62027 h 606087"/>
                <a:gd name="connsiteX10" fmla="*/ 404389 w 606933"/>
                <a:gd name="connsiteY10" fmla="*/ 136153 h 606087"/>
                <a:gd name="connsiteX11" fmla="*/ 445197 w 606933"/>
                <a:gd name="connsiteY11" fmla="*/ 136153 h 606087"/>
                <a:gd name="connsiteX12" fmla="*/ 445197 w 606933"/>
                <a:gd name="connsiteY12" fmla="*/ 606087 h 606087"/>
                <a:gd name="connsiteX13" fmla="*/ 323472 w 606933"/>
                <a:gd name="connsiteY13" fmla="*/ 606087 h 606087"/>
                <a:gd name="connsiteX14" fmla="*/ 323472 w 606933"/>
                <a:gd name="connsiteY14" fmla="*/ 136153 h 606087"/>
                <a:gd name="connsiteX15" fmla="*/ 364380 w 606933"/>
                <a:gd name="connsiteY15" fmla="*/ 136153 h 606087"/>
                <a:gd name="connsiteX16" fmla="*/ 161736 w 606933"/>
                <a:gd name="connsiteY16" fmla="*/ 0 h 606087"/>
                <a:gd name="connsiteX17" fmla="*/ 283391 w 606933"/>
                <a:gd name="connsiteY17" fmla="*/ 0 h 606087"/>
                <a:gd name="connsiteX18" fmla="*/ 283391 w 606933"/>
                <a:gd name="connsiteY18" fmla="*/ 606087 h 606087"/>
                <a:gd name="connsiteX19" fmla="*/ 161736 w 606933"/>
                <a:gd name="connsiteY19" fmla="*/ 606087 h 60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6933" h="606087">
                  <a:moveTo>
                    <a:pt x="485208" y="307595"/>
                  </a:moveTo>
                  <a:lnTo>
                    <a:pt x="606933" y="307595"/>
                  </a:lnTo>
                  <a:lnTo>
                    <a:pt x="606933" y="606087"/>
                  </a:lnTo>
                  <a:lnTo>
                    <a:pt x="485208" y="606087"/>
                  </a:lnTo>
                  <a:close/>
                  <a:moveTo>
                    <a:pt x="121725" y="163359"/>
                  </a:moveTo>
                  <a:lnTo>
                    <a:pt x="121725" y="606087"/>
                  </a:lnTo>
                  <a:lnTo>
                    <a:pt x="0" y="606087"/>
                  </a:lnTo>
                  <a:lnTo>
                    <a:pt x="0" y="224893"/>
                  </a:lnTo>
                  <a:close/>
                  <a:moveTo>
                    <a:pt x="364380" y="62027"/>
                  </a:moveTo>
                  <a:lnTo>
                    <a:pt x="404389" y="62027"/>
                  </a:lnTo>
                  <a:lnTo>
                    <a:pt x="404389" y="136153"/>
                  </a:lnTo>
                  <a:lnTo>
                    <a:pt x="445197" y="136153"/>
                  </a:lnTo>
                  <a:lnTo>
                    <a:pt x="445197" y="606087"/>
                  </a:lnTo>
                  <a:lnTo>
                    <a:pt x="323472" y="606087"/>
                  </a:lnTo>
                  <a:lnTo>
                    <a:pt x="323472" y="136153"/>
                  </a:lnTo>
                  <a:lnTo>
                    <a:pt x="364380" y="136153"/>
                  </a:lnTo>
                  <a:close/>
                  <a:moveTo>
                    <a:pt x="161736" y="0"/>
                  </a:moveTo>
                  <a:lnTo>
                    <a:pt x="283391" y="0"/>
                  </a:lnTo>
                  <a:lnTo>
                    <a:pt x="283391" y="606087"/>
                  </a:lnTo>
                  <a:lnTo>
                    <a:pt x="161736" y="606087"/>
                  </a:lnTo>
                  <a:close/>
                </a:path>
              </a:pathLst>
            </a:custGeom>
            <a:solidFill>
              <a:schemeClr val="bg1"/>
            </a:solidFill>
            <a:ln>
              <a:noFill/>
            </a:ln>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a:solidFill>
                  <a:schemeClr val="accent1"/>
                </a:solidFill>
                <a:latin typeface="思源黑体 CN Bold" panose="020B0800000000000000" pitchFamily="34" charset="-122"/>
                <a:ea typeface="思源黑体 CN Bold" panose="020B0800000000000000" pitchFamily="34" charset="-122"/>
                <a:cs typeface="+mn-ea"/>
                <a:sym typeface="+mn-lt"/>
              </a:endParaRPr>
            </a:p>
          </p:txBody>
        </p:sp>
        <p:sp>
          <p:nvSpPr>
            <p:cNvPr id="32" name="isḷïḍè"/>
            <p:cNvSpPr txBox="1"/>
            <p:nvPr/>
          </p:nvSpPr>
          <p:spPr bwMode="auto">
            <a:xfrm>
              <a:off x="3149502" y="2773396"/>
              <a:ext cx="1714963" cy="545483"/>
            </a:xfrm>
            <a:prstGeom prst="rect">
              <a:avLst/>
            </a:prstGeom>
            <a:noFill/>
            <a:scene3d>
              <a:camera prst="orthographicFront">
                <a:rot lat="0" lon="0" rev="0"/>
              </a:camera>
              <a:lightRig rig="threePt" dir="t"/>
            </a:scene3d>
            <a:sp3d prstMaterial="matte">
              <a:bevelT w="1270" h="1270"/>
            </a:sp3d>
          </p:spPr>
          <p:txBody>
            <a:bodyPr anchor="ctr">
              <a:normAutofit/>
            </a:bodyPr>
            <a:lstStyle/>
            <a:p>
              <a:pPr algn="ctr" eaLnBrk="1" fontAlgn="auto" hangingPunct="1">
                <a:spcBef>
                  <a:spcPts val="0"/>
                </a:spcBef>
                <a:spcAft>
                  <a:spcPts val="0"/>
                </a:spcAft>
                <a:buClr>
                  <a:prstClr val="white"/>
                </a:buClr>
                <a:defRPr/>
              </a:pPr>
              <a:r>
                <a:rPr lang="zh-CN" altLang="en-US" sz="2000" dirty="0">
                  <a:solidFill>
                    <a:schemeClr val="bg1"/>
                  </a:solidFill>
                  <a:latin typeface="思源黑体 CN Bold" panose="020B0800000000000000" pitchFamily="34" charset="-122"/>
                  <a:ea typeface="思源黑体 CN Bold" panose="020B0800000000000000" pitchFamily="34" charset="-122"/>
                  <a:cs typeface="+mn-ea"/>
                  <a:sym typeface="+mn-lt"/>
                </a:rPr>
                <a:t>总结</a:t>
              </a:r>
              <a:endParaRPr lang="zh-CN" altLang="en-US" sz="20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33" name="ïS1îḍè"/>
            <p:cNvSpPr txBox="1"/>
            <p:nvPr/>
          </p:nvSpPr>
          <p:spPr bwMode="auto">
            <a:xfrm>
              <a:off x="5276174" y="2773396"/>
              <a:ext cx="1714963" cy="545483"/>
            </a:xfrm>
            <a:prstGeom prst="rect">
              <a:avLst/>
            </a:prstGeom>
            <a:noFill/>
            <a:scene3d>
              <a:camera prst="orthographicFront">
                <a:rot lat="0" lon="0" rev="0"/>
              </a:camera>
              <a:lightRig rig="threePt" dir="t"/>
            </a:scene3d>
            <a:sp3d prstMaterial="matte">
              <a:bevelT w="1270" h="1270"/>
            </a:sp3d>
          </p:spPr>
          <p:txBody>
            <a:bodyPr anchor="ctr">
              <a:normAutofit/>
            </a:bodyPr>
            <a:lstStyle/>
            <a:p>
              <a:pPr algn="ctr" eaLnBrk="1" fontAlgn="auto" hangingPunct="1">
                <a:spcBef>
                  <a:spcPts val="0"/>
                </a:spcBef>
                <a:spcAft>
                  <a:spcPts val="0"/>
                </a:spcAft>
                <a:buClr>
                  <a:prstClr val="white"/>
                </a:buClr>
                <a:defRPr/>
              </a:pPr>
              <a:r>
                <a:rPr lang="zh-CN" altLang="en-US" sz="2000" dirty="0">
                  <a:solidFill>
                    <a:schemeClr val="bg1"/>
                  </a:solidFill>
                  <a:latin typeface="思源黑体 CN Bold" panose="020B0800000000000000" pitchFamily="34" charset="-122"/>
                  <a:ea typeface="思源黑体 CN Bold" panose="020B0800000000000000" pitchFamily="34" charset="-122"/>
                  <a:cs typeface="+mn-ea"/>
                  <a:sym typeface="+mn-lt"/>
                </a:rPr>
                <a:t>总结</a:t>
              </a:r>
              <a:endParaRPr lang="zh-CN" altLang="en-US" sz="20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34" name="iṧliḋè"/>
            <p:cNvSpPr/>
            <p:nvPr/>
          </p:nvSpPr>
          <p:spPr bwMode="auto">
            <a:xfrm>
              <a:off x="3717925" y="2049041"/>
              <a:ext cx="574675" cy="525463"/>
            </a:xfrm>
            <a:custGeom>
              <a:avLst/>
              <a:gdLst>
                <a:gd name="connsiteX0" fmla="*/ 415780 w 577818"/>
                <a:gd name="connsiteY0" fmla="*/ 140844 h 528610"/>
                <a:gd name="connsiteX1" fmla="*/ 438846 w 577818"/>
                <a:gd name="connsiteY1" fmla="*/ 140844 h 528610"/>
                <a:gd name="connsiteX2" fmla="*/ 456377 w 577818"/>
                <a:gd name="connsiteY2" fmla="*/ 148213 h 528610"/>
                <a:gd name="connsiteX3" fmla="*/ 468371 w 577818"/>
                <a:gd name="connsiteY3" fmla="*/ 148213 h 528610"/>
                <a:gd name="connsiteX4" fmla="*/ 484979 w 577818"/>
                <a:gd name="connsiteY4" fmla="*/ 140844 h 528610"/>
                <a:gd name="connsiteX5" fmla="*/ 508968 w 577818"/>
                <a:gd name="connsiteY5" fmla="*/ 140844 h 528610"/>
                <a:gd name="connsiteX6" fmla="*/ 531112 w 577818"/>
                <a:gd name="connsiteY6" fmla="*/ 155582 h 528610"/>
                <a:gd name="connsiteX7" fmla="*/ 576322 w 577818"/>
                <a:gd name="connsiteY7" fmla="*/ 271643 h 528610"/>
                <a:gd name="connsiteX8" fmla="*/ 562482 w 577818"/>
                <a:gd name="connsiteY8" fmla="*/ 302961 h 528610"/>
                <a:gd name="connsiteX9" fmla="*/ 531112 w 577818"/>
                <a:gd name="connsiteY9" fmla="*/ 289144 h 528610"/>
                <a:gd name="connsiteX10" fmla="*/ 508968 w 577818"/>
                <a:gd name="connsiteY10" fmla="*/ 233877 h 528610"/>
                <a:gd name="connsiteX11" fmla="*/ 508968 w 577818"/>
                <a:gd name="connsiteY11" fmla="*/ 299277 h 528610"/>
                <a:gd name="connsiteX12" fmla="*/ 554178 w 577818"/>
                <a:gd name="connsiteY12" fmla="*/ 455867 h 528610"/>
                <a:gd name="connsiteX13" fmla="*/ 537570 w 577818"/>
                <a:gd name="connsiteY13" fmla="*/ 486264 h 528610"/>
                <a:gd name="connsiteX14" fmla="*/ 531112 w 577818"/>
                <a:gd name="connsiteY14" fmla="*/ 487185 h 528610"/>
                <a:gd name="connsiteX15" fmla="*/ 507123 w 577818"/>
                <a:gd name="connsiteY15" fmla="*/ 469684 h 528610"/>
                <a:gd name="connsiteX16" fmla="*/ 461913 w 577818"/>
                <a:gd name="connsiteY16" fmla="*/ 310330 h 528610"/>
                <a:gd name="connsiteX17" fmla="*/ 419471 w 577818"/>
                <a:gd name="connsiteY17" fmla="*/ 459551 h 528610"/>
                <a:gd name="connsiteX18" fmla="*/ 393636 w 577818"/>
                <a:gd name="connsiteY18" fmla="*/ 371124 h 528610"/>
                <a:gd name="connsiteX19" fmla="*/ 402863 w 577818"/>
                <a:gd name="connsiteY19" fmla="*/ 340727 h 528610"/>
                <a:gd name="connsiteX20" fmla="*/ 418548 w 577818"/>
                <a:gd name="connsiteY20" fmla="*/ 337042 h 528610"/>
                <a:gd name="connsiteX21" fmla="*/ 449918 w 577818"/>
                <a:gd name="connsiteY21" fmla="*/ 306646 h 528610"/>
                <a:gd name="connsiteX22" fmla="*/ 451764 w 577818"/>
                <a:gd name="connsiteY22" fmla="*/ 262432 h 528610"/>
                <a:gd name="connsiteX23" fmla="*/ 404708 w 577818"/>
                <a:gd name="connsiteY23" fmla="*/ 142686 h 528610"/>
                <a:gd name="connsiteX24" fmla="*/ 415780 w 577818"/>
                <a:gd name="connsiteY24" fmla="*/ 140844 h 528610"/>
                <a:gd name="connsiteX25" fmla="*/ 68974 w 577818"/>
                <a:gd name="connsiteY25" fmla="*/ 140844 h 528610"/>
                <a:gd name="connsiteX26" fmla="*/ 92967 w 577818"/>
                <a:gd name="connsiteY26" fmla="*/ 140844 h 528610"/>
                <a:gd name="connsiteX27" fmla="*/ 109578 w 577818"/>
                <a:gd name="connsiteY27" fmla="*/ 148213 h 528610"/>
                <a:gd name="connsiteX28" fmla="*/ 121575 w 577818"/>
                <a:gd name="connsiteY28" fmla="*/ 148213 h 528610"/>
                <a:gd name="connsiteX29" fmla="*/ 138186 w 577818"/>
                <a:gd name="connsiteY29" fmla="*/ 140844 h 528610"/>
                <a:gd name="connsiteX30" fmla="*/ 162180 w 577818"/>
                <a:gd name="connsiteY30" fmla="*/ 140844 h 528610"/>
                <a:gd name="connsiteX31" fmla="*/ 172331 w 577818"/>
                <a:gd name="connsiteY31" fmla="*/ 142686 h 528610"/>
                <a:gd name="connsiteX32" fmla="*/ 126189 w 577818"/>
                <a:gd name="connsiteY32" fmla="*/ 262432 h 528610"/>
                <a:gd name="connsiteX33" fmla="*/ 127112 w 577818"/>
                <a:gd name="connsiteY33" fmla="*/ 306646 h 528610"/>
                <a:gd name="connsiteX34" fmla="*/ 159412 w 577818"/>
                <a:gd name="connsiteY34" fmla="*/ 337042 h 528610"/>
                <a:gd name="connsiteX35" fmla="*/ 175100 w 577818"/>
                <a:gd name="connsiteY35" fmla="*/ 340727 h 528610"/>
                <a:gd name="connsiteX36" fmla="*/ 183405 w 577818"/>
                <a:gd name="connsiteY36" fmla="*/ 371124 h 528610"/>
                <a:gd name="connsiteX37" fmla="*/ 158489 w 577818"/>
                <a:gd name="connsiteY37" fmla="*/ 459551 h 528610"/>
                <a:gd name="connsiteX38" fmla="*/ 116038 w 577818"/>
                <a:gd name="connsiteY38" fmla="*/ 310330 h 528610"/>
                <a:gd name="connsiteX39" fmla="*/ 69896 w 577818"/>
                <a:gd name="connsiteY39" fmla="*/ 469684 h 528610"/>
                <a:gd name="connsiteX40" fmla="*/ 46826 w 577818"/>
                <a:gd name="connsiteY40" fmla="*/ 487185 h 528610"/>
                <a:gd name="connsiteX41" fmla="*/ 40366 w 577818"/>
                <a:gd name="connsiteY41" fmla="*/ 486264 h 528610"/>
                <a:gd name="connsiteX42" fmla="*/ 22832 w 577818"/>
                <a:gd name="connsiteY42" fmla="*/ 455867 h 528610"/>
                <a:gd name="connsiteX43" fmla="*/ 68051 w 577818"/>
                <a:gd name="connsiteY43" fmla="*/ 299277 h 528610"/>
                <a:gd name="connsiteX44" fmla="*/ 68051 w 577818"/>
                <a:gd name="connsiteY44" fmla="*/ 233877 h 528610"/>
                <a:gd name="connsiteX45" fmla="*/ 46826 w 577818"/>
                <a:gd name="connsiteY45" fmla="*/ 289144 h 528610"/>
                <a:gd name="connsiteX46" fmla="*/ 15449 w 577818"/>
                <a:gd name="connsiteY46" fmla="*/ 302961 h 528610"/>
                <a:gd name="connsiteX47" fmla="*/ 1607 w 577818"/>
                <a:gd name="connsiteY47" fmla="*/ 271643 h 528610"/>
                <a:gd name="connsiteX48" fmla="*/ 45903 w 577818"/>
                <a:gd name="connsiteY48" fmla="*/ 156503 h 528610"/>
                <a:gd name="connsiteX49" fmla="*/ 68974 w 577818"/>
                <a:gd name="connsiteY49" fmla="*/ 140844 h 528610"/>
                <a:gd name="connsiteX50" fmla="*/ 233235 w 577818"/>
                <a:gd name="connsiteY50" fmla="*/ 116877 h 528610"/>
                <a:gd name="connsiteX51" fmla="*/ 261828 w 577818"/>
                <a:gd name="connsiteY51" fmla="*/ 116877 h 528610"/>
                <a:gd name="connsiteX52" fmla="*/ 282120 w 577818"/>
                <a:gd name="connsiteY52" fmla="*/ 126088 h 528610"/>
                <a:gd name="connsiteX53" fmla="*/ 268285 w 577818"/>
                <a:gd name="connsiteY53" fmla="*/ 224646 h 528610"/>
                <a:gd name="connsiteX54" fmla="*/ 288577 w 577818"/>
                <a:gd name="connsiteY54" fmla="*/ 242147 h 528610"/>
                <a:gd name="connsiteX55" fmla="*/ 309792 w 577818"/>
                <a:gd name="connsiteY55" fmla="*/ 224646 h 528610"/>
                <a:gd name="connsiteX56" fmla="*/ 295956 w 577818"/>
                <a:gd name="connsiteY56" fmla="*/ 126088 h 528610"/>
                <a:gd name="connsiteX57" fmla="*/ 316248 w 577818"/>
                <a:gd name="connsiteY57" fmla="*/ 116877 h 528610"/>
                <a:gd name="connsiteX58" fmla="*/ 344842 w 577818"/>
                <a:gd name="connsiteY58" fmla="*/ 116877 h 528610"/>
                <a:gd name="connsiteX59" fmla="*/ 371590 w 577818"/>
                <a:gd name="connsiteY59" fmla="*/ 135299 h 528610"/>
                <a:gd name="connsiteX60" fmla="*/ 424166 w 577818"/>
                <a:gd name="connsiteY60" fmla="*/ 272543 h 528610"/>
                <a:gd name="connsiteX61" fmla="*/ 407563 w 577818"/>
                <a:gd name="connsiteY61" fmla="*/ 310309 h 528610"/>
                <a:gd name="connsiteX62" fmla="*/ 370668 w 577818"/>
                <a:gd name="connsiteY62" fmla="*/ 293729 h 528610"/>
                <a:gd name="connsiteX63" fmla="*/ 344842 w 577818"/>
                <a:gd name="connsiteY63" fmla="*/ 228330 h 528610"/>
                <a:gd name="connsiteX64" fmla="*/ 344842 w 577818"/>
                <a:gd name="connsiteY64" fmla="*/ 305703 h 528610"/>
                <a:gd name="connsiteX65" fmla="*/ 398339 w 577818"/>
                <a:gd name="connsiteY65" fmla="*/ 491766 h 528610"/>
                <a:gd name="connsiteX66" fmla="*/ 378969 w 577818"/>
                <a:gd name="connsiteY66" fmla="*/ 527689 h 528610"/>
                <a:gd name="connsiteX67" fmla="*/ 370668 w 577818"/>
                <a:gd name="connsiteY67" fmla="*/ 528610 h 528610"/>
                <a:gd name="connsiteX68" fmla="*/ 342997 w 577818"/>
                <a:gd name="connsiteY68" fmla="*/ 508346 h 528610"/>
                <a:gd name="connsiteX69" fmla="*/ 288577 w 577818"/>
                <a:gd name="connsiteY69" fmla="*/ 319520 h 528610"/>
                <a:gd name="connsiteX70" fmla="*/ 235080 w 577818"/>
                <a:gd name="connsiteY70" fmla="*/ 508346 h 528610"/>
                <a:gd name="connsiteX71" fmla="*/ 207408 w 577818"/>
                <a:gd name="connsiteY71" fmla="*/ 528610 h 528610"/>
                <a:gd name="connsiteX72" fmla="*/ 199107 w 577818"/>
                <a:gd name="connsiteY72" fmla="*/ 527689 h 528610"/>
                <a:gd name="connsiteX73" fmla="*/ 178815 w 577818"/>
                <a:gd name="connsiteY73" fmla="*/ 491766 h 528610"/>
                <a:gd name="connsiteX74" fmla="*/ 232312 w 577818"/>
                <a:gd name="connsiteY74" fmla="*/ 305703 h 528610"/>
                <a:gd name="connsiteX75" fmla="*/ 232312 w 577818"/>
                <a:gd name="connsiteY75" fmla="*/ 228330 h 528610"/>
                <a:gd name="connsiteX76" fmla="*/ 207408 w 577818"/>
                <a:gd name="connsiteY76" fmla="*/ 293729 h 528610"/>
                <a:gd name="connsiteX77" fmla="*/ 169591 w 577818"/>
                <a:gd name="connsiteY77" fmla="*/ 310309 h 528610"/>
                <a:gd name="connsiteX78" fmla="*/ 152988 w 577818"/>
                <a:gd name="connsiteY78" fmla="*/ 272543 h 528610"/>
                <a:gd name="connsiteX79" fmla="*/ 206486 w 577818"/>
                <a:gd name="connsiteY79" fmla="*/ 135299 h 528610"/>
                <a:gd name="connsiteX80" fmla="*/ 233235 w 577818"/>
                <a:gd name="connsiteY80" fmla="*/ 116877 h 528610"/>
                <a:gd name="connsiteX81" fmla="*/ 461986 w 577818"/>
                <a:gd name="connsiteY81" fmla="*/ 42312 h 528610"/>
                <a:gd name="connsiteX82" fmla="*/ 505334 w 577818"/>
                <a:gd name="connsiteY82" fmla="*/ 85586 h 528610"/>
                <a:gd name="connsiteX83" fmla="*/ 461986 w 577818"/>
                <a:gd name="connsiteY83" fmla="*/ 128860 h 528610"/>
                <a:gd name="connsiteX84" fmla="*/ 418638 w 577818"/>
                <a:gd name="connsiteY84" fmla="*/ 85586 h 528610"/>
                <a:gd name="connsiteX85" fmla="*/ 461986 w 577818"/>
                <a:gd name="connsiteY85" fmla="*/ 42312 h 528610"/>
                <a:gd name="connsiteX86" fmla="*/ 115572 w 577818"/>
                <a:gd name="connsiteY86" fmla="*/ 42312 h 528610"/>
                <a:gd name="connsiteX87" fmla="*/ 158403 w 577818"/>
                <a:gd name="connsiteY87" fmla="*/ 85586 h 528610"/>
                <a:gd name="connsiteX88" fmla="*/ 115572 w 577818"/>
                <a:gd name="connsiteY88" fmla="*/ 128860 h 528610"/>
                <a:gd name="connsiteX89" fmla="*/ 72741 w 577818"/>
                <a:gd name="connsiteY89" fmla="*/ 85586 h 528610"/>
                <a:gd name="connsiteX90" fmla="*/ 115572 w 577818"/>
                <a:gd name="connsiteY90" fmla="*/ 42312 h 528610"/>
                <a:gd name="connsiteX91" fmla="*/ 289038 w 577818"/>
                <a:gd name="connsiteY91" fmla="*/ 0 h 528610"/>
                <a:gd name="connsiteX92" fmla="*/ 340227 w 577818"/>
                <a:gd name="connsiteY92" fmla="*/ 51559 h 528610"/>
                <a:gd name="connsiteX93" fmla="*/ 289038 w 577818"/>
                <a:gd name="connsiteY93" fmla="*/ 103118 h 528610"/>
                <a:gd name="connsiteX94" fmla="*/ 237849 w 577818"/>
                <a:gd name="connsiteY94" fmla="*/ 51559 h 528610"/>
                <a:gd name="connsiteX95" fmla="*/ 289038 w 577818"/>
                <a:gd name="connsiteY95" fmla="*/ 0 h 52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577818" h="528610">
                  <a:moveTo>
                    <a:pt x="415780" y="140844"/>
                  </a:moveTo>
                  <a:lnTo>
                    <a:pt x="438846" y="140844"/>
                  </a:lnTo>
                  <a:cubicBezTo>
                    <a:pt x="446228" y="140844"/>
                    <a:pt x="451764" y="143607"/>
                    <a:pt x="456377" y="148213"/>
                  </a:cubicBezTo>
                  <a:lnTo>
                    <a:pt x="468371" y="148213"/>
                  </a:lnTo>
                  <a:cubicBezTo>
                    <a:pt x="472062" y="143607"/>
                    <a:pt x="478521" y="140844"/>
                    <a:pt x="484979" y="140844"/>
                  </a:cubicBezTo>
                  <a:lnTo>
                    <a:pt x="508968" y="140844"/>
                  </a:lnTo>
                  <a:cubicBezTo>
                    <a:pt x="519117" y="140844"/>
                    <a:pt x="527421" y="146371"/>
                    <a:pt x="531112" y="155582"/>
                  </a:cubicBezTo>
                  <a:lnTo>
                    <a:pt x="576322" y="271643"/>
                  </a:lnTo>
                  <a:cubicBezTo>
                    <a:pt x="580935" y="284539"/>
                    <a:pt x="574477" y="298355"/>
                    <a:pt x="562482" y="302961"/>
                  </a:cubicBezTo>
                  <a:cubicBezTo>
                    <a:pt x="549565" y="307567"/>
                    <a:pt x="535725" y="302040"/>
                    <a:pt x="531112" y="289144"/>
                  </a:cubicBezTo>
                  <a:lnTo>
                    <a:pt x="508968" y="233877"/>
                  </a:lnTo>
                  <a:lnTo>
                    <a:pt x="508968" y="299277"/>
                  </a:lnTo>
                  <a:lnTo>
                    <a:pt x="554178" y="455867"/>
                  </a:lnTo>
                  <a:cubicBezTo>
                    <a:pt x="557869" y="468763"/>
                    <a:pt x="550488" y="482579"/>
                    <a:pt x="537570" y="486264"/>
                  </a:cubicBezTo>
                  <a:cubicBezTo>
                    <a:pt x="535725" y="487185"/>
                    <a:pt x="532957" y="487185"/>
                    <a:pt x="531112" y="487185"/>
                  </a:cubicBezTo>
                  <a:cubicBezTo>
                    <a:pt x="520040" y="487185"/>
                    <a:pt x="510813" y="479816"/>
                    <a:pt x="507123" y="469684"/>
                  </a:cubicBezTo>
                  <a:lnTo>
                    <a:pt x="461913" y="310330"/>
                  </a:lnTo>
                  <a:lnTo>
                    <a:pt x="419471" y="459551"/>
                  </a:lnTo>
                  <a:lnTo>
                    <a:pt x="393636" y="371124"/>
                  </a:lnTo>
                  <a:lnTo>
                    <a:pt x="402863" y="340727"/>
                  </a:lnTo>
                  <a:cubicBezTo>
                    <a:pt x="408399" y="339806"/>
                    <a:pt x="413012" y="338885"/>
                    <a:pt x="418548" y="337042"/>
                  </a:cubicBezTo>
                  <a:cubicBezTo>
                    <a:pt x="432388" y="331516"/>
                    <a:pt x="444382" y="320462"/>
                    <a:pt x="449918" y="306646"/>
                  </a:cubicBezTo>
                  <a:cubicBezTo>
                    <a:pt x="456377" y="292829"/>
                    <a:pt x="457299" y="277170"/>
                    <a:pt x="451764" y="262432"/>
                  </a:cubicBezTo>
                  <a:lnTo>
                    <a:pt x="404708" y="142686"/>
                  </a:lnTo>
                  <a:cubicBezTo>
                    <a:pt x="408399" y="141765"/>
                    <a:pt x="412089" y="140844"/>
                    <a:pt x="415780" y="140844"/>
                  </a:cubicBezTo>
                  <a:close/>
                  <a:moveTo>
                    <a:pt x="68974" y="140844"/>
                  </a:moveTo>
                  <a:lnTo>
                    <a:pt x="92967" y="140844"/>
                  </a:lnTo>
                  <a:cubicBezTo>
                    <a:pt x="99427" y="140844"/>
                    <a:pt x="104964" y="143607"/>
                    <a:pt x="109578" y="148213"/>
                  </a:cubicBezTo>
                  <a:lnTo>
                    <a:pt x="121575" y="148213"/>
                  </a:lnTo>
                  <a:cubicBezTo>
                    <a:pt x="126189" y="143607"/>
                    <a:pt x="131726" y="140844"/>
                    <a:pt x="138186" y="140844"/>
                  </a:cubicBezTo>
                  <a:lnTo>
                    <a:pt x="162180" y="140844"/>
                  </a:lnTo>
                  <a:cubicBezTo>
                    <a:pt x="165871" y="140844"/>
                    <a:pt x="169563" y="141765"/>
                    <a:pt x="172331" y="142686"/>
                  </a:cubicBezTo>
                  <a:lnTo>
                    <a:pt x="126189" y="262432"/>
                  </a:lnTo>
                  <a:cubicBezTo>
                    <a:pt x="120652" y="277170"/>
                    <a:pt x="120652" y="292829"/>
                    <a:pt x="127112" y="306646"/>
                  </a:cubicBezTo>
                  <a:cubicBezTo>
                    <a:pt x="133572" y="320462"/>
                    <a:pt x="144646" y="331516"/>
                    <a:pt x="159412" y="337042"/>
                  </a:cubicBezTo>
                  <a:cubicBezTo>
                    <a:pt x="164026" y="338885"/>
                    <a:pt x="169563" y="340727"/>
                    <a:pt x="175100" y="340727"/>
                  </a:cubicBezTo>
                  <a:lnTo>
                    <a:pt x="183405" y="371124"/>
                  </a:lnTo>
                  <a:lnTo>
                    <a:pt x="158489" y="459551"/>
                  </a:lnTo>
                  <a:lnTo>
                    <a:pt x="116038" y="310330"/>
                  </a:lnTo>
                  <a:lnTo>
                    <a:pt x="69896" y="469684"/>
                  </a:lnTo>
                  <a:cubicBezTo>
                    <a:pt x="67128" y="479816"/>
                    <a:pt x="56977" y="487185"/>
                    <a:pt x="46826" y="487185"/>
                  </a:cubicBezTo>
                  <a:cubicBezTo>
                    <a:pt x="44057" y="487185"/>
                    <a:pt x="42212" y="487185"/>
                    <a:pt x="40366" y="486264"/>
                  </a:cubicBezTo>
                  <a:cubicBezTo>
                    <a:pt x="27446" y="482579"/>
                    <a:pt x="19141" y="468763"/>
                    <a:pt x="22832" y="455867"/>
                  </a:cubicBezTo>
                  <a:lnTo>
                    <a:pt x="68051" y="299277"/>
                  </a:lnTo>
                  <a:lnTo>
                    <a:pt x="68051" y="233877"/>
                  </a:lnTo>
                  <a:lnTo>
                    <a:pt x="46826" y="289144"/>
                  </a:lnTo>
                  <a:cubicBezTo>
                    <a:pt x="42212" y="302040"/>
                    <a:pt x="27446" y="307567"/>
                    <a:pt x="15449" y="302961"/>
                  </a:cubicBezTo>
                  <a:cubicBezTo>
                    <a:pt x="2530" y="298355"/>
                    <a:pt x="-3007" y="284539"/>
                    <a:pt x="1607" y="271643"/>
                  </a:cubicBezTo>
                  <a:lnTo>
                    <a:pt x="45903" y="156503"/>
                  </a:lnTo>
                  <a:cubicBezTo>
                    <a:pt x="49594" y="146371"/>
                    <a:pt x="58822" y="140844"/>
                    <a:pt x="68974" y="140844"/>
                  </a:cubicBezTo>
                  <a:close/>
                  <a:moveTo>
                    <a:pt x="233235" y="116877"/>
                  </a:moveTo>
                  <a:lnTo>
                    <a:pt x="261828" y="116877"/>
                  </a:lnTo>
                  <a:cubicBezTo>
                    <a:pt x="269207" y="116877"/>
                    <a:pt x="276586" y="120561"/>
                    <a:pt x="282120" y="126088"/>
                  </a:cubicBezTo>
                  <a:lnTo>
                    <a:pt x="268285" y="224646"/>
                  </a:lnTo>
                  <a:lnTo>
                    <a:pt x="288577" y="242147"/>
                  </a:lnTo>
                  <a:lnTo>
                    <a:pt x="309792" y="224646"/>
                  </a:lnTo>
                  <a:lnTo>
                    <a:pt x="295956" y="126088"/>
                  </a:lnTo>
                  <a:cubicBezTo>
                    <a:pt x="301490" y="120561"/>
                    <a:pt x="307947" y="116877"/>
                    <a:pt x="316248" y="116877"/>
                  </a:cubicBezTo>
                  <a:lnTo>
                    <a:pt x="344842" y="116877"/>
                  </a:lnTo>
                  <a:cubicBezTo>
                    <a:pt x="355910" y="116877"/>
                    <a:pt x="366979" y="124246"/>
                    <a:pt x="371590" y="135299"/>
                  </a:cubicBezTo>
                  <a:lnTo>
                    <a:pt x="424166" y="272543"/>
                  </a:lnTo>
                  <a:cubicBezTo>
                    <a:pt x="430622" y="288202"/>
                    <a:pt x="423243" y="304782"/>
                    <a:pt x="407563" y="310309"/>
                  </a:cubicBezTo>
                  <a:cubicBezTo>
                    <a:pt x="392805" y="315835"/>
                    <a:pt x="376202" y="308466"/>
                    <a:pt x="370668" y="293729"/>
                  </a:cubicBezTo>
                  <a:lnTo>
                    <a:pt x="344842" y="228330"/>
                  </a:lnTo>
                  <a:lnTo>
                    <a:pt x="344842" y="305703"/>
                  </a:lnTo>
                  <a:lnTo>
                    <a:pt x="398339" y="491766"/>
                  </a:lnTo>
                  <a:cubicBezTo>
                    <a:pt x="402951" y="507425"/>
                    <a:pt x="393727" y="523083"/>
                    <a:pt x="378969" y="527689"/>
                  </a:cubicBezTo>
                  <a:cubicBezTo>
                    <a:pt x="376202" y="528610"/>
                    <a:pt x="373435" y="528610"/>
                    <a:pt x="370668" y="528610"/>
                  </a:cubicBezTo>
                  <a:cubicBezTo>
                    <a:pt x="357755" y="528610"/>
                    <a:pt x="346686" y="520320"/>
                    <a:pt x="342997" y="508346"/>
                  </a:cubicBezTo>
                  <a:lnTo>
                    <a:pt x="288577" y="319520"/>
                  </a:lnTo>
                  <a:lnTo>
                    <a:pt x="235080" y="508346"/>
                  </a:lnTo>
                  <a:cubicBezTo>
                    <a:pt x="231390" y="520320"/>
                    <a:pt x="219399" y="528610"/>
                    <a:pt x="207408" y="528610"/>
                  </a:cubicBezTo>
                  <a:cubicBezTo>
                    <a:pt x="204641" y="528610"/>
                    <a:pt x="201874" y="528610"/>
                    <a:pt x="199107" y="527689"/>
                  </a:cubicBezTo>
                  <a:cubicBezTo>
                    <a:pt x="183427" y="523083"/>
                    <a:pt x="175125" y="507425"/>
                    <a:pt x="178815" y="491766"/>
                  </a:cubicBezTo>
                  <a:lnTo>
                    <a:pt x="232312" y="305703"/>
                  </a:lnTo>
                  <a:lnTo>
                    <a:pt x="232312" y="228330"/>
                  </a:lnTo>
                  <a:lnTo>
                    <a:pt x="207408" y="293729"/>
                  </a:lnTo>
                  <a:cubicBezTo>
                    <a:pt x="201874" y="308466"/>
                    <a:pt x="184349" y="315835"/>
                    <a:pt x="169591" y="310309"/>
                  </a:cubicBezTo>
                  <a:cubicBezTo>
                    <a:pt x="154833" y="304782"/>
                    <a:pt x="147454" y="288202"/>
                    <a:pt x="152988" y="272543"/>
                  </a:cubicBezTo>
                  <a:lnTo>
                    <a:pt x="206486" y="135299"/>
                  </a:lnTo>
                  <a:cubicBezTo>
                    <a:pt x="211098" y="124246"/>
                    <a:pt x="221244" y="116877"/>
                    <a:pt x="233235" y="116877"/>
                  </a:cubicBezTo>
                  <a:close/>
                  <a:moveTo>
                    <a:pt x="461986" y="42312"/>
                  </a:moveTo>
                  <a:cubicBezTo>
                    <a:pt x="485926" y="42312"/>
                    <a:pt x="505334" y="61686"/>
                    <a:pt x="505334" y="85586"/>
                  </a:cubicBezTo>
                  <a:cubicBezTo>
                    <a:pt x="505334" y="109486"/>
                    <a:pt x="485926" y="128860"/>
                    <a:pt x="461986" y="128860"/>
                  </a:cubicBezTo>
                  <a:cubicBezTo>
                    <a:pt x="438046" y="128860"/>
                    <a:pt x="418638" y="109486"/>
                    <a:pt x="418638" y="85586"/>
                  </a:cubicBezTo>
                  <a:cubicBezTo>
                    <a:pt x="418638" y="61686"/>
                    <a:pt x="438046" y="42312"/>
                    <a:pt x="461986" y="42312"/>
                  </a:cubicBezTo>
                  <a:close/>
                  <a:moveTo>
                    <a:pt x="115572" y="42312"/>
                  </a:moveTo>
                  <a:cubicBezTo>
                    <a:pt x="139227" y="42312"/>
                    <a:pt x="158403" y="61686"/>
                    <a:pt x="158403" y="85586"/>
                  </a:cubicBezTo>
                  <a:cubicBezTo>
                    <a:pt x="158403" y="109486"/>
                    <a:pt x="139227" y="128860"/>
                    <a:pt x="115572" y="128860"/>
                  </a:cubicBezTo>
                  <a:cubicBezTo>
                    <a:pt x="91917" y="128860"/>
                    <a:pt x="72741" y="109486"/>
                    <a:pt x="72741" y="85586"/>
                  </a:cubicBezTo>
                  <a:cubicBezTo>
                    <a:pt x="72741" y="61686"/>
                    <a:pt x="91917" y="42312"/>
                    <a:pt x="115572" y="42312"/>
                  </a:cubicBezTo>
                  <a:close/>
                  <a:moveTo>
                    <a:pt x="289038" y="0"/>
                  </a:moveTo>
                  <a:cubicBezTo>
                    <a:pt x="317309" y="0"/>
                    <a:pt x="340227" y="23084"/>
                    <a:pt x="340227" y="51559"/>
                  </a:cubicBezTo>
                  <a:cubicBezTo>
                    <a:pt x="340227" y="80034"/>
                    <a:pt x="317309" y="103118"/>
                    <a:pt x="289038" y="103118"/>
                  </a:cubicBezTo>
                  <a:cubicBezTo>
                    <a:pt x="260767" y="103118"/>
                    <a:pt x="237849" y="80034"/>
                    <a:pt x="237849" y="51559"/>
                  </a:cubicBezTo>
                  <a:cubicBezTo>
                    <a:pt x="237849" y="23084"/>
                    <a:pt x="260767" y="0"/>
                    <a:pt x="289038" y="0"/>
                  </a:cubicBezTo>
                  <a:close/>
                </a:path>
              </a:pathLst>
            </a:custGeom>
            <a:solidFill>
              <a:schemeClr val="bg1"/>
            </a:solidFill>
            <a:ln>
              <a:noFill/>
            </a:ln>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a:solidFill>
                  <a:schemeClr val="accent1"/>
                </a:solidFill>
                <a:latin typeface="思源黑体 CN Bold" panose="020B0800000000000000" pitchFamily="34" charset="-122"/>
                <a:ea typeface="思源黑体 CN Bold" panose="020B0800000000000000" pitchFamily="34" charset="-122"/>
                <a:cs typeface="+mn-ea"/>
                <a:sym typeface="+mn-lt"/>
              </a:endParaRPr>
            </a:p>
          </p:txBody>
        </p:sp>
        <p:sp>
          <p:nvSpPr>
            <p:cNvPr id="35" name="îṩḷïďe"/>
            <p:cNvSpPr/>
            <p:nvPr/>
          </p:nvSpPr>
          <p:spPr bwMode="auto">
            <a:xfrm>
              <a:off x="5857875" y="2025229"/>
              <a:ext cx="546100" cy="574675"/>
            </a:xfrm>
            <a:custGeom>
              <a:avLst/>
              <a:gdLst>
                <a:gd name="connsiteX0" fmla="*/ 433716 w 575564"/>
                <a:gd name="connsiteY0" fmla="*/ 176978 h 606722"/>
                <a:gd name="connsiteX1" fmla="*/ 496291 w 575564"/>
                <a:gd name="connsiteY1" fmla="*/ 176978 h 606722"/>
                <a:gd name="connsiteX2" fmla="*/ 559045 w 575564"/>
                <a:gd name="connsiteY2" fmla="*/ 232339 h 606722"/>
                <a:gd name="connsiteX3" fmla="*/ 575245 w 575564"/>
                <a:gd name="connsiteY3" fmla="*/ 361900 h 606722"/>
                <a:gd name="connsiteX4" fmla="*/ 566077 w 575564"/>
                <a:gd name="connsiteY4" fmla="*/ 391669 h 606722"/>
                <a:gd name="connsiteX5" fmla="*/ 540085 w 575564"/>
                <a:gd name="connsiteY5" fmla="*/ 404376 h 606722"/>
                <a:gd name="connsiteX6" fmla="*/ 528247 w 575564"/>
                <a:gd name="connsiteY6" fmla="*/ 569659 h 606722"/>
                <a:gd name="connsiteX7" fmla="*/ 515607 w 575564"/>
                <a:gd name="connsiteY7" fmla="*/ 581389 h 606722"/>
                <a:gd name="connsiteX8" fmla="*/ 414400 w 575564"/>
                <a:gd name="connsiteY8" fmla="*/ 581389 h 606722"/>
                <a:gd name="connsiteX9" fmla="*/ 401761 w 575564"/>
                <a:gd name="connsiteY9" fmla="*/ 569659 h 606722"/>
                <a:gd name="connsiteX10" fmla="*/ 391791 w 575564"/>
                <a:gd name="connsiteY10" fmla="*/ 430590 h 606722"/>
                <a:gd name="connsiteX11" fmla="*/ 397043 w 575564"/>
                <a:gd name="connsiteY11" fmla="*/ 419483 h 606722"/>
                <a:gd name="connsiteX12" fmla="*/ 407724 w 575564"/>
                <a:gd name="connsiteY12" fmla="*/ 410152 h 606722"/>
                <a:gd name="connsiteX13" fmla="*/ 424459 w 575564"/>
                <a:gd name="connsiteY13" fmla="*/ 357013 h 606722"/>
                <a:gd name="connsiteX14" fmla="*/ 407635 w 575564"/>
                <a:gd name="connsiteY14" fmla="*/ 210213 h 606722"/>
                <a:gd name="connsiteX15" fmla="*/ 404609 w 575564"/>
                <a:gd name="connsiteY15" fmla="*/ 195906 h 606722"/>
                <a:gd name="connsiteX16" fmla="*/ 412620 w 575564"/>
                <a:gd name="connsiteY16" fmla="*/ 180710 h 606722"/>
                <a:gd name="connsiteX17" fmla="*/ 433716 w 575564"/>
                <a:gd name="connsiteY17" fmla="*/ 176978 h 606722"/>
                <a:gd name="connsiteX18" fmla="*/ 79313 w 575564"/>
                <a:gd name="connsiteY18" fmla="*/ 176978 h 606722"/>
                <a:gd name="connsiteX19" fmla="*/ 141789 w 575564"/>
                <a:gd name="connsiteY19" fmla="*/ 176978 h 606722"/>
                <a:gd name="connsiteX20" fmla="*/ 157808 w 575564"/>
                <a:gd name="connsiteY20" fmla="*/ 179200 h 606722"/>
                <a:gd name="connsiteX21" fmla="*/ 165551 w 575564"/>
                <a:gd name="connsiteY21" fmla="*/ 185155 h 606722"/>
                <a:gd name="connsiteX22" fmla="*/ 166797 w 575564"/>
                <a:gd name="connsiteY22" fmla="*/ 194842 h 606722"/>
                <a:gd name="connsiteX23" fmla="*/ 163593 w 575564"/>
                <a:gd name="connsiteY23" fmla="*/ 210217 h 606722"/>
                <a:gd name="connsiteX24" fmla="*/ 146772 w 575564"/>
                <a:gd name="connsiteY24" fmla="*/ 357036 h 606722"/>
                <a:gd name="connsiteX25" fmla="*/ 163504 w 575564"/>
                <a:gd name="connsiteY25" fmla="*/ 410182 h 606722"/>
                <a:gd name="connsiteX26" fmla="*/ 177655 w 575564"/>
                <a:gd name="connsiteY26" fmla="*/ 421914 h 606722"/>
                <a:gd name="connsiteX27" fmla="*/ 183617 w 575564"/>
                <a:gd name="connsiteY27" fmla="*/ 433556 h 606722"/>
                <a:gd name="connsiteX28" fmla="*/ 173828 w 575564"/>
                <a:gd name="connsiteY28" fmla="*/ 569799 h 606722"/>
                <a:gd name="connsiteX29" fmla="*/ 161190 w 575564"/>
                <a:gd name="connsiteY29" fmla="*/ 581530 h 606722"/>
                <a:gd name="connsiteX30" fmla="*/ 59912 w 575564"/>
                <a:gd name="connsiteY30" fmla="*/ 581530 h 606722"/>
                <a:gd name="connsiteX31" fmla="*/ 47275 w 575564"/>
                <a:gd name="connsiteY31" fmla="*/ 569799 h 606722"/>
                <a:gd name="connsiteX32" fmla="*/ 35527 w 575564"/>
                <a:gd name="connsiteY32" fmla="*/ 404494 h 606722"/>
                <a:gd name="connsiteX33" fmla="*/ 9540 w 575564"/>
                <a:gd name="connsiteY33" fmla="*/ 391697 h 606722"/>
                <a:gd name="connsiteX34" fmla="*/ 285 w 575564"/>
                <a:gd name="connsiteY34" fmla="*/ 361924 h 606722"/>
                <a:gd name="connsiteX35" fmla="*/ 16571 w 575564"/>
                <a:gd name="connsiteY35" fmla="*/ 232346 h 606722"/>
                <a:gd name="connsiteX36" fmla="*/ 79313 w 575564"/>
                <a:gd name="connsiteY36" fmla="*/ 176978 h 606722"/>
                <a:gd name="connsiteX37" fmla="*/ 253327 w 575564"/>
                <a:gd name="connsiteY37" fmla="*/ 151716 h 606722"/>
                <a:gd name="connsiteX38" fmla="*/ 317935 w 575564"/>
                <a:gd name="connsiteY38" fmla="*/ 151716 h 606722"/>
                <a:gd name="connsiteX39" fmla="*/ 382454 w 575564"/>
                <a:gd name="connsiteY39" fmla="*/ 213035 h 606722"/>
                <a:gd name="connsiteX40" fmla="*/ 399273 w 575564"/>
                <a:gd name="connsiteY40" fmla="*/ 359935 h 606722"/>
                <a:gd name="connsiteX41" fmla="*/ 388861 w 575564"/>
                <a:gd name="connsiteY41" fmla="*/ 393349 h 606722"/>
                <a:gd name="connsiteX42" fmla="*/ 362876 w 575564"/>
                <a:gd name="connsiteY42" fmla="*/ 406146 h 606722"/>
                <a:gd name="connsiteX43" fmla="*/ 348904 w 575564"/>
                <a:gd name="connsiteY43" fmla="*/ 594992 h 606722"/>
                <a:gd name="connsiteX44" fmla="*/ 336267 w 575564"/>
                <a:gd name="connsiteY44" fmla="*/ 606722 h 606722"/>
                <a:gd name="connsiteX45" fmla="*/ 234995 w 575564"/>
                <a:gd name="connsiteY45" fmla="*/ 606722 h 606722"/>
                <a:gd name="connsiteX46" fmla="*/ 222358 w 575564"/>
                <a:gd name="connsiteY46" fmla="*/ 594992 h 606722"/>
                <a:gd name="connsiteX47" fmla="*/ 208387 w 575564"/>
                <a:gd name="connsiteY47" fmla="*/ 406146 h 606722"/>
                <a:gd name="connsiteX48" fmla="*/ 182401 w 575564"/>
                <a:gd name="connsiteY48" fmla="*/ 393349 h 606722"/>
                <a:gd name="connsiteX49" fmla="*/ 171989 w 575564"/>
                <a:gd name="connsiteY49" fmla="*/ 359846 h 606722"/>
                <a:gd name="connsiteX50" fmla="*/ 188809 w 575564"/>
                <a:gd name="connsiteY50" fmla="*/ 213035 h 606722"/>
                <a:gd name="connsiteX51" fmla="*/ 253327 w 575564"/>
                <a:gd name="connsiteY51" fmla="*/ 151716 h 606722"/>
                <a:gd name="connsiteX52" fmla="*/ 465000 w 575564"/>
                <a:gd name="connsiteY52" fmla="*/ 25262 h 606722"/>
                <a:gd name="connsiteX53" fmla="*/ 528333 w 575564"/>
                <a:gd name="connsiteY53" fmla="*/ 88489 h 606722"/>
                <a:gd name="connsiteX54" fmla="*/ 465000 w 575564"/>
                <a:gd name="connsiteY54" fmla="*/ 151716 h 606722"/>
                <a:gd name="connsiteX55" fmla="*/ 401667 w 575564"/>
                <a:gd name="connsiteY55" fmla="*/ 88489 h 606722"/>
                <a:gd name="connsiteX56" fmla="*/ 465000 w 575564"/>
                <a:gd name="connsiteY56" fmla="*/ 25262 h 606722"/>
                <a:gd name="connsiteX57" fmla="*/ 110549 w 575564"/>
                <a:gd name="connsiteY57" fmla="*/ 25262 h 606722"/>
                <a:gd name="connsiteX58" fmla="*/ 173811 w 575564"/>
                <a:gd name="connsiteY58" fmla="*/ 88489 h 606722"/>
                <a:gd name="connsiteX59" fmla="*/ 110549 w 575564"/>
                <a:gd name="connsiteY59" fmla="*/ 151716 h 606722"/>
                <a:gd name="connsiteX60" fmla="*/ 47287 w 575564"/>
                <a:gd name="connsiteY60" fmla="*/ 88489 h 606722"/>
                <a:gd name="connsiteX61" fmla="*/ 110549 w 575564"/>
                <a:gd name="connsiteY61" fmla="*/ 25262 h 606722"/>
                <a:gd name="connsiteX62" fmla="*/ 285622 w 575564"/>
                <a:gd name="connsiteY62" fmla="*/ 0 h 606722"/>
                <a:gd name="connsiteX63" fmla="*/ 348884 w 575564"/>
                <a:gd name="connsiteY63" fmla="*/ 63192 h 606722"/>
                <a:gd name="connsiteX64" fmla="*/ 285622 w 575564"/>
                <a:gd name="connsiteY64" fmla="*/ 126384 h 606722"/>
                <a:gd name="connsiteX65" fmla="*/ 222360 w 575564"/>
                <a:gd name="connsiteY65" fmla="*/ 63192 h 606722"/>
                <a:gd name="connsiteX66" fmla="*/ 285622 w 575564"/>
                <a:gd name="connsiteY66"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75564" h="606722">
                  <a:moveTo>
                    <a:pt x="433716" y="176978"/>
                  </a:moveTo>
                  <a:lnTo>
                    <a:pt x="496291" y="176978"/>
                  </a:lnTo>
                  <a:cubicBezTo>
                    <a:pt x="528069" y="176978"/>
                    <a:pt x="555128" y="200793"/>
                    <a:pt x="559045" y="232339"/>
                  </a:cubicBezTo>
                  <a:lnTo>
                    <a:pt x="575245" y="361900"/>
                  </a:lnTo>
                  <a:cubicBezTo>
                    <a:pt x="576669" y="372652"/>
                    <a:pt x="573287" y="383494"/>
                    <a:pt x="566077" y="391669"/>
                  </a:cubicBezTo>
                  <a:cubicBezTo>
                    <a:pt x="559401" y="399222"/>
                    <a:pt x="550055" y="403754"/>
                    <a:pt x="540085" y="404376"/>
                  </a:cubicBezTo>
                  <a:lnTo>
                    <a:pt x="528247" y="569659"/>
                  </a:lnTo>
                  <a:cubicBezTo>
                    <a:pt x="527802" y="576235"/>
                    <a:pt x="522283" y="581389"/>
                    <a:pt x="515607" y="581389"/>
                  </a:cubicBezTo>
                  <a:lnTo>
                    <a:pt x="414400" y="581389"/>
                  </a:lnTo>
                  <a:cubicBezTo>
                    <a:pt x="407724" y="581389"/>
                    <a:pt x="402206" y="576235"/>
                    <a:pt x="401761" y="569659"/>
                  </a:cubicBezTo>
                  <a:lnTo>
                    <a:pt x="391791" y="430590"/>
                  </a:lnTo>
                  <a:cubicBezTo>
                    <a:pt x="391435" y="426236"/>
                    <a:pt x="393483" y="421971"/>
                    <a:pt x="397043" y="419483"/>
                  </a:cubicBezTo>
                  <a:cubicBezTo>
                    <a:pt x="401494" y="416195"/>
                    <a:pt x="404965" y="413262"/>
                    <a:pt x="407724" y="410152"/>
                  </a:cubicBezTo>
                  <a:cubicBezTo>
                    <a:pt x="420542" y="395845"/>
                    <a:pt x="426595" y="376473"/>
                    <a:pt x="424459" y="357013"/>
                  </a:cubicBezTo>
                  <a:lnTo>
                    <a:pt x="407635" y="210213"/>
                  </a:lnTo>
                  <a:cubicBezTo>
                    <a:pt x="407012" y="205325"/>
                    <a:pt x="405855" y="200527"/>
                    <a:pt x="404609" y="195906"/>
                  </a:cubicBezTo>
                  <a:cubicBezTo>
                    <a:pt x="402918" y="189508"/>
                    <a:pt x="406389" y="182932"/>
                    <a:pt x="412620" y="180710"/>
                  </a:cubicBezTo>
                  <a:cubicBezTo>
                    <a:pt x="419652" y="178222"/>
                    <a:pt x="426684" y="176978"/>
                    <a:pt x="433716" y="176978"/>
                  </a:cubicBezTo>
                  <a:close/>
                  <a:moveTo>
                    <a:pt x="79313" y="176978"/>
                  </a:moveTo>
                  <a:lnTo>
                    <a:pt x="141789" y="176978"/>
                  </a:lnTo>
                  <a:cubicBezTo>
                    <a:pt x="146861" y="176978"/>
                    <a:pt x="151934" y="177689"/>
                    <a:pt x="157808" y="179200"/>
                  </a:cubicBezTo>
                  <a:cubicBezTo>
                    <a:pt x="161101" y="180089"/>
                    <a:pt x="163860" y="182222"/>
                    <a:pt x="165551" y="185155"/>
                  </a:cubicBezTo>
                  <a:cubicBezTo>
                    <a:pt x="167241" y="188087"/>
                    <a:pt x="167686" y="191642"/>
                    <a:pt x="166797" y="194842"/>
                  </a:cubicBezTo>
                  <a:cubicBezTo>
                    <a:pt x="165373" y="199819"/>
                    <a:pt x="164216" y="204973"/>
                    <a:pt x="163593" y="210217"/>
                  </a:cubicBezTo>
                  <a:lnTo>
                    <a:pt x="146772" y="357036"/>
                  </a:lnTo>
                  <a:cubicBezTo>
                    <a:pt x="144636" y="376499"/>
                    <a:pt x="150688" y="395874"/>
                    <a:pt x="163504" y="410182"/>
                  </a:cubicBezTo>
                  <a:cubicBezTo>
                    <a:pt x="167419" y="414626"/>
                    <a:pt x="172226" y="418536"/>
                    <a:pt x="177655" y="421914"/>
                  </a:cubicBezTo>
                  <a:cubicBezTo>
                    <a:pt x="181659" y="424402"/>
                    <a:pt x="183973" y="428846"/>
                    <a:pt x="183617" y="433556"/>
                  </a:cubicBezTo>
                  <a:lnTo>
                    <a:pt x="173828" y="569799"/>
                  </a:lnTo>
                  <a:cubicBezTo>
                    <a:pt x="173383" y="576376"/>
                    <a:pt x="167864" y="581530"/>
                    <a:pt x="161190" y="581530"/>
                  </a:cubicBezTo>
                  <a:lnTo>
                    <a:pt x="59912" y="581530"/>
                  </a:lnTo>
                  <a:cubicBezTo>
                    <a:pt x="53326" y="581530"/>
                    <a:pt x="47809" y="576376"/>
                    <a:pt x="47275" y="569799"/>
                  </a:cubicBezTo>
                  <a:lnTo>
                    <a:pt x="35527" y="404494"/>
                  </a:lnTo>
                  <a:cubicBezTo>
                    <a:pt x="25560" y="403783"/>
                    <a:pt x="16215" y="399251"/>
                    <a:pt x="9540" y="391697"/>
                  </a:cubicBezTo>
                  <a:cubicBezTo>
                    <a:pt x="2332" y="383520"/>
                    <a:pt x="-1050" y="372678"/>
                    <a:pt x="285" y="361924"/>
                  </a:cubicBezTo>
                  <a:lnTo>
                    <a:pt x="16571" y="232346"/>
                  </a:lnTo>
                  <a:cubicBezTo>
                    <a:pt x="20487" y="200796"/>
                    <a:pt x="47453" y="176978"/>
                    <a:pt x="79313" y="176978"/>
                  </a:cubicBezTo>
                  <a:close/>
                  <a:moveTo>
                    <a:pt x="253327" y="151716"/>
                  </a:moveTo>
                  <a:lnTo>
                    <a:pt x="317935" y="151716"/>
                  </a:lnTo>
                  <a:cubicBezTo>
                    <a:pt x="350773" y="151716"/>
                    <a:pt x="378449" y="178110"/>
                    <a:pt x="382454" y="213035"/>
                  </a:cubicBezTo>
                  <a:lnTo>
                    <a:pt x="399273" y="359935"/>
                  </a:lnTo>
                  <a:cubicBezTo>
                    <a:pt x="400608" y="372199"/>
                    <a:pt x="396871" y="384374"/>
                    <a:pt x="388861" y="393349"/>
                  </a:cubicBezTo>
                  <a:cubicBezTo>
                    <a:pt x="382009" y="401081"/>
                    <a:pt x="372843" y="405524"/>
                    <a:pt x="362876" y="406146"/>
                  </a:cubicBezTo>
                  <a:lnTo>
                    <a:pt x="348904" y="594992"/>
                  </a:lnTo>
                  <a:cubicBezTo>
                    <a:pt x="348370" y="601568"/>
                    <a:pt x="342942" y="606722"/>
                    <a:pt x="336267" y="606722"/>
                  </a:cubicBezTo>
                  <a:lnTo>
                    <a:pt x="234995" y="606722"/>
                  </a:lnTo>
                  <a:cubicBezTo>
                    <a:pt x="228410" y="606722"/>
                    <a:pt x="222892" y="601568"/>
                    <a:pt x="222358" y="594992"/>
                  </a:cubicBezTo>
                  <a:lnTo>
                    <a:pt x="208387" y="406146"/>
                  </a:lnTo>
                  <a:cubicBezTo>
                    <a:pt x="198509" y="405524"/>
                    <a:pt x="189342" y="401081"/>
                    <a:pt x="182401" y="393349"/>
                  </a:cubicBezTo>
                  <a:cubicBezTo>
                    <a:pt x="174392" y="384374"/>
                    <a:pt x="170565" y="372199"/>
                    <a:pt x="171989" y="359846"/>
                  </a:cubicBezTo>
                  <a:lnTo>
                    <a:pt x="188809" y="213035"/>
                  </a:lnTo>
                  <a:cubicBezTo>
                    <a:pt x="192813" y="178110"/>
                    <a:pt x="220578" y="151716"/>
                    <a:pt x="253327" y="151716"/>
                  </a:cubicBezTo>
                  <a:close/>
                  <a:moveTo>
                    <a:pt x="465000" y="25262"/>
                  </a:moveTo>
                  <a:cubicBezTo>
                    <a:pt x="499978" y="25262"/>
                    <a:pt x="528333" y="53570"/>
                    <a:pt x="528333" y="88489"/>
                  </a:cubicBezTo>
                  <a:cubicBezTo>
                    <a:pt x="528333" y="123408"/>
                    <a:pt x="499978" y="151716"/>
                    <a:pt x="465000" y="151716"/>
                  </a:cubicBezTo>
                  <a:cubicBezTo>
                    <a:pt x="430022" y="151716"/>
                    <a:pt x="401667" y="123408"/>
                    <a:pt x="401667" y="88489"/>
                  </a:cubicBezTo>
                  <a:cubicBezTo>
                    <a:pt x="401667" y="53570"/>
                    <a:pt x="430022" y="25262"/>
                    <a:pt x="465000" y="25262"/>
                  </a:cubicBezTo>
                  <a:close/>
                  <a:moveTo>
                    <a:pt x="110549" y="25262"/>
                  </a:moveTo>
                  <a:cubicBezTo>
                    <a:pt x="145488" y="25262"/>
                    <a:pt x="173811" y="53570"/>
                    <a:pt x="173811" y="88489"/>
                  </a:cubicBezTo>
                  <a:cubicBezTo>
                    <a:pt x="173811" y="123408"/>
                    <a:pt x="145488" y="151716"/>
                    <a:pt x="110549" y="151716"/>
                  </a:cubicBezTo>
                  <a:cubicBezTo>
                    <a:pt x="75610" y="151716"/>
                    <a:pt x="47287" y="123408"/>
                    <a:pt x="47287" y="88489"/>
                  </a:cubicBezTo>
                  <a:cubicBezTo>
                    <a:pt x="47287" y="53570"/>
                    <a:pt x="75610" y="25262"/>
                    <a:pt x="110549" y="25262"/>
                  </a:cubicBezTo>
                  <a:close/>
                  <a:moveTo>
                    <a:pt x="285622" y="0"/>
                  </a:moveTo>
                  <a:cubicBezTo>
                    <a:pt x="320561" y="0"/>
                    <a:pt x="348884" y="28292"/>
                    <a:pt x="348884" y="63192"/>
                  </a:cubicBezTo>
                  <a:cubicBezTo>
                    <a:pt x="348884" y="98092"/>
                    <a:pt x="320561" y="126384"/>
                    <a:pt x="285622" y="126384"/>
                  </a:cubicBezTo>
                  <a:cubicBezTo>
                    <a:pt x="250683" y="126384"/>
                    <a:pt x="222360" y="98092"/>
                    <a:pt x="222360" y="63192"/>
                  </a:cubicBezTo>
                  <a:cubicBezTo>
                    <a:pt x="222360" y="28292"/>
                    <a:pt x="250683" y="0"/>
                    <a:pt x="285622" y="0"/>
                  </a:cubicBezTo>
                  <a:close/>
                </a:path>
              </a:pathLst>
            </a:custGeom>
            <a:solidFill>
              <a:schemeClr val="bg1"/>
            </a:solidFill>
            <a:ln>
              <a:noFill/>
            </a:ln>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a:solidFill>
                  <a:schemeClr val="accent1"/>
                </a:solidFill>
                <a:latin typeface="思源黑体 CN Bold" panose="020B0800000000000000" pitchFamily="34" charset="-122"/>
                <a:ea typeface="思源黑体 CN Bold" panose="020B0800000000000000" pitchFamily="34" charset="-122"/>
                <a:cs typeface="+mn-ea"/>
                <a:sym typeface="+mn-lt"/>
              </a:endParaRPr>
            </a:p>
          </p:txBody>
        </p:sp>
        <p:sp>
          <p:nvSpPr>
            <p:cNvPr id="36" name="íŝḷíḑê"/>
            <p:cNvSpPr txBox="1"/>
            <p:nvPr/>
          </p:nvSpPr>
          <p:spPr bwMode="auto">
            <a:xfrm>
              <a:off x="8956444" y="2773396"/>
              <a:ext cx="1714963" cy="545483"/>
            </a:xfrm>
            <a:prstGeom prst="rect">
              <a:avLst/>
            </a:prstGeom>
            <a:noFill/>
            <a:scene3d>
              <a:camera prst="orthographicFront">
                <a:rot lat="0" lon="0" rev="0"/>
              </a:camera>
              <a:lightRig rig="threePt" dir="t"/>
            </a:scene3d>
            <a:sp3d prstMaterial="matte">
              <a:bevelT w="1270" h="1270"/>
            </a:sp3d>
          </p:spPr>
          <p:txBody>
            <a:bodyPr anchor="ctr">
              <a:normAutofit/>
            </a:bodyPr>
            <a:lstStyle/>
            <a:p>
              <a:pPr algn="ctr" eaLnBrk="1" fontAlgn="auto" hangingPunct="1">
                <a:spcBef>
                  <a:spcPts val="0"/>
                </a:spcBef>
                <a:spcAft>
                  <a:spcPts val="0"/>
                </a:spcAft>
                <a:buClr>
                  <a:prstClr val="white"/>
                </a:buClr>
                <a:defRPr/>
              </a:pPr>
              <a:r>
                <a:rPr lang="zh-CN" altLang="en-US" sz="2000" dirty="0">
                  <a:solidFill>
                    <a:schemeClr val="bg1"/>
                  </a:solidFill>
                  <a:latin typeface="思源黑体 CN Bold" panose="020B0800000000000000" pitchFamily="34" charset="-122"/>
                  <a:ea typeface="思源黑体 CN Bold" panose="020B0800000000000000" pitchFamily="34" charset="-122"/>
                  <a:cs typeface="+mn-ea"/>
                  <a:sym typeface="+mn-lt"/>
                </a:rPr>
                <a:t>总结</a:t>
              </a:r>
              <a:endParaRPr lang="zh-CN" altLang="en-US" sz="20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37" name="iṡlíďé"/>
            <p:cNvSpPr/>
            <p:nvPr/>
          </p:nvSpPr>
          <p:spPr bwMode="auto">
            <a:xfrm>
              <a:off x="9526588" y="2025229"/>
              <a:ext cx="574675" cy="573087"/>
            </a:xfrm>
            <a:custGeom>
              <a:avLst/>
              <a:gdLst>
                <a:gd name="T0" fmla="*/ 1321 w 2643"/>
                <a:gd name="T1" fmla="*/ 0 h 2643"/>
                <a:gd name="T2" fmla="*/ 0 w 2643"/>
                <a:gd name="T3" fmla="*/ 1321 h 2643"/>
                <a:gd name="T4" fmla="*/ 1321 w 2643"/>
                <a:gd name="T5" fmla="*/ 2643 h 2643"/>
                <a:gd name="T6" fmla="*/ 2643 w 2643"/>
                <a:gd name="T7" fmla="*/ 1321 h 2643"/>
                <a:gd name="T8" fmla="*/ 1321 w 2643"/>
                <a:gd name="T9" fmla="*/ 0 h 2643"/>
                <a:gd name="T10" fmla="*/ 2007 w 2643"/>
                <a:gd name="T11" fmla="*/ 2045 h 2643"/>
                <a:gd name="T12" fmla="*/ 2007 w 2643"/>
                <a:gd name="T13" fmla="*/ 1468 h 2643"/>
                <a:gd name="T14" fmla="*/ 1685 w 2643"/>
                <a:gd name="T15" fmla="*/ 1468 h 2643"/>
                <a:gd name="T16" fmla="*/ 1685 w 2643"/>
                <a:gd name="T17" fmla="*/ 2251 h 2643"/>
                <a:gd name="T18" fmla="*/ 1503 w 2643"/>
                <a:gd name="T19" fmla="*/ 2303 h 2643"/>
                <a:gd name="T20" fmla="*/ 1503 w 2643"/>
                <a:gd name="T21" fmla="*/ 1059 h 2643"/>
                <a:gd name="T22" fmla="*/ 1180 w 2643"/>
                <a:gd name="T23" fmla="*/ 1059 h 2643"/>
                <a:gd name="T24" fmla="*/ 1180 w 2643"/>
                <a:gd name="T25" fmla="*/ 2309 h 2643"/>
                <a:gd name="T26" fmla="*/ 958 w 2643"/>
                <a:gd name="T27" fmla="*/ 2251 h 2643"/>
                <a:gd name="T28" fmla="*/ 958 w 2643"/>
                <a:gd name="T29" fmla="*/ 1452 h 2643"/>
                <a:gd name="T30" fmla="*/ 636 w 2643"/>
                <a:gd name="T31" fmla="*/ 1452 h 2643"/>
                <a:gd name="T32" fmla="*/ 636 w 2643"/>
                <a:gd name="T33" fmla="*/ 2046 h 2643"/>
                <a:gd name="T34" fmla="*/ 323 w 2643"/>
                <a:gd name="T35" fmla="*/ 1322 h 2643"/>
                <a:gd name="T36" fmla="*/ 1321 w 2643"/>
                <a:gd name="T37" fmla="*/ 323 h 2643"/>
                <a:gd name="T38" fmla="*/ 2320 w 2643"/>
                <a:gd name="T39" fmla="*/ 1322 h 2643"/>
                <a:gd name="T40" fmla="*/ 2007 w 2643"/>
                <a:gd name="T41" fmla="*/ 2045 h 2643"/>
                <a:gd name="T42" fmla="*/ 1537 w 2643"/>
                <a:gd name="T43" fmla="*/ 824 h 2643"/>
                <a:gd name="T44" fmla="*/ 1345 w 2643"/>
                <a:gd name="T45" fmla="*/ 1016 h 2643"/>
                <a:gd name="T46" fmla="*/ 1153 w 2643"/>
                <a:gd name="T47" fmla="*/ 824 h 2643"/>
                <a:gd name="T48" fmla="*/ 1345 w 2643"/>
                <a:gd name="T49" fmla="*/ 632 h 2643"/>
                <a:gd name="T50" fmla="*/ 1537 w 2643"/>
                <a:gd name="T51" fmla="*/ 824 h 2643"/>
                <a:gd name="T52" fmla="*/ 2034 w 2643"/>
                <a:gd name="T53" fmla="*/ 1207 h 2643"/>
                <a:gd name="T54" fmla="*/ 1843 w 2643"/>
                <a:gd name="T55" fmla="*/ 1399 h 2643"/>
                <a:gd name="T56" fmla="*/ 1651 w 2643"/>
                <a:gd name="T57" fmla="*/ 1207 h 2643"/>
                <a:gd name="T58" fmla="*/ 1843 w 2643"/>
                <a:gd name="T59" fmla="*/ 1015 h 2643"/>
                <a:gd name="T60" fmla="*/ 2034 w 2643"/>
                <a:gd name="T61" fmla="*/ 1207 h 2643"/>
                <a:gd name="T62" fmla="*/ 999 w 2643"/>
                <a:gd name="T63" fmla="*/ 1207 h 2643"/>
                <a:gd name="T64" fmla="*/ 807 w 2643"/>
                <a:gd name="T65" fmla="*/ 1399 h 2643"/>
                <a:gd name="T66" fmla="*/ 615 w 2643"/>
                <a:gd name="T67" fmla="*/ 1207 h 2643"/>
                <a:gd name="T68" fmla="*/ 807 w 2643"/>
                <a:gd name="T69" fmla="*/ 1015 h 2643"/>
                <a:gd name="T70" fmla="*/ 999 w 2643"/>
                <a:gd name="T71" fmla="*/ 1207 h 2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643" h="2643">
                  <a:moveTo>
                    <a:pt x="1321" y="0"/>
                  </a:moveTo>
                  <a:cubicBezTo>
                    <a:pt x="593" y="0"/>
                    <a:pt x="0" y="593"/>
                    <a:pt x="0" y="1321"/>
                  </a:cubicBezTo>
                  <a:cubicBezTo>
                    <a:pt x="0" y="2050"/>
                    <a:pt x="593" y="2643"/>
                    <a:pt x="1321" y="2643"/>
                  </a:cubicBezTo>
                  <a:cubicBezTo>
                    <a:pt x="2050" y="2643"/>
                    <a:pt x="2643" y="2050"/>
                    <a:pt x="2643" y="1321"/>
                  </a:cubicBezTo>
                  <a:cubicBezTo>
                    <a:pt x="2643" y="593"/>
                    <a:pt x="2050" y="0"/>
                    <a:pt x="1321" y="0"/>
                  </a:cubicBezTo>
                  <a:close/>
                  <a:moveTo>
                    <a:pt x="2007" y="2045"/>
                  </a:moveTo>
                  <a:lnTo>
                    <a:pt x="2007" y="1468"/>
                  </a:lnTo>
                  <a:lnTo>
                    <a:pt x="1685" y="1468"/>
                  </a:lnTo>
                  <a:lnTo>
                    <a:pt x="1685" y="2251"/>
                  </a:lnTo>
                  <a:cubicBezTo>
                    <a:pt x="1626" y="2274"/>
                    <a:pt x="1566" y="2291"/>
                    <a:pt x="1503" y="2303"/>
                  </a:cubicBezTo>
                  <a:lnTo>
                    <a:pt x="1503" y="1059"/>
                  </a:lnTo>
                  <a:lnTo>
                    <a:pt x="1180" y="1059"/>
                  </a:lnTo>
                  <a:lnTo>
                    <a:pt x="1180" y="2309"/>
                  </a:lnTo>
                  <a:cubicBezTo>
                    <a:pt x="1103" y="2298"/>
                    <a:pt x="1029" y="2279"/>
                    <a:pt x="958" y="2251"/>
                  </a:cubicBezTo>
                  <a:lnTo>
                    <a:pt x="958" y="1452"/>
                  </a:lnTo>
                  <a:lnTo>
                    <a:pt x="636" y="1452"/>
                  </a:lnTo>
                  <a:lnTo>
                    <a:pt x="636" y="2046"/>
                  </a:lnTo>
                  <a:cubicBezTo>
                    <a:pt x="443" y="1863"/>
                    <a:pt x="323" y="1607"/>
                    <a:pt x="323" y="1322"/>
                  </a:cubicBezTo>
                  <a:cubicBezTo>
                    <a:pt x="323" y="771"/>
                    <a:pt x="771" y="323"/>
                    <a:pt x="1321" y="323"/>
                  </a:cubicBezTo>
                  <a:cubicBezTo>
                    <a:pt x="1872" y="323"/>
                    <a:pt x="2320" y="771"/>
                    <a:pt x="2320" y="1322"/>
                  </a:cubicBezTo>
                  <a:cubicBezTo>
                    <a:pt x="2320" y="1606"/>
                    <a:pt x="2200" y="1863"/>
                    <a:pt x="2007" y="2045"/>
                  </a:cubicBezTo>
                  <a:close/>
                  <a:moveTo>
                    <a:pt x="1537" y="824"/>
                  </a:moveTo>
                  <a:cubicBezTo>
                    <a:pt x="1537" y="930"/>
                    <a:pt x="1451" y="1016"/>
                    <a:pt x="1345" y="1016"/>
                  </a:cubicBezTo>
                  <a:cubicBezTo>
                    <a:pt x="1239" y="1016"/>
                    <a:pt x="1153" y="930"/>
                    <a:pt x="1153" y="824"/>
                  </a:cubicBezTo>
                  <a:cubicBezTo>
                    <a:pt x="1153" y="718"/>
                    <a:pt x="1239" y="632"/>
                    <a:pt x="1345" y="632"/>
                  </a:cubicBezTo>
                  <a:cubicBezTo>
                    <a:pt x="1451" y="632"/>
                    <a:pt x="1537" y="718"/>
                    <a:pt x="1537" y="824"/>
                  </a:cubicBezTo>
                  <a:close/>
                  <a:moveTo>
                    <a:pt x="2034" y="1207"/>
                  </a:moveTo>
                  <a:cubicBezTo>
                    <a:pt x="2034" y="1313"/>
                    <a:pt x="1949" y="1399"/>
                    <a:pt x="1843" y="1399"/>
                  </a:cubicBezTo>
                  <a:cubicBezTo>
                    <a:pt x="1737" y="1399"/>
                    <a:pt x="1651" y="1313"/>
                    <a:pt x="1651" y="1207"/>
                  </a:cubicBezTo>
                  <a:cubicBezTo>
                    <a:pt x="1651" y="1101"/>
                    <a:pt x="1737" y="1015"/>
                    <a:pt x="1843" y="1015"/>
                  </a:cubicBezTo>
                  <a:cubicBezTo>
                    <a:pt x="1949" y="1015"/>
                    <a:pt x="2034" y="1101"/>
                    <a:pt x="2034" y="1207"/>
                  </a:cubicBezTo>
                  <a:close/>
                  <a:moveTo>
                    <a:pt x="999" y="1207"/>
                  </a:moveTo>
                  <a:cubicBezTo>
                    <a:pt x="999" y="1313"/>
                    <a:pt x="913" y="1399"/>
                    <a:pt x="807" y="1399"/>
                  </a:cubicBezTo>
                  <a:cubicBezTo>
                    <a:pt x="701" y="1399"/>
                    <a:pt x="615" y="1313"/>
                    <a:pt x="615" y="1207"/>
                  </a:cubicBezTo>
                  <a:cubicBezTo>
                    <a:pt x="615" y="1101"/>
                    <a:pt x="701" y="1015"/>
                    <a:pt x="807" y="1015"/>
                  </a:cubicBezTo>
                  <a:cubicBezTo>
                    <a:pt x="913" y="1015"/>
                    <a:pt x="999" y="1101"/>
                    <a:pt x="999" y="1207"/>
                  </a:cubicBezTo>
                  <a:close/>
                </a:path>
              </a:pathLst>
            </a:custGeom>
            <a:solidFill>
              <a:schemeClr val="bg1"/>
            </a:solidFill>
            <a:ln>
              <a:noFill/>
            </a:ln>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defRPr/>
              </a:pPr>
              <a:endParaRPr>
                <a:solidFill>
                  <a:schemeClr val="accent1"/>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14" name="组合 13"/>
          <p:cNvGrpSpPr/>
          <p:nvPr/>
        </p:nvGrpSpPr>
        <p:grpSpPr>
          <a:xfrm>
            <a:off x="1426585" y="4168475"/>
            <a:ext cx="1909330" cy="1486375"/>
            <a:chOff x="1392670" y="3912661"/>
            <a:chExt cx="1909330" cy="1486375"/>
          </a:xfrm>
        </p:grpSpPr>
        <p:sp>
          <p:nvSpPr>
            <p:cNvPr id="54" name="矩形 3"/>
            <p:cNvSpPr>
              <a:spLocks noChangeArrowheads="1"/>
            </p:cNvSpPr>
            <p:nvPr/>
          </p:nvSpPr>
          <p:spPr bwMode="auto">
            <a:xfrm>
              <a:off x="1538674" y="3912661"/>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55" name="文本框 54"/>
            <p:cNvSpPr txBox="1"/>
            <p:nvPr/>
          </p:nvSpPr>
          <p:spPr>
            <a:xfrm>
              <a:off x="1392670" y="4325601"/>
              <a:ext cx="1909330" cy="1073435"/>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grpSp>
      <p:grpSp>
        <p:nvGrpSpPr>
          <p:cNvPr id="56" name="组合 55"/>
          <p:cNvGrpSpPr/>
          <p:nvPr/>
        </p:nvGrpSpPr>
        <p:grpSpPr>
          <a:xfrm>
            <a:off x="3903085" y="4168475"/>
            <a:ext cx="1909330" cy="1486375"/>
            <a:chOff x="1392670" y="3912661"/>
            <a:chExt cx="1909330" cy="1486375"/>
          </a:xfrm>
        </p:grpSpPr>
        <p:sp>
          <p:nvSpPr>
            <p:cNvPr id="57" name="矩形 3"/>
            <p:cNvSpPr>
              <a:spLocks noChangeArrowheads="1"/>
            </p:cNvSpPr>
            <p:nvPr/>
          </p:nvSpPr>
          <p:spPr bwMode="auto">
            <a:xfrm>
              <a:off x="1538674" y="3912661"/>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58" name="文本框 57"/>
            <p:cNvSpPr txBox="1"/>
            <p:nvPr/>
          </p:nvSpPr>
          <p:spPr>
            <a:xfrm>
              <a:off x="1392670" y="4325601"/>
              <a:ext cx="1909330" cy="1073435"/>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grpSp>
      <p:grpSp>
        <p:nvGrpSpPr>
          <p:cNvPr id="59" name="组合 58"/>
          <p:cNvGrpSpPr/>
          <p:nvPr/>
        </p:nvGrpSpPr>
        <p:grpSpPr>
          <a:xfrm>
            <a:off x="6379585" y="4168475"/>
            <a:ext cx="1909330" cy="1486375"/>
            <a:chOff x="1392670" y="3912661"/>
            <a:chExt cx="1909330" cy="1486375"/>
          </a:xfrm>
        </p:grpSpPr>
        <p:sp>
          <p:nvSpPr>
            <p:cNvPr id="60" name="矩形 3"/>
            <p:cNvSpPr>
              <a:spLocks noChangeArrowheads="1"/>
            </p:cNvSpPr>
            <p:nvPr/>
          </p:nvSpPr>
          <p:spPr bwMode="auto">
            <a:xfrm>
              <a:off x="1538674" y="3912661"/>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61" name="文本框 60"/>
            <p:cNvSpPr txBox="1"/>
            <p:nvPr/>
          </p:nvSpPr>
          <p:spPr>
            <a:xfrm>
              <a:off x="1392670" y="4325601"/>
              <a:ext cx="1909330" cy="1073435"/>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grpSp>
      <p:grpSp>
        <p:nvGrpSpPr>
          <p:cNvPr id="62" name="组合 61"/>
          <p:cNvGrpSpPr/>
          <p:nvPr/>
        </p:nvGrpSpPr>
        <p:grpSpPr>
          <a:xfrm>
            <a:off x="8856085" y="4168475"/>
            <a:ext cx="1909330" cy="1486375"/>
            <a:chOff x="1392670" y="3912661"/>
            <a:chExt cx="1909330" cy="1486375"/>
          </a:xfrm>
        </p:grpSpPr>
        <p:sp>
          <p:nvSpPr>
            <p:cNvPr id="63" name="矩形 3"/>
            <p:cNvSpPr>
              <a:spLocks noChangeArrowheads="1"/>
            </p:cNvSpPr>
            <p:nvPr/>
          </p:nvSpPr>
          <p:spPr bwMode="auto">
            <a:xfrm>
              <a:off x="1538674" y="3912661"/>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64" name="文本框 63"/>
            <p:cNvSpPr txBox="1"/>
            <p:nvPr/>
          </p:nvSpPr>
          <p:spPr>
            <a:xfrm>
              <a:off x="1392670" y="4325601"/>
              <a:ext cx="1909330" cy="1073435"/>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grpSp>
      <p:sp>
        <p:nvSpPr>
          <p:cNvPr id="15" name="文本框 14"/>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childTnLst>
                          </p:cTn>
                        </p:par>
                        <p:par>
                          <p:cTn id="20" fill="hold">
                            <p:stCondLst>
                              <p:cond delay="500"/>
                            </p:stCondLst>
                            <p:childTnLst>
                              <p:par>
                                <p:cTn id="21" presetID="22" presetClass="entr" presetSubtype="4"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down)">
                                      <p:cBhvr>
                                        <p:cTn id="23" dur="500"/>
                                        <p:tgtEl>
                                          <p:spTgt spid="14"/>
                                        </p:tgtEl>
                                      </p:cBhvr>
                                    </p:animEffect>
                                  </p:childTnLst>
                                </p:cTn>
                              </p:par>
                            </p:childTnLst>
                          </p:cTn>
                        </p:par>
                        <p:par>
                          <p:cTn id="24" fill="hold">
                            <p:stCondLst>
                              <p:cond delay="1000"/>
                            </p:stCondLst>
                            <p:childTnLst>
                              <p:par>
                                <p:cTn id="25" presetID="22" presetClass="entr" presetSubtype="4" fill="hold" nodeType="after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wipe(down)">
                                      <p:cBhvr>
                                        <p:cTn id="27" dur="500"/>
                                        <p:tgtEl>
                                          <p:spTgt spid="56"/>
                                        </p:tgtEl>
                                      </p:cBhvr>
                                    </p:animEffect>
                                  </p:childTnLst>
                                </p:cTn>
                              </p:par>
                            </p:childTnLst>
                          </p:cTn>
                        </p:par>
                        <p:par>
                          <p:cTn id="28" fill="hold">
                            <p:stCondLst>
                              <p:cond delay="1500"/>
                            </p:stCondLst>
                            <p:childTnLst>
                              <p:par>
                                <p:cTn id="29" presetID="22" presetClass="entr" presetSubtype="4" fill="hold" nodeType="after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wipe(down)">
                                      <p:cBhvr>
                                        <p:cTn id="31" dur="500"/>
                                        <p:tgtEl>
                                          <p:spTgt spid="59"/>
                                        </p:tgtEl>
                                      </p:cBhvr>
                                    </p:animEffect>
                                  </p:childTnLst>
                                </p:cTn>
                              </p:par>
                            </p:childTnLst>
                          </p:cTn>
                        </p:par>
                        <p:par>
                          <p:cTn id="32" fill="hold">
                            <p:stCondLst>
                              <p:cond delay="2000"/>
                            </p:stCondLst>
                            <p:childTnLst>
                              <p:par>
                                <p:cTn id="33" presetID="22" presetClass="entr" presetSubtype="4" fill="hold" nodeType="afterEffect">
                                  <p:stCondLst>
                                    <p:cond delay="0"/>
                                  </p:stCondLst>
                                  <p:childTnLst>
                                    <p:set>
                                      <p:cBhvr>
                                        <p:cTn id="34" dur="1" fill="hold">
                                          <p:stCondLst>
                                            <p:cond delay="0"/>
                                          </p:stCondLst>
                                        </p:cTn>
                                        <p:tgtEl>
                                          <p:spTgt spid="62"/>
                                        </p:tgtEl>
                                        <p:attrNameLst>
                                          <p:attrName>style.visibility</p:attrName>
                                        </p:attrNameLst>
                                      </p:cBhvr>
                                      <p:to>
                                        <p:strVal val="visible"/>
                                      </p:to>
                                    </p:set>
                                    <p:animEffect transition="in" filter="wipe(down)">
                                      <p:cBhvr>
                                        <p:cTn id="35"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8500" y="-582990"/>
            <a:ext cx="13589000" cy="8023980"/>
            <a:chOff x="-863600" y="-584200"/>
            <a:chExt cx="13335000" cy="7874000"/>
          </a:xfrm>
          <a:solidFill>
            <a:srgbClr val="E6E6E6"/>
          </a:solidFill>
        </p:grpSpPr>
        <p:grpSp>
          <p:nvGrpSpPr>
            <p:cNvPr id="4" name="组合 3"/>
            <p:cNvGrpSpPr/>
            <p:nvPr/>
          </p:nvGrpSpPr>
          <p:grpSpPr>
            <a:xfrm>
              <a:off x="-863600" y="-584200"/>
              <a:ext cx="165100" cy="7874000"/>
              <a:chOff x="-863600" y="-584200"/>
              <a:chExt cx="165100" cy="7874000"/>
            </a:xfrm>
            <a:grpFill/>
          </p:grpSpPr>
          <p:sp>
            <p:nvSpPr>
              <p:cNvPr id="2" name="椭圆 1"/>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2306300" y="-584200"/>
              <a:ext cx="165100" cy="7874000"/>
              <a:chOff x="-863600" y="-584200"/>
              <a:chExt cx="165100" cy="7874000"/>
            </a:xfrm>
            <a:grpFill/>
          </p:grpSpPr>
          <p:sp>
            <p:nvSpPr>
              <p:cNvPr id="6" name="椭圆 5"/>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5" name="任意多边形: 形状 24"/>
          <p:cNvSpPr/>
          <p:nvPr/>
        </p:nvSpPr>
        <p:spPr>
          <a:xfrm>
            <a:off x="11328401" y="4965700"/>
            <a:ext cx="396593" cy="81642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nvSpPr>
        <p:spPr>
          <a:xfrm>
            <a:off x="11933555" y="543560"/>
            <a:ext cx="258445" cy="111760"/>
          </a:xfrm>
          <a:prstGeom prst="rect">
            <a:avLst/>
          </a:prstGeom>
          <a:solidFill>
            <a:srgbClr val="62EF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284882" y="241573"/>
            <a:ext cx="6191219" cy="626543"/>
            <a:chOff x="284882" y="285115"/>
            <a:chExt cx="6191219" cy="626543"/>
          </a:xfrm>
        </p:grpSpPr>
        <p:sp>
          <p:nvSpPr>
            <p:cNvPr id="21" name="文本框 20"/>
            <p:cNvSpPr txBox="1"/>
            <p:nvPr/>
          </p:nvSpPr>
          <p:spPr>
            <a:xfrm>
              <a:off x="831727" y="285115"/>
              <a:ext cx="5644374" cy="584775"/>
            </a:xfrm>
            <a:prstGeom prst="rect">
              <a:avLst/>
            </a:prstGeom>
            <a:noFill/>
          </p:spPr>
          <p:txBody>
            <a:bodyPr wrap="square" rtlCol="0">
              <a:spAutoFit/>
            </a:bodyPr>
            <a:lstStyle/>
            <a:p>
              <a:r>
                <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rPr>
                <a:t>问题分析总结</a:t>
              </a:r>
              <a:endParaRPr lang="zh-CN" altLang="en-US" sz="3200" dirty="0">
                <a:solidFill>
                  <a:schemeClr val="tx1">
                    <a:lumMod val="85000"/>
                    <a:lumOff val="15000"/>
                  </a:schemeClr>
                </a:solidFill>
                <a:latin typeface="三极正智黑简体" panose="00000500000000000000" pitchFamily="2" charset="-122"/>
                <a:ea typeface="三极正智黑简体" panose="00000500000000000000" pitchFamily="2" charset="-122"/>
                <a:cs typeface="+mn-ea"/>
                <a:sym typeface="+mn-lt"/>
              </a:endParaRPr>
            </a:p>
          </p:txBody>
        </p:sp>
        <p:grpSp>
          <p:nvGrpSpPr>
            <p:cNvPr id="13" name="组合 12"/>
            <p:cNvGrpSpPr/>
            <p:nvPr/>
          </p:nvGrpSpPr>
          <p:grpSpPr>
            <a:xfrm>
              <a:off x="284882" y="369226"/>
              <a:ext cx="542432" cy="542432"/>
              <a:chOff x="4058577" y="4375150"/>
              <a:chExt cx="1384300" cy="1384300"/>
            </a:xfrm>
          </p:grpSpPr>
          <p:sp>
            <p:nvSpPr>
              <p:cNvPr id="9" name="椭圆 8"/>
              <p:cNvSpPr/>
              <p:nvPr/>
            </p:nvSpPr>
            <p:spPr>
              <a:xfrm>
                <a:off x="4058577" y="4375150"/>
                <a:ext cx="1384300" cy="1384300"/>
              </a:xfrm>
              <a:prstGeom prst="ellipse">
                <a:avLst/>
              </a:prstGeom>
              <a:gradFill flip="none" rotWithShape="1">
                <a:gsLst>
                  <a:gs pos="38000">
                    <a:srgbClr val="62EFFE"/>
                  </a:gs>
                  <a:gs pos="90000">
                    <a:srgbClr val="02ECF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lumMod val="85000"/>
                      <a:lumOff val="15000"/>
                    </a:schemeClr>
                  </a:solidFill>
                  <a:latin typeface="思源黑体 CN Bold" panose="020B0800000000000000" pitchFamily="34" charset="-122"/>
                  <a:ea typeface="思源黑体 CN Bold" panose="020B0800000000000000" pitchFamily="34" charset="-122"/>
                  <a:cs typeface="+mn-ea"/>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1650" y="4619625"/>
                <a:ext cx="889000" cy="889000"/>
              </a:xfrm>
              <a:prstGeom prst="rect">
                <a:avLst/>
              </a:prstGeom>
            </p:spPr>
          </p:pic>
        </p:grpSp>
      </p:grpSp>
      <p:cxnSp>
        <p:nvCxnSpPr>
          <p:cNvPr id="41" name="直接连接符 40"/>
          <p:cNvCxnSpPr/>
          <p:nvPr/>
        </p:nvCxnSpPr>
        <p:spPr>
          <a:xfrm>
            <a:off x="6935189" y="3411518"/>
            <a:ext cx="758132"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935189" y="4769861"/>
            <a:ext cx="758132"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6935189" y="2053175"/>
            <a:ext cx="758132"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2" name="组合 51"/>
          <p:cNvGrpSpPr/>
          <p:nvPr/>
        </p:nvGrpSpPr>
        <p:grpSpPr>
          <a:xfrm>
            <a:off x="1188442" y="1497227"/>
            <a:ext cx="5007384" cy="4120028"/>
            <a:chOff x="972542" y="1725827"/>
            <a:chExt cx="5007384" cy="4120028"/>
          </a:xfrm>
        </p:grpSpPr>
        <p:grpSp>
          <p:nvGrpSpPr>
            <p:cNvPr id="18" name="组合 17"/>
            <p:cNvGrpSpPr/>
            <p:nvPr/>
          </p:nvGrpSpPr>
          <p:grpSpPr>
            <a:xfrm>
              <a:off x="1005691" y="2436766"/>
              <a:ext cx="4974235" cy="3409089"/>
              <a:chOff x="967591" y="2271666"/>
              <a:chExt cx="4974235" cy="3409089"/>
            </a:xfrm>
          </p:grpSpPr>
          <p:grpSp>
            <p:nvGrpSpPr>
              <p:cNvPr id="19" name="组合 18"/>
              <p:cNvGrpSpPr/>
              <p:nvPr/>
            </p:nvGrpSpPr>
            <p:grpSpPr>
              <a:xfrm>
                <a:off x="1069192" y="2605586"/>
                <a:ext cx="4790272" cy="2627429"/>
                <a:chOff x="6616040" y="2600565"/>
                <a:chExt cx="4790272" cy="2450465"/>
              </a:xfrm>
            </p:grpSpPr>
            <p:sp>
              <p:nvSpPr>
                <p:cNvPr id="36" name="矩形 35"/>
                <p:cNvSpPr/>
                <p:nvPr/>
              </p:nvSpPr>
              <p:spPr>
                <a:xfrm>
                  <a:off x="6616040" y="2600565"/>
                  <a:ext cx="840675" cy="2450465"/>
                </a:xfrm>
                <a:prstGeom prst="rect">
                  <a:avLst/>
                </a:prstGeom>
                <a:solidFill>
                  <a:srgbClr val="13245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37" name="矩形 36"/>
                <p:cNvSpPr/>
                <p:nvPr/>
              </p:nvSpPr>
              <p:spPr>
                <a:xfrm>
                  <a:off x="7603439" y="3671910"/>
                  <a:ext cx="840675" cy="1379120"/>
                </a:xfrm>
                <a:prstGeom prst="rect">
                  <a:avLst/>
                </a:prstGeom>
                <a:solidFill>
                  <a:srgbClr val="62EFF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38" name="矩形 37"/>
                <p:cNvSpPr/>
                <p:nvPr/>
              </p:nvSpPr>
              <p:spPr>
                <a:xfrm>
                  <a:off x="8590838" y="4197350"/>
                  <a:ext cx="840675" cy="853679"/>
                </a:xfrm>
                <a:prstGeom prst="rect">
                  <a:avLst/>
                </a:prstGeom>
                <a:solidFill>
                  <a:srgbClr val="13245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39" name="矩形 38"/>
                <p:cNvSpPr/>
                <p:nvPr/>
              </p:nvSpPr>
              <p:spPr>
                <a:xfrm>
                  <a:off x="9578237" y="4483102"/>
                  <a:ext cx="840675" cy="567927"/>
                </a:xfrm>
                <a:prstGeom prst="rect">
                  <a:avLst/>
                </a:prstGeom>
                <a:solidFill>
                  <a:srgbClr val="62EFF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40" name="矩形 39"/>
                <p:cNvSpPr/>
                <p:nvPr/>
              </p:nvSpPr>
              <p:spPr>
                <a:xfrm>
                  <a:off x="10565637" y="4578353"/>
                  <a:ext cx="840675" cy="472676"/>
                </a:xfrm>
                <a:prstGeom prst="rect">
                  <a:avLst/>
                </a:prstGeom>
                <a:solidFill>
                  <a:srgbClr val="13245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grpSp>
          <p:sp>
            <p:nvSpPr>
              <p:cNvPr id="20" name="文本框 19"/>
              <p:cNvSpPr txBox="1"/>
              <p:nvPr/>
            </p:nvSpPr>
            <p:spPr>
              <a:xfrm>
                <a:off x="1217657" y="5372978"/>
                <a:ext cx="543739" cy="307777"/>
              </a:xfrm>
              <a:prstGeom prst="rect">
                <a:avLst/>
              </a:prstGeom>
              <a:noFill/>
            </p:spPr>
            <p:txBody>
              <a:bodyPr wrap="none">
                <a:spAutoFit/>
              </a:bodyPr>
              <a:lstStyle/>
              <a:p>
                <a:pPr algn="ctr">
                  <a:defRPr/>
                </a:pPr>
                <a:r>
                  <a:rPr lang="zh-CN" altLang="en-US" sz="1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标题</a:t>
                </a:r>
                <a:endParaRPr lang="zh-CN" altLang="en-US" sz="1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2" name="文本框 21"/>
              <p:cNvSpPr txBox="1"/>
              <p:nvPr/>
            </p:nvSpPr>
            <p:spPr>
              <a:xfrm>
                <a:off x="2205058" y="5372978"/>
                <a:ext cx="543739" cy="307777"/>
              </a:xfrm>
              <a:prstGeom prst="rect">
                <a:avLst/>
              </a:prstGeom>
              <a:noFill/>
            </p:spPr>
            <p:txBody>
              <a:bodyPr wrap="none">
                <a:spAutoFit/>
              </a:bodyPr>
              <a:lstStyle/>
              <a:p>
                <a:pPr algn="ctr">
                  <a:defRPr/>
                </a:pPr>
                <a:r>
                  <a:rPr lang="zh-CN" altLang="en-US" sz="1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标题</a:t>
                </a:r>
                <a:endParaRPr lang="zh-CN" altLang="en-US" sz="1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3" name="文本框 22"/>
              <p:cNvSpPr txBox="1"/>
              <p:nvPr/>
            </p:nvSpPr>
            <p:spPr>
              <a:xfrm>
                <a:off x="3192458" y="5372978"/>
                <a:ext cx="543739" cy="307777"/>
              </a:xfrm>
              <a:prstGeom prst="rect">
                <a:avLst/>
              </a:prstGeom>
              <a:noFill/>
            </p:spPr>
            <p:txBody>
              <a:bodyPr wrap="none">
                <a:spAutoFit/>
              </a:bodyPr>
              <a:lstStyle/>
              <a:p>
                <a:pPr algn="ctr">
                  <a:defRPr/>
                </a:pPr>
                <a:r>
                  <a:rPr lang="zh-CN" altLang="en-US" sz="1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标题</a:t>
                </a:r>
                <a:endParaRPr lang="zh-CN" altLang="en-US" sz="1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4" name="文本框 23"/>
              <p:cNvSpPr txBox="1"/>
              <p:nvPr/>
            </p:nvSpPr>
            <p:spPr>
              <a:xfrm>
                <a:off x="4179857" y="5372978"/>
                <a:ext cx="543739" cy="307777"/>
              </a:xfrm>
              <a:prstGeom prst="rect">
                <a:avLst/>
              </a:prstGeom>
              <a:noFill/>
            </p:spPr>
            <p:txBody>
              <a:bodyPr wrap="none">
                <a:spAutoFit/>
              </a:bodyPr>
              <a:lstStyle/>
              <a:p>
                <a:pPr algn="ctr">
                  <a:defRPr/>
                </a:pPr>
                <a:r>
                  <a:rPr lang="zh-CN" altLang="en-US" sz="1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标题</a:t>
                </a:r>
                <a:endParaRPr lang="zh-CN" altLang="en-US" sz="1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26" name="文本框 25"/>
              <p:cNvSpPr txBox="1"/>
              <p:nvPr/>
            </p:nvSpPr>
            <p:spPr>
              <a:xfrm>
                <a:off x="5167255" y="5372978"/>
                <a:ext cx="543739" cy="307777"/>
              </a:xfrm>
              <a:prstGeom prst="rect">
                <a:avLst/>
              </a:prstGeom>
              <a:noFill/>
            </p:spPr>
            <p:txBody>
              <a:bodyPr wrap="none">
                <a:spAutoFit/>
              </a:bodyPr>
              <a:lstStyle/>
              <a:p>
                <a:pPr algn="ctr">
                  <a:defRPr/>
                </a:pPr>
                <a:r>
                  <a:rPr lang="zh-CN" altLang="en-US" sz="1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标题</a:t>
                </a:r>
                <a:endParaRPr lang="zh-CN" altLang="en-US" sz="14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cxnSp>
            <p:nvCxnSpPr>
              <p:cNvPr id="30" name="直接连接符 29"/>
              <p:cNvCxnSpPr/>
              <p:nvPr/>
            </p:nvCxnSpPr>
            <p:spPr>
              <a:xfrm>
                <a:off x="967591" y="5233014"/>
                <a:ext cx="4974235" cy="0"/>
              </a:xfrm>
              <a:prstGeom prst="line">
                <a:avLst/>
              </a:prstGeom>
              <a:noFill/>
              <a:ln w="6350" cap="flat" cmpd="sng" algn="ctr">
                <a:solidFill>
                  <a:sysClr val="window" lastClr="FFFFFF">
                    <a:lumMod val="65000"/>
                  </a:sysClr>
                </a:solidFill>
                <a:prstDash val="solid"/>
                <a:miter lim="800000"/>
              </a:ln>
              <a:effectLst/>
            </p:spPr>
          </p:cxnSp>
          <p:sp>
            <p:nvSpPr>
              <p:cNvPr id="31" name="文本框 30"/>
              <p:cNvSpPr txBox="1"/>
              <p:nvPr/>
            </p:nvSpPr>
            <p:spPr>
              <a:xfrm>
                <a:off x="1084611" y="2271666"/>
                <a:ext cx="809837" cy="338554"/>
              </a:xfrm>
              <a:prstGeom prst="rect">
                <a:avLst/>
              </a:prstGeom>
              <a:noFill/>
            </p:spPr>
            <p:txBody>
              <a:bodyPr wrap="none">
                <a:spAutoFit/>
              </a:bodyPr>
              <a:lstStyle/>
              <a:p>
                <a:pPr algn="ctr">
                  <a:defRPr/>
                </a:pPr>
                <a:r>
                  <a:rPr lang="en-US" altLang="zh-CN" sz="16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62.5%</a:t>
                </a:r>
                <a:endParaRPr lang="zh-CN" altLang="en-US" sz="16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32" name="文本框 31"/>
              <p:cNvSpPr txBox="1"/>
              <p:nvPr/>
            </p:nvSpPr>
            <p:spPr>
              <a:xfrm>
                <a:off x="2072009" y="3413499"/>
                <a:ext cx="809837" cy="338554"/>
              </a:xfrm>
              <a:prstGeom prst="rect">
                <a:avLst/>
              </a:prstGeom>
              <a:noFill/>
            </p:spPr>
            <p:txBody>
              <a:bodyPr wrap="none">
                <a:spAutoFit/>
              </a:bodyPr>
              <a:lstStyle/>
              <a:p>
                <a:pPr algn="ctr">
                  <a:defRPr/>
                </a:pPr>
                <a:r>
                  <a:rPr lang="en-US" altLang="zh-CN" sz="16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37.4%</a:t>
                </a:r>
                <a:endParaRPr lang="zh-CN" altLang="en-US" sz="16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33" name="文本框 32"/>
              <p:cNvSpPr txBox="1"/>
              <p:nvPr/>
            </p:nvSpPr>
            <p:spPr>
              <a:xfrm>
                <a:off x="3059409" y="3977488"/>
                <a:ext cx="809837" cy="338554"/>
              </a:xfrm>
              <a:prstGeom prst="rect">
                <a:avLst/>
              </a:prstGeom>
              <a:noFill/>
            </p:spPr>
            <p:txBody>
              <a:bodyPr wrap="none">
                <a:spAutoFit/>
              </a:bodyPr>
              <a:lstStyle/>
              <a:p>
                <a:pPr algn="ctr">
                  <a:defRPr/>
                </a:pPr>
                <a:r>
                  <a:rPr lang="en-US" altLang="zh-CN" sz="16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16.2%</a:t>
                </a:r>
                <a:endParaRPr lang="zh-CN" altLang="en-US" sz="16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34" name="文本框 33"/>
              <p:cNvSpPr txBox="1"/>
              <p:nvPr/>
            </p:nvSpPr>
            <p:spPr>
              <a:xfrm>
                <a:off x="4046809" y="4288638"/>
                <a:ext cx="809837" cy="338554"/>
              </a:xfrm>
              <a:prstGeom prst="rect">
                <a:avLst/>
              </a:prstGeom>
              <a:noFill/>
            </p:spPr>
            <p:txBody>
              <a:bodyPr wrap="none">
                <a:spAutoFit/>
              </a:bodyPr>
              <a:lstStyle/>
              <a:p>
                <a:pPr algn="ctr">
                  <a:defRPr/>
                </a:pPr>
                <a:r>
                  <a:rPr lang="en-US" altLang="zh-CN" sz="16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12.0%</a:t>
                </a:r>
                <a:endParaRPr lang="zh-CN" altLang="en-US" sz="16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35" name="文本框 34"/>
              <p:cNvSpPr txBox="1"/>
              <p:nvPr/>
            </p:nvSpPr>
            <p:spPr>
              <a:xfrm>
                <a:off x="5034205" y="4383888"/>
                <a:ext cx="809837" cy="338554"/>
              </a:xfrm>
              <a:prstGeom prst="rect">
                <a:avLst/>
              </a:prstGeom>
              <a:noFill/>
            </p:spPr>
            <p:txBody>
              <a:bodyPr wrap="none">
                <a:spAutoFit/>
              </a:bodyPr>
              <a:lstStyle/>
              <a:p>
                <a:pPr algn="ctr">
                  <a:defRPr/>
                </a:pPr>
                <a:r>
                  <a:rPr lang="en-US" altLang="zh-CN" sz="16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rPr>
                  <a:t>11.5%</a:t>
                </a:r>
                <a:endParaRPr lang="zh-CN" altLang="en-US" sz="1600" dirty="0">
                  <a:solidFill>
                    <a:schemeClr val="tx1">
                      <a:lumMod val="85000"/>
                      <a:lumOff val="15000"/>
                    </a:schemeClr>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44" name="组合 43"/>
            <p:cNvGrpSpPr/>
            <p:nvPr/>
          </p:nvGrpSpPr>
          <p:grpSpPr>
            <a:xfrm>
              <a:off x="972542" y="1725827"/>
              <a:ext cx="4979800" cy="447068"/>
              <a:chOff x="934442" y="1560727"/>
              <a:chExt cx="4979800" cy="447068"/>
            </a:xfrm>
          </p:grpSpPr>
          <p:cxnSp>
            <p:nvCxnSpPr>
              <p:cNvPr id="45" name="直接连接符 44"/>
              <p:cNvCxnSpPr/>
              <p:nvPr/>
            </p:nvCxnSpPr>
            <p:spPr>
              <a:xfrm>
                <a:off x="1069191" y="2007795"/>
                <a:ext cx="4845051" cy="0"/>
              </a:xfrm>
              <a:prstGeom prst="line">
                <a:avLst/>
              </a:prstGeom>
              <a:noFill/>
              <a:ln w="9525" cap="flat" cmpd="sng" algn="ctr">
                <a:solidFill>
                  <a:sysClr val="windowText" lastClr="000000">
                    <a:lumMod val="50000"/>
                    <a:lumOff val="50000"/>
                  </a:sysClr>
                </a:solidFill>
                <a:prstDash val="solid"/>
                <a:miter lim="800000"/>
              </a:ln>
              <a:effectLst/>
            </p:spPr>
          </p:cxnSp>
          <p:sp>
            <p:nvSpPr>
              <p:cNvPr id="46" name="文本框 45"/>
              <p:cNvSpPr txBox="1"/>
              <p:nvPr/>
            </p:nvSpPr>
            <p:spPr>
              <a:xfrm>
                <a:off x="934442" y="1560727"/>
                <a:ext cx="2492990" cy="400110"/>
              </a:xfrm>
              <a:prstGeom prst="rect">
                <a:avLst/>
              </a:prstGeom>
              <a:noFill/>
            </p:spPr>
            <p:txBody>
              <a:bodyPr wrap="none" rtlCol="0">
                <a:spAutoFit/>
              </a:bodyPr>
              <a:lstStyle/>
              <a:p>
                <a:r>
                  <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请输入您的标题文字</a:t>
                </a:r>
                <a:endParaRPr lang="zh-CN" altLang="en-US" sz="20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47" name="文本框 46"/>
              <p:cNvSpPr txBox="1"/>
              <p:nvPr/>
            </p:nvSpPr>
            <p:spPr>
              <a:xfrm>
                <a:off x="3791009" y="1607432"/>
                <a:ext cx="1368055" cy="312971"/>
              </a:xfrm>
              <a:prstGeom prst="rect">
                <a:avLst/>
              </a:prstGeom>
              <a:noFill/>
            </p:spPr>
            <p:txBody>
              <a:bodyPr wrap="square" rtlCol="0">
                <a:spAutoFit/>
              </a:bodyPr>
              <a:lstStyle/>
              <a:p>
                <a:pPr>
                  <a:lnSpc>
                    <a:spcPct val="130000"/>
                  </a:lnSpc>
                </a:pPr>
                <a:r>
                  <a:rPr lang="en-US" altLang="zh-CN" sz="1200" dirty="0">
                    <a:solidFill>
                      <a:schemeClr val="tx1">
                        <a:lumMod val="50000"/>
                        <a:lumOff val="50000"/>
                      </a:schemeClr>
                    </a:solidFill>
                    <a:latin typeface="思源黑体 CN Bold" panose="020B0800000000000000" pitchFamily="34" charset="-122"/>
                    <a:ea typeface="思源黑体 CN Bold" panose="020B0800000000000000" pitchFamily="34" charset="-122"/>
                    <a:cs typeface="+mn-ea"/>
                    <a:sym typeface="+mn-lt"/>
                  </a:rPr>
                  <a:t>Click enter text</a:t>
                </a:r>
                <a:endParaRPr lang="zh-CN" altLang="en-US" sz="1200" dirty="0">
                  <a:solidFill>
                    <a:schemeClr val="tx1">
                      <a:lumMod val="50000"/>
                      <a:lumOff val="50000"/>
                    </a:schemeClr>
                  </a:solidFill>
                  <a:latin typeface="思源黑体 CN Bold" panose="020B0800000000000000" pitchFamily="34" charset="-122"/>
                  <a:ea typeface="思源黑体 CN Bold" panose="020B0800000000000000" pitchFamily="34" charset="-122"/>
                  <a:cs typeface="+mn-ea"/>
                  <a:sym typeface="+mn-lt"/>
                </a:endParaRPr>
              </a:p>
            </p:txBody>
          </p:sp>
        </p:grpSp>
      </p:grpSp>
      <p:sp>
        <p:nvSpPr>
          <p:cNvPr id="48" name="矩形 3"/>
          <p:cNvSpPr>
            <a:spLocks noChangeArrowheads="1"/>
          </p:cNvSpPr>
          <p:nvPr/>
        </p:nvSpPr>
        <p:spPr bwMode="auto">
          <a:xfrm>
            <a:off x="6741093" y="1541389"/>
            <a:ext cx="1617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457200">
              <a:spcBef>
                <a:spcPct val="0"/>
              </a:spcBef>
            </a:pPr>
            <a:r>
              <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rPr>
              <a:t>标题文字</a:t>
            </a:r>
            <a:endParaRPr lang="zh-CN" altLang="en-US" sz="2400" dirty="0">
              <a:solidFill>
                <a:schemeClr val="tx1">
                  <a:lumMod val="75000"/>
                  <a:lumOff val="2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sym typeface="+mn-lt"/>
            </a:endParaRPr>
          </a:p>
        </p:txBody>
      </p:sp>
      <p:sp>
        <p:nvSpPr>
          <p:cNvPr id="49" name="文本框 48"/>
          <p:cNvSpPr txBox="1"/>
          <p:nvPr/>
        </p:nvSpPr>
        <p:spPr>
          <a:xfrm>
            <a:off x="6904470" y="2195629"/>
            <a:ext cx="3905044" cy="1073435"/>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请在此处添加具体内容，文字尽量言简意赅，简单说明即可，不必过于繁琐，注意版面美观度。</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50" name="文本框 49"/>
          <p:cNvSpPr txBox="1"/>
          <p:nvPr/>
        </p:nvSpPr>
        <p:spPr>
          <a:xfrm>
            <a:off x="6904470" y="3553972"/>
            <a:ext cx="3905044" cy="1073435"/>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请在此处添加具体内容，文字尽量言简意赅，简单说明即可，不必过于繁琐，注意版面美观度。</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51" name="文本框 50"/>
          <p:cNvSpPr txBox="1"/>
          <p:nvPr/>
        </p:nvSpPr>
        <p:spPr>
          <a:xfrm>
            <a:off x="6904470" y="4912313"/>
            <a:ext cx="3905044" cy="704104"/>
          </a:xfrm>
          <a:prstGeom prst="rect">
            <a:avLst/>
          </a:prstGeom>
          <a:noFill/>
        </p:spPr>
        <p:txBody>
          <a:bodyPr wrap="square" lIns="0" tIns="0" rIns="0" bIns="0">
            <a:spAutoFit/>
          </a:bodyPr>
          <a:lstStyle/>
          <a:p>
            <a:pPr algn="just" defTabSz="987425" fontAlgn="base">
              <a:lnSpc>
                <a:spcPct val="150000"/>
              </a:lnSpc>
              <a:spcBef>
                <a:spcPct val="0"/>
              </a:spcBef>
              <a:spcAft>
                <a:spcPct val="0"/>
              </a:spcAft>
              <a:defRPr/>
            </a:pPr>
            <a:r>
              <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rPr>
              <a:t>文字尽量言简意赅，简单说明即可，不必过于繁琐，注意版面美观度。</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mn-lt"/>
            </a:endParaRPr>
          </a:p>
        </p:txBody>
      </p:sp>
      <p:sp>
        <p:nvSpPr>
          <p:cNvPr id="12" name="文本框 11"/>
          <p:cNvSpPr txBox="1"/>
          <p:nvPr/>
        </p:nvSpPr>
        <p:spPr>
          <a:xfrm>
            <a:off x="9031605" y="569557"/>
            <a:ext cx="2705562" cy="337185"/>
          </a:xfrm>
          <a:prstGeom prst="rect">
            <a:avLst/>
          </a:prstGeom>
          <a:noFill/>
        </p:spPr>
        <p:txBody>
          <a:bodyPr wrap="square" rtlCol="0">
            <a:spAutoFit/>
          </a:bodyPr>
          <a:lstStyle/>
          <a:p>
            <a:pPr algn="dist"/>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20</a:t>
            </a:r>
            <a:r>
              <a:rPr lang="en-US" altLang="zh-CN" sz="1600" b="1" dirty="0">
                <a:solidFill>
                  <a:schemeClr val="tx1"/>
                </a:solidFill>
                <a:latin typeface="思源黑体 CN Normal" panose="020B0400000000000000" pitchFamily="34" charset="-122"/>
                <a:ea typeface="思源黑体 CN Normal" panose="020B0400000000000000" pitchFamily="34" charset="-122"/>
                <a:cs typeface="+mn-ea"/>
                <a:sym typeface="+mn-lt"/>
              </a:rPr>
              <a:t>23Google</a:t>
            </a:r>
            <a:r>
              <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rPr>
              <a:t>开发者大会</a:t>
            </a:r>
            <a:endParaRPr lang="zh-CN" altLang="en-US" sz="1600" b="1" dirty="0">
              <a:solidFill>
                <a:schemeClr val="tx1"/>
              </a:solidFill>
              <a:latin typeface="思源黑体 CN Normal" panose="020B0400000000000000" pitchFamily="34" charset="-122"/>
              <a:ea typeface="思源黑体 CN Normal" panose="020B04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advTm="5000">
        <p14:prism isInverted="1"/>
      </p:transition>
    </mc:Choice>
    <mc:Fallback>
      <p:transition spd="slow"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wipe(down)">
                                      <p:cBhvr>
                                        <p:cTn id="17" dur="500"/>
                                        <p:tgtEl>
                                          <p:spTgt spid="52"/>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down)">
                                      <p:cBhvr>
                                        <p:cTn id="21" dur="500"/>
                                        <p:tgtEl>
                                          <p:spTgt spid="41"/>
                                        </p:tgtEl>
                                      </p:cBhvr>
                                    </p:animEffect>
                                  </p:childTnLst>
                                </p:cTn>
                              </p:par>
                            </p:childTnLst>
                          </p:cTn>
                        </p:par>
                        <p:par>
                          <p:cTn id="22" fill="hold">
                            <p:stCondLst>
                              <p:cond delay="1000"/>
                            </p:stCondLst>
                            <p:childTnLst>
                              <p:par>
                                <p:cTn id="23" presetID="22" presetClass="entr" presetSubtype="4" fill="hold" nodeType="after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wipe(down)">
                                      <p:cBhvr>
                                        <p:cTn id="25" dur="500"/>
                                        <p:tgtEl>
                                          <p:spTgt spid="42"/>
                                        </p:tgtEl>
                                      </p:cBhvr>
                                    </p:animEffect>
                                  </p:childTnLst>
                                </p:cTn>
                              </p:par>
                            </p:childTnLst>
                          </p:cTn>
                        </p:par>
                        <p:par>
                          <p:cTn id="26" fill="hold">
                            <p:stCondLst>
                              <p:cond delay="1500"/>
                            </p:stCondLst>
                            <p:childTnLst>
                              <p:par>
                                <p:cTn id="27" presetID="22" presetClass="entr" presetSubtype="4" fill="hold" nodeType="after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wipe(down)">
                                      <p:cBhvr>
                                        <p:cTn id="29" dur="500"/>
                                        <p:tgtEl>
                                          <p:spTgt spid="43"/>
                                        </p:tgtEl>
                                      </p:cBhvr>
                                    </p:animEffect>
                                  </p:childTnLst>
                                </p:cTn>
                              </p:par>
                            </p:childTnLst>
                          </p:cTn>
                        </p:par>
                        <p:par>
                          <p:cTn id="30" fill="hold">
                            <p:stCondLst>
                              <p:cond delay="2000"/>
                            </p:stCondLst>
                            <p:childTnLst>
                              <p:par>
                                <p:cTn id="31" presetID="22" presetClass="entr" presetSubtype="4" fill="hold" grpId="0" nodeType="afterEffect">
                                  <p:stCondLst>
                                    <p:cond delay="0"/>
                                  </p:stCondLst>
                                  <p:childTnLst>
                                    <p:set>
                                      <p:cBhvr>
                                        <p:cTn id="32" dur="1" fill="hold">
                                          <p:stCondLst>
                                            <p:cond delay="0"/>
                                          </p:stCondLst>
                                        </p:cTn>
                                        <p:tgtEl>
                                          <p:spTgt spid="48"/>
                                        </p:tgtEl>
                                        <p:attrNameLst>
                                          <p:attrName>style.visibility</p:attrName>
                                        </p:attrNameLst>
                                      </p:cBhvr>
                                      <p:to>
                                        <p:strVal val="visible"/>
                                      </p:to>
                                    </p:set>
                                    <p:animEffect transition="in" filter="wipe(down)">
                                      <p:cBhvr>
                                        <p:cTn id="33" dur="500"/>
                                        <p:tgtEl>
                                          <p:spTgt spid="48"/>
                                        </p:tgtEl>
                                      </p:cBhvr>
                                    </p:animEffect>
                                  </p:childTnLst>
                                </p:cTn>
                              </p:par>
                            </p:childTnLst>
                          </p:cTn>
                        </p:par>
                        <p:par>
                          <p:cTn id="34" fill="hold">
                            <p:stCondLst>
                              <p:cond delay="2500"/>
                            </p:stCondLst>
                            <p:childTnLst>
                              <p:par>
                                <p:cTn id="35" presetID="22" presetClass="entr" presetSubtype="4" fill="hold" grpId="0" nodeType="after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wipe(down)">
                                      <p:cBhvr>
                                        <p:cTn id="37" dur="500"/>
                                        <p:tgtEl>
                                          <p:spTgt spid="49"/>
                                        </p:tgtEl>
                                      </p:cBhvr>
                                    </p:animEffect>
                                  </p:childTnLst>
                                </p:cTn>
                              </p:par>
                            </p:childTnLst>
                          </p:cTn>
                        </p:par>
                        <p:par>
                          <p:cTn id="38" fill="hold">
                            <p:stCondLst>
                              <p:cond delay="3000"/>
                            </p:stCondLst>
                            <p:childTnLst>
                              <p:par>
                                <p:cTn id="39" presetID="22" presetClass="entr" presetSubtype="4" fill="hold" grpId="0" nodeType="after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wipe(down)">
                                      <p:cBhvr>
                                        <p:cTn id="41" dur="500"/>
                                        <p:tgtEl>
                                          <p:spTgt spid="50"/>
                                        </p:tgtEl>
                                      </p:cBhvr>
                                    </p:animEffect>
                                  </p:childTnLst>
                                </p:cTn>
                              </p:par>
                            </p:childTnLst>
                          </p:cTn>
                        </p:par>
                        <p:par>
                          <p:cTn id="42" fill="hold">
                            <p:stCondLst>
                              <p:cond delay="3500"/>
                            </p:stCondLst>
                            <p:childTnLst>
                              <p:par>
                                <p:cTn id="43" presetID="22" presetClass="entr" presetSubtype="4" fill="hold" grpId="0" nodeType="afterEffect">
                                  <p:stCondLst>
                                    <p:cond delay="0"/>
                                  </p:stCondLst>
                                  <p:childTnLst>
                                    <p:set>
                                      <p:cBhvr>
                                        <p:cTn id="44" dur="1" fill="hold">
                                          <p:stCondLst>
                                            <p:cond delay="0"/>
                                          </p:stCondLst>
                                        </p:cTn>
                                        <p:tgtEl>
                                          <p:spTgt spid="51"/>
                                        </p:tgtEl>
                                        <p:attrNameLst>
                                          <p:attrName>style.visibility</p:attrName>
                                        </p:attrNameLst>
                                      </p:cBhvr>
                                      <p:to>
                                        <p:strVal val="visible"/>
                                      </p:to>
                                    </p:set>
                                    <p:animEffect transition="in" filter="wipe(down)">
                                      <p:cBhvr>
                                        <p:cTn id="45"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48" grpId="0"/>
      <p:bldP spid="49" grpId="0"/>
      <p:bldP spid="50" grpId="0"/>
      <p:bldP spid="51" grpId="0"/>
    </p:bldLst>
  </p:timing>
</p:sld>
</file>

<file path=ppt/tags/tag1.xml><?xml version="1.0" encoding="utf-8"?>
<p:tagLst xmlns:p="http://schemas.openxmlformats.org/presentationml/2006/main">
  <p:tag name="PA" val="v5.2.11"/>
</p:tagLst>
</file>

<file path=ppt/tags/tag2.xml><?xml version="1.0" encoding="utf-8"?>
<p:tagLst xmlns:p="http://schemas.openxmlformats.org/presentationml/2006/main">
  <p:tag name="PA" val="v5.2.11"/>
</p:tagLst>
</file>

<file path=ppt/tags/tag3.xml><?xml version="1.0" encoding="utf-8"?>
<p:tagLst xmlns:p="http://schemas.openxmlformats.org/presentationml/2006/main">
  <p:tag name="PA" val="v5.2.11"/>
</p:tagLst>
</file>

<file path=ppt/tags/tag4.xml><?xml version="1.0" encoding="utf-8"?>
<p:tagLst xmlns:p="http://schemas.openxmlformats.org/presentationml/2006/main">
  <p:tag name="PA" val="v5.2.11"/>
</p:tagLst>
</file>

<file path=ppt/tags/tag5.xml><?xml version="1.0" encoding="utf-8"?>
<p:tagLst xmlns:p="http://schemas.openxmlformats.org/presentationml/2006/main">
  <p:tag name="PA" val="v5.2.11"/>
</p:tagLst>
</file>

<file path=ppt/tags/tag6.xml><?xml version="1.0" encoding="utf-8"?>
<p:tagLst xmlns:p="http://schemas.openxmlformats.org/presentationml/2006/main">
  <p:tag name="PA" val="v5.2.11"/>
</p:tagLst>
</file>

<file path=ppt/tags/tag7.xml><?xml version="1.0" encoding="utf-8"?>
<p:tagLst xmlns:p="http://schemas.openxmlformats.org/presentationml/2006/main">
  <p:tag name="KSO_WM_UNIT_TABLE_BEAUTIFY" val="smartTable{2c3fb94d-8698-4ca7-b24d-6c1ee593f78d}"/>
  <p:tag name="TABLE_ENDDRAG_ORIGIN_RECT" val="107*338"/>
  <p:tag name="TABLE_ENDDRAG_RECT" val="68*201*107*338"/>
</p:tagLst>
</file>

<file path=ppt/tags/tag8.xml><?xml version="1.0" encoding="utf-8"?>
<p:tagLst xmlns:p="http://schemas.openxmlformats.org/presentationml/2006/main">
  <p:tag name="KSO_WM_UNIT_TABLE_BEAUTIFY" val="smartTable{bcbd1b95-5713-483d-8655-9889cc6a42ca}"/>
  <p:tag name="TABLE_ENDDRAG_ORIGIN_RECT" val="131*291"/>
  <p:tag name="TABLE_ENDDRAG_RECT" val="194*197*131*291"/>
</p:tagLst>
</file>

<file path=ppt/tags/tag9.xml><?xml version="1.0" encoding="utf-8"?>
<p:tagLst xmlns:p="http://schemas.openxmlformats.org/presentationml/2006/main">
  <p:tag name="KSO_WM_UNIT_TABLE_BEAUTIFY" val="smartTable{31397389-9494-4486-a3b3-673c47f4eecc}"/>
  <p:tag name="TABLE_ENDDRAG_ORIGIN_RECT" val="134*291"/>
  <p:tag name="TABLE_ENDDRAG_RECT" val="334*197*134*291"/>
</p:tagLst>
</file>

<file path=ppt/tags/tag10.xml><?xml version="1.0" encoding="utf-8"?>
<p:tagLst xmlns:p="http://schemas.openxmlformats.org/presentationml/2006/main">
  <p:tag name="KSO_WM_UNIT_TABLE_BEAUTIFY" val="smartTable{7ba9dd8e-0cd2-4dad-9955-20bae0d7248e}"/>
  <p:tag name="TABLE_ENDDRAG_ORIGIN_RECT" val="128*291"/>
  <p:tag name="TABLE_ENDDRAG_RECT" val="479*197*128*291"/>
</p:tagLst>
</file>

<file path=ppt/tags/tag11.xml><?xml version="1.0" encoding="utf-8"?>
<p:tagLst xmlns:p="http://schemas.openxmlformats.org/presentationml/2006/main">
  <p:tag name="KSO_WM_UNIT_TABLE_BEAUTIFY" val="smartTable{5f866747-09dd-41eb-9c98-a98fea150f43}"/>
  <p:tag name="TABLE_ENDDRAG_ORIGIN_RECT" val="116*292"/>
  <p:tag name="TABLE_ENDDRAG_RECT" val="617*197*116*292"/>
</p:tagLst>
</file>

<file path=ppt/tags/tag12.xml><?xml version="1.0" encoding="utf-8"?>
<p:tagLst xmlns:p="http://schemas.openxmlformats.org/presentationml/2006/main">
  <p:tag name="KSO_WM_UNIT_TABLE_BEAUTIFY" val="smartTable{afdccb37-1520-41f6-b800-8a52bcfc4384}"/>
  <p:tag name="TABLE_ENDDRAG_ORIGIN_RECT" val="126*291"/>
  <p:tag name="TABLE_ENDDRAG_RECT" val="744*197*126*291"/>
</p:tagLst>
</file>

<file path=ppt/tags/tag13.xml><?xml version="1.0" encoding="utf-8"?>
<p:tagLst xmlns:p="http://schemas.openxmlformats.org/presentationml/2006/main">
  <p:tag name="TABLE_ENDDRAG_ORIGIN_RECT" val="135*88"/>
  <p:tag name="TABLE_ENDDRAG_RECT" val="395*270*135*88"/>
  <p:tag name="KSO_WM_UNIT_TABLE_BEAUTIFY" val="smartTable{60e64b7c-8588-4d88-a17e-67c4ba09f742}"/>
</p:tagLst>
</file>

<file path=ppt/tags/tag14.xml><?xml version="1.0" encoding="utf-8"?>
<p:tagLst xmlns:p="http://schemas.openxmlformats.org/presentationml/2006/main">
  <p:tag name="KSO_WM_UNIT_PLACING_PICTURE_USER_VIEWPORT" val="{&quot;height&quot;:4654,&quot;width&quot;:3880}"/>
</p:tagLst>
</file>

<file path=ppt/tags/tag15.xml><?xml version="1.0" encoding="utf-8"?>
<p:tagLst xmlns:p="http://schemas.openxmlformats.org/presentationml/2006/main">
  <p:tag name="PA" val="v5.2.11"/>
</p:tagLst>
</file>

<file path=ppt/tags/tag16.xml><?xml version="1.0" encoding="utf-8"?>
<p:tagLst xmlns:p="http://schemas.openxmlformats.org/presentationml/2006/main">
  <p:tag name="PA" val="v5.2.11"/>
</p:tagLst>
</file>

<file path=ppt/tags/tag17.xml><?xml version="1.0" encoding="utf-8"?>
<p:tagLst xmlns:p="http://schemas.openxmlformats.org/presentationml/2006/main">
  <p:tag name="TABLE_ENDDRAG_ORIGIN_RECT" val="317*357"/>
  <p:tag name="TABLE_ENDDRAG_RECT" val="89*138*317*357"/>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PA" val="v5.2.11"/>
</p:tagLst>
</file>

<file path=ppt/tags/tag23.xml><?xml version="1.0" encoding="utf-8"?>
<p:tagLst xmlns:p="http://schemas.openxmlformats.org/presentationml/2006/main">
  <p:tag name="KSO_WM_UNIT_PLACING_PICTURE_USER_VIEWPORT" val="{&quot;height&quot;:7730,&quot;width&quot;:10341}"/>
</p:tagLst>
</file>

<file path=ppt/tags/tag24.xml><?xml version="1.0" encoding="utf-8"?>
<p:tagLst xmlns:p="http://schemas.openxmlformats.org/presentationml/2006/main">
  <p:tag name="PA" val="v5.2.1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01-单蓝色-旁门左道">
    <a:dk1>
      <a:sysClr val="windowText" lastClr="000000"/>
    </a:dk1>
    <a:lt1>
      <a:sysClr val="window" lastClr="FFFFFF"/>
    </a:lt1>
    <a:dk2>
      <a:srgbClr val="2D3847"/>
    </a:dk2>
    <a:lt2>
      <a:srgbClr val="E7E6E6"/>
    </a:lt2>
    <a:accent1>
      <a:srgbClr val="037EF3"/>
    </a:accent1>
    <a:accent2>
      <a:srgbClr val="D8D8D8"/>
    </a:accent2>
    <a:accent3>
      <a:srgbClr val="BFBFBF"/>
    </a:accent3>
    <a:accent4>
      <a:srgbClr val="A5A5A5"/>
    </a:accent4>
    <a:accent5>
      <a:srgbClr val="7F7F7F"/>
    </a:accent5>
    <a:accent6>
      <a:srgbClr val="595959"/>
    </a:accent6>
    <a:hlink>
      <a:srgbClr val="0563C1"/>
    </a:hlink>
    <a:folHlink>
      <a:srgbClr val="954F72"/>
    </a:folHlink>
  </a:clrScheme>
  <a:fontScheme name="工作型">
    <a:majorFont>
      <a:latin typeface="Roboto Bold"/>
      <a:ea typeface="思源黑体 CN Bold"/>
      <a:cs typeface=""/>
    </a:majorFont>
    <a:minorFont>
      <a:latin typeface="Roboto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01-单蓝色-旁门左道">
    <a:dk1>
      <a:sysClr val="windowText" lastClr="000000"/>
    </a:dk1>
    <a:lt1>
      <a:sysClr val="window" lastClr="FFFFFF"/>
    </a:lt1>
    <a:dk2>
      <a:srgbClr val="2D3847"/>
    </a:dk2>
    <a:lt2>
      <a:srgbClr val="E7E6E6"/>
    </a:lt2>
    <a:accent1>
      <a:srgbClr val="037EF3"/>
    </a:accent1>
    <a:accent2>
      <a:srgbClr val="D8D8D8"/>
    </a:accent2>
    <a:accent3>
      <a:srgbClr val="BFBFBF"/>
    </a:accent3>
    <a:accent4>
      <a:srgbClr val="A5A5A5"/>
    </a:accent4>
    <a:accent5>
      <a:srgbClr val="7F7F7F"/>
    </a:accent5>
    <a:accent6>
      <a:srgbClr val="595959"/>
    </a:accent6>
    <a:hlink>
      <a:srgbClr val="0563C1"/>
    </a:hlink>
    <a:folHlink>
      <a:srgbClr val="954F72"/>
    </a:folHlink>
  </a:clrScheme>
  <a:fontScheme name="工作型">
    <a:majorFont>
      <a:latin typeface="Roboto Bold"/>
      <a:ea typeface="思源黑体 CN Bold"/>
      <a:cs typeface=""/>
    </a:majorFont>
    <a:minorFont>
      <a:latin typeface="Roboto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6753</Words>
  <Application>WPS 演示</Application>
  <PresentationFormat>宽屏</PresentationFormat>
  <Paragraphs>1027</Paragraphs>
  <Slides>37</Slides>
  <Notes>0</Notes>
  <HiddenSlides>0</HiddenSlides>
  <MMClips>1</MMClips>
  <ScaleCrop>false</ScaleCrop>
  <HeadingPairs>
    <vt:vector size="6" baseType="variant">
      <vt:variant>
        <vt:lpstr>已用的字体</vt:lpstr>
      </vt:variant>
      <vt:variant>
        <vt:i4>44</vt:i4>
      </vt:variant>
      <vt:variant>
        <vt:lpstr>主题</vt:lpstr>
      </vt:variant>
      <vt:variant>
        <vt:i4>2</vt:i4>
      </vt:variant>
      <vt:variant>
        <vt:lpstr>幻灯片标题</vt:lpstr>
      </vt:variant>
      <vt:variant>
        <vt:i4>37</vt:i4>
      </vt:variant>
    </vt:vector>
  </HeadingPairs>
  <TitlesOfParts>
    <vt:vector size="83" baseType="lpstr">
      <vt:lpstr>Arial</vt:lpstr>
      <vt:lpstr>宋体</vt:lpstr>
      <vt:lpstr>Wingdings</vt:lpstr>
      <vt:lpstr>思源黑体 CN Bold</vt:lpstr>
      <vt:lpstr>汉仪中黑KW</vt:lpstr>
      <vt:lpstr>三极正智黑简体</vt:lpstr>
      <vt:lpstr>思源黑体 CN Normal</vt:lpstr>
      <vt:lpstr>阿里巴巴普惠体 B</vt:lpstr>
      <vt:lpstr>阿里巴巴普惠体 R</vt:lpstr>
      <vt:lpstr>思源黑体 CN Regular</vt:lpstr>
      <vt:lpstr>微软雅黑</vt:lpstr>
      <vt:lpstr>等线</vt:lpstr>
      <vt:lpstr>宋体</vt:lpstr>
      <vt:lpstr>汉仪书宋二KW</vt:lpstr>
      <vt:lpstr>Arial Unicode MS</vt:lpstr>
      <vt:lpstr>Calibri</vt:lpstr>
      <vt:lpstr>Helvetica Neue</vt:lpstr>
      <vt:lpstr>苹方-简</vt:lpstr>
      <vt:lpstr>Roboto Regular</vt:lpstr>
      <vt:lpstr>等线 Light</vt:lpstr>
      <vt:lpstr>汉仪中等线KW</vt:lpstr>
      <vt:lpstr>微软雅黑</vt:lpstr>
      <vt:lpstr>思源黑体 CN Bold</vt:lpstr>
      <vt:lpstr>思源黑体 CN Normal</vt:lpstr>
      <vt:lpstr>思源黑体 CN Regular</vt:lpstr>
      <vt:lpstr>阿里巴巴普惠体 B</vt:lpstr>
      <vt:lpstr>阿里巴巴普惠体 R</vt:lpstr>
      <vt:lpstr>Heiti SC Light</vt:lpstr>
      <vt:lpstr>Heiti SC Medium</vt:lpstr>
      <vt:lpstr>报隶-繁</vt:lpstr>
      <vt:lpstr>报隶-简</vt:lpstr>
      <vt:lpstr>STHeiti Light</vt:lpstr>
      <vt:lpstr>华文楷体</vt:lpstr>
      <vt:lpstr>Al Bayan Plain</vt:lpstr>
      <vt:lpstr>Arial Black</vt:lpstr>
      <vt:lpstr>Al Bayan Bold</vt:lpstr>
      <vt:lpstr>汉仪中宋简</vt:lpstr>
      <vt:lpstr>Wingdings</vt:lpstr>
      <vt:lpstr>汉仪旗黑-55简</vt:lpstr>
      <vt:lpstr>Times New Roman Regular</vt:lpstr>
      <vt:lpstr>Arial Bold</vt:lpstr>
      <vt:lpstr>汉仪中宋简</vt:lpstr>
      <vt:lpstr>汉仪旗黑-55简</vt:lpstr>
      <vt:lpstr>Arial Regular</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bing</dc:creator>
  <cp:lastModifiedBy>永恒</cp:lastModifiedBy>
  <cp:revision>19</cp:revision>
  <dcterms:created xsi:type="dcterms:W3CDTF">2023-09-06T09:47:00Z</dcterms:created>
  <dcterms:modified xsi:type="dcterms:W3CDTF">2023-09-06T09:47:00Z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87E62473650A1A27934AF8641DC53468_43</vt:lpwstr>
  </property>
  <property fmtid="{D5CDD505-2E9C-101B-9397-08002B2CF9AE}" pid="3" name="KSOProductBuildVer">
    <vt:lpwstr>2052-5.2.0.7734</vt:lpwstr>
  </property>
</Properties>
</file>